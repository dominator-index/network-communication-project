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333333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33333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5925" y="1419463"/>
            <a:ext cx="1358900" cy="387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5925" y="2529697"/>
            <a:ext cx="4140200" cy="6090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333333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925" y="618998"/>
            <a:ext cx="4483100" cy="490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-370"/>
              <a:t>数据通信与⽹络课</a:t>
            </a:r>
            <a:r>
              <a:rPr dirty="0" sz="3050" spc="-370">
                <a:latin typeface="Malgun Gothic"/>
                <a:cs typeface="Malgun Gothic"/>
              </a:rPr>
              <a:t>程</a:t>
            </a:r>
            <a:r>
              <a:rPr dirty="0" sz="3050" spc="-385"/>
              <a:t>项⽬报告</a:t>
            </a:r>
            <a:endParaRPr sz="305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5925" y="1307617"/>
            <a:ext cx="1093470" cy="1158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400"/>
              </a:lnSpc>
              <a:spcBef>
                <a:spcPts val="95"/>
              </a:spcBef>
            </a:pPr>
            <a:r>
              <a:rPr dirty="0" sz="1350" spc="-170" b="1">
                <a:latin typeface="Malgun Gothic"/>
                <a:cs typeface="Malgun Gothic"/>
              </a:rPr>
              <a:t>姓</a:t>
            </a:r>
            <a:r>
              <a:rPr dirty="0" sz="1350" spc="-170" b="1">
                <a:latin typeface="Microsoft JhengHei"/>
                <a:cs typeface="Microsoft JhengHei"/>
              </a:rPr>
              <a:t>名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阳倬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历</a:t>
            </a:r>
            <a:r>
              <a:rPr dirty="0" sz="1350" spc="-170" b="1">
                <a:latin typeface="Microsoft JhengHei"/>
                <a:cs typeface="Microsoft JhengHei"/>
              </a:rPr>
              <a:t>学号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12310703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50" spc="-170" b="1">
                <a:latin typeface="Malgun Gothic"/>
                <a:cs typeface="Malgun Gothic"/>
              </a:rPr>
              <a:t>姓</a:t>
            </a:r>
            <a:r>
              <a:rPr dirty="0" sz="1350" spc="-170" b="1">
                <a:latin typeface="Microsoft JhengHei"/>
                <a:cs typeface="Microsoft JhengHei"/>
              </a:rPr>
              <a:t>名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徐浚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丞</a:t>
            </a:r>
            <a:endParaRPr sz="1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学号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12312423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5925" y="3067304"/>
            <a:ext cx="558800" cy="3873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50" spc="-285" b="1">
                <a:latin typeface="Microsoft JhengHei"/>
                <a:cs typeface="Microsoft JhengHei"/>
              </a:rPr>
              <a:t>⽬录</a:t>
            </a:r>
            <a:endParaRPr sz="2350">
              <a:latin typeface="Microsoft JhengHei"/>
              <a:cs typeface="Microsoft JhengHe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81024" y="37909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81024" y="40385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42862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7"/>
                </a:lnTo>
                <a:lnTo>
                  <a:pt x="45812" y="32924"/>
                </a:lnTo>
                <a:lnTo>
                  <a:pt x="44603" y="35842"/>
                </a:lnTo>
                <a:lnTo>
                  <a:pt x="32925" y="45811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1"/>
                </a:lnTo>
                <a:lnTo>
                  <a:pt x="11782" y="44603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2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452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70"/>
                </a:lnTo>
                <a:lnTo>
                  <a:pt x="47020" y="30007"/>
                </a:lnTo>
                <a:lnTo>
                  <a:pt x="45812" y="32924"/>
                </a:lnTo>
                <a:lnTo>
                  <a:pt x="44603" y="35842"/>
                </a:lnTo>
                <a:lnTo>
                  <a:pt x="32925" y="45811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1"/>
                </a:lnTo>
                <a:lnTo>
                  <a:pt x="11782" y="44603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47720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7"/>
                </a:lnTo>
                <a:lnTo>
                  <a:pt x="45812" y="32924"/>
                </a:lnTo>
                <a:lnTo>
                  <a:pt x="44603" y="35842"/>
                </a:lnTo>
                <a:lnTo>
                  <a:pt x="32925" y="45811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1"/>
                </a:lnTo>
                <a:lnTo>
                  <a:pt x="11782" y="44603"/>
                </a:lnTo>
                <a:lnTo>
                  <a:pt x="1812" y="32924"/>
                </a:lnTo>
                <a:lnTo>
                  <a:pt x="604" y="30007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5824" y="5010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7"/>
                </a:lnTo>
                <a:lnTo>
                  <a:pt x="45812" y="32924"/>
                </a:lnTo>
                <a:lnTo>
                  <a:pt x="44603" y="35842"/>
                </a:lnTo>
                <a:lnTo>
                  <a:pt x="32925" y="45811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1"/>
                </a:lnTo>
                <a:lnTo>
                  <a:pt x="11782" y="44603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0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81024" y="52577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85824" y="55054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0650" y="40650"/>
                </a:lnTo>
                <a:lnTo>
                  <a:pt x="38417" y="42883"/>
                </a:lnTo>
                <a:lnTo>
                  <a:pt x="23812" y="47624"/>
                </a:lnTo>
                <a:lnTo>
                  <a:pt x="20654" y="47624"/>
                </a:lnTo>
                <a:lnTo>
                  <a:pt x="6974" y="40650"/>
                </a:lnTo>
                <a:lnTo>
                  <a:pt x="4741" y="38417"/>
                </a:lnTo>
                <a:lnTo>
                  <a:pt x="3021" y="35842"/>
                </a:lnTo>
                <a:lnTo>
                  <a:pt x="1812" y="32924"/>
                </a:lnTo>
                <a:lnTo>
                  <a:pt x="604" y="30006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04" y="17616"/>
                </a:lnTo>
                <a:lnTo>
                  <a:pt x="1812" y="14699"/>
                </a:lnTo>
                <a:lnTo>
                  <a:pt x="3021" y="11781"/>
                </a:lnTo>
                <a:lnTo>
                  <a:pt x="4741" y="9206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85824" y="57435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6"/>
                </a:lnTo>
                <a:lnTo>
                  <a:pt x="45812" y="32924"/>
                </a:lnTo>
                <a:lnTo>
                  <a:pt x="44603" y="35842"/>
                </a:lnTo>
                <a:lnTo>
                  <a:pt x="32925" y="45811"/>
                </a:lnTo>
                <a:lnTo>
                  <a:pt x="30007" y="47019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19"/>
                </a:lnTo>
                <a:lnTo>
                  <a:pt x="14699" y="45811"/>
                </a:lnTo>
                <a:lnTo>
                  <a:pt x="11782" y="44602"/>
                </a:lnTo>
                <a:lnTo>
                  <a:pt x="1812" y="32924"/>
                </a:lnTo>
                <a:lnTo>
                  <a:pt x="604" y="30006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0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4"/>
                </a:lnTo>
                <a:lnTo>
                  <a:pt x="32925" y="1812"/>
                </a:lnTo>
                <a:lnTo>
                  <a:pt x="35842" y="3020"/>
                </a:lnTo>
                <a:lnTo>
                  <a:pt x="38417" y="474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85824" y="59912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7"/>
                </a:lnTo>
                <a:lnTo>
                  <a:pt x="45812" y="32924"/>
                </a:lnTo>
                <a:lnTo>
                  <a:pt x="44603" y="35841"/>
                </a:lnTo>
                <a:lnTo>
                  <a:pt x="32925" y="45811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1"/>
                </a:lnTo>
                <a:lnTo>
                  <a:pt x="11782" y="44603"/>
                </a:lnTo>
                <a:lnTo>
                  <a:pt x="1812" y="32924"/>
                </a:lnTo>
                <a:lnTo>
                  <a:pt x="604" y="30007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0"/>
                </a:lnTo>
                <a:lnTo>
                  <a:pt x="11782" y="3020"/>
                </a:lnTo>
                <a:lnTo>
                  <a:pt x="14699" y="1811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81024" y="62293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885824" y="64769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7"/>
                </a:lnTo>
                <a:lnTo>
                  <a:pt x="45812" y="32924"/>
                </a:lnTo>
                <a:lnTo>
                  <a:pt x="44603" y="35842"/>
                </a:lnTo>
                <a:lnTo>
                  <a:pt x="32925" y="45811"/>
                </a:lnTo>
                <a:lnTo>
                  <a:pt x="30007" y="47019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19"/>
                </a:lnTo>
                <a:lnTo>
                  <a:pt x="14699" y="45811"/>
                </a:lnTo>
                <a:lnTo>
                  <a:pt x="11782" y="44603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04" y="17616"/>
                </a:lnTo>
                <a:lnTo>
                  <a:pt x="1812" y="14699"/>
                </a:lnTo>
                <a:lnTo>
                  <a:pt x="3021" y="11781"/>
                </a:lnTo>
                <a:lnTo>
                  <a:pt x="4741" y="9206"/>
                </a:lnTo>
                <a:lnTo>
                  <a:pt x="6974" y="6974"/>
                </a:lnTo>
                <a:lnTo>
                  <a:pt x="9207" y="4740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885824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7"/>
                </a:lnTo>
                <a:lnTo>
                  <a:pt x="45812" y="32924"/>
                </a:lnTo>
                <a:lnTo>
                  <a:pt x="44603" y="35841"/>
                </a:lnTo>
                <a:lnTo>
                  <a:pt x="32925" y="45811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1"/>
                </a:lnTo>
                <a:lnTo>
                  <a:pt x="11782" y="44603"/>
                </a:lnTo>
                <a:lnTo>
                  <a:pt x="1812" y="32924"/>
                </a:lnTo>
                <a:lnTo>
                  <a:pt x="604" y="30007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0"/>
                </a:lnTo>
                <a:lnTo>
                  <a:pt x="11782" y="3020"/>
                </a:lnTo>
                <a:lnTo>
                  <a:pt x="14699" y="1811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885824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6"/>
                </a:lnTo>
                <a:lnTo>
                  <a:pt x="45812" y="32924"/>
                </a:lnTo>
                <a:lnTo>
                  <a:pt x="44603" y="35842"/>
                </a:lnTo>
                <a:lnTo>
                  <a:pt x="32925" y="45811"/>
                </a:lnTo>
                <a:lnTo>
                  <a:pt x="30007" y="47019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19"/>
                </a:lnTo>
                <a:lnTo>
                  <a:pt x="14699" y="45811"/>
                </a:lnTo>
                <a:lnTo>
                  <a:pt x="11782" y="44602"/>
                </a:lnTo>
                <a:lnTo>
                  <a:pt x="1812" y="32924"/>
                </a:lnTo>
                <a:lnTo>
                  <a:pt x="604" y="30006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0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885824" y="72104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7"/>
                </a:lnTo>
                <a:lnTo>
                  <a:pt x="45812" y="32924"/>
                </a:lnTo>
                <a:lnTo>
                  <a:pt x="44603" y="35841"/>
                </a:lnTo>
                <a:lnTo>
                  <a:pt x="32925" y="45811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1"/>
                </a:lnTo>
                <a:lnTo>
                  <a:pt x="11782" y="44603"/>
                </a:lnTo>
                <a:lnTo>
                  <a:pt x="1812" y="32924"/>
                </a:lnTo>
                <a:lnTo>
                  <a:pt x="604" y="30007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7"/>
                </a:lnTo>
                <a:lnTo>
                  <a:pt x="44603" y="11782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885824" y="74485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6"/>
                </a:lnTo>
                <a:lnTo>
                  <a:pt x="45812" y="32924"/>
                </a:lnTo>
                <a:lnTo>
                  <a:pt x="44603" y="35841"/>
                </a:lnTo>
                <a:lnTo>
                  <a:pt x="32925" y="45811"/>
                </a:lnTo>
                <a:lnTo>
                  <a:pt x="30007" y="47019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19"/>
                </a:lnTo>
                <a:lnTo>
                  <a:pt x="14699" y="45811"/>
                </a:lnTo>
                <a:lnTo>
                  <a:pt x="11782" y="44602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04" y="17616"/>
                </a:lnTo>
                <a:lnTo>
                  <a:pt x="1812" y="14699"/>
                </a:lnTo>
                <a:lnTo>
                  <a:pt x="3021" y="11781"/>
                </a:lnTo>
                <a:lnTo>
                  <a:pt x="4741" y="9206"/>
                </a:lnTo>
                <a:lnTo>
                  <a:pt x="6974" y="6974"/>
                </a:lnTo>
                <a:lnTo>
                  <a:pt x="9207" y="4740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720724" y="3631717"/>
            <a:ext cx="2193925" cy="41783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350" spc="-170">
                <a:solidFill>
                  <a:srgbClr val="0087CC"/>
                </a:solidFill>
                <a:latin typeface="SimSun"/>
                <a:cs typeface="SimSun"/>
              </a:rPr>
              <a:t>项</a:t>
            </a:r>
            <a:r>
              <a:rPr dirty="0" sz="1350" spc="-170">
                <a:solidFill>
                  <a:srgbClr val="0087CC"/>
                </a:solidFill>
                <a:latin typeface="Microsoft JhengHei"/>
                <a:cs typeface="Microsoft JhengHei"/>
              </a:rPr>
              <a:t>⽬</a:t>
            </a:r>
            <a:r>
              <a:rPr dirty="0" sz="1350" spc="-110">
                <a:solidFill>
                  <a:srgbClr val="0087CC"/>
                </a:solidFill>
                <a:latin typeface="SimSun"/>
                <a:cs typeface="SimSun"/>
              </a:rPr>
              <a:t>概述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Level</a:t>
            </a:r>
            <a:r>
              <a:rPr dirty="0" sz="1200" spc="1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1:</a:t>
            </a:r>
            <a:r>
              <a:rPr dirty="0" sz="1200" spc="1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50">
                <a:solidFill>
                  <a:srgbClr val="0087CC"/>
                </a:solidFill>
                <a:latin typeface="SimSun"/>
                <a:cs typeface="SimSun"/>
              </a:rPr>
              <a:t>点对点通信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220">
                <a:solidFill>
                  <a:srgbClr val="0087CC"/>
                </a:solidFill>
                <a:latin typeface="SimSun"/>
                <a:cs typeface="SimSun"/>
              </a:rPr>
              <a:t>任务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1.1:</a:t>
            </a:r>
            <a:r>
              <a:rPr dirty="0" sz="1200" spc="30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0087CC"/>
                </a:solidFill>
                <a:latin typeface="Microsoft JhengHei"/>
                <a:cs typeface="Microsoft JhengHei"/>
              </a:rPr>
              <a:t>⽐特</a:t>
            </a:r>
            <a:r>
              <a:rPr dirty="0" sz="1350" spc="-150">
                <a:solidFill>
                  <a:srgbClr val="0087CC"/>
                </a:solidFill>
                <a:latin typeface="SimSun"/>
                <a:cs typeface="SimSun"/>
              </a:rPr>
              <a:t>流传输过程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254"/>
              </a:spcBef>
            </a:pPr>
            <a:r>
              <a:rPr dirty="0" sz="1350" spc="-220">
                <a:solidFill>
                  <a:srgbClr val="0087CC"/>
                </a:solidFill>
                <a:latin typeface="SimSun"/>
                <a:cs typeface="SimSun"/>
              </a:rPr>
              <a:t>任务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1.2:</a:t>
            </a:r>
            <a:r>
              <a:rPr dirty="0" sz="1200" spc="30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0087CC"/>
                </a:solidFill>
                <a:latin typeface="SimSun"/>
                <a:cs typeface="SimSun"/>
              </a:rPr>
              <a:t>消息分</a:t>
            </a:r>
            <a:r>
              <a:rPr dirty="0" sz="1350" spc="-170">
                <a:solidFill>
                  <a:srgbClr val="0087CC"/>
                </a:solidFill>
                <a:latin typeface="Microsoft JhengHei"/>
                <a:cs typeface="Microsoft JhengHei"/>
              </a:rPr>
              <a:t>⽚</a:t>
            </a:r>
            <a:r>
              <a:rPr dirty="0" sz="1350" spc="-110">
                <a:solidFill>
                  <a:srgbClr val="0087CC"/>
                </a:solidFill>
                <a:latin typeface="SimSun"/>
                <a:cs typeface="SimSun"/>
              </a:rPr>
              <a:t>传输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220">
                <a:solidFill>
                  <a:srgbClr val="0087CC"/>
                </a:solidFill>
                <a:latin typeface="SimSun"/>
                <a:cs typeface="SimSun"/>
              </a:rPr>
              <a:t>任务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1.3:</a:t>
            </a:r>
            <a:r>
              <a:rPr dirty="0" sz="1200" spc="30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50">
                <a:solidFill>
                  <a:srgbClr val="0087CC"/>
                </a:solidFill>
                <a:latin typeface="SimSun"/>
                <a:cs typeface="SimSun"/>
              </a:rPr>
              <a:t>噪声环境测试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254"/>
              </a:spcBef>
            </a:pPr>
            <a:r>
              <a:rPr dirty="0" sz="1350" spc="-225">
                <a:solidFill>
                  <a:srgbClr val="0087CC"/>
                </a:solidFill>
                <a:latin typeface="SimSun"/>
                <a:cs typeface="SimSun"/>
              </a:rPr>
              <a:t>任务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1.4:</a:t>
            </a:r>
            <a:r>
              <a:rPr dirty="0" sz="1200" spc="2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Shannon</a:t>
            </a:r>
            <a:r>
              <a:rPr dirty="0" sz="1350" spc="-170">
                <a:solidFill>
                  <a:srgbClr val="0087CC"/>
                </a:solidFill>
                <a:latin typeface="SimSun"/>
                <a:cs typeface="SimSun"/>
              </a:rPr>
              <a:t>公式</a:t>
            </a:r>
            <a:r>
              <a:rPr dirty="0" sz="1350" spc="-170">
                <a:solidFill>
                  <a:srgbClr val="0087CC"/>
                </a:solidFill>
                <a:latin typeface="Microsoft JhengHei"/>
                <a:cs typeface="Microsoft JhengHei"/>
              </a:rPr>
              <a:t>⽐</a:t>
            </a:r>
            <a:r>
              <a:rPr dirty="0" sz="1350" spc="-50">
                <a:solidFill>
                  <a:srgbClr val="0087CC"/>
                </a:solidFill>
                <a:latin typeface="SimSun"/>
                <a:cs typeface="SimSun"/>
              </a:rPr>
              <a:t>较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Level</a:t>
            </a:r>
            <a:r>
              <a:rPr dirty="0" sz="1200" spc="1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2:</a:t>
            </a:r>
            <a:r>
              <a:rPr dirty="0" sz="1200" spc="1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50">
                <a:solidFill>
                  <a:srgbClr val="0087CC"/>
                </a:solidFill>
                <a:latin typeface="SimSun"/>
                <a:cs typeface="SimSun"/>
              </a:rPr>
              <a:t>多主机通信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220">
                <a:solidFill>
                  <a:srgbClr val="0087CC"/>
                </a:solidFill>
                <a:latin typeface="SimSun"/>
                <a:cs typeface="SimSun"/>
              </a:rPr>
              <a:t>任务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2.1:</a:t>
            </a:r>
            <a:r>
              <a:rPr dirty="0" sz="1200" spc="30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55">
                <a:solidFill>
                  <a:srgbClr val="0087CC"/>
                </a:solidFill>
                <a:latin typeface="SimSun"/>
                <a:cs typeface="SimSun"/>
              </a:rPr>
              <a:t>多主机通信过程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254"/>
              </a:spcBef>
            </a:pPr>
            <a:r>
              <a:rPr dirty="0" sz="1350" spc="-220">
                <a:solidFill>
                  <a:srgbClr val="0087CC"/>
                </a:solidFill>
                <a:latin typeface="SimSun"/>
                <a:cs typeface="SimSun"/>
              </a:rPr>
              <a:t>任务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2.2:</a:t>
            </a:r>
            <a:r>
              <a:rPr dirty="0" sz="1200" spc="30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50">
                <a:solidFill>
                  <a:srgbClr val="0087CC"/>
                </a:solidFill>
                <a:latin typeface="SimSun"/>
                <a:cs typeface="SimSun"/>
              </a:rPr>
              <a:t>寻址机制讲解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220">
                <a:solidFill>
                  <a:srgbClr val="0087CC"/>
                </a:solidFill>
                <a:latin typeface="SimSun"/>
                <a:cs typeface="SimSun"/>
              </a:rPr>
              <a:t>任务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2.3:</a:t>
            </a:r>
            <a:r>
              <a:rPr dirty="0" sz="1200" spc="30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0087CC"/>
                </a:solidFill>
                <a:latin typeface="SimSun"/>
                <a:cs typeface="SimSun"/>
              </a:rPr>
              <a:t>路</a:t>
            </a:r>
            <a:r>
              <a:rPr dirty="0" sz="1350" spc="-170">
                <a:solidFill>
                  <a:srgbClr val="0087CC"/>
                </a:solidFill>
                <a:latin typeface="Microsoft JhengHei"/>
                <a:cs typeface="Microsoft JhengHei"/>
              </a:rPr>
              <a:t>由</a:t>
            </a:r>
            <a:r>
              <a:rPr dirty="0" sz="1350" spc="-150">
                <a:solidFill>
                  <a:srgbClr val="0087CC"/>
                </a:solidFill>
                <a:latin typeface="SimSun"/>
                <a:cs typeface="SimSun"/>
              </a:rPr>
              <a:t>与转发讲解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Level</a:t>
            </a:r>
            <a:r>
              <a:rPr dirty="0" sz="1200" spc="10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3:</a:t>
            </a:r>
            <a:r>
              <a:rPr dirty="0" sz="1200" spc="10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40">
                <a:solidFill>
                  <a:srgbClr val="0087CC"/>
                </a:solidFill>
                <a:latin typeface="SimSun"/>
                <a:cs typeface="SimSun"/>
              </a:rPr>
              <a:t>扩展功能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225">
                <a:solidFill>
                  <a:srgbClr val="0087CC"/>
                </a:solidFill>
                <a:latin typeface="SimSun"/>
                <a:cs typeface="SimSun"/>
              </a:rPr>
              <a:t>任务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3.1:</a:t>
            </a:r>
            <a:r>
              <a:rPr dirty="0" sz="1200" spc="2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0087CC"/>
                </a:solidFill>
                <a:latin typeface="SimSun"/>
                <a:cs typeface="SimSun"/>
              </a:rPr>
              <a:t>传输层演</a:t>
            </a:r>
            <a:r>
              <a:rPr dirty="0" sz="1350" spc="-50">
                <a:solidFill>
                  <a:srgbClr val="0087CC"/>
                </a:solidFill>
                <a:latin typeface="Microsoft JhengHei"/>
                <a:cs typeface="Microsoft JhengHei"/>
              </a:rPr>
              <a:t>⽰</a:t>
            </a:r>
            <a:endParaRPr sz="135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254"/>
              </a:spcBef>
            </a:pPr>
            <a:r>
              <a:rPr dirty="0" sz="1350" spc="-220">
                <a:solidFill>
                  <a:srgbClr val="0087CC"/>
                </a:solidFill>
                <a:latin typeface="SimSun"/>
                <a:cs typeface="SimSun"/>
              </a:rPr>
              <a:t>任务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3.2:</a:t>
            </a:r>
            <a:r>
              <a:rPr dirty="0" sz="1200" spc="30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0087CC"/>
                </a:solidFill>
                <a:latin typeface="SimSun"/>
                <a:cs typeface="SimSun"/>
              </a:rPr>
              <a:t>信道编码演</a:t>
            </a:r>
            <a:r>
              <a:rPr dirty="0" sz="1350" spc="-50">
                <a:solidFill>
                  <a:srgbClr val="0087CC"/>
                </a:solidFill>
                <a:latin typeface="Microsoft JhengHei"/>
                <a:cs typeface="Microsoft JhengHei"/>
              </a:rPr>
              <a:t>⽰</a:t>
            </a:r>
            <a:endParaRPr sz="135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220">
                <a:solidFill>
                  <a:srgbClr val="0087CC"/>
                </a:solidFill>
                <a:latin typeface="SimSun"/>
                <a:cs typeface="SimSun"/>
              </a:rPr>
              <a:t>任务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3.3:</a:t>
            </a:r>
            <a:r>
              <a:rPr dirty="0" sz="1200" spc="30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0087CC"/>
                </a:solidFill>
                <a:latin typeface="SimSun"/>
                <a:cs typeface="SimSun"/>
              </a:rPr>
              <a:t>应</a:t>
            </a:r>
            <a:r>
              <a:rPr dirty="0" sz="1350" spc="-170">
                <a:solidFill>
                  <a:srgbClr val="0087CC"/>
                </a:solidFill>
                <a:latin typeface="Microsoft JhengHei"/>
                <a:cs typeface="Microsoft JhengHei"/>
              </a:rPr>
              <a:t>⽤</a:t>
            </a:r>
            <a:r>
              <a:rPr dirty="0" sz="1350" spc="-170">
                <a:solidFill>
                  <a:srgbClr val="0087CC"/>
                </a:solidFill>
                <a:latin typeface="SimSun"/>
                <a:cs typeface="SimSun"/>
              </a:rPr>
              <a:t>层协议演</a:t>
            </a:r>
            <a:r>
              <a:rPr dirty="0" sz="1350" spc="-50">
                <a:solidFill>
                  <a:srgbClr val="0087CC"/>
                </a:solidFill>
                <a:latin typeface="Microsoft JhengHei"/>
                <a:cs typeface="Microsoft JhengHei"/>
              </a:rPr>
              <a:t>⽰</a:t>
            </a:r>
            <a:endParaRPr sz="135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220">
                <a:solidFill>
                  <a:srgbClr val="0087CC"/>
                </a:solidFill>
                <a:latin typeface="SimSun"/>
                <a:cs typeface="SimSun"/>
              </a:rPr>
              <a:t>任务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3.4:</a:t>
            </a:r>
            <a:r>
              <a:rPr dirty="0" sz="1200" spc="3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0087CC"/>
                </a:solidFill>
                <a:latin typeface="SimSun"/>
                <a:cs typeface="SimSun"/>
              </a:rPr>
              <a:t>调制</a:t>
            </a:r>
            <a:r>
              <a:rPr dirty="0" sz="1350" spc="-170">
                <a:solidFill>
                  <a:srgbClr val="0087CC"/>
                </a:solidFill>
                <a:latin typeface="Microsoft JhengHei"/>
                <a:cs typeface="Microsoft JhengHei"/>
              </a:rPr>
              <a:t>⽅</a:t>
            </a:r>
            <a:r>
              <a:rPr dirty="0" sz="1350" spc="-170">
                <a:solidFill>
                  <a:srgbClr val="0087CC"/>
                </a:solidFill>
                <a:latin typeface="SimSun"/>
                <a:cs typeface="SimSun"/>
              </a:rPr>
              <a:t>式对</a:t>
            </a:r>
            <a:r>
              <a:rPr dirty="0" sz="1350" spc="-170">
                <a:solidFill>
                  <a:srgbClr val="0087CC"/>
                </a:solidFill>
                <a:latin typeface="Microsoft JhengHei"/>
                <a:cs typeface="Microsoft JhengHei"/>
              </a:rPr>
              <a:t>⽐</a:t>
            </a:r>
            <a:r>
              <a:rPr dirty="0" sz="1350" spc="-170">
                <a:solidFill>
                  <a:srgbClr val="0087CC"/>
                </a:solidFill>
                <a:latin typeface="SimSun"/>
                <a:cs typeface="SimSun"/>
              </a:rPr>
              <a:t>演</a:t>
            </a:r>
            <a:r>
              <a:rPr dirty="0" sz="1350" spc="-50">
                <a:solidFill>
                  <a:srgbClr val="0087CC"/>
                </a:solidFill>
                <a:latin typeface="Microsoft JhengHei"/>
                <a:cs typeface="Microsoft JhengHei"/>
              </a:rPr>
              <a:t>⽰</a:t>
            </a:r>
            <a:endParaRPr sz="1350">
              <a:latin typeface="Microsoft JhengHei"/>
              <a:cs typeface="Microsoft JhengHei"/>
            </a:endParaRPr>
          </a:p>
          <a:p>
            <a:pPr marL="12700" marR="309880" indent="304800">
              <a:lnSpc>
                <a:spcPts val="1950"/>
              </a:lnSpc>
              <a:spcBef>
                <a:spcPts val="30"/>
              </a:spcBef>
            </a:pPr>
            <a:r>
              <a:rPr dirty="0" sz="1350" spc="-229">
                <a:solidFill>
                  <a:srgbClr val="0087CC"/>
                </a:solidFill>
                <a:latin typeface="SimSun"/>
                <a:cs typeface="SimSun"/>
              </a:rPr>
              <a:t>任务 </a:t>
            </a:r>
            <a:r>
              <a:rPr dirty="0" sz="1200">
                <a:solidFill>
                  <a:srgbClr val="0087CC"/>
                </a:solidFill>
                <a:latin typeface="Arial MT"/>
                <a:cs typeface="Arial MT"/>
              </a:rPr>
              <a:t>3.5:</a:t>
            </a:r>
            <a:r>
              <a:rPr dirty="0" sz="12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0087CC"/>
                </a:solidFill>
                <a:latin typeface="SimSun"/>
                <a:cs typeface="SimSun"/>
              </a:rPr>
              <a:t>并发处理演</a:t>
            </a:r>
            <a:r>
              <a:rPr dirty="0" sz="1350" spc="-105">
                <a:solidFill>
                  <a:srgbClr val="0087CC"/>
                </a:solidFill>
                <a:latin typeface="Microsoft JhengHei"/>
                <a:cs typeface="Microsoft JhengHei"/>
              </a:rPr>
              <a:t>⽰</a:t>
            </a:r>
            <a:r>
              <a:rPr dirty="0" sz="1350" spc="-150">
                <a:solidFill>
                  <a:srgbClr val="0087CC"/>
                </a:solidFill>
                <a:latin typeface="SimSun"/>
                <a:cs typeface="SimSun"/>
              </a:rPr>
              <a:t>总结与展望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581024" y="7696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415925" y="8410828"/>
            <a:ext cx="1092200" cy="3873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50" spc="-275" b="1">
                <a:latin typeface="Microsoft JhengHei"/>
                <a:cs typeface="Microsoft JhengHei"/>
              </a:rPr>
              <a:t>项⽬概述</a:t>
            </a:r>
            <a:endParaRPr sz="2350">
              <a:latin typeface="Microsoft JhengHei"/>
              <a:cs typeface="Microsoft JhengHei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581024" y="95345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415925" y="9016237"/>
            <a:ext cx="5054600" cy="6324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⽬实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了⼀个从物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层到应⽤层的完整⽹络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通信系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包含三个层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级：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1530"/>
              </a:spcBef>
            </a:pPr>
            <a:r>
              <a:rPr dirty="0" sz="1200" b="1">
                <a:latin typeface="Arial"/>
                <a:cs typeface="Arial"/>
              </a:rPr>
              <a:t>Level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1</a:t>
            </a:r>
            <a:r>
              <a:rPr dirty="0" sz="1200" spc="3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点通信（调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解调、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⽐特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1024" y="457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20724" y="297967"/>
            <a:ext cx="5504180" cy="5207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200" b="1">
                <a:latin typeface="Arial"/>
                <a:cs typeface="Arial"/>
              </a:rPr>
              <a:t>Level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2</a:t>
            </a:r>
            <a:r>
              <a:rPr dirty="0" sz="1200" spc="4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多主机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通信（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型拓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扑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、地址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寻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址、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转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200" b="1">
                <a:latin typeface="Arial"/>
                <a:cs typeface="Arial"/>
              </a:rPr>
              <a:t>Level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3</a:t>
            </a:r>
            <a:r>
              <a:rPr dirty="0" sz="1200" spc="6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扩展功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层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、信道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应⽤层协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议、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种调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式、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并发处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81024" y="7048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15925" y="1005332"/>
            <a:ext cx="939800" cy="3359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90" b="1">
                <a:latin typeface="Microsoft JhengHei"/>
                <a:cs typeface="Microsoft JhengHei"/>
              </a:rPr>
              <a:t>技术架构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7815" y="1575308"/>
            <a:ext cx="1974214" cy="236855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 spc="55">
                <a:latin typeface="NSimSun"/>
                <a:cs typeface="NSimSun"/>
              </a:rPr>
              <a:t>应用层 </a:t>
            </a:r>
            <a:r>
              <a:rPr dirty="0" sz="1000">
                <a:latin typeface="Consolas"/>
                <a:cs typeface="Consolas"/>
              </a:rPr>
              <a:t>(Application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Layer)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 spc="-50">
                <a:latin typeface="Consolas"/>
                <a:cs typeface="Consolas"/>
              </a:rPr>
              <a:t>↓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传输层 </a:t>
            </a:r>
            <a:r>
              <a:rPr dirty="0" sz="1000">
                <a:latin typeface="Consolas"/>
                <a:cs typeface="Consolas"/>
              </a:rPr>
              <a:t>(Transport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Layer)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 spc="-50">
                <a:latin typeface="Consolas"/>
                <a:cs typeface="Consolas"/>
              </a:rPr>
              <a:t>↓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网络层 </a:t>
            </a:r>
            <a:r>
              <a:rPr dirty="0" sz="1000">
                <a:latin typeface="Consolas"/>
                <a:cs typeface="Consolas"/>
              </a:rPr>
              <a:t>(Network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Layer)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 spc="-50">
                <a:latin typeface="Consolas"/>
                <a:cs typeface="Consolas"/>
              </a:rPr>
              <a:t>↓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数据链路层 </a:t>
            </a:r>
            <a:r>
              <a:rPr dirty="0" sz="1000">
                <a:latin typeface="Consolas"/>
                <a:cs typeface="Consolas"/>
              </a:rPr>
              <a:t>(Data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Link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Layer)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 spc="-50">
                <a:latin typeface="Consolas"/>
                <a:cs typeface="Consolas"/>
              </a:rPr>
              <a:t>↓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物理层 </a:t>
            </a:r>
            <a:r>
              <a:rPr dirty="0" sz="1000">
                <a:latin typeface="Consolas"/>
                <a:cs typeface="Consolas"/>
              </a:rPr>
              <a:t>(Physical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Layer)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 spc="-50">
                <a:latin typeface="Consolas"/>
                <a:cs typeface="Consolas"/>
              </a:rPr>
              <a:t>↓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Cable</a:t>
            </a:r>
            <a:r>
              <a:rPr dirty="0" sz="1000" spc="20">
                <a:latin typeface="Consolas"/>
                <a:cs typeface="Consolas"/>
              </a:rPr>
              <a:t> (</a:t>
            </a:r>
            <a:r>
              <a:rPr dirty="0" sz="1000" spc="50">
                <a:latin typeface="NSimSun"/>
                <a:cs typeface="NSimSun"/>
              </a:rPr>
              <a:t>物理信道模拟</a:t>
            </a:r>
            <a:r>
              <a:rPr dirty="0" sz="1000" spc="-5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5925" y="4253357"/>
            <a:ext cx="1397000" cy="3359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95" b="1">
                <a:latin typeface="Microsoft JhengHei"/>
                <a:cs typeface="Microsoft JhengHei"/>
              </a:rPr>
              <a:t>核⼼实现特性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81024" y="48482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20724" y="4698517"/>
            <a:ext cx="3065780" cy="1720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4300">
              <a:lnSpc>
                <a:spcPct val="115700"/>
              </a:lnSpc>
              <a:spcBef>
                <a:spcPts val="10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物</a:t>
            </a:r>
            <a:r>
              <a:rPr dirty="0" sz="1350" spc="-170" b="1">
                <a:latin typeface="Malgun Gothic"/>
                <a:cs typeface="Malgun Gothic"/>
              </a:rPr>
              <a:t>理</a:t>
            </a:r>
            <a:r>
              <a:rPr dirty="0" sz="1350" spc="-170" b="1">
                <a:latin typeface="Microsoft JhengHei"/>
                <a:cs typeface="Microsoft JhengHei"/>
              </a:rPr>
              <a:t>层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OOK/ASK/FSK/BPSK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种调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式</a:t>
            </a:r>
            <a:r>
              <a:rPr dirty="0" sz="1350" spc="-170" b="1">
                <a:latin typeface="Microsoft JhengHei"/>
                <a:cs typeface="Microsoft JhengHei"/>
              </a:rPr>
              <a:t>数据链路层</a:t>
            </a:r>
            <a:r>
              <a:rPr dirty="0" sz="1200" spc="6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帧封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装、校验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分⽚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组</a:t>
            </a:r>
            <a:endParaRPr sz="1350">
              <a:latin typeface="Microsoft JhengHei"/>
              <a:cs typeface="Microsoft JhengHei"/>
            </a:endParaRPr>
          </a:p>
          <a:p>
            <a:pPr marL="12700" marR="140335">
              <a:lnSpc>
                <a:spcPct val="115700"/>
              </a:lnSpc>
              <a:spcBef>
                <a:spcPts val="7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⽹络层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MAC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地址、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机学习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单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dirty="0" sz="1350" spc="-170" b="1">
                <a:latin typeface="Microsoft JhengHei"/>
                <a:cs typeface="Microsoft JhengHei"/>
              </a:rPr>
              <a:t>传输层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Stop-and-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Wait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ARQ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可靠传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应⽤层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HTTP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endParaRPr sz="1350">
              <a:latin typeface="SimSun"/>
              <a:cs typeface="SimSun"/>
            </a:endParaRPr>
          </a:p>
          <a:p>
            <a:pPr marL="12700" marR="5080">
              <a:lnSpc>
                <a:spcPct val="115700"/>
              </a:lnSpc>
              <a:spcBef>
                <a:spcPts val="7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信道编码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Hamming(7,4)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纠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CRC-8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r>
              <a:rPr dirty="0" sz="1350" spc="-170" b="1">
                <a:latin typeface="Microsoft JhengHei"/>
                <a:cs typeface="Microsoft JhengHei"/>
              </a:rPr>
              <a:t>并发处</a:t>
            </a:r>
            <a:r>
              <a:rPr dirty="0" sz="1350" spc="-170" b="1">
                <a:latin typeface="Malgun Gothic"/>
                <a:cs typeface="Malgun Gothic"/>
              </a:rPr>
              <a:t>理</a:t>
            </a:r>
            <a:r>
              <a:rPr dirty="0" sz="1200" spc="3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⽹络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通信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81024" y="50863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81024" y="53339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81024" y="5572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81024" y="5819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81024" y="60674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81024" y="63055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2"/>
                </a:moveTo>
                <a:lnTo>
                  <a:pt x="20654" y="47622"/>
                </a:lnTo>
                <a:lnTo>
                  <a:pt x="17617" y="47016"/>
                </a:lnTo>
                <a:lnTo>
                  <a:pt x="0" y="26969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2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15925" y="7029703"/>
            <a:ext cx="2604135" cy="13989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00" b="1">
                <a:latin typeface="Arial"/>
                <a:cs typeface="Arial"/>
              </a:rPr>
              <a:t>Level 1:</a:t>
            </a:r>
            <a:r>
              <a:rPr dirty="0" sz="2100" spc="5" b="1">
                <a:latin typeface="Arial"/>
                <a:cs typeface="Arial"/>
              </a:rPr>
              <a:t> </a:t>
            </a:r>
            <a:r>
              <a:rPr dirty="0" sz="2350" spc="-260" b="1">
                <a:latin typeface="Malgun Gothic"/>
                <a:cs typeface="Malgun Gothic"/>
              </a:rPr>
              <a:t>点</a:t>
            </a:r>
            <a:r>
              <a:rPr dirty="0" sz="2350" spc="-260" b="1">
                <a:latin typeface="Microsoft JhengHei"/>
                <a:cs typeface="Microsoft JhengHei"/>
              </a:rPr>
              <a:t>对</a:t>
            </a:r>
            <a:r>
              <a:rPr dirty="0" sz="2350" spc="-260" b="1">
                <a:latin typeface="Malgun Gothic"/>
                <a:cs typeface="Malgun Gothic"/>
              </a:rPr>
              <a:t>点</a:t>
            </a:r>
            <a:r>
              <a:rPr dirty="0" sz="2350" spc="-285" b="1">
                <a:latin typeface="Microsoft JhengHei"/>
                <a:cs typeface="Microsoft JhengHei"/>
              </a:rPr>
              <a:t>通信</a:t>
            </a:r>
            <a:endParaRPr sz="2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dirty="0" sz="2000" spc="-135" b="1">
                <a:latin typeface="Microsoft JhengHei"/>
                <a:cs typeface="Microsoft JhengHei"/>
              </a:rPr>
              <a:t>任务 </a:t>
            </a:r>
            <a:r>
              <a:rPr dirty="0" sz="1800" b="1">
                <a:latin typeface="Arial"/>
                <a:cs typeface="Arial"/>
              </a:rPr>
              <a:t>1.1: </a:t>
            </a:r>
            <a:r>
              <a:rPr dirty="0" sz="2000" spc="-200" b="1">
                <a:latin typeface="Microsoft JhengHei"/>
                <a:cs typeface="Microsoft JhengHei"/>
              </a:rPr>
              <a:t>⽐特流传输过</a:t>
            </a:r>
            <a:r>
              <a:rPr dirty="0" sz="2000" spc="-145" b="1">
                <a:latin typeface="Malgun Gothic"/>
                <a:cs typeface="Malgun Gothic"/>
              </a:rPr>
              <a:t>程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700" spc="-175" b="1">
                <a:latin typeface="Microsoft JhengHei"/>
                <a:cs typeface="Microsoft JhengHei"/>
              </a:rPr>
              <a:t>测试⽬标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15925" y="8559037"/>
            <a:ext cx="517334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演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⽰完整的⽐特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输流程：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字符串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→ 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⽐特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→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80">
                <a:solidFill>
                  <a:srgbClr val="333333"/>
                </a:solidFill>
                <a:latin typeface="Microsoft JhengHei"/>
                <a:cs typeface="Microsoft JhengHei"/>
              </a:rPr>
              <a:t>制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→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250">
                <a:solidFill>
                  <a:srgbClr val="333333"/>
                </a:solidFill>
                <a:latin typeface="SimSun"/>
                <a:cs typeface="SimSun"/>
              </a:rPr>
              <a:t>输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→ </a:t>
            </a:r>
            <a:r>
              <a:rPr dirty="0" sz="1350" spc="-225">
                <a:solidFill>
                  <a:srgbClr val="333333"/>
                </a:solidFill>
                <a:latin typeface="SimSun"/>
                <a:cs typeface="SimSun"/>
              </a:rPr>
              <a:t>解调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→ 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恢复</a:t>
            </a:r>
            <a:endParaRPr sz="13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实现代码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5811520" cy="812165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latin typeface="Consolas"/>
                <a:cs typeface="Consolas"/>
              </a:rPr>
              <a:t>python3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-c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  <a:p>
            <a:pPr marL="12700" marR="3796029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physical_layer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*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Consolas"/>
              <a:cs typeface="Consolas"/>
            </a:endParaRPr>
          </a:p>
          <a:p>
            <a:pPr marL="12700" marR="3646170">
              <a:lnSpc>
                <a:spcPct val="143800"/>
              </a:lnSpc>
              <a:spcBef>
                <a:spcPts val="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print('===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比特流传输演示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===')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1.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35">
                <a:solidFill>
                  <a:srgbClr val="173690"/>
                </a:solidFill>
                <a:latin typeface="NSimSun"/>
                <a:cs typeface="NSimSun"/>
              </a:rPr>
              <a:t>字符串转比特流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message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'Hello'</a:t>
            </a:r>
            <a:endParaRPr sz="1000">
              <a:latin typeface="Consolas"/>
              <a:cs typeface="Consolas"/>
            </a:endParaRPr>
          </a:p>
          <a:p>
            <a:pPr marL="12700" marR="3475990">
              <a:lnSpc>
                <a:spcPts val="1730"/>
              </a:lnSpc>
              <a:spcBef>
                <a:spcPts val="7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string_to_bits(message)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原始消息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{message}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比特流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{bits}')</a:t>
            </a:r>
            <a:endParaRPr sz="1000">
              <a:latin typeface="Consolas"/>
              <a:cs typeface="Consolas"/>
            </a:endParaRPr>
          </a:p>
          <a:p>
            <a:pPr marL="12700" marR="2578100">
              <a:lnSpc>
                <a:spcPts val="1730"/>
              </a:lnSpc>
              <a:spcBef>
                <a:spcPts val="7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比特数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{len(bits)}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每字符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8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位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)')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000">
              <a:latin typeface="Consolas"/>
              <a:cs typeface="Consolas"/>
            </a:endParaRPr>
          </a:p>
          <a:p>
            <a:pPr marL="12700" marR="3867150">
              <a:lnSpc>
                <a:spcPct val="137500"/>
              </a:lnSpc>
            </a:pP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2.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调制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比特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→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模拟信号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signal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modulate_ook(bits)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print(f'OOK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调制后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{len(signal)}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5">
                <a:solidFill>
                  <a:srgbClr val="173690"/>
                </a:solidFill>
                <a:latin typeface="NSimSun"/>
                <a:cs typeface="NSimSun"/>
              </a:rPr>
              <a:t>个采样点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每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100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个采样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)')</a:t>
            </a:r>
            <a:endParaRPr sz="1000">
              <a:latin typeface="Consolas"/>
              <a:cs typeface="Consolas"/>
            </a:endParaRPr>
          </a:p>
          <a:p>
            <a:pPr marL="12700" marR="155321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信号范围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[{signal.min():.1f},</a:t>
            </a:r>
            <a:r>
              <a:rPr dirty="0" sz="1000" spc="9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{signal.max():.1f}]')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3.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通过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传输</a:t>
            </a:r>
            <a:endParaRPr sz="1000">
              <a:latin typeface="NSimSun"/>
              <a:cs typeface="NSimSun"/>
            </a:endParaRPr>
          </a:p>
          <a:p>
            <a:pPr marL="12700" marR="151701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Cable(length=100,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attenuation=0.1,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noise_level=0.01)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received_signal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cable.transmit(signal)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通过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 spc="75">
                <a:solidFill>
                  <a:srgbClr val="173690"/>
                </a:solidFill>
                <a:latin typeface="NSimSun"/>
                <a:cs typeface="NSimSun"/>
              </a:rPr>
              <a:t>传输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噪声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={cable.noise_level})')</a:t>
            </a: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接收信号范围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[{received_signal.min():.2f},</a:t>
            </a:r>
            <a:r>
              <a:rPr dirty="0" sz="1000" spc="114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{received_signal.max():.2f}]')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4.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解调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模拟信号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→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比特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12700" marR="244284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received_bits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demodulate_ook(received_signal)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解调后比特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{received_bits}')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5.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比特转字符串</a:t>
            </a:r>
            <a:endParaRPr sz="1000">
              <a:latin typeface="NSimSun"/>
              <a:cs typeface="NSimSun"/>
            </a:endParaRPr>
          </a:p>
          <a:p>
            <a:pPr marL="12700" marR="2371725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received_message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bits_to_string(received_bits)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恢复消息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{received_message}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')</a:t>
            </a:r>
            <a:endParaRPr sz="1000">
              <a:latin typeface="Consolas"/>
              <a:cs typeface="Consolas"/>
            </a:endParaRPr>
          </a:p>
          <a:p>
            <a:pPr marL="12700" marR="233680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传输成功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{message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==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received_message}')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运⾏结果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67410"/>
            <a:ext cx="6817359" cy="3381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Consolas"/>
                <a:cs typeface="Consolas"/>
              </a:rPr>
              <a:t>=== </a:t>
            </a:r>
            <a:r>
              <a:rPr dirty="0" sz="1000" spc="45">
                <a:latin typeface="NSimSun"/>
                <a:cs typeface="NSimSun"/>
              </a:rPr>
              <a:t>比特流传输演示 </a:t>
            </a:r>
            <a:r>
              <a:rPr dirty="0" sz="1000" spc="-25">
                <a:latin typeface="Consolas"/>
                <a:cs typeface="Consolas"/>
              </a:rPr>
              <a:t>===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50">
                <a:latin typeface="NSimSun"/>
                <a:cs typeface="NSimSun"/>
              </a:rPr>
              <a:t>原始消息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10">
                <a:latin typeface="Consolas"/>
                <a:cs typeface="Consolas"/>
              </a:rPr>
              <a:t>"Hello"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比特流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[0,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1,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比特数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40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10">
                <a:latin typeface="Consolas"/>
                <a:cs typeface="Consolas"/>
              </a:rPr>
              <a:t> (</a:t>
            </a:r>
            <a:r>
              <a:rPr dirty="0" sz="1000" spc="50">
                <a:latin typeface="NSimSun"/>
                <a:cs typeface="NSimSun"/>
              </a:rPr>
              <a:t>每字符</a:t>
            </a:r>
            <a:r>
              <a:rPr dirty="0" sz="1000">
                <a:latin typeface="Consolas"/>
                <a:cs typeface="Consolas"/>
              </a:rPr>
              <a:t>8</a:t>
            </a:r>
            <a:r>
              <a:rPr dirty="0" sz="1000" spc="50">
                <a:latin typeface="NSimSun"/>
                <a:cs typeface="NSimSun"/>
              </a:rPr>
              <a:t>位</a:t>
            </a:r>
            <a:r>
              <a:rPr dirty="0" sz="1000" spc="-5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latin typeface="Consolas"/>
                <a:cs typeface="Consolas"/>
              </a:rPr>
              <a:t>OOK</a:t>
            </a:r>
            <a:r>
              <a:rPr dirty="0" sz="1000" spc="50">
                <a:latin typeface="NSimSun"/>
                <a:cs typeface="NSimSun"/>
              </a:rPr>
              <a:t>调制后</a:t>
            </a:r>
            <a:r>
              <a:rPr dirty="0" sz="1000" spc="15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4000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个采样点 </a:t>
            </a:r>
            <a:r>
              <a:rPr dirty="0" sz="1000">
                <a:latin typeface="Consolas"/>
                <a:cs typeface="Consolas"/>
              </a:rPr>
              <a:t>(</a:t>
            </a:r>
            <a:r>
              <a:rPr dirty="0" sz="1000" spc="50">
                <a:latin typeface="NSimSun"/>
                <a:cs typeface="NSimSun"/>
              </a:rPr>
              <a:t>每</a:t>
            </a:r>
            <a:r>
              <a:rPr dirty="0" sz="1000">
                <a:latin typeface="Consolas"/>
                <a:cs typeface="Consolas"/>
              </a:rPr>
              <a:t>bit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100</a:t>
            </a:r>
            <a:r>
              <a:rPr dirty="0" sz="1000" spc="50">
                <a:latin typeface="NSimSun"/>
                <a:cs typeface="NSimSun"/>
              </a:rPr>
              <a:t>个采样</a:t>
            </a:r>
            <a:r>
              <a:rPr dirty="0" sz="1000" spc="-5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信号范围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[0.0,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1.0]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0">
                <a:latin typeface="NSimSun"/>
                <a:cs typeface="NSimSun"/>
              </a:rPr>
              <a:t>通过</a:t>
            </a:r>
            <a:r>
              <a:rPr dirty="0" sz="1000">
                <a:latin typeface="Consolas"/>
                <a:cs typeface="Consolas"/>
              </a:rPr>
              <a:t>Cable</a:t>
            </a:r>
            <a:r>
              <a:rPr dirty="0" sz="1000" spc="60">
                <a:latin typeface="NSimSun"/>
                <a:cs typeface="NSimSun"/>
              </a:rPr>
              <a:t>传输 </a:t>
            </a:r>
            <a:r>
              <a:rPr dirty="0" sz="1000">
                <a:latin typeface="Consolas"/>
                <a:cs typeface="Consolas"/>
              </a:rPr>
              <a:t>(</a:t>
            </a:r>
            <a:r>
              <a:rPr dirty="0" sz="1000" spc="50">
                <a:latin typeface="NSimSun"/>
                <a:cs typeface="NSimSun"/>
              </a:rPr>
              <a:t>噪声</a:t>
            </a:r>
            <a:r>
              <a:rPr dirty="0" sz="1000" spc="-10">
                <a:latin typeface="Consolas"/>
                <a:cs typeface="Consolas"/>
              </a:rPr>
              <a:t>=0.01)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接收信号范围</a:t>
            </a:r>
            <a:r>
              <a:rPr dirty="0" sz="1000">
                <a:latin typeface="Consolas"/>
                <a:cs typeface="Consolas"/>
              </a:rPr>
              <a:t>: [-0.03,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0.94]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0">
                <a:latin typeface="NSimSun"/>
                <a:cs typeface="NSimSun"/>
              </a:rPr>
              <a:t>解调后比特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[0,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0,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0">
                <a:latin typeface="NSimSun"/>
                <a:cs typeface="NSimSun"/>
              </a:rPr>
              <a:t>恢复消息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10">
                <a:latin typeface="Consolas"/>
                <a:cs typeface="Consolas"/>
              </a:rPr>
              <a:t>"Hello"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传输成功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20">
                <a:latin typeface="Consolas"/>
                <a:cs typeface="Consolas"/>
              </a:rPr>
              <a:t>True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5824" y="55530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58007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60388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15925" y="4534534"/>
            <a:ext cx="5038090" cy="3171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技术</a:t>
            </a:r>
            <a:r>
              <a:rPr dirty="0" sz="1700" spc="-130" b="1">
                <a:latin typeface="Malgun Gothic"/>
                <a:cs typeface="Malgun Gothic"/>
              </a:rPr>
              <a:t>要点</a:t>
            </a:r>
            <a:endParaRPr sz="170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spcBef>
                <a:spcPts val="1235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字符串编码</a:t>
            </a:r>
            <a:r>
              <a:rPr dirty="0" sz="1200" spc="114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ASCII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每个字符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转换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为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8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进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MSB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优先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dirty="0" sz="1200" spc="-10" b="1">
                <a:latin typeface="Arial"/>
                <a:cs typeface="Arial"/>
              </a:rPr>
              <a:t>OOK</a:t>
            </a:r>
            <a:r>
              <a:rPr dirty="0" sz="1350" spc="-170" b="1">
                <a:latin typeface="Microsoft JhengHei"/>
                <a:cs typeface="Microsoft JhengHei"/>
              </a:rPr>
              <a:t>调制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Bit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 → 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⾼电平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(1.0)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Bit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0 → 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零电平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(0.0)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bit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个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Cable</a:t>
            </a:r>
            <a:r>
              <a:rPr dirty="0" sz="1350" spc="-170" b="1">
                <a:latin typeface="Microsoft JhengHei"/>
                <a:cs typeface="Microsoft JhengHei"/>
              </a:rPr>
              <a:t>传输</a:t>
            </a:r>
            <a:r>
              <a:rPr dirty="0" sz="1200" spc="4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模拟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衰减和⾼斯⽩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⾃适应解调</a:t>
            </a:r>
            <a:r>
              <a:rPr dirty="0" sz="1200" spc="6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号统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特性⾃动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算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阈值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完整性验证</a:t>
            </a:r>
            <a:r>
              <a:rPr dirty="0" sz="1200" spc="5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前后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150">
                <a:solidFill>
                  <a:srgbClr val="333333"/>
                </a:solidFill>
                <a:latin typeface="Microsoft JhengHei"/>
                <a:cs typeface="Microsoft JhengHei"/>
              </a:rPr>
              <a:t>息完全⼀致</a:t>
            </a:r>
            <a:endParaRPr sz="1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700" spc="-185" b="1">
                <a:latin typeface="Microsoft JhengHei"/>
                <a:cs typeface="Microsoft JhengHei"/>
              </a:rPr>
              <a:t>核⼼代码实现</a:t>
            </a:r>
            <a:endParaRPr sz="1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350" spc="-170" b="1">
                <a:latin typeface="Microsoft JhengHei"/>
                <a:cs typeface="Microsoft JhengHei"/>
              </a:rPr>
              <a:t>字符串</a:t>
            </a:r>
            <a:r>
              <a:rPr dirty="0" sz="1200" spc="-10" b="1">
                <a:latin typeface="Arial"/>
                <a:cs typeface="Arial"/>
              </a:rPr>
              <a:t>/</a:t>
            </a:r>
            <a:r>
              <a:rPr dirty="0" sz="1350" spc="-135" b="1">
                <a:latin typeface="Microsoft JhengHei"/>
                <a:cs typeface="Microsoft JhengHei"/>
              </a:rPr>
              <a:t>⽐特转换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(physical_layer.py)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432308"/>
            <a:ext cx="4834890" cy="583501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33985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string_to_bits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text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5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5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-&gt;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]:</a:t>
            </a:r>
            <a:endParaRPr sz="1000">
              <a:latin typeface="Consolas"/>
              <a:cs typeface="Consolas"/>
            </a:endParaRPr>
          </a:p>
          <a:p>
            <a:pPr marL="419100" marR="93853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将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ASCII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字符串转换为比特流，每字符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8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位，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MSB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优先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 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[]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char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text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ascii_val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ord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char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988694" marR="1343025" indent="-285115">
              <a:lnSpc>
                <a:spcPct val="137500"/>
              </a:lnSpc>
              <a:spcBef>
                <a:spcPts val="75"/>
              </a:spcBef>
              <a:tabLst>
                <a:tab pos="2699385" algn="l"/>
              </a:tabLst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7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	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MSB</a:t>
            </a: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first 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append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((</a:t>
            </a:r>
            <a:r>
              <a:rPr dirty="0" sz="1000">
                <a:latin typeface="Consolas"/>
                <a:cs typeface="Consolas"/>
              </a:rPr>
              <a:t>ascii_val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&gt;&gt;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5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&amp;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000">
              <a:latin typeface="Consolas"/>
              <a:cs typeface="Consolas"/>
            </a:endParaRPr>
          </a:p>
          <a:p>
            <a:pPr marL="419100" marR="1628139" indent="-285115">
              <a:lnSpc>
                <a:spcPct val="1438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bits_to_string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List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2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将比特流转换回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ASCII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字符串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%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30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!=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  <a:tabLst>
                <a:tab pos="3625850" algn="l"/>
              </a:tabLst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+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]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25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-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%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424442"/>
                </a:solidFill>
                <a:latin typeface="NSimSun"/>
                <a:cs typeface="NSimSun"/>
              </a:rPr>
              <a:t>填充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>
              <a:latin typeface="NSimSun"/>
              <a:cs typeface="NSimSun"/>
            </a:endParaRPr>
          </a:p>
          <a:p>
            <a:pPr marL="419100">
              <a:lnSpc>
                <a:spcPct val="100000"/>
              </a:lnSpc>
            </a:pPr>
            <a:r>
              <a:rPr dirty="0" sz="1000">
                <a:latin typeface="Consolas"/>
                <a:cs typeface="Consolas"/>
              </a:rPr>
              <a:t>text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[]</a:t>
            </a:r>
            <a:endParaRPr sz="1000">
              <a:latin typeface="Consolas"/>
              <a:cs typeface="Consolas"/>
            </a:endParaRPr>
          </a:p>
          <a:p>
            <a:pPr marL="704215" marR="2126615" indent="-28511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byte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latin typeface="Consolas"/>
                <a:cs typeface="Consolas"/>
              </a:rPr>
              <a:t>i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-10">
                <a:latin typeface="Consolas"/>
                <a:cs typeface="Consolas"/>
              </a:rPr>
              <a:t>i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endParaRPr sz="1000">
              <a:latin typeface="Consolas"/>
              <a:cs typeface="Consolas"/>
            </a:endParaRPr>
          </a:p>
          <a:p>
            <a:pPr marL="704215" marR="2982595" indent="-635">
              <a:lnSpc>
                <a:spcPts val="1730"/>
              </a:lnSpc>
              <a:spcBef>
                <a:spcPts val="70"/>
              </a:spcBef>
            </a:pPr>
            <a:r>
              <a:rPr dirty="0" sz="1000">
                <a:latin typeface="Consolas"/>
                <a:cs typeface="Consolas"/>
              </a:rPr>
              <a:t>ascii_val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0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byte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988694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latin typeface="Consolas"/>
                <a:cs typeface="Consolas"/>
              </a:rPr>
              <a:t>ascii_val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ascii_val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&lt;&lt;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|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bit</a:t>
            </a:r>
            <a:endParaRPr sz="1000">
              <a:latin typeface="Consolas"/>
              <a:cs typeface="Consolas"/>
            </a:endParaRPr>
          </a:p>
          <a:p>
            <a:pPr marL="988694" marR="1913889" indent="-28511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ascii_val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&gt;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latin typeface="Consolas"/>
                <a:cs typeface="Consolas"/>
              </a:rPr>
              <a:t>text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append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chr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ascii_val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))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join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text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50" spc="-170" b="1">
                <a:latin typeface="Microsoft JhengHei"/>
                <a:cs typeface="Microsoft JhengHei"/>
              </a:rPr>
              <a:t>功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200" spc="114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的数字化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将⼈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的字符串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转换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为可传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的⽐特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流。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200" b="1">
                <a:latin typeface="Arial"/>
                <a:cs typeface="Arial"/>
              </a:rPr>
              <a:t>2.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OOK</a:t>
            </a:r>
            <a:r>
              <a:rPr dirty="0" sz="1350" spc="-170" b="1">
                <a:latin typeface="Microsoft JhengHei"/>
                <a:cs typeface="Microsoft JhengHei"/>
              </a:rPr>
              <a:t>调制</a:t>
            </a:r>
            <a:r>
              <a:rPr dirty="0" sz="1200" spc="-10" b="1">
                <a:latin typeface="Arial"/>
                <a:cs typeface="Arial"/>
              </a:rPr>
              <a:t>/</a:t>
            </a:r>
            <a:r>
              <a:rPr dirty="0" sz="1350" spc="-110" b="1">
                <a:latin typeface="Microsoft JhengHei"/>
                <a:cs typeface="Microsoft JhengHei"/>
              </a:rPr>
              <a:t>解调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(physical_layer.py)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432308"/>
            <a:ext cx="6917690" cy="888301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33985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6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modulate_ook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7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],</a:t>
            </a:r>
            <a:endParaRPr sz="1000">
              <a:latin typeface="Consolas"/>
              <a:cs typeface="Consolas"/>
            </a:endParaRPr>
          </a:p>
          <a:p>
            <a:pPr marL="134493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samples_per_bit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100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134493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amplitude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float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1.0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-&gt;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ndarray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50"/>
              </a:spcBef>
            </a:pP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On-Off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Keying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调制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40">
                <a:solidFill>
                  <a:srgbClr val="173690"/>
                </a:solidFill>
                <a:latin typeface="NSimSun"/>
                <a:cs typeface="NSimSun"/>
              </a:rPr>
              <a:t>将比特转换为模拟信号</a:t>
            </a:r>
            <a:endParaRPr sz="1000">
              <a:latin typeface="NSimSun"/>
              <a:cs typeface="NSimSun"/>
            </a:endParaRPr>
          </a:p>
          <a:p>
            <a:pPr marL="561340" indent="-142240">
              <a:lnSpc>
                <a:spcPct val="100000"/>
              </a:lnSpc>
              <a:spcBef>
                <a:spcPts val="525"/>
              </a:spcBef>
              <a:buChar char="-"/>
              <a:tabLst>
                <a:tab pos="561340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1: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45">
                <a:solidFill>
                  <a:srgbClr val="173690"/>
                </a:solidFill>
                <a:latin typeface="NSimSun"/>
                <a:cs typeface="NSimSun"/>
              </a:rPr>
              <a:t>高电平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(amplitude)</a:t>
            </a:r>
            <a:endParaRPr sz="1000">
              <a:latin typeface="Consolas"/>
              <a:cs typeface="Consolas"/>
            </a:endParaRPr>
          </a:p>
          <a:p>
            <a:pPr marL="561340" indent="-142240">
              <a:lnSpc>
                <a:spcPct val="100000"/>
              </a:lnSpc>
              <a:spcBef>
                <a:spcPts val="450"/>
              </a:spcBef>
              <a:buChar char="-"/>
              <a:tabLst>
                <a:tab pos="561340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0: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45">
                <a:solidFill>
                  <a:srgbClr val="173690"/>
                </a:solidFill>
                <a:latin typeface="NSimSun"/>
                <a:cs typeface="NSimSun"/>
              </a:rPr>
              <a:t>零电平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(0)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525"/>
              </a:spcBef>
            </a:pP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zeros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704215" marR="4281805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enumerate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start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 marL="704215" marR="3996690" indent="-63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end</a:t>
            </a:r>
            <a:r>
              <a:rPr dirty="0" sz="1000" spc="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samples_per_bit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35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-35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988694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start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>
                <a:latin typeface="Consolas"/>
                <a:cs typeface="Consolas"/>
              </a:rPr>
              <a:t>end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6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amplitude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signal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33985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7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demodulate_ook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8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ndarray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148717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samples_per_bit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100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148717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threshold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Optional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float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None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5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-&gt;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]: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50"/>
              </a:spcBef>
            </a:pP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OOK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解调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40">
                <a:solidFill>
                  <a:srgbClr val="173690"/>
                </a:solidFill>
                <a:latin typeface="NSimSun"/>
                <a:cs typeface="NSimSun"/>
              </a:rPr>
              <a:t>使用自适应阈值从模拟信号恢复比特</a:t>
            </a:r>
            <a:endParaRPr sz="1000">
              <a:latin typeface="NSimSun"/>
              <a:cs typeface="NSimSun"/>
            </a:endParaRPr>
          </a:p>
          <a:p>
            <a:pPr marL="419100">
              <a:lnSpc>
                <a:spcPct val="100000"/>
              </a:lnSpc>
              <a:spcBef>
                <a:spcPts val="525"/>
              </a:spcBef>
            </a:pP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num_bits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//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5">
                <a:solidFill>
                  <a:srgbClr val="424442"/>
                </a:solidFill>
                <a:latin typeface="NSimSun"/>
                <a:cs typeface="NSimSun"/>
              </a:rPr>
              <a:t>自适应阈值计算</a:t>
            </a:r>
            <a:endParaRPr sz="1000">
              <a:latin typeface="NSimSun"/>
              <a:cs typeface="NSimSun"/>
            </a:endParaRPr>
          </a:p>
          <a:p>
            <a:pPr marL="4191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threshold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None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threshold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mean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abs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))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0.5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[]</a:t>
            </a:r>
            <a:endParaRPr sz="1000">
              <a:latin typeface="Consolas"/>
              <a:cs typeface="Consolas"/>
            </a:endParaRPr>
          </a:p>
          <a:p>
            <a:pPr marL="704215" marR="4281805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num_bits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r>
              <a:rPr dirty="0" sz="1000" spc="500">
                <a:solidFill>
                  <a:srgbClr val="333333"/>
                </a:solidFill>
                <a:latin typeface="Consolas"/>
                <a:cs typeface="Consolas"/>
              </a:rPr>
              <a:t>  </a:t>
            </a:r>
            <a:r>
              <a:rPr dirty="0" sz="1000">
                <a:latin typeface="Consolas"/>
                <a:cs typeface="Consolas"/>
              </a:rPr>
              <a:t>start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end</a:t>
            </a:r>
            <a:r>
              <a:rPr dirty="0" sz="1000" spc="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  <a:tabLst>
                <a:tab pos="3126740" algn="l"/>
              </a:tabLst>
            </a:pPr>
            <a:r>
              <a:rPr dirty="0" sz="1000">
                <a:latin typeface="Consolas"/>
                <a:cs typeface="Consolas"/>
              </a:rPr>
              <a:t>avg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mean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signal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latin typeface="Consolas"/>
                <a:cs typeface="Consolas"/>
              </a:rPr>
              <a:t>start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-10">
                <a:latin typeface="Consolas"/>
                <a:cs typeface="Consolas"/>
              </a:rPr>
              <a:t>end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])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	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平均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100</a:t>
            </a:r>
            <a:r>
              <a:rPr dirty="0" sz="1000" spc="25">
                <a:solidFill>
                  <a:srgbClr val="424442"/>
                </a:solidFill>
                <a:latin typeface="NSimSun"/>
                <a:cs typeface="NSimSun"/>
              </a:rPr>
              <a:t>个采样点</a:t>
            </a:r>
            <a:endParaRPr sz="1000">
              <a:latin typeface="NSimSun"/>
              <a:cs typeface="NSimSun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append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35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avg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&gt;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threshold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else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20400"/>
              </a:lnSpc>
              <a:spcBef>
                <a:spcPts val="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功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将数字⽐特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流转换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为物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层可传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模拟信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号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在接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收端恢复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。通过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个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的平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有效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降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倍。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38963"/>
            <a:ext cx="6416040" cy="656653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latin typeface="Arial"/>
                <a:cs typeface="Arial"/>
              </a:rPr>
              <a:t>3.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350" spc="-170" b="1">
                <a:latin typeface="Microsoft JhengHei"/>
                <a:cs typeface="Microsoft JhengHei"/>
              </a:rPr>
              <a:t>物</a:t>
            </a:r>
            <a:r>
              <a:rPr dirty="0" sz="1350" spc="-170" b="1">
                <a:latin typeface="Malgun Gothic"/>
                <a:cs typeface="Malgun Gothic"/>
              </a:rPr>
              <a:t>理</a:t>
            </a:r>
            <a:r>
              <a:rPr dirty="0" sz="1350" spc="-125" b="1">
                <a:latin typeface="Microsoft JhengHei"/>
                <a:cs typeface="Microsoft JhengHei"/>
              </a:rPr>
              <a:t>链路类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(physical_layer.py)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200">
              <a:latin typeface="Arial MT"/>
              <a:cs typeface="Arial MT"/>
            </a:endParaRPr>
          </a:p>
          <a:p>
            <a:pPr marL="133985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PhysicalLink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封装完整的物理层传输流程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704215" marR="1642110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3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init</a:t>
            </a:r>
            <a:r>
              <a:rPr dirty="0" u="sng" sz="1000" spc="33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cable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Cable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samples_per_bit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100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cable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cable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samples_per_bit</a:t>
            </a:r>
            <a:r>
              <a:rPr dirty="0" sz="1000" spc="6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7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00">
              <a:latin typeface="Consolas"/>
              <a:cs typeface="Consolas"/>
            </a:endParaRPr>
          </a:p>
          <a:p>
            <a:pPr marL="704215" marR="2140585" indent="-285115">
              <a:lnSpc>
                <a:spcPct val="1438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transmit_bits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List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端到端比特传输</a:t>
            </a: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55">
                <a:solidFill>
                  <a:srgbClr val="173690"/>
                </a:solidFill>
                <a:latin typeface="NSimSun"/>
                <a:cs typeface="NSimSun"/>
              </a:rPr>
              <a:t>调制 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→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传输 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→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解调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424442"/>
                </a:solidFill>
                <a:latin typeface="NSimSun"/>
                <a:cs typeface="NSimSun"/>
              </a:rPr>
              <a:t>调制</a:t>
            </a:r>
            <a:endParaRPr sz="1000">
              <a:latin typeface="NSimSun"/>
              <a:cs typeface="NSimSun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modulate_ook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</a:pP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通过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Cable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传输（衰减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+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噪声</a:t>
            </a:r>
            <a:r>
              <a:rPr dirty="0" sz="1000" spc="-50">
                <a:solidFill>
                  <a:srgbClr val="424442"/>
                </a:solidFill>
                <a:latin typeface="NSimSun"/>
                <a:cs typeface="NSimSun"/>
              </a:rPr>
              <a:t>）</a:t>
            </a:r>
            <a:endParaRPr sz="1000">
              <a:latin typeface="NSimSun"/>
              <a:cs typeface="NSimSun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received_signal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cable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transmit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signal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5">
                <a:solidFill>
                  <a:srgbClr val="424442"/>
                </a:solidFill>
                <a:latin typeface="NSimSun"/>
                <a:cs typeface="NSimSun"/>
              </a:rPr>
              <a:t>自适应阈值解调</a:t>
            </a:r>
            <a:endParaRPr sz="1000">
              <a:latin typeface="NSimSun"/>
              <a:cs typeface="NSimSun"/>
            </a:endParaRPr>
          </a:p>
          <a:p>
            <a:pPr marL="704215" marR="50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threshold</a:t>
            </a:r>
            <a:r>
              <a:rPr dirty="0" sz="1000" spc="11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11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calculate_adaptive_threshold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received_signal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1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latin typeface="Consolas"/>
                <a:cs typeface="Consolas"/>
              </a:rPr>
              <a:t>received_bits</a:t>
            </a:r>
            <a:r>
              <a:rPr dirty="0" sz="1000" spc="10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10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demodulate_ook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received_signal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0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samples_per_bit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0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threshold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received_bits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704215" marR="2995930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transmit_data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2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字符串级别的传输接口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string_to_bits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data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704215" marR="2853690" indent="-63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received_bits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transmit_bits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bits_to_string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received_bits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50" spc="-170" b="1">
                <a:latin typeface="Microsoft JhengHei"/>
                <a:cs typeface="Microsoft JhengHei"/>
              </a:rPr>
              <a:t>功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200" spc="10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供统⼀的物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层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接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⼝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封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装调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输、解调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的完整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流程。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776" y="436943"/>
            <a:ext cx="6765321" cy="443337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15925" y="5191412"/>
            <a:ext cx="582549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1.1: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OOK</a:t>
            </a:r>
            <a:r>
              <a:rPr dirty="0" sz="1400" spc="-245">
                <a:solidFill>
                  <a:srgbClr val="333333"/>
                </a:solidFill>
                <a:latin typeface="SimSun"/>
                <a:cs typeface="SimSun"/>
              </a:rPr>
              <a:t>调制过程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- 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上：原始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⽐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特；中：调制信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号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；下：接收信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号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含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噪声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衰减</a:t>
            </a:r>
            <a:r>
              <a:rPr dirty="0" sz="140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400">
              <a:latin typeface="SimSun"/>
              <a:cs typeface="SimSu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362" y="5673169"/>
            <a:ext cx="6770260" cy="38013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581312"/>
            <a:ext cx="67341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1.2: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波形</a:t>
            </a:r>
            <a:r>
              <a:rPr dirty="0" sz="1400" spc="-150">
                <a:solidFill>
                  <a:srgbClr val="333333"/>
                </a:solidFill>
                <a:latin typeface="Microsoft JhengHei"/>
                <a:cs typeface="Microsoft JhengHei"/>
              </a:rPr>
              <a:t>细节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- 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上：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送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"Hi"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带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⽐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特标注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边界；下：接收信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号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带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⾃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适应阈值（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绿线</a:t>
            </a:r>
            <a:r>
              <a:rPr dirty="0" sz="1400" spc="-705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400" spc="5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200" spc="5" i="1">
                <a:solidFill>
                  <a:srgbClr val="333333"/>
                </a:solidFill>
                <a:latin typeface="Arial"/>
                <a:cs typeface="Arial"/>
              </a:rPr>
              <a:t>SNR=14dB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5925" y="1424432"/>
            <a:ext cx="2375535" cy="11283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35" b="1">
                <a:latin typeface="Microsoft JhengHei"/>
                <a:cs typeface="Microsoft JhengHei"/>
              </a:rPr>
              <a:t>任务 </a:t>
            </a:r>
            <a:r>
              <a:rPr dirty="0" sz="1800" b="1">
                <a:latin typeface="Arial"/>
                <a:cs typeface="Arial"/>
              </a:rPr>
              <a:t>1.2: </a:t>
            </a:r>
            <a:r>
              <a:rPr dirty="0" sz="2000" spc="-195" b="1">
                <a:latin typeface="Microsoft JhengHei"/>
                <a:cs typeface="Microsoft JhengHei"/>
              </a:rPr>
              <a:t>消息分⽚传输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700" spc="-175" b="1">
                <a:latin typeface="Microsoft JhengHei"/>
                <a:cs typeface="Microsoft JhengHei"/>
              </a:rPr>
              <a:t>测试⽬标</a:t>
            </a:r>
            <a:endParaRPr sz="1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演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⽰⼤数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分⽚传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组机制</a:t>
            </a:r>
            <a:endParaRPr sz="13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实现代码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4512945" cy="855027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latin typeface="Consolas"/>
                <a:cs typeface="Consolas"/>
              </a:rPr>
              <a:t>python3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-c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data_link_layer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*</a:t>
            </a:r>
            <a:endParaRPr sz="1000">
              <a:latin typeface="Consolas"/>
              <a:cs typeface="Consolas"/>
            </a:endParaRPr>
          </a:p>
          <a:p>
            <a:pPr marL="12700" marR="1713864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physical_layer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PhysicalLink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12700" marR="2214245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print('===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消息分片传输演示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===')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创建长消息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long_message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b'A'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*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200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+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b'B'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*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100</a:t>
            </a:r>
            <a:endParaRPr sz="1000">
              <a:latin typeface="Consolas"/>
              <a:cs typeface="Consolas"/>
            </a:endParaRPr>
          </a:p>
          <a:p>
            <a:pPr marL="12700" marR="114554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原始消息长度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{len(long_message)}</a:t>
            </a:r>
            <a:r>
              <a:rPr dirty="0" sz="1000" spc="8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字节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分片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slicer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PacketSlicer(max_payload_size=64)</a:t>
            </a:r>
            <a:endParaRPr sz="1000">
              <a:latin typeface="Consolas"/>
              <a:cs typeface="Consolas"/>
            </a:endParaRPr>
          </a:p>
          <a:p>
            <a:pPr marL="12700" marR="19989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slices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slicer.slice(long_message)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分片数量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{len(slices)}')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i,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enumerate(slices):</a:t>
            </a:r>
            <a:endParaRPr sz="1000">
              <a:latin typeface="Consolas"/>
              <a:cs typeface="Consolas"/>
            </a:endParaRPr>
          </a:p>
          <a:p>
            <a:pPr marL="12700" marR="1750695" indent="284480">
              <a:lnSpc>
                <a:spcPct val="137500"/>
              </a:lnSpc>
              <a:spcBef>
                <a:spcPts val="75"/>
              </a:spcBef>
              <a:tabLst>
                <a:tab pos="1009650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分片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{i}: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{len(s)}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字节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40">
                <a:solidFill>
                  <a:srgbClr val="173690"/>
                </a:solidFill>
                <a:latin typeface="NSimSun"/>
                <a:cs typeface="NSimSun"/>
              </a:rPr>
              <a:t>通过物理层传输每个分片</a:t>
            </a:r>
            <a:endParaRPr sz="1000">
              <a:latin typeface="NSimSun"/>
              <a:cs typeface="NSimSun"/>
            </a:endParaRPr>
          </a:p>
          <a:p>
            <a:pPr marL="12700" marR="43180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Cable(length=100,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attenuation=0.1,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noise_level=0)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link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PhysicalLink(cable)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dll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DataLinkLayer(link,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max_payload_size=64)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传输分片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...')</a:t>
            </a: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received_data,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success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dll.transmit_and_receive(long_message)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接收长度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{len(received_data)}</a:t>
            </a:r>
            <a:r>
              <a:rPr dirty="0" sz="1000" spc="9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字节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传输成功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{success}')</a:t>
            </a:r>
            <a:endParaRPr sz="1000">
              <a:latin typeface="Consolas"/>
              <a:cs typeface="Consolas"/>
            </a:endParaRPr>
          </a:p>
          <a:p>
            <a:pPr marL="12700" marR="89598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数据匹配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{long_message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==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received_data}')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显示帧格式</a:t>
            </a:r>
            <a:endParaRPr sz="1000">
              <a:latin typeface="NSimSun"/>
              <a:cs typeface="NSimSun"/>
            </a:endParaRPr>
          </a:p>
          <a:p>
            <a:pPr marL="12700" marR="5080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帧格式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print('┌──────────┬────────┬──────────┬──────────┬──────────┐')</a:t>
            </a:r>
            <a:endParaRPr sz="1000">
              <a:latin typeface="Consolas"/>
              <a:cs typeface="Consolas"/>
            </a:endParaRPr>
          </a:p>
          <a:p>
            <a:pPr algn="just" marL="12700" marR="5080">
              <a:lnSpc>
                <a:spcPct val="139600"/>
              </a:lnSpc>
              <a:spcBef>
                <a:spcPts val="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print('│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Preamble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Length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Payload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Checksum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Postamble│')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print('│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8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16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bits│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variable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8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8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│')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print('└──────────┴────────┴──────────┴──────────┴──────────┘')</a:t>
            </a:r>
            <a:r>
              <a:rPr dirty="0" sz="1000" spc="50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运⾏结果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67410"/>
            <a:ext cx="3871595" cy="4448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Consolas"/>
                <a:cs typeface="Consolas"/>
              </a:rPr>
              <a:t>=== </a:t>
            </a:r>
            <a:r>
              <a:rPr dirty="0" sz="1000" spc="45">
                <a:latin typeface="NSimSun"/>
                <a:cs typeface="NSimSun"/>
              </a:rPr>
              <a:t>消息分片传输演示 </a:t>
            </a:r>
            <a:r>
              <a:rPr dirty="0" sz="1000" spc="-25">
                <a:latin typeface="Consolas"/>
                <a:cs typeface="Consolas"/>
              </a:rPr>
              <a:t>===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50">
                <a:latin typeface="NSimSun"/>
                <a:cs typeface="NSimSun"/>
              </a:rPr>
              <a:t>原始消息长度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300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NSimSun"/>
                <a:cs typeface="NSimSun"/>
              </a:rPr>
              <a:t>字节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</a:pPr>
            <a:r>
              <a:rPr dirty="0" sz="1000" spc="50">
                <a:latin typeface="NSimSun"/>
                <a:cs typeface="NSimSun"/>
              </a:rPr>
              <a:t>分片数量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50">
                <a:latin typeface="Consolas"/>
                <a:cs typeface="Consolas"/>
              </a:rPr>
              <a:t>5</a:t>
            </a:r>
            <a:endParaRPr sz="1000">
              <a:latin typeface="Consolas"/>
              <a:cs typeface="Consolas"/>
            </a:endParaRPr>
          </a:p>
          <a:p>
            <a:pPr marL="15494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分片 </a:t>
            </a:r>
            <a:r>
              <a:rPr dirty="0" sz="1000">
                <a:latin typeface="Consolas"/>
                <a:cs typeface="Consolas"/>
              </a:rPr>
              <a:t>0: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64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NSimSun"/>
                <a:cs typeface="NSimSun"/>
              </a:rPr>
              <a:t>字节</a:t>
            </a:r>
            <a:endParaRPr sz="1000">
              <a:latin typeface="NSimSun"/>
              <a:cs typeface="NSimSun"/>
            </a:endParaRPr>
          </a:p>
          <a:p>
            <a:pPr marL="15494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分片 </a:t>
            </a:r>
            <a:r>
              <a:rPr dirty="0" sz="1000">
                <a:latin typeface="Consolas"/>
                <a:cs typeface="Consolas"/>
              </a:rPr>
              <a:t>1: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64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NSimSun"/>
                <a:cs typeface="NSimSun"/>
              </a:rPr>
              <a:t>字节</a:t>
            </a:r>
            <a:endParaRPr sz="1000">
              <a:latin typeface="NSimSun"/>
              <a:cs typeface="NSimSun"/>
            </a:endParaRPr>
          </a:p>
          <a:p>
            <a:pPr marL="15494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分片 </a:t>
            </a:r>
            <a:r>
              <a:rPr dirty="0" sz="1000">
                <a:latin typeface="Consolas"/>
                <a:cs typeface="Consolas"/>
              </a:rPr>
              <a:t>2: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64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NSimSun"/>
                <a:cs typeface="NSimSun"/>
              </a:rPr>
              <a:t>字节</a:t>
            </a:r>
            <a:endParaRPr sz="1000">
              <a:latin typeface="NSimSun"/>
              <a:cs typeface="NSimSun"/>
            </a:endParaRPr>
          </a:p>
          <a:p>
            <a:pPr marL="15494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分片 </a:t>
            </a:r>
            <a:r>
              <a:rPr dirty="0" sz="1000">
                <a:latin typeface="Consolas"/>
                <a:cs typeface="Consolas"/>
              </a:rPr>
              <a:t>3: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64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NSimSun"/>
                <a:cs typeface="NSimSun"/>
              </a:rPr>
              <a:t>字节</a:t>
            </a:r>
            <a:endParaRPr sz="1000">
              <a:latin typeface="NSimSun"/>
              <a:cs typeface="NSimSun"/>
            </a:endParaRPr>
          </a:p>
          <a:p>
            <a:pPr marL="15494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分片 </a:t>
            </a:r>
            <a:r>
              <a:rPr dirty="0" sz="1000">
                <a:latin typeface="Consolas"/>
                <a:cs typeface="Consolas"/>
              </a:rPr>
              <a:t>4: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64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NSimSun"/>
                <a:cs typeface="NSimSun"/>
              </a:rPr>
              <a:t>字节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</a:pPr>
            <a:r>
              <a:rPr dirty="0" sz="1000" spc="50">
                <a:latin typeface="NSimSun"/>
                <a:cs typeface="NSimSun"/>
              </a:rPr>
              <a:t>传输分片</a:t>
            </a:r>
            <a:r>
              <a:rPr dirty="0" sz="1000" spc="-25">
                <a:latin typeface="Consolas"/>
                <a:cs typeface="Consolas"/>
              </a:rPr>
              <a:t>...</a:t>
            </a:r>
            <a:endParaRPr sz="1000">
              <a:latin typeface="Consolas"/>
              <a:cs typeface="Consolas"/>
            </a:endParaRPr>
          </a:p>
          <a:p>
            <a:pPr marL="12700" marR="2626995">
              <a:lnSpc>
                <a:spcPts val="1730"/>
              </a:lnSpc>
              <a:spcBef>
                <a:spcPts val="65"/>
              </a:spcBef>
            </a:pPr>
            <a:r>
              <a:rPr dirty="0" sz="1000" spc="50">
                <a:latin typeface="NSimSun"/>
                <a:cs typeface="NSimSun"/>
              </a:rPr>
              <a:t>接收长度</a:t>
            </a:r>
            <a:r>
              <a:rPr dirty="0" sz="1000" spc="-15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300</a:t>
            </a:r>
            <a:r>
              <a:rPr dirty="0" sz="1000" spc="-30">
                <a:latin typeface="Consolas"/>
                <a:cs typeface="Consolas"/>
              </a:rPr>
              <a:t> </a:t>
            </a:r>
            <a:r>
              <a:rPr dirty="0" sz="1000">
                <a:latin typeface="NSimSun"/>
                <a:cs typeface="NSimSun"/>
              </a:rPr>
              <a:t>字节</a:t>
            </a:r>
            <a:r>
              <a:rPr dirty="0" sz="1000" spc="50">
                <a:latin typeface="NSimSun"/>
                <a:cs typeface="NSimSun"/>
              </a:rPr>
              <a:t>传输成功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20">
                <a:latin typeface="Consolas"/>
                <a:cs typeface="Consolas"/>
              </a:rPr>
              <a:t>True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 spc="50">
                <a:latin typeface="NSimSun"/>
                <a:cs typeface="NSimSun"/>
              </a:rPr>
              <a:t>数据匹配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20">
                <a:latin typeface="Consolas"/>
                <a:cs typeface="Consolas"/>
              </a:rPr>
              <a:t>True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0">
                <a:latin typeface="NSimSun"/>
                <a:cs typeface="NSimSun"/>
              </a:rPr>
              <a:t>帧格式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latin typeface="Consolas"/>
                <a:cs typeface="Consolas"/>
              </a:rPr>
              <a:t>┌──────────┬────────┬──────────┬──────────┬──────────┐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  <a:tabLst>
                <a:tab pos="2219960" algn="l"/>
              </a:tabLst>
            </a:pP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Preamble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Length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Payload</a:t>
            </a:r>
            <a:r>
              <a:rPr dirty="0" sz="1000">
                <a:latin typeface="Consolas"/>
                <a:cs typeface="Consolas"/>
              </a:rPr>
              <a:t>	│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Checksum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Postamble│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226060" algn="l"/>
                <a:tab pos="795655" algn="l"/>
                <a:tab pos="2433955" algn="l"/>
                <a:tab pos="3003550" algn="l"/>
                <a:tab pos="3217545" algn="l"/>
                <a:tab pos="3787140" algn="l"/>
              </a:tabLst>
            </a:pPr>
            <a:r>
              <a:rPr dirty="0" sz="1000" spc="-50">
                <a:latin typeface="Consolas"/>
                <a:cs typeface="Consolas"/>
              </a:rPr>
              <a:t>│</a:t>
            </a:r>
            <a:r>
              <a:rPr dirty="0" sz="1000">
                <a:latin typeface="Consolas"/>
                <a:cs typeface="Consolas"/>
              </a:rPr>
              <a:t>	8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r>
              <a:rPr dirty="0" sz="1000">
                <a:latin typeface="Consolas"/>
                <a:cs typeface="Consolas"/>
              </a:rPr>
              <a:t>	│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16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bits│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variable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50">
                <a:latin typeface="Consolas"/>
                <a:cs typeface="Consolas"/>
              </a:rPr>
              <a:t>│</a:t>
            </a:r>
            <a:r>
              <a:rPr dirty="0" sz="1000">
                <a:latin typeface="Consolas"/>
                <a:cs typeface="Consolas"/>
              </a:rPr>
              <a:t>	8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-50">
                <a:latin typeface="Consolas"/>
                <a:cs typeface="Consolas"/>
              </a:rPr>
              <a:t>│</a:t>
            </a:r>
            <a:r>
              <a:rPr dirty="0" sz="1000">
                <a:latin typeface="Consolas"/>
                <a:cs typeface="Consolas"/>
              </a:rPr>
              <a:t>	8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-50">
                <a:latin typeface="Consolas"/>
                <a:cs typeface="Consolas"/>
              </a:rPr>
              <a:t>│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latin typeface="Consolas"/>
                <a:cs typeface="Consolas"/>
              </a:rPr>
              <a:t>└──────────┴────────┴──────────┴──────────┴──────────┘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5824" y="661987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686752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71056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73532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759142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15925" y="5601334"/>
            <a:ext cx="4276725" cy="3409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技术</a:t>
            </a:r>
            <a:r>
              <a:rPr dirty="0" sz="1700" spc="-130" b="1">
                <a:latin typeface="Malgun Gothic"/>
                <a:cs typeface="Malgun Gothic"/>
              </a:rPr>
              <a:t>要点</a:t>
            </a:r>
            <a:endParaRPr sz="170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spcBef>
                <a:spcPts val="1235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分⽚策略</a:t>
            </a:r>
            <a:r>
              <a:rPr dirty="0" sz="1200" spc="9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每个分⽚最⼤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64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字节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300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字节数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5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个分⽚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帧结构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 marR="1605915">
              <a:lnSpc>
                <a:spcPct val="118100"/>
              </a:lnSpc>
              <a:spcBef>
                <a:spcPts val="3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Preamble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(0xAA):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帧</a:t>
            </a:r>
            <a:r>
              <a:rPr dirty="0" sz="1350" spc="-140">
                <a:solidFill>
                  <a:srgbClr val="333333"/>
                </a:solidFill>
                <a:latin typeface="SimSun"/>
                <a:cs typeface="SimSun"/>
              </a:rPr>
              <a:t>开始标识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Length:</a:t>
            </a:r>
            <a:r>
              <a:rPr dirty="0" sz="1200" spc="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载荷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⻓度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16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Payload: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据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Checksum:</a:t>
            </a:r>
            <a:r>
              <a:rPr dirty="0" sz="1200" spc="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简单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和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Postamble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(0x55):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帧结束</a:t>
            </a:r>
            <a:r>
              <a:rPr dirty="0" sz="1350" spc="-150">
                <a:solidFill>
                  <a:srgbClr val="333333"/>
                </a:solidFill>
                <a:latin typeface="SimSun"/>
                <a:cs typeface="SimSun"/>
              </a:rPr>
              <a:t>标识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70" b="1">
                <a:latin typeface="Malgun Gothic"/>
                <a:cs typeface="Malgun Gothic"/>
              </a:rPr>
              <a:t>重</a:t>
            </a:r>
            <a:r>
              <a:rPr dirty="0" sz="1350" spc="-170" b="1">
                <a:latin typeface="Microsoft JhengHei"/>
                <a:cs typeface="Microsoft JhengHei"/>
              </a:rPr>
              <a:t>组机制</a:t>
            </a:r>
            <a:r>
              <a:rPr dirty="0" sz="1200" spc="4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按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序列号⾃动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组分⽚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错误检测</a:t>
            </a:r>
            <a:r>
              <a:rPr dirty="0" sz="1200" spc="6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通过校验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验证</a:t>
            </a:r>
            <a:r>
              <a:rPr dirty="0" sz="1350" spc="-155">
                <a:solidFill>
                  <a:srgbClr val="333333"/>
                </a:solidFill>
                <a:latin typeface="Microsoft JhengHei"/>
                <a:cs typeface="Microsoft JhengHei"/>
              </a:rPr>
              <a:t>每个帧的完整性</a:t>
            </a:r>
            <a:endParaRPr sz="1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1700" spc="-185" b="1">
                <a:latin typeface="Microsoft JhengHei"/>
                <a:cs typeface="Microsoft JhengHei"/>
              </a:rPr>
              <a:t>核⼼代码实现</a:t>
            </a:r>
            <a:endParaRPr sz="1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350" spc="-170" b="1">
                <a:latin typeface="Microsoft JhengHei"/>
                <a:cs typeface="Microsoft JhengHei"/>
              </a:rPr>
              <a:t>分⽚</a:t>
            </a:r>
            <a:r>
              <a:rPr dirty="0" sz="1350" spc="-155" b="1">
                <a:latin typeface="Malgun Gothic"/>
                <a:cs typeface="Malgun Gothic"/>
              </a:rPr>
              <a:t>器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(data_link_layer.py)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432308"/>
            <a:ext cx="5283200" cy="455866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33985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PacketSlicer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消息分片与重组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704215" marR="1506855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3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init</a:t>
            </a:r>
            <a:r>
              <a:rPr dirty="0" u="sng" sz="1000" spc="33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max_payload_size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64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max_payload_size</a:t>
            </a:r>
            <a:r>
              <a:rPr dirty="0" sz="1000" spc="7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7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max_payload_size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00">
              <a:latin typeface="Consolas"/>
              <a:cs typeface="Consolas"/>
            </a:endParaRPr>
          </a:p>
          <a:p>
            <a:pPr marL="704215" marR="1720850" indent="-285115">
              <a:lnSpc>
                <a:spcPct val="1438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slice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将大数据切分成多个小分片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slices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[]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max_payload_size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988694" marR="100901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slice_data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max_payload_size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 </a:t>
            </a:r>
            <a:r>
              <a:rPr dirty="0" sz="1000" spc="-10">
                <a:latin typeface="Consolas"/>
                <a:cs typeface="Consolas"/>
              </a:rPr>
              <a:t>slices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append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slice_data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slices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000">
              <a:latin typeface="Consolas"/>
              <a:cs typeface="Consolas"/>
            </a:endParaRPr>
          </a:p>
          <a:p>
            <a:pPr marL="704215" marR="1222375" indent="-285115">
              <a:lnSpc>
                <a:spcPct val="1438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reassemble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slices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List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重组分片为完整数据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b''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join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slices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50" spc="-170" b="1">
                <a:latin typeface="Microsoft JhengHei"/>
                <a:cs typeface="Microsoft JhengHei"/>
              </a:rPr>
              <a:t>功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200" spc="12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将⼤于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64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字节的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息⾃动分⽚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，确保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每个帧不超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最⼤传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单元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(MTU)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200" b="1">
                <a:latin typeface="Arial"/>
                <a:cs typeface="Arial"/>
              </a:rPr>
              <a:t>2.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350" spc="-145" b="1">
                <a:latin typeface="Microsoft JhengHei"/>
                <a:cs typeface="Microsoft JhengHei"/>
              </a:rPr>
              <a:t>数据链路层帧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(data_link_layer.py)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7815" y="432308"/>
            <a:ext cx="4727575" cy="918845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DataLinkFrame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97180" marR="2529205">
              <a:lnSpc>
                <a:spcPts val="1730"/>
              </a:lnSpc>
              <a:spcBef>
                <a:spcPts val="65"/>
              </a:spcBef>
              <a:tabLst>
                <a:tab pos="1651000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数据链路层帧格式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 </a:t>
            </a:r>
            <a:r>
              <a:rPr dirty="0" sz="1000">
                <a:latin typeface="Consolas"/>
                <a:cs typeface="Consolas"/>
              </a:rPr>
              <a:t>PREAMBLE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0xAA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	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帧开</a:t>
            </a:r>
            <a:r>
              <a:rPr dirty="0" sz="1000" spc="-50">
                <a:solidFill>
                  <a:srgbClr val="424442"/>
                </a:solidFill>
                <a:latin typeface="NSimSun"/>
                <a:cs typeface="NSimSun"/>
              </a:rPr>
              <a:t>始</a:t>
            </a:r>
            <a:endParaRPr sz="1000">
              <a:latin typeface="NSimSun"/>
              <a:cs typeface="NSimSun"/>
            </a:endParaRPr>
          </a:p>
          <a:p>
            <a:pPr marL="297180">
              <a:lnSpc>
                <a:spcPct val="100000"/>
              </a:lnSpc>
              <a:spcBef>
                <a:spcPts val="300"/>
              </a:spcBef>
              <a:tabLst>
                <a:tab pos="1651000" algn="l"/>
              </a:tabLst>
            </a:pPr>
            <a:r>
              <a:rPr dirty="0" sz="1000">
                <a:latin typeface="Consolas"/>
                <a:cs typeface="Consolas"/>
              </a:rPr>
              <a:t>POSTAMBLE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0x55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15">
                <a:solidFill>
                  <a:srgbClr val="424442"/>
                </a:solidFill>
                <a:latin typeface="NSimSun"/>
                <a:cs typeface="NSimSun"/>
              </a:rPr>
              <a:t>帧结束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00">
              <a:latin typeface="NSimSun"/>
              <a:cs typeface="NSimSun"/>
            </a:endParaRPr>
          </a:p>
          <a:p>
            <a:pPr marL="582295" marR="1927860" indent="-285115">
              <a:lnSpc>
                <a:spcPct val="1406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2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init</a:t>
            </a:r>
            <a:r>
              <a:rPr dirty="0" u="sng" sz="1000" spc="32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payload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payload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payload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length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payload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checksum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_calculate_checksum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582295" marR="1785620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6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_calculate_checksum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2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计算简单校验和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payload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&amp;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0xFF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000">
              <a:latin typeface="Consolas"/>
              <a:cs typeface="Consolas"/>
            </a:endParaRPr>
          </a:p>
          <a:p>
            <a:pPr marL="582295" marR="1976120" indent="-285115">
              <a:lnSpc>
                <a:spcPct val="1406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to_bits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]:</a:t>
            </a:r>
            <a:r>
              <a:rPr dirty="0" sz="1000" spc="50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转换为比特流用于物理层传输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 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Preamble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(8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424442"/>
                </a:solidFill>
                <a:latin typeface="Consolas"/>
                <a:cs typeface="Consolas"/>
              </a:rPr>
              <a:t>bits)</a:t>
            </a:r>
            <a:endParaRPr sz="1000">
              <a:latin typeface="Consolas"/>
              <a:cs typeface="Consolas"/>
            </a:endParaRPr>
          </a:p>
          <a:p>
            <a:pPr marL="582295" marR="1572260" indent="-635">
              <a:lnSpc>
                <a:spcPts val="1730"/>
              </a:lnSpc>
              <a:spcBef>
                <a:spcPts val="70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6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6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int_to_bits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PREAMBLE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7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2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Length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(16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bits)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6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6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int_to_bits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length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6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16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Payload</a:t>
            </a:r>
            <a:endParaRPr sz="1000">
              <a:latin typeface="Consolas"/>
              <a:cs typeface="Consolas"/>
            </a:endParaRPr>
          </a:p>
          <a:p>
            <a:pPr marL="582295" marR="1643380" indent="-635">
              <a:lnSpc>
                <a:spcPct val="137500"/>
              </a:lnSpc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bytes_to_bits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payload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Checksum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(8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bits)</a:t>
            </a:r>
            <a:endParaRPr sz="1000">
              <a:latin typeface="Consolas"/>
              <a:cs typeface="Consolas"/>
            </a:endParaRPr>
          </a:p>
          <a:p>
            <a:pPr marL="582295" marR="1500505" indent="-63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6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7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int_to_bits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checksum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7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Postamble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(8</a:t>
            </a:r>
            <a:r>
              <a:rPr dirty="0" sz="1000" spc="3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bits)</a:t>
            </a:r>
            <a:endParaRPr sz="1000">
              <a:latin typeface="Consolas"/>
              <a:cs typeface="Consolas"/>
            </a:endParaRPr>
          </a:p>
          <a:p>
            <a:pPr marL="582295" marR="1429385" indent="-63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7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7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int_to_bits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POSTAMBLE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7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@classmethod</a:t>
            </a:r>
            <a:endParaRPr sz="1000">
              <a:latin typeface="Consolas"/>
              <a:cs typeface="Consolas"/>
            </a:endParaRPr>
          </a:p>
          <a:p>
            <a:pPr marL="582295" marR="503555" indent="-285115">
              <a:lnSpc>
                <a:spcPts val="1720"/>
              </a:lnSpc>
              <a:spcBef>
                <a:spcPts val="7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from_bits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cls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List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'DataLinkFrame'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从比特流解析帧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310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提取各字段</a:t>
            </a:r>
            <a:endParaRPr sz="1000">
              <a:latin typeface="NSimSun"/>
              <a:cs typeface="NSimSun"/>
            </a:endParaRPr>
          </a:p>
          <a:p>
            <a:pPr marL="582295" marR="178562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preamble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bits_to_int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>
                <a:latin typeface="Consolas"/>
                <a:cs typeface="Consolas"/>
              </a:rPr>
              <a:t>length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bits_to_int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24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payload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bits_to_bytes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24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24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-10">
                <a:latin typeface="Consolas"/>
                <a:cs typeface="Consolas"/>
              </a:rPr>
              <a:t>length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])</a:t>
            </a:r>
            <a:endParaRPr sz="1000">
              <a:latin typeface="Consolas"/>
              <a:cs typeface="Consolas"/>
            </a:endParaRPr>
          </a:p>
          <a:p>
            <a:pPr marL="582295" marR="28956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checksum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bits_to_int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24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-10">
                <a:latin typeface="Consolas"/>
                <a:cs typeface="Consolas"/>
              </a:rPr>
              <a:t>length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32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-10">
                <a:latin typeface="Consolas"/>
                <a:cs typeface="Consolas"/>
              </a:rPr>
              <a:t>length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>
                <a:latin typeface="Consolas"/>
                <a:cs typeface="Consolas"/>
              </a:rPr>
              <a:t>postamble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bits_to_int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32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-10">
                <a:latin typeface="Consolas"/>
                <a:cs typeface="Consolas"/>
              </a:rPr>
              <a:t>length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40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-10">
                <a:latin typeface="Consolas"/>
                <a:cs typeface="Consolas"/>
              </a:rPr>
              <a:t>length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验证帧格式</a:t>
            </a:r>
            <a:endParaRPr sz="1000">
              <a:latin typeface="NSimSun"/>
              <a:cs typeface="NSimSun"/>
            </a:endParaRPr>
          </a:p>
          <a:p>
            <a:pPr marL="867410" marR="5080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preamble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!=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cls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PREAMBLE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or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postamble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!=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cls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POSTAMBLE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raise</a:t>
            </a:r>
            <a:r>
              <a:rPr dirty="0" sz="1000" spc="6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ValueError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"Invalid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frame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format"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</a:pP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cls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payload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8483"/>
            <a:ext cx="6663690" cy="1634489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checksum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!=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checksum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988694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raise</a:t>
            </a:r>
            <a:r>
              <a:rPr dirty="0" sz="1000" spc="7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ValueError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"Checksum</a:t>
            </a:r>
            <a:r>
              <a:rPr dirty="0" sz="1000" spc="8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mismatch"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frame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20400"/>
              </a:lnSpc>
            </a:pPr>
            <a:r>
              <a:rPr dirty="0" sz="1350" spc="-170" b="1">
                <a:latin typeface="Microsoft JhengHei"/>
                <a:cs typeface="Microsoft JhengHei"/>
              </a:rPr>
              <a:t>功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定义数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链路层帧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格式，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包含前导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⻓度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、载荷、校验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后缀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码。提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供帧的封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装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解</a:t>
            </a:r>
            <a:r>
              <a:rPr dirty="0" sz="1350" spc="-114">
                <a:solidFill>
                  <a:srgbClr val="333333"/>
                </a:solidFill>
                <a:latin typeface="Microsoft JhengHei"/>
                <a:cs typeface="Microsoft JhengHei"/>
              </a:rPr>
              <a:t>析功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能。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5925" y="2557907"/>
            <a:ext cx="2463800" cy="11188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35" b="1">
                <a:latin typeface="Microsoft JhengHei"/>
                <a:cs typeface="Microsoft JhengHei"/>
              </a:rPr>
              <a:t>任务 </a:t>
            </a:r>
            <a:r>
              <a:rPr dirty="0" sz="1800" b="1">
                <a:latin typeface="Arial"/>
                <a:cs typeface="Arial"/>
              </a:rPr>
              <a:t>1.3: </a:t>
            </a:r>
            <a:r>
              <a:rPr dirty="0" sz="2000" spc="-200" b="1">
                <a:latin typeface="Malgun Gothic"/>
                <a:cs typeface="Malgun Gothic"/>
              </a:rPr>
              <a:t>噪</a:t>
            </a:r>
            <a:r>
              <a:rPr dirty="0" sz="2000" spc="-200" b="1">
                <a:latin typeface="Microsoft JhengHei"/>
                <a:cs typeface="Microsoft JhengHei"/>
              </a:rPr>
              <a:t>声环</a:t>
            </a:r>
            <a:r>
              <a:rPr dirty="0" sz="2000" spc="-200" b="1">
                <a:latin typeface="Malgun Gothic"/>
                <a:cs typeface="Malgun Gothic"/>
              </a:rPr>
              <a:t>境</a:t>
            </a:r>
            <a:r>
              <a:rPr dirty="0" sz="2000" spc="-125" b="1">
                <a:latin typeface="Microsoft JhengHei"/>
                <a:cs typeface="Microsoft JhengHei"/>
              </a:rPr>
              <a:t>测试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700" spc="-175" b="1">
                <a:latin typeface="Microsoft JhengHei"/>
                <a:cs typeface="Microsoft JhengHei"/>
              </a:rPr>
              <a:t>测试⽬标</a:t>
            </a:r>
            <a:endParaRPr sz="1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测试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不同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声⽔平对传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影响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实现代码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4055110" cy="236855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latin typeface="Consolas"/>
                <a:cs typeface="Consolas"/>
              </a:rPr>
              <a:t>python3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-c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  <a:p>
            <a:pPr marL="12700" marR="203962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physical_layer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*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Consolas"/>
              <a:cs typeface="Consolas"/>
            </a:endParaRPr>
          </a:p>
          <a:p>
            <a:pPr marL="12700" marR="1756410">
              <a:lnSpc>
                <a:spcPct val="143800"/>
              </a:lnSpc>
              <a:spcBef>
                <a:spcPts val="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print('===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不同噪声水平测试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===') print()</a:t>
            </a: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注意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每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使用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100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采样点平均，有效噪声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实际噪声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/10')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message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'Hello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World'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string_to_bits(message)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7815" y="3356483"/>
            <a:ext cx="2339975" cy="673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40600"/>
              </a:lnSpc>
              <a:spcBef>
                <a:spcPts val="130"/>
              </a:spcBef>
              <a:tabLst>
                <a:tab pos="1133475" algn="l"/>
                <a:tab pos="1685289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测试消息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: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{message}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噪声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σ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有效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σ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接收结</a:t>
            </a:r>
            <a:r>
              <a:rPr dirty="0" sz="1000" spc="-50">
                <a:solidFill>
                  <a:srgbClr val="173690"/>
                </a:solidFill>
                <a:latin typeface="NSimSun"/>
                <a:cs typeface="NSimSun"/>
              </a:rPr>
              <a:t>果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print('-'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*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55)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56378" y="3639184"/>
            <a:ext cx="56832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误码率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7815" y="4223258"/>
            <a:ext cx="4655185" cy="343535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40">
                <a:solidFill>
                  <a:srgbClr val="173690"/>
                </a:solidFill>
                <a:latin typeface="NSimSun"/>
                <a:cs typeface="NSimSun"/>
              </a:rPr>
              <a:t>使用更高噪声范围来展示效果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noise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[0.5,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1.0,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1.2,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1.5,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1.8,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2.0]:</a:t>
            </a:r>
            <a:endParaRPr sz="1000">
              <a:latin typeface="Consolas"/>
              <a:cs typeface="Consolas"/>
            </a:endParaRPr>
          </a:p>
          <a:p>
            <a:pPr marL="297180" marR="50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Cable(length=100,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attenuation=0.1,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noise_level=noise)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link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PhysicalLink(cable)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5">
                <a:solidFill>
                  <a:srgbClr val="173690"/>
                </a:solidFill>
                <a:latin typeface="NSimSun"/>
                <a:cs typeface="NSimSun"/>
              </a:rPr>
              <a:t>多次测试取平均</a:t>
            </a:r>
            <a:endParaRPr sz="1000">
              <a:latin typeface="NSimSun"/>
              <a:cs typeface="NSimSun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errors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0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trials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10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_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range(trials):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rx_bits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link.transmit_bits(bits.copy())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errors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+=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sum(1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t,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zip(bits,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rx_bits)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if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!=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r)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297180" marR="1785620">
              <a:lnSpc>
                <a:spcPct val="137500"/>
              </a:lnSpc>
              <a:spcBef>
                <a:spcPts val="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ber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errors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/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(len(bits)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*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trials)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result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link.transmit_data(message)</a:t>
            </a:r>
            <a:endParaRPr sz="1000">
              <a:latin typeface="Consolas"/>
              <a:cs typeface="Consolas"/>
            </a:endParaRPr>
          </a:p>
          <a:p>
            <a:pPr marL="297180" marR="100203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status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'OK'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if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result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message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else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'ERROR'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effective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noise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/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10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22701" y="7906384"/>
            <a:ext cx="137922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print(f'{noise:.1f}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532021" y="7906384"/>
            <a:ext cx="109410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{effective:.2f}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85233" y="7906384"/>
            <a:ext cx="287464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{result[:15]:&lt;17}</a:t>
            </a:r>
            <a:r>
              <a:rPr dirty="0" sz="1000" spc="8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{ber:.2%}</a:t>
            </a:r>
            <a:r>
              <a:rPr dirty="0" sz="1000" spc="8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[{status}]')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7815" y="8115934"/>
            <a:ext cx="9715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运⾏结果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67410"/>
            <a:ext cx="3413760" cy="6096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Consolas"/>
                <a:cs typeface="Consolas"/>
              </a:rPr>
              <a:t>=== </a:t>
            </a:r>
            <a:r>
              <a:rPr dirty="0" sz="1000" spc="45">
                <a:latin typeface="NSimSun"/>
                <a:cs typeface="NSimSun"/>
              </a:rPr>
              <a:t>不同噪声水平测试 </a:t>
            </a:r>
            <a:r>
              <a:rPr dirty="0" sz="1000" spc="-25">
                <a:latin typeface="Consolas"/>
                <a:cs typeface="Consolas"/>
              </a:rPr>
              <a:t>===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50">
                <a:latin typeface="NSimSun"/>
                <a:cs typeface="NSimSun"/>
              </a:rPr>
              <a:t>注意</a:t>
            </a:r>
            <a:r>
              <a:rPr dirty="0" sz="1000" spc="25">
                <a:latin typeface="Consolas"/>
                <a:cs typeface="Consolas"/>
              </a:rPr>
              <a:t>: </a:t>
            </a:r>
            <a:r>
              <a:rPr dirty="0" sz="1000" spc="50">
                <a:latin typeface="NSimSun"/>
                <a:cs typeface="NSimSun"/>
              </a:rPr>
              <a:t>每</a:t>
            </a:r>
            <a:r>
              <a:rPr dirty="0" sz="1000">
                <a:latin typeface="Consolas"/>
                <a:cs typeface="Consolas"/>
              </a:rPr>
              <a:t>bit</a:t>
            </a:r>
            <a:r>
              <a:rPr dirty="0" sz="1000" spc="50">
                <a:latin typeface="NSimSun"/>
                <a:cs typeface="NSimSun"/>
              </a:rPr>
              <a:t>使用</a:t>
            </a:r>
            <a:r>
              <a:rPr dirty="0" sz="1000">
                <a:latin typeface="Consolas"/>
                <a:cs typeface="Consolas"/>
              </a:rPr>
              <a:t>100</a:t>
            </a:r>
            <a:r>
              <a:rPr dirty="0" sz="1000" spc="50">
                <a:latin typeface="NSimSun"/>
                <a:cs typeface="NSimSun"/>
              </a:rPr>
              <a:t>采样点平均，有效噪声</a:t>
            </a:r>
            <a:r>
              <a:rPr dirty="0" sz="1000">
                <a:latin typeface="Consolas"/>
                <a:cs typeface="Consolas"/>
              </a:rPr>
              <a:t>=</a:t>
            </a:r>
            <a:r>
              <a:rPr dirty="0" sz="1000" spc="50">
                <a:latin typeface="NSimSun"/>
                <a:cs typeface="NSimSun"/>
              </a:rPr>
              <a:t>实际噪声</a:t>
            </a:r>
            <a:r>
              <a:rPr dirty="0" sz="1000" spc="-25">
                <a:latin typeface="Consolas"/>
                <a:cs typeface="Consolas"/>
              </a:rPr>
              <a:t>/10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7815" y="1651507"/>
            <a:ext cx="1658620" cy="46355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000" spc="50">
                <a:latin typeface="NSimSun"/>
                <a:cs typeface="NSimSun"/>
              </a:rPr>
              <a:t>测试消息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"Hello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World"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  <a:tabLst>
                <a:tab pos="563880" algn="l"/>
                <a:tab pos="1115695" algn="l"/>
              </a:tabLst>
            </a:pPr>
            <a:r>
              <a:rPr dirty="0" sz="1000" spc="50">
                <a:latin typeface="NSimSun"/>
                <a:cs typeface="NSimSun"/>
              </a:rPr>
              <a:t>噪声</a:t>
            </a:r>
            <a:r>
              <a:rPr dirty="0" sz="1000" spc="-50">
                <a:latin typeface="Consolas"/>
                <a:cs typeface="Consolas"/>
              </a:rPr>
              <a:t>σ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50">
                <a:latin typeface="NSimSun"/>
                <a:cs typeface="NSimSun"/>
              </a:rPr>
              <a:t>有效</a:t>
            </a:r>
            <a:r>
              <a:rPr dirty="0" sz="1000" spc="-50">
                <a:latin typeface="Consolas"/>
                <a:cs typeface="Consolas"/>
              </a:rPr>
              <a:t>σ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50">
                <a:latin typeface="NSimSun"/>
                <a:cs typeface="NSimSun"/>
              </a:rPr>
              <a:t>接收结</a:t>
            </a:r>
            <a:r>
              <a:rPr dirty="0" sz="1000" spc="-50">
                <a:latin typeface="NSimSun"/>
                <a:cs typeface="NSimSun"/>
              </a:rPr>
              <a:t>果</a:t>
            </a:r>
            <a:endParaRPr sz="1000">
              <a:latin typeface="NSimSun"/>
              <a:cs typeface="NSimSu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886605" y="1934210"/>
            <a:ext cx="42164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15">
                <a:latin typeface="NSimSun"/>
                <a:cs typeface="NSimSun"/>
              </a:rPr>
              <a:t>误码率</a:t>
            </a:r>
            <a:endParaRPr sz="1000">
              <a:latin typeface="NSimSun"/>
              <a:cs typeface="NSimSu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50515" y="2251542"/>
            <a:ext cx="3917315" cy="0"/>
          </a:xfrm>
          <a:custGeom>
            <a:avLst/>
            <a:gdLst/>
            <a:ahLst/>
            <a:cxnLst/>
            <a:rect l="l" t="t" r="r" b="b"/>
            <a:pathLst>
              <a:path w="3917315" h="0">
                <a:moveTo>
                  <a:pt x="0" y="0"/>
                </a:moveTo>
                <a:lnTo>
                  <a:pt x="3917191" y="0"/>
                </a:lnTo>
              </a:path>
            </a:pathLst>
          </a:custGeom>
          <a:ln w="10363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518765" y="2408868"/>
          <a:ext cx="3274060" cy="118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3545"/>
                <a:gridCol w="605155"/>
                <a:gridCol w="534035"/>
                <a:gridCol w="640715"/>
                <a:gridCol w="640714"/>
                <a:gridCol w="351789"/>
              </a:tblGrid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ts val="960"/>
                        </a:lnSpc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0.5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960"/>
                        </a:lnSpc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0.05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ts val="960"/>
                        </a:lnSpc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Hello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960"/>
                        </a:lnSpc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World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ts val="960"/>
                        </a:lnSpc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0.00%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960"/>
                        </a:lnSpc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[OK]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089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1.0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0.10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Hello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World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0.00%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[OK]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</a:tr>
              <a:tr h="213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1.2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0.12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Hello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World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0.00%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[OK]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</a:tr>
              <a:tr h="213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1.5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0.15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Hello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World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0.11%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[OK]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</a:tr>
              <a:tr h="2089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1.8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0.18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Hello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World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0.45%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[OK]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</a:tr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2.0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0.20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Hello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World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1.36%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[OK]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</a:tr>
            </a:tbl>
          </a:graphicData>
        </a:graphic>
      </p:graphicFrame>
      <p:sp>
        <p:nvSpPr>
          <p:cNvPr id="8" name="object 8" descr=""/>
          <p:cNvSpPr/>
          <p:nvPr/>
        </p:nvSpPr>
        <p:spPr>
          <a:xfrm>
            <a:off x="885824" y="466724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491489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5824" y="51530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5824" y="588644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85824" y="613409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85824" y="6372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15925" y="3896359"/>
            <a:ext cx="3615690" cy="2837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技术</a:t>
            </a:r>
            <a:r>
              <a:rPr dirty="0" sz="1700" spc="-130" b="1">
                <a:latin typeface="Malgun Gothic"/>
                <a:cs typeface="Malgun Gothic"/>
              </a:rPr>
              <a:t>要点</a:t>
            </a:r>
            <a:endParaRPr sz="170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spcBef>
                <a:spcPts val="1235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algun Gothic"/>
                <a:cs typeface="Malgun Gothic"/>
              </a:rPr>
              <a:t>采</a:t>
            </a:r>
            <a:r>
              <a:rPr dirty="0" sz="1350" spc="-170" b="1">
                <a:latin typeface="Microsoft JhengHei"/>
                <a:cs typeface="Microsoft JhengHei"/>
              </a:rPr>
              <a:t>样平均效应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bit</a:t>
            </a:r>
            <a:r>
              <a:rPr dirty="0" sz="1200" spc="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个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取平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均</a:t>
            </a:r>
            <a:endParaRPr sz="1350">
              <a:latin typeface="SimSun"/>
              <a:cs typeface="SimSun"/>
            </a:endParaRPr>
          </a:p>
          <a:p>
            <a:pPr marL="621665" marR="932180">
              <a:lnSpc>
                <a:spcPct val="115700"/>
              </a:lnSpc>
              <a:spcBef>
                <a:spcPts val="7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准差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约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√100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 =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</a:t>
            </a:r>
            <a:r>
              <a:rPr dirty="0" sz="1350" spc="-75">
                <a:solidFill>
                  <a:srgbClr val="333333"/>
                </a:solidFill>
                <a:latin typeface="SimSun"/>
                <a:cs typeface="SimSun"/>
              </a:rPr>
              <a:t>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有效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75">
                <a:solidFill>
                  <a:srgbClr val="333333"/>
                </a:solidFill>
                <a:latin typeface="Microsoft JhengHei"/>
                <a:cs typeface="Microsoft JhengHei"/>
              </a:rPr>
              <a:t>声 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=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际噪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/10</a:t>
            </a:r>
            <a:endParaRPr sz="120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⾃适应阈值</a:t>
            </a:r>
            <a:r>
              <a:rPr dirty="0" sz="1200" spc="7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根据信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号统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特性动态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整判决</a:t>
            </a:r>
            <a:r>
              <a:rPr dirty="0" sz="1350" spc="-114">
                <a:solidFill>
                  <a:srgbClr val="333333"/>
                </a:solidFill>
                <a:latin typeface="SimSun"/>
                <a:cs typeface="SimSun"/>
              </a:rPr>
              <a:t>阈值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350" spc="-170" b="1">
                <a:latin typeface="Malgun Gothic"/>
                <a:cs typeface="Malgun Gothic"/>
              </a:rPr>
              <a:t>噪</a:t>
            </a:r>
            <a:r>
              <a:rPr dirty="0" sz="1350" spc="-170" b="1">
                <a:latin typeface="Microsoft JhengHei"/>
                <a:cs typeface="Microsoft JhengHei"/>
              </a:rPr>
              <a:t>声容忍度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200" spc="-470">
                <a:solidFill>
                  <a:srgbClr val="333333"/>
                </a:solidFill>
                <a:latin typeface="Arial MT"/>
                <a:cs typeface="Arial MT"/>
              </a:rPr>
              <a:t>σ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≤ 1.2: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⼏乎⽆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误码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 spc="-470">
                <a:solidFill>
                  <a:srgbClr val="333333"/>
                </a:solidFill>
                <a:latin typeface="Arial MT"/>
                <a:cs typeface="Arial MT"/>
              </a:rPr>
              <a:t>σ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=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1.5: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开始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现误码</a:t>
            </a:r>
            <a:r>
              <a:rPr dirty="0" sz="1350" spc="-1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0.11%</a:t>
            </a:r>
            <a:r>
              <a:rPr dirty="0" sz="1350" spc="-1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200" spc="-470">
                <a:solidFill>
                  <a:srgbClr val="333333"/>
                </a:solidFill>
                <a:latin typeface="Arial MT"/>
                <a:cs typeface="Arial MT"/>
              </a:rPr>
              <a:t>σ</a:t>
            </a:r>
            <a:r>
              <a:rPr dirty="0" sz="1200" spc="25">
                <a:solidFill>
                  <a:srgbClr val="333333"/>
                </a:solidFill>
                <a:latin typeface="Arial MT"/>
                <a:cs typeface="Arial MT"/>
              </a:rPr>
              <a:t> =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2.0:</a:t>
            </a:r>
            <a:r>
              <a:rPr dirty="0" sz="1200" spc="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误码率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1.36%</a:t>
            </a:r>
            <a:r>
              <a:rPr dirty="0" sz="1350" spc="-35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但仍可成功传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4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误码率计算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BER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 =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r>
              <a:rPr dirty="0" sz="1350" spc="-125">
                <a:solidFill>
                  <a:srgbClr val="333333"/>
                </a:solidFill>
                <a:latin typeface="Microsoft JhengHei"/>
                <a:cs typeface="Microsoft JhengHei"/>
              </a:rPr>
              <a:t>⽐特数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/ </a:t>
            </a:r>
            <a:r>
              <a:rPr dirty="0" sz="1350" spc="-140">
                <a:solidFill>
                  <a:srgbClr val="333333"/>
                </a:solidFill>
                <a:latin typeface="Microsoft JhengHei"/>
                <a:cs typeface="Microsoft JhengHei"/>
              </a:rPr>
              <a:t>总⽐特数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15925" y="7348981"/>
            <a:ext cx="2896235" cy="11188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25" b="1">
                <a:latin typeface="Microsoft JhengHei"/>
                <a:cs typeface="Microsoft JhengHei"/>
              </a:rPr>
              <a:t>任务 </a:t>
            </a:r>
            <a:r>
              <a:rPr dirty="0" sz="1800" b="1">
                <a:latin typeface="Arial"/>
                <a:cs typeface="Arial"/>
              </a:rPr>
              <a:t>1.4:</a:t>
            </a:r>
            <a:r>
              <a:rPr dirty="0" sz="1800" spc="30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Shannon</a:t>
            </a:r>
            <a:r>
              <a:rPr dirty="0" sz="2000" spc="-170" b="1">
                <a:latin typeface="Microsoft JhengHei"/>
                <a:cs typeface="Microsoft JhengHei"/>
              </a:rPr>
              <a:t>公式⽐较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700" spc="-175" b="1">
                <a:latin typeface="Microsoft JhengHei"/>
                <a:cs typeface="Microsoft JhengHei"/>
              </a:rPr>
              <a:t>测试⽬标</a:t>
            </a:r>
            <a:endParaRPr sz="1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将实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与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Shannon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对⽐</a:t>
            </a:r>
            <a:endParaRPr sz="13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实现代码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4940300" cy="6635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637279">
              <a:lnSpc>
                <a:spcPct val="137500"/>
              </a:lnSpc>
              <a:spcBef>
                <a:spcPts val="95"/>
              </a:spcBef>
            </a:pPr>
            <a:r>
              <a:rPr dirty="0" sz="1000">
                <a:latin typeface="Consolas"/>
                <a:cs typeface="Consolas"/>
              </a:rPr>
              <a:t>python3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-c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numpy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as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np</a:t>
            </a:r>
            <a:endParaRPr sz="1000">
              <a:latin typeface="Consolas"/>
              <a:cs typeface="Consolas"/>
            </a:endParaRPr>
          </a:p>
          <a:p>
            <a:pPr marL="12700" marR="292481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physical_layer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*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12700" marR="2676525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print('===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Shannon</a:t>
            </a:r>
            <a:r>
              <a:rPr dirty="0" sz="1000" spc="55">
                <a:solidFill>
                  <a:srgbClr val="173690"/>
                </a:solidFill>
                <a:latin typeface="NSimSun"/>
                <a:cs typeface="NSimSun"/>
              </a:rPr>
              <a:t>容量对比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===') print()</a:t>
            </a:r>
            <a:endParaRPr sz="1000">
              <a:latin typeface="Consolas"/>
              <a:cs typeface="Consolas"/>
            </a:endParaRPr>
          </a:p>
          <a:p>
            <a:pPr marL="12700" marR="187452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print('Shannon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公式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×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log2(1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+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SNR)') print()</a:t>
            </a:r>
            <a:endParaRPr sz="1000">
              <a:latin typeface="Consolas"/>
              <a:cs typeface="Consolas"/>
            </a:endParaRPr>
          </a:p>
          <a:p>
            <a:pPr marL="12700" marR="75501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噪声水平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|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SNR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(dB)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|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Shannon</a:t>
            </a:r>
            <a:r>
              <a:rPr dirty="0" sz="1000" spc="55">
                <a:solidFill>
                  <a:srgbClr val="173690"/>
                </a:solidFill>
                <a:latin typeface="NSimSun"/>
                <a:cs typeface="NSimSun"/>
              </a:rPr>
              <a:t>容量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|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实际容量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|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效率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-'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*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60)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noise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[0.01,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0.05,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0.1,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0.15,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0.2]:</a:t>
            </a:r>
            <a:endParaRPr sz="1000">
              <a:latin typeface="Consolas"/>
              <a:cs typeface="Consolas"/>
            </a:endParaRPr>
          </a:p>
          <a:p>
            <a:pPr marL="297180" marR="28956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Cable(length=100,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attenuation=0.1,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noise_level=noise)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link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PhysicalLink(cable)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测试传输</a:t>
            </a:r>
            <a:endParaRPr sz="1000">
              <a:latin typeface="NSimSun"/>
              <a:cs typeface="NSimSun"/>
            </a:endParaRPr>
          </a:p>
          <a:p>
            <a:pPr marL="297180" marR="431800">
              <a:lnSpc>
                <a:spcPts val="172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string_to_bits('Test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message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capacity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analysis')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rx_bits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link.transmit_bits(bits)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获取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SNR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snr_db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link.get_snr()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Shannon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容量</a:t>
            </a:r>
            <a:endParaRPr sz="1000">
              <a:latin typeface="NSimSun"/>
              <a:cs typeface="NSimSun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shannon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calculate_shannon_capacity(snr_db)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实际成功率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简化为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1-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BER)</a:t>
            </a:r>
            <a:endParaRPr sz="1000">
              <a:latin typeface="Consolas"/>
              <a:cs typeface="Consolas"/>
            </a:endParaRPr>
          </a:p>
          <a:p>
            <a:pPr marL="297180" marR="508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ber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sum(1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t,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zip(bits,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rx_bits)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if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!=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r)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/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len(bits)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actual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1.0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-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ber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efficiency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(actual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/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shannon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*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100)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if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shannon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&gt;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0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else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0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2701" y="7687309"/>
            <a:ext cx="152146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2453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{noise:.2f}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03243" y="7687309"/>
            <a:ext cx="472630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223010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|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{snr_db:7.1f}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|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{shannon:11.2f}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|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{actual:10.2f}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|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{efficiency: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7815" y="7906384"/>
            <a:ext cx="9715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运⾏结果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67410"/>
            <a:ext cx="4372610" cy="1247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10">
                <a:latin typeface="Consolas"/>
                <a:cs typeface="Consolas"/>
              </a:rPr>
              <a:t>=== </a:t>
            </a:r>
            <a:r>
              <a:rPr dirty="0" sz="1000">
                <a:latin typeface="Consolas"/>
                <a:cs typeface="Consolas"/>
              </a:rPr>
              <a:t>Shannon</a:t>
            </a:r>
            <a:r>
              <a:rPr dirty="0" sz="1000" spc="50">
                <a:latin typeface="NSimSun"/>
                <a:cs typeface="NSimSun"/>
              </a:rPr>
              <a:t>容量对比（高噪声</a:t>
            </a:r>
            <a:r>
              <a:rPr dirty="0" sz="1000">
                <a:latin typeface="NSimSun"/>
                <a:cs typeface="NSimSun"/>
              </a:rPr>
              <a:t>）</a:t>
            </a:r>
            <a:r>
              <a:rPr dirty="0" sz="1000" spc="130">
                <a:latin typeface="NSimSun"/>
                <a:cs typeface="NSimSun"/>
              </a:rPr>
              <a:t> </a:t>
            </a:r>
            <a:r>
              <a:rPr dirty="0" sz="1000" spc="-25">
                <a:latin typeface="Consolas"/>
                <a:cs typeface="Consolas"/>
              </a:rPr>
              <a:t>===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Consolas"/>
                <a:cs typeface="Consolas"/>
              </a:rPr>
              <a:t>Shannon</a:t>
            </a:r>
            <a:r>
              <a:rPr dirty="0" sz="1000" spc="50">
                <a:latin typeface="NSimSun"/>
                <a:cs typeface="NSimSun"/>
              </a:rPr>
              <a:t>公式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C</a:t>
            </a:r>
            <a:r>
              <a:rPr dirty="0" sz="1000" spc="15">
                <a:latin typeface="Consolas"/>
                <a:cs typeface="Consolas"/>
              </a:rPr>
              <a:t> = </a:t>
            </a:r>
            <a:r>
              <a:rPr dirty="0" sz="1000">
                <a:latin typeface="Consolas"/>
                <a:cs typeface="Consolas"/>
              </a:rPr>
              <a:t>B</a:t>
            </a:r>
            <a:r>
              <a:rPr dirty="0" sz="1000" spc="15">
                <a:latin typeface="Consolas"/>
                <a:cs typeface="Consolas"/>
              </a:rPr>
              <a:t> × </a:t>
            </a:r>
            <a:r>
              <a:rPr dirty="0" sz="1000">
                <a:latin typeface="Consolas"/>
                <a:cs typeface="Consolas"/>
              </a:rPr>
              <a:t>log2(1</a:t>
            </a:r>
            <a:r>
              <a:rPr dirty="0" sz="1000" spc="15">
                <a:latin typeface="Consolas"/>
                <a:cs typeface="Consolas"/>
              </a:rPr>
              <a:t> + </a:t>
            </a:r>
            <a:r>
              <a:rPr dirty="0" sz="1000" spc="-20">
                <a:latin typeface="Consolas"/>
                <a:cs typeface="Consolas"/>
              </a:rPr>
              <a:t>SNR)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OOK</a:t>
            </a:r>
            <a:r>
              <a:rPr dirty="0" sz="1000" spc="50">
                <a:latin typeface="NSimSun"/>
                <a:cs typeface="NSimSun"/>
              </a:rPr>
              <a:t>调制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 spc="50">
                <a:latin typeface="NSimSun"/>
                <a:cs typeface="NSimSun"/>
              </a:rPr>
              <a:t>每符号传输 </a:t>
            </a:r>
            <a:r>
              <a:rPr dirty="0" sz="1000">
                <a:latin typeface="Consolas"/>
                <a:cs typeface="Consolas"/>
              </a:rPr>
              <a:t>1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bit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45">
                <a:latin typeface="NSimSun"/>
                <a:cs typeface="NSimSun"/>
              </a:rPr>
              <a:t>噪声水平 </a:t>
            </a:r>
            <a:r>
              <a:rPr dirty="0" sz="1000">
                <a:latin typeface="Consolas"/>
                <a:cs typeface="Consolas"/>
              </a:rPr>
              <a:t>|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SNR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(dB)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|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Shannon</a:t>
            </a:r>
            <a:r>
              <a:rPr dirty="0" sz="1000" spc="50">
                <a:latin typeface="NSimSun"/>
                <a:cs typeface="NSimSun"/>
              </a:rPr>
              <a:t>容量 </a:t>
            </a:r>
            <a:r>
              <a:rPr dirty="0" sz="1000">
                <a:latin typeface="Consolas"/>
                <a:cs typeface="Consolas"/>
              </a:rPr>
              <a:t>|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OOK</a:t>
            </a:r>
            <a:r>
              <a:rPr dirty="0" sz="1000" spc="50">
                <a:latin typeface="NSimSun"/>
                <a:cs typeface="NSimSun"/>
              </a:rPr>
              <a:t>速率 </a:t>
            </a:r>
            <a:r>
              <a:rPr dirty="0" sz="1000">
                <a:latin typeface="Consolas"/>
                <a:cs typeface="Consolas"/>
              </a:rPr>
              <a:t>|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频谱效率 </a:t>
            </a:r>
            <a:r>
              <a:rPr dirty="0" sz="1000">
                <a:latin typeface="Consolas"/>
                <a:cs typeface="Consolas"/>
              </a:rPr>
              <a:t>|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15">
                <a:latin typeface="NSimSun"/>
                <a:cs typeface="NSimSun"/>
              </a:rPr>
              <a:t>成功率</a:t>
            </a:r>
            <a:endParaRPr sz="1000">
              <a:latin typeface="NSimSun"/>
              <a:cs typeface="NSimSu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50515" y="2251542"/>
            <a:ext cx="5341620" cy="0"/>
          </a:xfrm>
          <a:custGeom>
            <a:avLst/>
            <a:gdLst/>
            <a:ahLst/>
            <a:cxnLst/>
            <a:rect l="l" t="t" r="r" b="b"/>
            <a:pathLst>
              <a:path w="5341620" h="0">
                <a:moveTo>
                  <a:pt x="0" y="0"/>
                </a:moveTo>
                <a:lnTo>
                  <a:pt x="5341625" y="0"/>
                </a:lnTo>
              </a:path>
            </a:pathLst>
          </a:custGeom>
          <a:ln w="10363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61208" y="2408868"/>
          <a:ext cx="4840605" cy="974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3545"/>
                <a:gridCol w="356235"/>
                <a:gridCol w="534035"/>
                <a:gridCol w="427354"/>
                <a:gridCol w="640715"/>
                <a:gridCol w="320039"/>
                <a:gridCol w="462280"/>
                <a:gridCol w="248919"/>
                <a:gridCol w="676275"/>
                <a:gridCol w="177800"/>
                <a:gridCol w="494664"/>
              </a:tblGrid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ts val="960"/>
                        </a:lnSpc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1.0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ts val="960"/>
                        </a:lnSpc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960"/>
                        </a:lnSpc>
                      </a:pPr>
                      <a:r>
                        <a:rPr dirty="0" sz="1000">
                          <a:latin typeface="Consolas"/>
                          <a:cs typeface="Consolas"/>
                        </a:rPr>
                        <a:t>-</a:t>
                      </a:r>
                      <a:r>
                        <a:rPr dirty="0" sz="1000" spc="-25">
                          <a:latin typeface="Consolas"/>
                          <a:cs typeface="Consolas"/>
                        </a:rPr>
                        <a:t>4.1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960"/>
                        </a:lnSpc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960"/>
                        </a:lnSpc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0.47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960"/>
                        </a:lnSpc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960"/>
                        </a:lnSpc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1.0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ts val="960"/>
                        </a:lnSpc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06680">
                        <a:lnSpc>
                          <a:spcPts val="960"/>
                        </a:lnSpc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212.8%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960"/>
                        </a:lnSpc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60"/>
                        </a:lnSpc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100.0%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089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1.5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>
                          <a:latin typeface="Consolas"/>
                          <a:cs typeface="Consolas"/>
                        </a:rPr>
                        <a:t>-</a:t>
                      </a:r>
                      <a:r>
                        <a:rPr dirty="0" sz="1000" spc="-25">
                          <a:latin typeface="Consolas"/>
                          <a:cs typeface="Consolas"/>
                        </a:rPr>
                        <a:t>7.6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0.23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1.0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10668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436.7%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100.0%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</a:tr>
              <a:tr h="213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2.0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>
                          <a:latin typeface="Consolas"/>
                          <a:cs typeface="Consolas"/>
                        </a:rPr>
                        <a:t>-</a:t>
                      </a:r>
                      <a:r>
                        <a:rPr dirty="0" sz="1000" spc="-20">
                          <a:latin typeface="Consolas"/>
                          <a:cs typeface="Consolas"/>
                        </a:rPr>
                        <a:t>10.1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0.13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1.0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10668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745.5%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98.5%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</a:tr>
              <a:tr h="213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2.5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>
                          <a:latin typeface="Consolas"/>
                          <a:cs typeface="Consolas"/>
                        </a:rPr>
                        <a:t>-</a:t>
                      </a:r>
                      <a:r>
                        <a:rPr dirty="0" sz="1000" spc="-20">
                          <a:latin typeface="Consolas"/>
                          <a:cs typeface="Consolas"/>
                        </a:rPr>
                        <a:t>12.1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0.09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1.0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1163.5%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96.7%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</a:tr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3.0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>
                          <a:latin typeface="Consolas"/>
                          <a:cs typeface="Consolas"/>
                        </a:rPr>
                        <a:t>-</a:t>
                      </a:r>
                      <a:r>
                        <a:rPr dirty="0" sz="1000" spc="-20">
                          <a:latin typeface="Consolas"/>
                          <a:cs typeface="Consolas"/>
                        </a:rPr>
                        <a:t>13.6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0.06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1.0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1631.8%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latin typeface="Consolas"/>
                          <a:cs typeface="Consolas"/>
                        </a:rPr>
                        <a:t>|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93.0%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985" y="3770693"/>
            <a:ext cx="6746112" cy="55782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5824" y="200024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7015"/>
                </a:ln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85824" y="224789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5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5824" y="249554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273366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5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321944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5"/>
                </a:lnTo>
                <a:lnTo>
                  <a:pt x="0" y="26974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346709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77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371474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7015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420051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7015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5824" y="443864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5824" y="468629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85824" y="493394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85824" y="541971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85824" y="565784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77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885824" y="590549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885824" y="614361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190624" y="639126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32925" y="45786"/>
                </a:lnTo>
                <a:lnTo>
                  <a:pt x="30007" y="46996"/>
                </a:lnTo>
                <a:lnTo>
                  <a:pt x="26970" y="47605"/>
                </a:lnTo>
                <a:lnTo>
                  <a:pt x="23812" y="47624"/>
                </a:lnTo>
                <a:lnTo>
                  <a:pt x="20654" y="47605"/>
                </a:lnTo>
                <a:lnTo>
                  <a:pt x="17617" y="46996"/>
                </a:lnTo>
                <a:lnTo>
                  <a:pt x="14699" y="45786"/>
                </a:lnTo>
                <a:lnTo>
                  <a:pt x="11782" y="44576"/>
                </a:lnTo>
                <a:lnTo>
                  <a:pt x="0" y="26955"/>
                </a:lnTo>
                <a:lnTo>
                  <a:pt x="0" y="23812"/>
                </a:lnTo>
                <a:lnTo>
                  <a:pt x="0" y="20631"/>
                </a:lnTo>
                <a:lnTo>
                  <a:pt x="6974" y="6953"/>
                </a:lnTo>
                <a:lnTo>
                  <a:pt x="9207" y="4724"/>
                </a:lnTo>
                <a:lnTo>
                  <a:pt x="11782" y="3009"/>
                </a:lnTo>
                <a:lnTo>
                  <a:pt x="14699" y="1800"/>
                </a:lnTo>
                <a:lnTo>
                  <a:pt x="17617" y="600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53"/>
                </a:lnTo>
                <a:lnTo>
                  <a:pt x="42883" y="9172"/>
                </a:lnTo>
                <a:lnTo>
                  <a:pt x="44603" y="11753"/>
                </a:lnTo>
                <a:lnTo>
                  <a:pt x="45812" y="14678"/>
                </a:lnTo>
                <a:lnTo>
                  <a:pt x="47020" y="17602"/>
                </a:lnTo>
                <a:lnTo>
                  <a:pt x="47624" y="20631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190624" y="663891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23812" y="47624"/>
                </a:lnTo>
                <a:lnTo>
                  <a:pt x="20654" y="47605"/>
                </a:lnTo>
                <a:lnTo>
                  <a:pt x="0" y="26955"/>
                </a:lnTo>
                <a:lnTo>
                  <a:pt x="0" y="23812"/>
                </a:lnTo>
                <a:lnTo>
                  <a:pt x="0" y="20650"/>
                </a:lnTo>
                <a:lnTo>
                  <a:pt x="6974" y="6953"/>
                </a:lnTo>
                <a:lnTo>
                  <a:pt x="9207" y="4705"/>
                </a:lnTo>
                <a:lnTo>
                  <a:pt x="11782" y="2990"/>
                </a:lnTo>
                <a:lnTo>
                  <a:pt x="14699" y="1800"/>
                </a:lnTo>
                <a:lnTo>
                  <a:pt x="17617" y="600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0"/>
                </a:lnTo>
                <a:lnTo>
                  <a:pt x="32925" y="1800"/>
                </a:lnTo>
                <a:lnTo>
                  <a:pt x="35842" y="2990"/>
                </a:lnTo>
                <a:lnTo>
                  <a:pt x="38417" y="4705"/>
                </a:lnTo>
                <a:lnTo>
                  <a:pt x="40650" y="6953"/>
                </a:lnTo>
                <a:lnTo>
                  <a:pt x="42883" y="9172"/>
                </a:lnTo>
                <a:lnTo>
                  <a:pt x="44603" y="11753"/>
                </a:lnTo>
                <a:lnTo>
                  <a:pt x="45812" y="14678"/>
                </a:lnTo>
                <a:lnTo>
                  <a:pt x="47020" y="17602"/>
                </a:lnTo>
                <a:lnTo>
                  <a:pt x="47624" y="20650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190624" y="687704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32925" y="45786"/>
                </a:lnTo>
                <a:lnTo>
                  <a:pt x="30007" y="46996"/>
                </a:lnTo>
                <a:lnTo>
                  <a:pt x="26970" y="47605"/>
                </a:lnTo>
                <a:lnTo>
                  <a:pt x="23812" y="47624"/>
                </a:lnTo>
                <a:lnTo>
                  <a:pt x="20654" y="47605"/>
                </a:lnTo>
                <a:lnTo>
                  <a:pt x="17617" y="46996"/>
                </a:lnTo>
                <a:lnTo>
                  <a:pt x="14699" y="45786"/>
                </a:lnTo>
                <a:lnTo>
                  <a:pt x="11782" y="44576"/>
                </a:lnTo>
                <a:lnTo>
                  <a:pt x="0" y="26955"/>
                </a:lnTo>
                <a:lnTo>
                  <a:pt x="0" y="23812"/>
                </a:lnTo>
                <a:lnTo>
                  <a:pt x="0" y="20631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5812" y="14678"/>
                </a:lnTo>
                <a:lnTo>
                  <a:pt x="47020" y="17602"/>
                </a:lnTo>
                <a:lnTo>
                  <a:pt x="47624" y="20631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885824" y="712469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885824" y="785811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885824" y="809624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885824" y="834389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7015"/>
                </a:ln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415925" y="556202"/>
            <a:ext cx="6859905" cy="790194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1.4:</a:t>
            </a:r>
            <a:r>
              <a:rPr dirty="0" sz="12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Level</a:t>
            </a:r>
            <a:r>
              <a:rPr dirty="0" sz="12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能四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维</a:t>
            </a:r>
            <a:r>
              <a:rPr dirty="0" sz="1400" spc="-265">
                <a:solidFill>
                  <a:srgbClr val="333333"/>
                </a:solidFill>
                <a:latin typeface="SimSun"/>
                <a:cs typeface="SimSun"/>
              </a:rPr>
              <a:t>分析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- </a:t>
            </a:r>
            <a:r>
              <a:rPr dirty="0" sz="1400" spc="-160">
                <a:solidFill>
                  <a:srgbClr val="333333"/>
                </a:solidFill>
                <a:latin typeface="SimSun"/>
                <a:cs typeface="SimSun"/>
              </a:rPr>
              <a:t>左上：</a:t>
            </a:r>
            <a:r>
              <a:rPr dirty="0" sz="1200" spc="-50" i="1">
                <a:solidFill>
                  <a:srgbClr val="333333"/>
                </a:solidFill>
                <a:latin typeface="Arial"/>
                <a:cs typeface="Arial"/>
              </a:rPr>
              <a:t>SNR</a:t>
            </a:r>
            <a:r>
              <a:rPr dirty="0" sz="12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vs</a:t>
            </a:r>
            <a:r>
              <a:rPr dirty="0" sz="12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噪声；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右</a:t>
            </a:r>
            <a:r>
              <a:rPr dirty="0" sz="1400" spc="-130">
                <a:solidFill>
                  <a:srgbClr val="333333"/>
                </a:solidFill>
                <a:latin typeface="SimSun"/>
                <a:cs typeface="SimSun"/>
              </a:rPr>
              <a:t>上：</a:t>
            </a:r>
            <a:r>
              <a:rPr dirty="0" sz="1200" spc="-50" i="1">
                <a:solidFill>
                  <a:srgbClr val="333333"/>
                </a:solidFill>
                <a:latin typeface="Arial"/>
                <a:cs typeface="Arial"/>
              </a:rPr>
              <a:t>BER</a:t>
            </a:r>
            <a:r>
              <a:rPr dirty="0" sz="1200" spc="1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vs</a:t>
            </a:r>
            <a:r>
              <a:rPr dirty="0" sz="12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噪声（对数</a:t>
            </a:r>
            <a:r>
              <a:rPr dirty="0" sz="1400" spc="-865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400" spc="-155">
                <a:solidFill>
                  <a:srgbClr val="333333"/>
                </a:solidFill>
                <a:latin typeface="SimSun"/>
                <a:cs typeface="SimSun"/>
              </a:rPr>
              <a:t>；左下：</a:t>
            </a:r>
            <a:r>
              <a:rPr dirty="0" sz="1200" spc="-35" i="1">
                <a:solidFill>
                  <a:srgbClr val="333333"/>
                </a:solidFill>
                <a:latin typeface="Arial"/>
                <a:cs typeface="Arial"/>
              </a:rPr>
              <a:t>Shannon</a:t>
            </a:r>
            <a:r>
              <a:rPr dirty="0" sz="1400" spc="-130">
                <a:solidFill>
                  <a:srgbClr val="333333"/>
                </a:solidFill>
                <a:latin typeface="SimSun"/>
                <a:cs typeface="SimSun"/>
              </a:rPr>
              <a:t>容量</a:t>
            </a:r>
            <a:endParaRPr sz="14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vs </a:t>
            </a:r>
            <a:r>
              <a:rPr dirty="0" sz="1200" spc="-60" i="1">
                <a:solidFill>
                  <a:srgbClr val="333333"/>
                </a:solidFill>
                <a:latin typeface="Arial"/>
                <a:cs typeface="Arial"/>
              </a:rPr>
              <a:t>SNR</a:t>
            </a:r>
            <a:r>
              <a:rPr dirty="0" sz="1400" spc="-60">
                <a:solidFill>
                  <a:srgbClr val="333333"/>
                </a:solidFill>
                <a:latin typeface="SimSun"/>
                <a:cs typeface="SimSun"/>
              </a:rPr>
              <a:t>；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右</a:t>
            </a:r>
            <a:r>
              <a:rPr dirty="0" sz="1400" spc="-240">
                <a:solidFill>
                  <a:srgbClr val="333333"/>
                </a:solidFill>
                <a:latin typeface="SimSun"/>
                <a:cs typeface="SimSun"/>
              </a:rPr>
              <a:t>下：成功率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vs</a:t>
            </a:r>
            <a:r>
              <a:rPr dirty="0" sz="1200" spc="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400" spc="-130">
                <a:solidFill>
                  <a:srgbClr val="333333"/>
                </a:solidFill>
                <a:latin typeface="SimSun"/>
                <a:cs typeface="SimSun"/>
              </a:rPr>
              <a:t>噪声</a:t>
            </a:r>
            <a:endParaRPr sz="14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dirty="0" sz="1700" spc="-210" b="1">
                <a:latin typeface="Microsoft JhengHei"/>
                <a:cs typeface="Microsoft JhengHei"/>
              </a:rPr>
              <a:t>技术</a:t>
            </a:r>
            <a:r>
              <a:rPr dirty="0" sz="1700" spc="-130" b="1">
                <a:latin typeface="Malgun Gothic"/>
                <a:cs typeface="Malgun Gothic"/>
              </a:rPr>
              <a:t>要点</a:t>
            </a:r>
            <a:endParaRPr sz="1700">
              <a:latin typeface="Malgun Gothic"/>
              <a:cs typeface="Malgun Gothic"/>
            </a:endParaRPr>
          </a:p>
          <a:p>
            <a:pPr marL="316865" marR="3425190" indent="-169545">
              <a:lnSpc>
                <a:spcPct val="115700"/>
              </a:lnSpc>
              <a:spcBef>
                <a:spcPts val="980"/>
              </a:spcBef>
              <a:buClr>
                <a:srgbClr val="333333"/>
              </a:buClr>
              <a:buFont typeface="Arial MT"/>
              <a:buAutoNum type="arabicPeriod"/>
              <a:tabLst>
                <a:tab pos="621665" algn="l"/>
              </a:tabLst>
            </a:pPr>
            <a:r>
              <a:rPr dirty="0" sz="1200" b="1">
                <a:latin typeface="Arial"/>
                <a:cs typeface="Arial"/>
              </a:rPr>
              <a:t>Shannon-Hartley</a:t>
            </a:r>
            <a:r>
              <a:rPr dirty="0" sz="1350" spc="-170" b="1">
                <a:latin typeface="Microsoft JhengHei"/>
                <a:cs typeface="Microsoft JhengHei"/>
              </a:rPr>
              <a:t>定</a:t>
            </a:r>
            <a:r>
              <a:rPr dirty="0" sz="1350" spc="-170" b="1">
                <a:latin typeface="Malgun Gothic"/>
                <a:cs typeface="Malgun Gothic"/>
              </a:rPr>
              <a:t>理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C = B × log</a:t>
            </a:r>
            <a:r>
              <a:rPr dirty="0" sz="1200">
                <a:solidFill>
                  <a:srgbClr val="333333"/>
                </a:solidFill>
                <a:latin typeface="Segoe UI"/>
                <a:cs typeface="Segoe UI"/>
              </a:rPr>
              <a:t>₂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(1 + 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SNR) 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	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C: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信道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dirty="0" sz="1350" spc="-1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bits/symbol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90">
                <a:solidFill>
                  <a:srgbClr val="333333"/>
                </a:solidFill>
                <a:latin typeface="Microsoft JhengHei"/>
                <a:cs typeface="Microsoft JhengHei"/>
              </a:rPr>
              <a:t>或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bits/Hz</a:t>
            </a:r>
            <a:r>
              <a:rPr dirty="0" sz="1350" spc="-1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B: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带宽</a:t>
            </a:r>
            <a:endParaRPr sz="135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SNR:</a:t>
            </a:r>
            <a:r>
              <a:rPr dirty="0" sz="1200" spc="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信噪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⽐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线性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值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表⽰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上可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达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到的</a:t>
            </a:r>
            <a:r>
              <a:rPr dirty="0" sz="1350" spc="-150" b="1">
                <a:latin typeface="Microsoft JhengHei"/>
                <a:cs typeface="Microsoft JhengHei"/>
              </a:rPr>
              <a:t>最⼤传输速率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SNR</a:t>
            </a:r>
            <a:r>
              <a:rPr dirty="0" sz="1350" spc="-170" b="1">
                <a:latin typeface="Microsoft JhengHei"/>
                <a:cs typeface="Microsoft JhengHei"/>
              </a:rPr>
              <a:t>计算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SNR_dB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 =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 ×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log</a:t>
            </a:r>
            <a:r>
              <a:rPr dirty="0" sz="1200" spc="-10">
                <a:solidFill>
                  <a:srgbClr val="333333"/>
                </a:solidFill>
                <a:latin typeface="Segoe UI"/>
                <a:cs typeface="Segoe UI"/>
              </a:rPr>
              <a:t>₁₀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号功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)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负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SNR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表⽰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⼤于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号功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测试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中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SNR</a:t>
            </a:r>
            <a:r>
              <a:rPr dirty="0" sz="1350" spc="-145">
                <a:solidFill>
                  <a:srgbClr val="333333"/>
                </a:solidFill>
                <a:latin typeface="SimSun"/>
                <a:cs typeface="SimSun"/>
              </a:rPr>
              <a:t>范围：</a:t>
            </a:r>
            <a:r>
              <a:rPr dirty="0" sz="1200" spc="-90">
                <a:solidFill>
                  <a:srgbClr val="333333"/>
                </a:solidFill>
                <a:latin typeface="Arial MT"/>
                <a:cs typeface="Arial MT"/>
              </a:rPr>
              <a:t>-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13.6</a:t>
            </a:r>
            <a:r>
              <a:rPr dirty="0" sz="1200" spc="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dB</a:t>
            </a:r>
            <a:r>
              <a:rPr dirty="0" sz="1200" spc="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75">
                <a:solidFill>
                  <a:srgbClr val="333333"/>
                </a:solidFill>
                <a:latin typeface="Microsoft JhengHei"/>
                <a:cs typeface="Microsoft JhengHei"/>
              </a:rPr>
              <a:t>到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-4.1</a:t>
            </a:r>
            <a:r>
              <a:rPr dirty="0" sz="1200" spc="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dB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极端恶劣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环境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70" b="1">
                <a:latin typeface="Malgun Gothic"/>
                <a:cs typeface="Malgun Gothic"/>
              </a:rPr>
              <a:t>正</a:t>
            </a:r>
            <a:r>
              <a:rPr dirty="0" sz="1350" spc="-170" b="1">
                <a:latin typeface="Microsoft JhengHei"/>
                <a:cs typeface="Microsoft JhengHei"/>
              </a:rPr>
              <a:t>确</a:t>
            </a:r>
            <a:r>
              <a:rPr dirty="0" sz="1350" spc="-170" b="1">
                <a:latin typeface="Malgun Gothic"/>
                <a:cs typeface="Malgun Gothic"/>
              </a:rPr>
              <a:t>的</a:t>
            </a:r>
            <a:r>
              <a:rPr dirty="0" sz="1350" spc="-170" b="1">
                <a:latin typeface="Microsoft JhengHei"/>
                <a:cs typeface="Microsoft JhengHei"/>
              </a:rPr>
              <a:t>对⽐</a:t>
            </a:r>
            <a:r>
              <a:rPr dirty="0" sz="1350" spc="-170" b="1">
                <a:latin typeface="Malgun Gothic"/>
                <a:cs typeface="Malgun Gothic"/>
              </a:rPr>
              <a:t>理</a:t>
            </a:r>
            <a:r>
              <a:rPr dirty="0" sz="1350" spc="-170" b="1">
                <a:latin typeface="Microsoft JhengHei"/>
                <a:cs typeface="Microsoft JhengHei"/>
              </a:rPr>
              <a:t>解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 spc="-10" b="1">
                <a:latin typeface="Arial"/>
                <a:cs typeface="Arial"/>
              </a:rPr>
              <a:t>Shannon</a:t>
            </a:r>
            <a:r>
              <a:rPr dirty="0" sz="1350" spc="-170" b="1">
                <a:latin typeface="Microsoft JhengHei"/>
                <a:cs typeface="Microsoft JhengHei"/>
              </a:rPr>
              <a:t>容</a:t>
            </a:r>
            <a:r>
              <a:rPr dirty="0" sz="1350" spc="-170" b="1">
                <a:latin typeface="Malgun Gothic"/>
                <a:cs typeface="Malgun Gothic"/>
              </a:rPr>
              <a:t>量</a:t>
            </a:r>
            <a:r>
              <a:rPr dirty="0" sz="1200" spc="5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极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限</a:t>
            </a:r>
            <a:r>
              <a:rPr dirty="0" sz="1350" spc="-35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0.06-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0.47</a:t>
            </a:r>
            <a:r>
              <a:rPr dirty="0" sz="1200" spc="114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bits/symbol</a:t>
            </a:r>
            <a:r>
              <a:rPr dirty="0" sz="1350" spc="-2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环境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200" spc="-10" b="1">
                <a:latin typeface="Arial"/>
                <a:cs typeface="Arial"/>
              </a:rPr>
              <a:t>OOK</a:t>
            </a:r>
            <a:r>
              <a:rPr dirty="0" sz="1350" spc="-170" b="1">
                <a:latin typeface="Microsoft JhengHei"/>
                <a:cs typeface="Microsoft JhengHei"/>
              </a:rPr>
              <a:t>实际速率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定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bit/symbol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频谱效率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速率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/Shannon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dirty="0" sz="1350" spc="-250">
                <a:solidFill>
                  <a:srgbClr val="333333"/>
                </a:solidFill>
                <a:latin typeface="SimSun"/>
                <a:cs typeface="SimSun"/>
              </a:rPr>
              <a:t>量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=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212%-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1632%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成功率</a:t>
            </a:r>
            <a:r>
              <a:rPr dirty="0" sz="1200" spc="7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概率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1-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BER</a:t>
            </a:r>
            <a:r>
              <a:rPr dirty="0" sz="1350" spc="-74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350" spc="-55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从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100%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⾄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93%</a:t>
            </a:r>
            <a:endParaRPr sz="120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4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关键发现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 marR="2456815">
              <a:lnSpc>
                <a:spcPct val="115700"/>
              </a:lnSpc>
              <a:spcBef>
                <a:spcPts val="8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负</a:t>
            </a:r>
            <a:r>
              <a:rPr dirty="0" sz="1200" b="1">
                <a:latin typeface="Arial"/>
                <a:cs typeface="Arial"/>
              </a:rPr>
              <a:t>SNR</a:t>
            </a:r>
            <a:r>
              <a:rPr dirty="0" sz="1350" spc="-170" b="1">
                <a:latin typeface="Microsoft JhengHei"/>
                <a:cs typeface="Microsoft JhengHei"/>
              </a:rPr>
              <a:t>环</a:t>
            </a:r>
            <a:r>
              <a:rPr dirty="0" sz="1350" spc="-170" b="1">
                <a:latin typeface="Malgun Gothic"/>
                <a:cs typeface="Malgun Gothic"/>
              </a:rPr>
              <a:t>境</a:t>
            </a:r>
            <a:r>
              <a:rPr dirty="0" sz="1350" spc="-9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90">
                <a:solidFill>
                  <a:srgbClr val="333333"/>
                </a:solidFill>
                <a:latin typeface="Arial MT"/>
                <a:cs typeface="Arial MT"/>
              </a:rPr>
              <a:t>-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4.1 dB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到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-13.6 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dB</a:t>
            </a:r>
            <a:r>
              <a:rPr dirty="0" sz="1350" spc="-3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&gt;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号功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350" spc="-170" b="1">
                <a:latin typeface="Microsoft JhengHei"/>
                <a:cs typeface="Microsoft JhengHei"/>
              </a:rPr>
              <a:t>低</a:t>
            </a:r>
            <a:r>
              <a:rPr dirty="0" sz="1200" spc="-10" b="1">
                <a:latin typeface="Arial"/>
                <a:cs typeface="Arial"/>
              </a:rPr>
              <a:t>Shannon</a:t>
            </a:r>
            <a:r>
              <a:rPr dirty="0" sz="1350" spc="-170" b="1">
                <a:latin typeface="Microsoft JhengHei"/>
                <a:cs typeface="Microsoft JhengHei"/>
              </a:rPr>
              <a:t>容</a:t>
            </a:r>
            <a:r>
              <a:rPr dirty="0" sz="1350" spc="-170" b="1">
                <a:latin typeface="Malgun Gothic"/>
                <a:cs typeface="Malgun Gothic"/>
              </a:rPr>
              <a:t>量</a:t>
            </a:r>
            <a:r>
              <a:rPr dirty="0" sz="1200" spc="3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极端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声下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，理论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&lt;1</a:t>
            </a:r>
            <a:r>
              <a:rPr dirty="0" sz="1200" spc="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bit/symbol</a:t>
            </a:r>
            <a:endParaRPr sz="1200">
              <a:latin typeface="Arial MT"/>
              <a:cs typeface="Arial MT"/>
            </a:endParaRPr>
          </a:p>
          <a:p>
            <a:pPr marL="621665" marR="1638935">
              <a:lnSpc>
                <a:spcPct val="115700"/>
              </a:lnSpc>
              <a:spcBef>
                <a:spcPts val="7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超载运⾏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我们的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以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 bit/symbol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Shannon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2-16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倍</a:t>
            </a:r>
            <a:r>
              <a:rPr dirty="0" sz="1350" spc="-170" b="1">
                <a:latin typeface="Microsoft JhengHei"/>
                <a:cs typeface="Microsoft JhengHei"/>
              </a:rPr>
              <a:t>误码出现</a:t>
            </a:r>
            <a:r>
              <a:rPr dirty="0" sz="1200" spc="6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当频谱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&gt;100%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然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出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现误码</a:t>
            </a:r>
            <a:endParaRPr sz="1350">
              <a:latin typeface="SimSun"/>
              <a:cs typeface="SimSun"/>
            </a:endParaRPr>
          </a:p>
          <a:p>
            <a:pPr marL="926465" marR="2407920">
              <a:lnSpc>
                <a:spcPct val="118100"/>
              </a:lnSpc>
              <a:spcBef>
                <a:spcPts val="3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noise=2.0:</a:t>
            </a:r>
            <a:r>
              <a:rPr dirty="0" sz="1200" spc="1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载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7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倍，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成功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98.5%</a:t>
            </a:r>
            <a:r>
              <a:rPr dirty="0" sz="1350" spc="-25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1.5%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误码率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noise=2.5:</a:t>
            </a:r>
            <a:r>
              <a:rPr dirty="0" sz="1200" spc="1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载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11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倍，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成功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96.7%</a:t>
            </a:r>
            <a:r>
              <a:rPr dirty="0" sz="1350" spc="-25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3.3%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误码率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noise=3.0:</a:t>
            </a:r>
            <a:r>
              <a:rPr dirty="0" sz="1200" spc="1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载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16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倍，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成功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93.0%</a:t>
            </a:r>
            <a:r>
              <a:rPr dirty="0" sz="1350" spc="-3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7%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误码率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 spc="-10" b="1">
                <a:latin typeface="Arial"/>
                <a:cs typeface="Arial"/>
              </a:rPr>
              <a:t>Shannon</a:t>
            </a:r>
            <a:r>
              <a:rPr dirty="0" sz="1350" spc="-170" b="1">
                <a:latin typeface="Microsoft JhengHei"/>
                <a:cs typeface="Microsoft JhengHei"/>
              </a:rPr>
              <a:t>极限验证</a:t>
            </a:r>
            <a:r>
              <a:rPr dirty="0" sz="1200" spc="12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结果完美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验证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了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Shannon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——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输速率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过信道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法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⽆错传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5"/>
              <a:tabLst>
                <a:tab pos="317500" algn="l"/>
              </a:tabLst>
            </a:pPr>
            <a:r>
              <a:rPr dirty="0" sz="1350" spc="-170" b="1">
                <a:latin typeface="Malgun Gothic"/>
                <a:cs typeface="Malgun Gothic"/>
              </a:rPr>
              <a:t>理</a:t>
            </a:r>
            <a:r>
              <a:rPr dirty="0" sz="1350" spc="-170" b="1">
                <a:latin typeface="Microsoft JhengHei"/>
                <a:cs typeface="Microsoft JhengHei"/>
              </a:rPr>
              <a:t>论</a:t>
            </a:r>
            <a:r>
              <a:rPr dirty="0" sz="1350" spc="-170" b="1">
                <a:latin typeface="Malgun Gothic"/>
                <a:cs typeface="Malgun Gothic"/>
              </a:rPr>
              <a:t>意</a:t>
            </a:r>
            <a:r>
              <a:rPr dirty="0" sz="1350" spc="-170" b="1">
                <a:latin typeface="Microsoft JhengHei"/>
                <a:cs typeface="Microsoft JhengHei"/>
              </a:rPr>
              <a:t>义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这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是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Shannon-Hartley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的直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接验证</a:t>
            </a:r>
            <a:endParaRPr sz="1350">
              <a:latin typeface="SimSun"/>
              <a:cs typeface="SimSun"/>
            </a:endParaRPr>
          </a:p>
          <a:p>
            <a:pPr marL="621665" marR="1962150">
              <a:lnSpc>
                <a:spcPts val="1950"/>
              </a:lnSpc>
              <a:spcBef>
                <a:spcPts val="2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说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明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环境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下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要降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低传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输速率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增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加冗余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（纠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理解信道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供依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925" y="286004"/>
            <a:ext cx="2426335" cy="3873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00">
                <a:latin typeface="Arial"/>
                <a:cs typeface="Arial"/>
              </a:rPr>
              <a:t>Level 2:</a:t>
            </a:r>
            <a:r>
              <a:rPr dirty="0" sz="2100" spc="5">
                <a:latin typeface="Arial"/>
                <a:cs typeface="Arial"/>
              </a:rPr>
              <a:t> </a:t>
            </a:r>
            <a:r>
              <a:rPr dirty="0" spc="-270"/>
              <a:t>多主机通信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5925" y="919607"/>
            <a:ext cx="2604135" cy="11283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35" b="1">
                <a:latin typeface="Microsoft JhengHei"/>
                <a:cs typeface="Microsoft JhengHei"/>
              </a:rPr>
              <a:t>任务 </a:t>
            </a:r>
            <a:r>
              <a:rPr dirty="0" sz="1800" b="1">
                <a:latin typeface="Arial"/>
                <a:cs typeface="Arial"/>
              </a:rPr>
              <a:t>2.1: </a:t>
            </a:r>
            <a:r>
              <a:rPr dirty="0" sz="2000" spc="-200" b="1">
                <a:latin typeface="Microsoft JhengHei"/>
                <a:cs typeface="Microsoft JhengHei"/>
              </a:rPr>
              <a:t>多主机通信过</a:t>
            </a:r>
            <a:r>
              <a:rPr dirty="0" sz="2000" spc="-145" b="1">
                <a:latin typeface="Malgun Gothic"/>
                <a:cs typeface="Malgun Gothic"/>
              </a:rPr>
              <a:t>程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700" spc="-175" b="1">
                <a:latin typeface="Microsoft JhengHei"/>
                <a:cs typeface="Microsoft JhengHei"/>
              </a:rPr>
              <a:t>测试⽬标</a:t>
            </a:r>
            <a:endParaRPr sz="1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演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⽰星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型拓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扑⽹络中的主机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间通信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实现代码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4298950" cy="855027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latin typeface="Consolas"/>
                <a:cs typeface="Consolas"/>
              </a:rPr>
              <a:t>python3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-c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network_layer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*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12700" marR="2133600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print('===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多主机通信演示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===')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创建星型拓扑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print('1.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创建星型拓扑网络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</a:t>
            </a:r>
            <a:endParaRPr sz="1000">
              <a:latin typeface="Consolas"/>
              <a:cs typeface="Consolas"/>
            </a:endParaRPr>
          </a:p>
          <a:p>
            <a:pPr marL="12700" marR="1242695">
              <a:lnSpc>
                <a:spcPct val="137500"/>
              </a:lnSpc>
              <a:tabLst>
                <a:tab pos="795655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topology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StarTopology(num_hosts=4) 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交换机</a:t>
            </a: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{topology.switch.name}')</a:t>
            </a:r>
            <a:endParaRPr sz="1000">
              <a:latin typeface="Consolas"/>
              <a:cs typeface="Consolas"/>
            </a:endParaRPr>
          </a:p>
          <a:p>
            <a:pPr marL="12700" marR="1313815">
              <a:lnSpc>
                <a:spcPct val="137500"/>
              </a:lnSpc>
              <a:spcBef>
                <a:spcPts val="75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主机数</a:t>
            </a: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{len(topology.hosts)}')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显示主机信息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print('2.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网络中的主机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mac,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topology.hosts.items():</a:t>
            </a:r>
            <a:endParaRPr sz="1000">
              <a:latin typeface="Consolas"/>
              <a:cs typeface="Consolas"/>
            </a:endParaRPr>
          </a:p>
          <a:p>
            <a:pPr marL="12700" marR="5080" indent="284480">
              <a:lnSpc>
                <a:spcPct val="137500"/>
              </a:lnSpc>
              <a:tabLst>
                <a:tab pos="1080770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{host.name}: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MAC={mac},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Port={host.port_id}')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主机通信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print('3.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Host1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发送消息给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Host2')</a:t>
            </a:r>
            <a:endParaRPr sz="1000">
              <a:latin typeface="Consolas"/>
              <a:cs typeface="Consolas"/>
            </a:endParaRPr>
          </a:p>
          <a:p>
            <a:pPr marL="12700" marR="1002030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host1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topology.get_host('00:00:00:00:00:01')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host2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topology.get_host('00:00:00:00:00:02')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000">
              <a:latin typeface="Consolas"/>
              <a:cs typeface="Consolas"/>
            </a:endParaRPr>
          </a:p>
          <a:p>
            <a:pPr marL="12700" marR="76200">
              <a:lnSpc>
                <a:spcPct val="143800"/>
              </a:lnSpc>
              <a:tabLst>
                <a:tab pos="724535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host1.send_string('00:00:00:00:00:02',</a:t>
            </a:r>
            <a:r>
              <a:rPr dirty="0" sz="1000" spc="9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'Hello</a:t>
            </a:r>
            <a:r>
              <a:rPr dirty="0" sz="1000" spc="10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9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Host1!') 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发送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Hello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Host1!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72453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源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MAC: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00:00:00:00:00:01')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72453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目标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MAC: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00:00:00:00:00:02')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检查接收</a:t>
            </a:r>
            <a:endParaRPr sz="1000">
              <a:latin typeface="NSimSun"/>
              <a:cs typeface="NSimSun"/>
            </a:endParaRPr>
          </a:p>
          <a:p>
            <a:pPr marL="12700" marR="2284095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frame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host2.get_received()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if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frame: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print(f'4.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Host2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接收到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  <a:p>
            <a:pPr marL="297180" marR="663575">
              <a:lnSpc>
                <a:spcPct val="137500"/>
              </a:lnSpc>
              <a:tabLst>
                <a:tab pos="1080770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内容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: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{frame.payload.decode()}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') 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来源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: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{frame.src_mac}')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显示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学习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print('5.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交换机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70">
                <a:solidFill>
                  <a:srgbClr val="173690"/>
                </a:solidFill>
                <a:latin typeface="NSimSun"/>
                <a:cs typeface="NSimSun"/>
              </a:rPr>
              <a:t>表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自动学习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):')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7815" y="308483"/>
            <a:ext cx="2376170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topology.switch.print_mac_table()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5925" y="1048385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运⾏结果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50515" y="6833067"/>
            <a:ext cx="2849245" cy="0"/>
          </a:xfrm>
          <a:custGeom>
            <a:avLst/>
            <a:gdLst/>
            <a:ahLst/>
            <a:cxnLst/>
            <a:rect l="l" t="t" r="r" b="b"/>
            <a:pathLst>
              <a:path w="2849245" h="0">
                <a:moveTo>
                  <a:pt x="0" y="0"/>
                </a:moveTo>
                <a:lnTo>
                  <a:pt x="2848866" y="0"/>
                </a:lnTo>
              </a:path>
            </a:pathLst>
          </a:custGeom>
          <a:ln w="10363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37815" y="1600835"/>
            <a:ext cx="2803525" cy="5514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Consolas"/>
                <a:cs typeface="Consolas"/>
              </a:rPr>
              <a:t>=== </a:t>
            </a:r>
            <a:r>
              <a:rPr dirty="0" sz="1000" spc="45">
                <a:latin typeface="NSimSun"/>
                <a:cs typeface="NSimSun"/>
              </a:rPr>
              <a:t>多主机通信演示 </a:t>
            </a:r>
            <a:r>
              <a:rPr dirty="0" sz="1000" spc="-25">
                <a:latin typeface="Consolas"/>
                <a:cs typeface="Consolas"/>
              </a:rPr>
              <a:t>===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000">
              <a:latin typeface="Consolas"/>
              <a:cs typeface="Consolas"/>
            </a:endParaRPr>
          </a:p>
          <a:p>
            <a:pPr marL="226060" marR="1505585" indent="-213995">
              <a:lnSpc>
                <a:spcPct val="140600"/>
              </a:lnSpc>
              <a:buFont typeface="Consolas"/>
              <a:buAutoNum type="arabicPeriod"/>
              <a:tabLst>
                <a:tab pos="226060" algn="l"/>
              </a:tabLst>
            </a:pPr>
            <a:r>
              <a:rPr dirty="0" sz="1000" spc="35">
                <a:latin typeface="NSimSun"/>
                <a:cs typeface="NSimSun"/>
              </a:rPr>
              <a:t>创建星型拓扑网络</a:t>
            </a:r>
            <a:r>
              <a:rPr dirty="0" sz="1000" spc="50">
                <a:latin typeface="NSimSun"/>
                <a:cs typeface="NSimSun"/>
              </a:rPr>
              <a:t>交换机</a:t>
            </a:r>
            <a:r>
              <a:rPr dirty="0" sz="1000">
                <a:latin typeface="Consolas"/>
                <a:cs typeface="Consolas"/>
              </a:rPr>
              <a:t>: </a:t>
            </a:r>
            <a:r>
              <a:rPr dirty="0" sz="1000" spc="-10">
                <a:latin typeface="Consolas"/>
                <a:cs typeface="Consolas"/>
              </a:rPr>
              <a:t>Switch</a:t>
            </a:r>
            <a:r>
              <a:rPr dirty="0" sz="1000" spc="50">
                <a:latin typeface="NSimSun"/>
                <a:cs typeface="NSimSun"/>
              </a:rPr>
              <a:t>主机数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50">
                <a:latin typeface="Consolas"/>
                <a:cs typeface="Consolas"/>
              </a:rPr>
              <a:t>4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  <a:buFont typeface="Consolas"/>
              <a:buAutoNum type="arabicPeriod"/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Font typeface="Consolas"/>
              <a:buAutoNum type="arabicPeriod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网络中的主机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algn="just" marL="22606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Host1:</a:t>
            </a:r>
            <a:r>
              <a:rPr dirty="0" sz="1000" spc="8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MAC=00:00:00:00:00:01,</a:t>
            </a:r>
            <a:r>
              <a:rPr dirty="0" sz="1000" spc="8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Port=0</a:t>
            </a:r>
            <a:endParaRPr sz="1000">
              <a:latin typeface="Consolas"/>
              <a:cs typeface="Consolas"/>
            </a:endParaRPr>
          </a:p>
          <a:p>
            <a:pPr algn="just" marL="226060" marR="50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Host2:</a:t>
            </a:r>
            <a:r>
              <a:rPr dirty="0" sz="1000" spc="8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MAC=00:00:00:00:00:02,</a:t>
            </a:r>
            <a:r>
              <a:rPr dirty="0" sz="1000" spc="8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Port=1 </a:t>
            </a:r>
            <a:r>
              <a:rPr dirty="0" sz="1000">
                <a:latin typeface="Consolas"/>
                <a:cs typeface="Consolas"/>
              </a:rPr>
              <a:t>Host3:</a:t>
            </a:r>
            <a:r>
              <a:rPr dirty="0" sz="1000" spc="8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MAC=00:00:00:00:00:03,</a:t>
            </a:r>
            <a:r>
              <a:rPr dirty="0" sz="1000" spc="8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Port=2 </a:t>
            </a:r>
            <a:r>
              <a:rPr dirty="0" sz="1000">
                <a:latin typeface="Consolas"/>
                <a:cs typeface="Consolas"/>
              </a:rPr>
              <a:t>Host4:</a:t>
            </a:r>
            <a:r>
              <a:rPr dirty="0" sz="1000" spc="8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MAC=00:00:00:00:00:04,</a:t>
            </a:r>
            <a:r>
              <a:rPr dirty="0" sz="1000" spc="8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Port=3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AutoNum type="arabicPeriod" startAt="3"/>
              <a:tabLst>
                <a:tab pos="226060" algn="l"/>
              </a:tabLst>
            </a:pPr>
            <a:r>
              <a:rPr dirty="0" sz="1000">
                <a:latin typeface="Consolas"/>
                <a:cs typeface="Consolas"/>
              </a:rPr>
              <a:t>Host1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发送消息给 </a:t>
            </a:r>
            <a:r>
              <a:rPr dirty="0" sz="1000" spc="-10">
                <a:latin typeface="Consolas"/>
                <a:cs typeface="Consolas"/>
              </a:rPr>
              <a:t>Host2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发送</a:t>
            </a:r>
            <a:r>
              <a:rPr dirty="0" sz="1000" spc="15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"Hello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from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Host1!"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源</a:t>
            </a:r>
            <a:r>
              <a:rPr dirty="0" sz="1000">
                <a:latin typeface="Consolas"/>
                <a:cs typeface="Consolas"/>
              </a:rPr>
              <a:t>MAC: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00:00:00:00:00:01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目标</a:t>
            </a:r>
            <a:r>
              <a:rPr dirty="0" sz="1000">
                <a:latin typeface="Consolas"/>
                <a:cs typeface="Consolas"/>
              </a:rPr>
              <a:t>MAC: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00:00:00:00:00:02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226060" algn="l"/>
              </a:tabLst>
            </a:pPr>
            <a:r>
              <a:rPr dirty="0" sz="1000">
                <a:latin typeface="Consolas"/>
                <a:cs typeface="Consolas"/>
              </a:rPr>
              <a:t>Host2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接收到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内容</a:t>
            </a:r>
            <a:r>
              <a:rPr dirty="0" sz="1000" spc="15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"Hello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from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Host1!"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来源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10">
                <a:latin typeface="Consolas"/>
                <a:cs typeface="Consolas"/>
              </a:rPr>
              <a:t>00:00:00:00:00:01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Font typeface="Consolas"/>
              <a:buAutoNum type="arabicPeriod" startAt="5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交换机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 spc="65">
                <a:latin typeface="NSimSun"/>
                <a:cs typeface="NSimSun"/>
              </a:rPr>
              <a:t>表 </a:t>
            </a:r>
            <a:r>
              <a:rPr dirty="0" sz="1000">
                <a:latin typeface="Consolas"/>
                <a:cs typeface="Consolas"/>
              </a:rPr>
              <a:t>(</a:t>
            </a:r>
            <a:r>
              <a:rPr dirty="0" sz="1000" spc="50">
                <a:latin typeface="NSimSun"/>
                <a:cs typeface="NSimSun"/>
              </a:rPr>
              <a:t>自动学习</a:t>
            </a:r>
            <a:r>
              <a:rPr dirty="0" sz="1000" spc="-25"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latin typeface="Consolas"/>
                <a:cs typeface="Consolas"/>
              </a:rPr>
              <a:t>Switch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Table: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54940">
              <a:lnSpc>
                <a:spcPct val="100000"/>
              </a:lnSpc>
            </a:pPr>
            <a:r>
              <a:rPr dirty="0" sz="1000">
                <a:latin typeface="Consolas"/>
                <a:cs typeface="Consolas"/>
              </a:rPr>
              <a:t>00:00:00:00:00:01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-&gt;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Port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(Host1)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50515" y="7261691"/>
            <a:ext cx="2849245" cy="0"/>
          </a:xfrm>
          <a:custGeom>
            <a:avLst/>
            <a:gdLst/>
            <a:ahLst/>
            <a:cxnLst/>
            <a:rect l="l" t="t" r="r" b="b"/>
            <a:pathLst>
              <a:path w="2849245" h="0">
                <a:moveTo>
                  <a:pt x="0" y="0"/>
                </a:moveTo>
                <a:lnTo>
                  <a:pt x="2848866" y="0"/>
                </a:lnTo>
              </a:path>
            </a:pathLst>
          </a:custGeom>
          <a:ln w="10363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15925" y="7620634"/>
            <a:ext cx="3844290" cy="1618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技术</a:t>
            </a:r>
            <a:r>
              <a:rPr dirty="0" sz="1700" spc="-130" b="1">
                <a:latin typeface="Malgun Gothic"/>
                <a:cs typeface="Malgun Gothic"/>
              </a:rPr>
              <a:t>要点</a:t>
            </a:r>
            <a:endParaRPr sz="170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spcBef>
                <a:spcPts val="1235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星型拓扑</a:t>
            </a:r>
            <a:r>
              <a:rPr dirty="0" sz="1200" spc="6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所有主机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中⼼交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连接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MAC</a:t>
            </a:r>
            <a:r>
              <a:rPr dirty="0" sz="1350" spc="-170" b="1">
                <a:latin typeface="Microsoft JhengHei"/>
                <a:cs typeface="Microsoft JhengHei"/>
              </a:rPr>
              <a:t>地址分</a:t>
            </a:r>
            <a:r>
              <a:rPr dirty="0" sz="1350" spc="-170" b="1">
                <a:latin typeface="Malgun Gothic"/>
                <a:cs typeface="Malgun Gothic"/>
              </a:rPr>
              <a:t>配</a:t>
            </a:r>
            <a:r>
              <a:rPr dirty="0" sz="1200" spc="4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每个主机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唯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⼀的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48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地址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端⼝映射</a:t>
            </a:r>
            <a:r>
              <a:rPr dirty="0" sz="1200" spc="6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每个主机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连接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到交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dirty="0" sz="1350" spc="-150">
                <a:solidFill>
                  <a:srgbClr val="333333"/>
                </a:solidFill>
                <a:latin typeface="Microsoft JhengHei"/>
                <a:cs typeface="Microsoft JhengHei"/>
              </a:rPr>
              <a:t>机的特定端⼝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MAC</a:t>
            </a:r>
            <a:r>
              <a:rPr dirty="0" sz="1350" spc="-170" b="1">
                <a:latin typeface="Microsoft JhengHei"/>
                <a:cs typeface="Microsoft JhengHei"/>
              </a:rPr>
              <a:t>学习</a:t>
            </a:r>
            <a:r>
              <a:rPr dirty="0" sz="1200" spc="6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通过源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地址</a:t>
            </a:r>
            <a:r>
              <a:rPr dirty="0" sz="1350" spc="-155">
                <a:solidFill>
                  <a:srgbClr val="333333"/>
                </a:solidFill>
                <a:latin typeface="Microsoft JhengHei"/>
                <a:cs typeface="Microsoft JhengHei"/>
              </a:rPr>
              <a:t>⾃动学习主机位置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帧过滤</a:t>
            </a:r>
            <a:r>
              <a:rPr dirty="0" sz="1200" spc="6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主机只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接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收⽬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与⾃⼰匹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配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的帧</a:t>
            </a:r>
            <a:endParaRPr sz="13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2286635" cy="647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85" b="1">
                <a:latin typeface="Microsoft JhengHei"/>
                <a:cs typeface="Microsoft JhengHei"/>
              </a:rPr>
              <a:t>核⼼代码实现</a:t>
            </a:r>
            <a:endParaRPr sz="1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MAC</a:t>
            </a:r>
            <a:r>
              <a:rPr dirty="0" sz="1350" spc="-130" b="1">
                <a:latin typeface="Microsoft JhengHei"/>
                <a:cs typeface="Microsoft JhengHei"/>
              </a:rPr>
              <a:t>地址类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(network_layer.py)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7815" y="432308"/>
            <a:ext cx="6153150" cy="8978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4663440" indent="-285115">
              <a:lnSpc>
                <a:spcPct val="137500"/>
              </a:lnSpc>
              <a:spcBef>
                <a:spcPts val="9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MACAddress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"""48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位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地址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582295" marR="3495675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2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init</a:t>
            </a:r>
            <a:r>
              <a:rPr dirty="0" u="sng" sz="1000" spc="32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address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格式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XX:XX:XX:XX:XX:XX"""</a:t>
            </a:r>
            <a:endParaRPr sz="1000">
              <a:latin typeface="Consolas"/>
              <a:cs typeface="Consolas"/>
            </a:endParaRPr>
          </a:p>
          <a:p>
            <a:pPr marL="582295" marR="399542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address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address 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validate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validate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验证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地址格式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 marR="3354070" indent="-63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parts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address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split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':'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parts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!=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6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582295" marR="1786889" indent="28448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raise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ValueError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"MAC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address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must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have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6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parts"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part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parts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86741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part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!=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35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or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not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all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c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'0123456789ABCDEFabcdef'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part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115189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raise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ValueError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f"Invalid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part: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 spc="-10">
                <a:latin typeface="Consolas"/>
                <a:cs typeface="Consolas"/>
              </a:rPr>
              <a:t>part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000">
              <a:latin typeface="Consolas"/>
              <a:cs typeface="Consolas"/>
            </a:endParaRPr>
          </a:p>
          <a:p>
            <a:pPr marL="582295" marR="3638550" indent="-285115">
              <a:lnSpc>
                <a:spcPct val="1438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to_bits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转换为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48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位比特流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[]</a:t>
            </a:r>
            <a:endParaRPr sz="1000">
              <a:latin typeface="Consolas"/>
              <a:cs typeface="Consolas"/>
            </a:endParaRPr>
          </a:p>
          <a:p>
            <a:pPr marL="866775" marR="2997835" indent="-28511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part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address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split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':'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byte_val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part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16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 marR="2997835" indent="28448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6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int_to_bits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byte_val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@classmethod</a:t>
            </a:r>
            <a:endParaRPr sz="1000">
              <a:latin typeface="Consolas"/>
              <a:cs typeface="Consolas"/>
            </a:endParaRPr>
          </a:p>
          <a:p>
            <a:pPr marL="582295" marR="2142490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from_bits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cls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List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'MACAddress'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从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48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位比特流创建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地址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!=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48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86741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raise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ValueError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"MAC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address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must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be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48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bits"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</a:pPr>
            <a:r>
              <a:rPr dirty="0" sz="1000">
                <a:latin typeface="Consolas"/>
                <a:cs typeface="Consolas"/>
              </a:rPr>
              <a:t>parts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[]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48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866775" marR="278384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byte_val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bits_to_int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latin typeface="Consolas"/>
                <a:cs typeface="Consolas"/>
              </a:rPr>
              <a:t>i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-10">
                <a:latin typeface="Consolas"/>
                <a:cs typeface="Consolas"/>
              </a:rPr>
              <a:t>i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 spc="-10">
                <a:latin typeface="Consolas"/>
                <a:cs typeface="Consolas"/>
              </a:rPr>
              <a:t>parts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append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f'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 spc="-10">
                <a:latin typeface="Consolas"/>
                <a:cs typeface="Consolas"/>
              </a:rPr>
              <a:t>byte_val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-10">
                <a:latin typeface="Consolas"/>
                <a:cs typeface="Consolas"/>
              </a:rPr>
              <a:t>02X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cls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':'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join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parts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00">
              <a:latin typeface="Consolas"/>
              <a:cs typeface="Consolas"/>
            </a:endParaRPr>
          </a:p>
          <a:p>
            <a:pPr marL="582295" marR="4208780" indent="-285115">
              <a:lnSpc>
                <a:spcPct val="1438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1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str</a:t>
            </a:r>
            <a:r>
              <a:rPr dirty="0" u="sng" sz="1000" spc="31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address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2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eq</a:t>
            </a:r>
            <a:r>
              <a:rPr dirty="0" u="sng" sz="1000" spc="32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other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6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address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upper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==</a:t>
            </a:r>
            <a:r>
              <a:rPr dirty="0" sz="1000" spc="6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other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).</a:t>
            </a:r>
            <a:r>
              <a:rPr dirty="0" sz="1000" spc="-10">
                <a:latin typeface="Consolas"/>
                <a:cs typeface="Consolas"/>
              </a:rPr>
              <a:t>upper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38963"/>
            <a:ext cx="6012180" cy="9100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功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200" spc="12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48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地址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的表⽰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、验证、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⽐特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转换。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持标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准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XX:XX:XX:XX:XX:XX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格式。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200" b="1">
                <a:latin typeface="Arial"/>
                <a:cs typeface="Arial"/>
              </a:rPr>
              <a:t>2.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350" spc="-130" b="1">
                <a:latin typeface="Microsoft JhengHei"/>
                <a:cs typeface="Microsoft JhengHei"/>
              </a:rPr>
              <a:t>⽹络帧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(network_layer.py)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200">
              <a:latin typeface="Arial MT"/>
              <a:cs typeface="Arial MT"/>
            </a:endParaRPr>
          </a:p>
          <a:p>
            <a:pPr marL="133985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NetworkFrame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419100" marR="309181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网络层帧，包含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寻址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 </a:t>
            </a:r>
            <a:r>
              <a:rPr dirty="0" sz="1000">
                <a:latin typeface="Consolas"/>
                <a:cs typeface="Consolas"/>
              </a:rPr>
              <a:t>BROADCAST_MAC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'FF:FF:FF:FF:FF:FF'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00">
              <a:latin typeface="Consolas"/>
              <a:cs typeface="Consolas"/>
            </a:endParaRPr>
          </a:p>
          <a:p>
            <a:pPr marL="704215" marR="1096010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3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init</a:t>
            </a:r>
            <a:r>
              <a:rPr dirty="0" u="sng" sz="1000" spc="33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src_mac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dst_mac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payload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src_mac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MACAddress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src_mac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704215" marR="287782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dst_mac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MACAddress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dst_mac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payload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payload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checksum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_calculate_checksum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704215" marR="2948940" indent="-285115">
              <a:lnSpc>
                <a:spcPct val="1375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6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_calculate_checksum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2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计算帧校验和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payload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&amp;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0xFF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000">
              <a:latin typeface="Consolas"/>
              <a:cs typeface="Consolas"/>
            </a:endParaRPr>
          </a:p>
          <a:p>
            <a:pPr marL="704215" marR="3375660" indent="-285115">
              <a:lnSpc>
                <a:spcPct val="1438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to_bits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转换为比特流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704215" marR="4588510" indent="-63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[]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Preamble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int_to_bits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0xAA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 spc="1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目标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MAC</a:t>
            </a:r>
            <a:r>
              <a:rPr dirty="0" sz="1000" spc="2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(48</a:t>
            </a: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bits)</a:t>
            </a:r>
            <a:endParaRPr sz="1000">
              <a:latin typeface="Consolas"/>
              <a:cs typeface="Consolas"/>
            </a:endParaRPr>
          </a:p>
          <a:p>
            <a:pPr marL="704215" marR="3162935" indent="-63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61C5C"/>
                </a:solidFill>
                <a:latin typeface="Consolas"/>
                <a:cs typeface="Consolas"/>
              </a:rPr>
              <a:t>+=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dst_mac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to_bits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 </a:t>
            </a:r>
            <a:r>
              <a:rPr dirty="0" sz="1000" spc="1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源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MAC</a:t>
            </a:r>
            <a:r>
              <a:rPr dirty="0" sz="1000" spc="2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(48</a:t>
            </a: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bits)</a:t>
            </a:r>
            <a:endParaRPr sz="1000">
              <a:latin typeface="Consolas"/>
              <a:cs typeface="Consolas"/>
            </a:endParaRPr>
          </a:p>
          <a:p>
            <a:pPr marL="704215" marR="3162935" indent="-63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src_mac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to_bits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2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Length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(16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bits)</a:t>
            </a:r>
            <a:endParaRPr sz="1000">
              <a:latin typeface="Consolas"/>
              <a:cs typeface="Consolas"/>
            </a:endParaRPr>
          </a:p>
          <a:p>
            <a:pPr marL="704215" marR="2307590" indent="-63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7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7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int_to_bits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payload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),</a:t>
            </a:r>
            <a:r>
              <a:rPr dirty="0" sz="1000" spc="7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16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Payload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bytes_to_bits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payload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Checksum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(8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bits)</a:t>
            </a:r>
            <a:endParaRPr sz="1000">
              <a:latin typeface="Consolas"/>
              <a:cs typeface="Consolas"/>
            </a:endParaRPr>
          </a:p>
          <a:p>
            <a:pPr marL="704215" marR="2663825" indent="-635">
              <a:lnSpc>
                <a:spcPct val="137500"/>
              </a:lnSpc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6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7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int_to_bits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checksum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7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Postamble</a:t>
            </a:r>
            <a:endParaRPr sz="1000">
              <a:latin typeface="Consolas"/>
              <a:cs typeface="Consolas"/>
            </a:endParaRPr>
          </a:p>
          <a:p>
            <a:pPr marL="704215" marR="3305175" indent="-63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int_to_bits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0x55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704215" marR="3375660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is_broadcast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bool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判断是否为广播帧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dst_mac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BROADCAST_MAC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50" spc="-170" b="1">
                <a:latin typeface="Microsoft JhengHei"/>
                <a:cs typeface="Microsoft JhengHei"/>
              </a:rPr>
              <a:t>功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200" spc="12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⽹络层帧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格式，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包含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源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地址、载荷、校验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播地址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判断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38963"/>
            <a:ext cx="25914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latin typeface="Arial"/>
                <a:cs typeface="Arial"/>
              </a:rPr>
              <a:t>3.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350" spc="-170" b="1">
                <a:latin typeface="Microsoft JhengHei"/>
                <a:cs typeface="Microsoft JhengHei"/>
              </a:rPr>
              <a:t>交换机</a:t>
            </a:r>
            <a:r>
              <a:rPr dirty="0" sz="1200" b="1">
                <a:latin typeface="Arial"/>
                <a:cs typeface="Arial"/>
              </a:rPr>
              <a:t>MAC</a:t>
            </a:r>
            <a:r>
              <a:rPr dirty="0" sz="1350" spc="-110" b="1">
                <a:latin typeface="Microsoft JhengHei"/>
                <a:cs typeface="Microsoft JhengHei"/>
              </a:rPr>
              <a:t>学习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(network_layer.py)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7815" y="432308"/>
            <a:ext cx="5140325" cy="918845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Switch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以太网交换机，实现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学习和转发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000">
              <a:latin typeface="Consolas"/>
              <a:cs typeface="Consolas"/>
            </a:endParaRPr>
          </a:p>
          <a:p>
            <a:pPr marL="582295" marR="1864995" indent="-285115">
              <a:lnSpc>
                <a:spcPct val="140600"/>
              </a:lnSpc>
              <a:tabLst>
                <a:tab pos="2078355" algn="l"/>
              </a:tabLst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2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init</a:t>
            </a:r>
            <a:r>
              <a:rPr dirty="0" u="sng" sz="1000" spc="33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num_ports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num_ports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latin typeface="Consolas"/>
                <a:cs typeface="Consolas"/>
              </a:rPr>
              <a:t>num_ports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mac_table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35">
                <a:solidFill>
                  <a:srgbClr val="333333"/>
                </a:solidFill>
                <a:latin typeface="Consolas"/>
                <a:cs typeface="Consolas"/>
              </a:rPr>
              <a:t>{}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	</a:t>
            </a:r>
            <a:r>
              <a:rPr dirty="0" sz="1000" spc="1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MAC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 -&gt;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Port</a:t>
            </a:r>
            <a:r>
              <a:rPr dirty="0" sz="1000">
                <a:solidFill>
                  <a:srgbClr val="424442"/>
                </a:solidFill>
                <a:latin typeface="NSimSun"/>
                <a:cs typeface="NSimSun"/>
              </a:rPr>
              <a:t>映射</a:t>
            </a:r>
            <a:endParaRPr sz="1000">
              <a:latin typeface="NSimSun"/>
              <a:cs typeface="NSimSun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  <a:tabLst>
                <a:tab pos="3788410" algn="l"/>
              </a:tabLst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ports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[[]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_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num_ports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)]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5">
                <a:solidFill>
                  <a:srgbClr val="424442"/>
                </a:solidFill>
                <a:latin typeface="NSimSun"/>
                <a:cs typeface="NSimSun"/>
              </a:rPr>
              <a:t>每个端口的接收队列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000">
              <a:latin typeface="NSimSun"/>
              <a:cs typeface="NSimSun"/>
            </a:endParaRPr>
          </a:p>
          <a:p>
            <a:pPr marL="582295" marR="631190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6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forward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6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6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NetworkFrame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6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incoming_port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转发帧：</a:t>
            </a:r>
            <a:endParaRPr sz="1000">
              <a:latin typeface="NSimSun"/>
              <a:cs typeface="NSimSun"/>
            </a:endParaRPr>
          </a:p>
          <a:p>
            <a:pPr marL="795655" indent="-213360">
              <a:lnSpc>
                <a:spcPct val="100000"/>
              </a:lnSpc>
              <a:spcBef>
                <a:spcPts val="450"/>
              </a:spcBef>
              <a:buFont typeface="Consolas"/>
              <a:buAutoNum type="arabicPeriod"/>
              <a:tabLst>
                <a:tab pos="795655" algn="l"/>
              </a:tabLst>
            </a:pP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学习源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地址</a:t>
            </a:r>
            <a:endParaRPr sz="1000">
              <a:latin typeface="NSimSun"/>
              <a:cs typeface="NSimSun"/>
            </a:endParaRPr>
          </a:p>
          <a:p>
            <a:pPr marL="795655" indent="-213360">
              <a:lnSpc>
                <a:spcPct val="100000"/>
              </a:lnSpc>
              <a:spcBef>
                <a:spcPts val="450"/>
              </a:spcBef>
              <a:buFont typeface="Consolas"/>
              <a:buAutoNum type="arabicPeriod"/>
              <a:tabLst>
                <a:tab pos="795655" algn="l"/>
              </a:tabLst>
            </a:pPr>
            <a:r>
              <a:rPr dirty="0" sz="1000" spc="35">
                <a:solidFill>
                  <a:srgbClr val="173690"/>
                </a:solidFill>
                <a:latin typeface="NSimSun"/>
                <a:cs typeface="NSimSun"/>
              </a:rPr>
              <a:t>查表转发到目标端口</a:t>
            </a:r>
            <a:endParaRPr sz="1000">
              <a:latin typeface="NSimSun"/>
              <a:cs typeface="NSimSun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 marR="988060">
              <a:lnSpc>
                <a:spcPts val="1730"/>
              </a:lnSpc>
              <a:spcBef>
                <a:spcPts val="65"/>
              </a:spcBef>
            </a:pP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MAC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学习：记录源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MAC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来自哪个端口</a:t>
            </a:r>
            <a:r>
              <a:rPr dirty="0" sz="1000" spc="-50">
                <a:solidFill>
                  <a:srgbClr val="424442"/>
                </a:solidFill>
                <a:latin typeface="NSimSun"/>
                <a:cs typeface="NSimSun"/>
              </a:rPr>
              <a:t>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mac_table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src_mac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)] 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latin typeface="Consolas"/>
                <a:cs typeface="Consolas"/>
              </a:rPr>
              <a:t>incoming_port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424442"/>
                </a:solidFill>
                <a:latin typeface="NSimSun"/>
                <a:cs typeface="NSimSun"/>
              </a:rPr>
              <a:t>转发决策</a:t>
            </a:r>
            <a:endParaRPr sz="1000">
              <a:latin typeface="NSimSun"/>
              <a:cs typeface="NSimSun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is_broadcast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():</a:t>
            </a:r>
            <a:endParaRPr sz="1000">
              <a:latin typeface="Consolas"/>
              <a:cs typeface="Consolas"/>
            </a:endParaRPr>
          </a:p>
          <a:p>
            <a:pPr marL="867410">
              <a:lnSpc>
                <a:spcPct val="100000"/>
              </a:lnSpc>
              <a:spcBef>
                <a:spcPts val="450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40">
                <a:solidFill>
                  <a:srgbClr val="424442"/>
                </a:solidFill>
                <a:latin typeface="NSimSun"/>
                <a:cs typeface="NSimSun"/>
              </a:rPr>
              <a:t>广播：发送到除源端口外的所有端口</a:t>
            </a:r>
            <a:endParaRPr sz="1000">
              <a:latin typeface="NSimSun"/>
              <a:cs typeface="NSimSun"/>
            </a:endParaRPr>
          </a:p>
          <a:p>
            <a:pPr marL="582295" marR="1557655" indent="2844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_broadcast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incoming_port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elif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dst_mac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mac_table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867410">
              <a:lnSpc>
                <a:spcPct val="100000"/>
              </a:lnSpc>
              <a:spcBef>
                <a:spcPts val="450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40">
                <a:solidFill>
                  <a:srgbClr val="424442"/>
                </a:solidFill>
                <a:latin typeface="NSimSun"/>
                <a:cs typeface="NSimSun"/>
              </a:rPr>
              <a:t>单播：已知目标，直接转发</a:t>
            </a:r>
            <a:endParaRPr sz="1000">
              <a:latin typeface="NSimSun"/>
              <a:cs typeface="NSimSun"/>
            </a:endParaRPr>
          </a:p>
          <a:p>
            <a:pPr marL="867410" marR="845819" indent="-635">
              <a:lnSpc>
                <a:spcPct val="137500"/>
              </a:lnSpc>
              <a:spcBef>
                <a:spcPts val="75"/>
              </a:spcBef>
              <a:tabLst>
                <a:tab pos="3289300" algn="l"/>
              </a:tabLst>
            </a:pPr>
            <a:r>
              <a:rPr dirty="0" sz="1000">
                <a:latin typeface="Consolas"/>
                <a:cs typeface="Consolas"/>
              </a:rPr>
              <a:t>target_port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mac_table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dst_mac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)]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target_port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!= </a:t>
            </a:r>
            <a:r>
              <a:rPr dirty="0" sz="1000" spc="-10">
                <a:latin typeface="Consolas"/>
                <a:cs typeface="Consolas"/>
              </a:rPr>
              <a:t>incoming_port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424442"/>
                </a:solidFill>
                <a:latin typeface="NSimSun"/>
                <a:cs typeface="NSimSun"/>
              </a:rPr>
              <a:t>避免回传</a:t>
            </a:r>
            <a:endParaRPr sz="1000">
              <a:latin typeface="NSimSun"/>
              <a:cs typeface="NSimSun"/>
            </a:endParaRPr>
          </a:p>
          <a:p>
            <a:pPr marL="115189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_send_to_port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target_port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8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else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867410">
              <a:lnSpc>
                <a:spcPct val="100000"/>
              </a:lnSpc>
              <a:spcBef>
                <a:spcPts val="450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5">
                <a:solidFill>
                  <a:srgbClr val="424442"/>
                </a:solidFill>
                <a:latin typeface="NSimSun"/>
                <a:cs typeface="NSimSun"/>
              </a:rPr>
              <a:t>未知单播：洪泛</a:t>
            </a:r>
            <a:endParaRPr sz="1000">
              <a:latin typeface="NSimSun"/>
              <a:cs typeface="NSimSun"/>
            </a:endParaRPr>
          </a:p>
          <a:p>
            <a:pPr marL="86677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_broadcast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incoming_port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582295" marR="560070" indent="-285115">
              <a:lnSpc>
                <a:spcPct val="1375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6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_broadcast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NetworkFrame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except_port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广播到所有端口（除了源端口</a:t>
            </a:r>
            <a:r>
              <a:rPr dirty="0" sz="1000" spc="-20">
                <a:solidFill>
                  <a:srgbClr val="173690"/>
                </a:solidFill>
                <a:latin typeface="NSimSun"/>
                <a:cs typeface="NSimSun"/>
              </a:rPr>
              <a:t>）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867410" marR="2127250" indent="-28511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port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num_ports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port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!=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except_port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115189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_send_to_port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port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582295" marR="845185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_send_to_port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port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latin typeface="Consolas"/>
                <a:cs typeface="Consolas"/>
              </a:rPr>
              <a:t>NetworkFrame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发送帧到指定端口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ports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latin typeface="Consolas"/>
                <a:cs typeface="Consolas"/>
              </a:rPr>
              <a:t>port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].</a:t>
            </a:r>
            <a:r>
              <a:rPr dirty="0" sz="1000" spc="-10">
                <a:latin typeface="Consolas"/>
                <a:cs typeface="Consolas"/>
              </a:rPr>
              <a:t>append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00">
              <a:latin typeface="Consolas"/>
              <a:cs typeface="Consolas"/>
            </a:endParaRPr>
          </a:p>
          <a:p>
            <a:pPr marL="582295" marR="2982595" indent="-285115">
              <a:lnSpc>
                <a:spcPct val="1438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print_mac_table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打印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学习表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print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f"\n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name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r>
              <a:rPr dirty="0" sz="1000" spc="7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7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Table:"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8483"/>
            <a:ext cx="6925945" cy="1634489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print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'-'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40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988694" marR="3363595" indent="-285115">
              <a:lnSpc>
                <a:spcPts val="1730"/>
              </a:lnSpc>
              <a:spcBef>
                <a:spcPts val="65"/>
              </a:spcBef>
              <a:tabLst>
                <a:tab pos="1701164" algn="l"/>
              </a:tabLst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port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mac_table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items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():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print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-&gt;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Port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 spc="-10">
                <a:latin typeface="Consolas"/>
                <a:cs typeface="Consolas"/>
              </a:rPr>
              <a:t>port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print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'-'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40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功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200" spc="14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以太⽹交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机的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核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⼼功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——MAC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学习和智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能转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⾃动构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建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MAC→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端⼝映射表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单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洪泛。</a:t>
            </a:r>
            <a:endParaRPr sz="1350">
              <a:latin typeface="SimSun"/>
              <a:cs typeface="SimSu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520" y="2214216"/>
            <a:ext cx="6097358" cy="647817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581312"/>
            <a:ext cx="608901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2.1:</a:t>
            </a:r>
            <a:r>
              <a:rPr dirty="0" sz="1200" spc="1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星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型拓扑</a:t>
            </a:r>
            <a:r>
              <a:rPr dirty="0" sz="1400" spc="-145">
                <a:solidFill>
                  <a:srgbClr val="333333"/>
                </a:solidFill>
                <a:latin typeface="Microsoft JhengHei"/>
                <a:cs typeface="Microsoft JhengHei"/>
              </a:rPr>
              <a:t>⽹络 </a:t>
            </a:r>
            <a:r>
              <a:rPr dirty="0" sz="1200" spc="5" i="1">
                <a:solidFill>
                  <a:srgbClr val="333333"/>
                </a:solidFill>
                <a:latin typeface="Arial"/>
                <a:cs typeface="Arial"/>
              </a:rPr>
              <a:t>- 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中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⼼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蓝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⾊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Switch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连接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6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台绿⾊</a:t>
            </a:r>
            <a:r>
              <a:rPr dirty="0" sz="1200" spc="-50" i="1">
                <a:solidFill>
                  <a:srgbClr val="333333"/>
                </a:solidFill>
                <a:latin typeface="Arial"/>
                <a:cs typeface="Arial"/>
              </a:rPr>
              <a:t>Host</a:t>
            </a:r>
            <a:r>
              <a:rPr dirty="0" sz="1400" spc="-5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⿊线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表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⽰</a:t>
            </a:r>
            <a:r>
              <a:rPr dirty="0" sz="1200" spc="-35" i="1">
                <a:solidFill>
                  <a:srgbClr val="333333"/>
                </a:solidFill>
                <a:latin typeface="Arial"/>
                <a:cs typeface="Arial"/>
              </a:rPr>
              <a:t>Cable</a:t>
            </a:r>
            <a:r>
              <a:rPr dirty="0" sz="1400" spc="-125">
                <a:solidFill>
                  <a:srgbClr val="333333"/>
                </a:solidFill>
                <a:latin typeface="SimSun"/>
                <a:cs typeface="SimSun"/>
              </a:rPr>
              <a:t>，端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⼝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标注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P0-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P5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5925" y="1424432"/>
            <a:ext cx="2375535" cy="11283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35" b="1">
                <a:latin typeface="Microsoft JhengHei"/>
                <a:cs typeface="Microsoft JhengHei"/>
              </a:rPr>
              <a:t>任务 </a:t>
            </a:r>
            <a:r>
              <a:rPr dirty="0" sz="1800" b="1">
                <a:latin typeface="Arial"/>
                <a:cs typeface="Arial"/>
              </a:rPr>
              <a:t>2.2: </a:t>
            </a:r>
            <a:r>
              <a:rPr dirty="0" sz="2000" spc="-195" b="1">
                <a:latin typeface="Microsoft JhengHei"/>
                <a:cs typeface="Microsoft JhengHei"/>
              </a:rPr>
              <a:t>寻址机制讲解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700" spc="-175" b="1">
                <a:latin typeface="Microsoft JhengHei"/>
                <a:cs typeface="Microsoft JhengHei"/>
              </a:rPr>
              <a:t>测试⽬标</a:t>
            </a:r>
            <a:endParaRPr sz="1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展⽰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地址格式</a:t>
            </a:r>
            <a:r>
              <a:rPr dirty="0" sz="1350" spc="-150">
                <a:solidFill>
                  <a:srgbClr val="333333"/>
                </a:solidFill>
                <a:latin typeface="Microsoft JhengHei"/>
                <a:cs typeface="Microsoft JhengHei"/>
              </a:rPr>
              <a:t>和⽹络帧结构</a:t>
            </a:r>
            <a:endParaRPr sz="13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实现代码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5794375" cy="769302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latin typeface="Consolas"/>
                <a:cs typeface="Consolas"/>
              </a:rPr>
              <a:t>python3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-c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network_layer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*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12700" marR="3763010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print('===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寻址机制讲解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===')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地址格式</a:t>
            </a:r>
            <a:endParaRPr sz="1000">
              <a:latin typeface="NSimSun"/>
              <a:cs typeface="NSimSun"/>
            </a:endParaRPr>
          </a:p>
          <a:p>
            <a:pPr marL="12700" marR="23291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print('1.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地址格式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XX:XX:XX:XX:XX:XX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(48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位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)')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MACAddress('00:11:22:33:44:55')</a:t>
            </a:r>
            <a:endParaRPr sz="1000">
              <a:latin typeface="Consolas"/>
              <a:cs typeface="Consolas"/>
            </a:endParaRPr>
          </a:p>
          <a:p>
            <a:pPr marL="12700" marR="4082415">
              <a:lnSpc>
                <a:spcPts val="1730"/>
              </a:lnSpc>
              <a:spcBef>
                <a:spcPts val="65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示例</a:t>
            </a: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{mac}')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mac.to_bits()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比特表示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{bits[:16]}...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共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48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位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)')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网络帧格式</a:t>
            </a:r>
            <a:endParaRPr sz="1000">
              <a:latin typeface="NSimSun"/>
              <a:cs typeface="NSimSun"/>
            </a:endParaRPr>
          </a:p>
          <a:p>
            <a:pPr marL="12700" marR="5080">
              <a:lnSpc>
                <a:spcPct val="140000"/>
              </a:lnSpc>
              <a:spcBef>
                <a:spcPts val="45"/>
              </a:spcBef>
              <a:tabLst>
                <a:tab pos="724535" algn="l"/>
                <a:tab pos="1294130" algn="l"/>
                <a:tab pos="4000500" algn="l"/>
                <a:tab pos="4214495" algn="l"/>
                <a:tab pos="4784090" algn="l"/>
                <a:tab pos="4998085" algn="l"/>
                <a:tab pos="5567680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print('2.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网络帧格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式</a:t>
            </a:r>
            <a:r>
              <a:rPr dirty="0" sz="1000" spc="130">
                <a:solidFill>
                  <a:srgbClr val="173690"/>
                </a:solidFill>
                <a:latin typeface="NSimSun"/>
                <a:cs typeface="NSimSun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带寻址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):')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print('┌──────────┬────────┬────────┬────────┬──────────┬──────────┬──────────┐')</a:t>
            </a:r>
            <a:r>
              <a:rPr dirty="0" sz="1000" spc="50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print('│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Preamble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│Dst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│Src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Length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Payload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│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Checksum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│Postamble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│')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print('│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8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│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48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bits│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48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bits│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16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bits│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variable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8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8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│')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print('└──────────┴────────┴────────┴────────┴──────────┴──────────┴──────────┘')</a:t>
            </a:r>
            <a:r>
              <a:rPr dirty="0" sz="1000" spc="50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创建帧示例</a:t>
            </a:r>
            <a:endParaRPr sz="1000">
              <a:latin typeface="NSimSun"/>
              <a:cs typeface="NSimSun"/>
            </a:endParaRPr>
          </a:p>
          <a:p>
            <a:pPr marL="297180" marR="3494404" indent="-285115">
              <a:lnSpc>
                <a:spcPct val="140600"/>
              </a:lnSpc>
              <a:spcBef>
                <a:spcPts val="4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frame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NetworkFrame( src_mac='00:00:00:00:00:01', dst_mac='00:00:00:00:00:02',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payload=b'Test'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print('3.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示例帧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源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MAC: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{frame.src_mac}')</a:t>
            </a:r>
            <a:endParaRPr sz="1000">
              <a:latin typeface="Consolas"/>
              <a:cs typeface="Consolas"/>
            </a:endParaRPr>
          </a:p>
          <a:p>
            <a:pPr marL="12700" marR="3156585">
              <a:lnSpc>
                <a:spcPct val="139600"/>
              </a:lnSpc>
              <a:spcBef>
                <a:spcPts val="50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目标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MAC: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{frame.dst_mac}') 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载荷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: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{frame.payload}') 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校验和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: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{frame.checksum}')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frame.to_bits()</a:t>
            </a:r>
            <a:endParaRPr sz="1000">
              <a:latin typeface="Consolas"/>
              <a:cs typeface="Consolas"/>
            </a:endParaRPr>
          </a:p>
          <a:p>
            <a:pPr marL="12700" marR="3166110">
              <a:lnSpc>
                <a:spcPct val="137500"/>
              </a:lnSpc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总长度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{len(bits)}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bits')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运⾏结果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67410"/>
            <a:ext cx="5170170" cy="38004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Consolas"/>
                <a:cs typeface="Consolas"/>
              </a:rPr>
              <a:t>=== </a:t>
            </a:r>
            <a:r>
              <a:rPr dirty="0" sz="1000" spc="50">
                <a:latin typeface="NSimSun"/>
                <a:cs typeface="NSimSun"/>
              </a:rPr>
              <a:t>寻址机制讲解 </a:t>
            </a:r>
            <a:r>
              <a:rPr dirty="0" sz="1000" spc="-25">
                <a:latin typeface="Consolas"/>
                <a:cs typeface="Consolas"/>
              </a:rPr>
              <a:t>===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26060" algn="l"/>
              </a:tabLst>
            </a:pP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 spc="50">
                <a:latin typeface="NSimSun"/>
                <a:cs typeface="NSimSun"/>
              </a:rPr>
              <a:t>地址格式</a:t>
            </a:r>
            <a:r>
              <a:rPr dirty="0" sz="1000" spc="35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XX:XX:XX:XX:XX:XX</a:t>
            </a:r>
            <a:r>
              <a:rPr dirty="0" sz="1000" spc="7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(48</a:t>
            </a:r>
            <a:r>
              <a:rPr dirty="0" sz="1000" spc="50">
                <a:latin typeface="NSimSun"/>
                <a:cs typeface="NSimSun"/>
              </a:rPr>
              <a:t>位</a:t>
            </a:r>
            <a:r>
              <a:rPr dirty="0" sz="1000" spc="-5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示例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10">
                <a:latin typeface="Consolas"/>
                <a:cs typeface="Consolas"/>
              </a:rPr>
              <a:t>00:11:22:33:44:55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比特表示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[0,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1]...</a:t>
            </a:r>
            <a:r>
              <a:rPr dirty="0" sz="1000" spc="10">
                <a:latin typeface="Consolas"/>
                <a:cs typeface="Consolas"/>
              </a:rPr>
              <a:t> (</a:t>
            </a:r>
            <a:r>
              <a:rPr dirty="0" sz="1000" spc="50">
                <a:latin typeface="NSimSun"/>
                <a:cs typeface="NSimSun"/>
              </a:rPr>
              <a:t>共</a:t>
            </a:r>
            <a:r>
              <a:rPr dirty="0" sz="1000">
                <a:latin typeface="Consolas"/>
                <a:cs typeface="Consolas"/>
              </a:rPr>
              <a:t>48</a:t>
            </a:r>
            <a:r>
              <a:rPr dirty="0" sz="1000" spc="50">
                <a:latin typeface="NSimSun"/>
                <a:cs typeface="NSimSun"/>
              </a:rPr>
              <a:t>位</a:t>
            </a:r>
            <a:r>
              <a:rPr dirty="0" sz="1000" spc="-5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Font typeface="Consolas"/>
              <a:buAutoNum type="arabicPeriod" startAt="2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网络帧格式 </a:t>
            </a:r>
            <a:r>
              <a:rPr dirty="0" sz="1000">
                <a:latin typeface="Consolas"/>
                <a:cs typeface="Consolas"/>
              </a:rPr>
              <a:t>(</a:t>
            </a:r>
            <a:r>
              <a:rPr dirty="0" sz="1000" spc="50">
                <a:latin typeface="NSimSun"/>
                <a:cs typeface="NSimSun"/>
              </a:rPr>
              <a:t>带寻址</a:t>
            </a:r>
            <a:r>
              <a:rPr dirty="0" sz="1000" spc="-25"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latin typeface="Consolas"/>
                <a:cs typeface="Consolas"/>
              </a:rPr>
              <a:t>┌──────────┬────────┬────────┬────────┬──────────┬──────────┬──────────┐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3502025" algn="l"/>
              </a:tabLst>
            </a:pP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Preamble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│Dst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│Src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Length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Payload</a:t>
            </a:r>
            <a:r>
              <a:rPr dirty="0" sz="1000">
                <a:latin typeface="Consolas"/>
                <a:cs typeface="Consolas"/>
              </a:rPr>
              <a:t>	│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Checksum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│Postamble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 spc="-50">
                <a:latin typeface="Consolas"/>
                <a:cs typeface="Consolas"/>
              </a:rPr>
              <a:t>│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226060" algn="l"/>
                <a:tab pos="795655" algn="l"/>
                <a:tab pos="3716020" algn="l"/>
                <a:tab pos="4285615" algn="l"/>
                <a:tab pos="4498975" algn="l"/>
                <a:tab pos="5069205" algn="l"/>
              </a:tabLst>
            </a:pPr>
            <a:r>
              <a:rPr dirty="0" sz="1000" spc="-50">
                <a:latin typeface="Consolas"/>
                <a:cs typeface="Consolas"/>
              </a:rPr>
              <a:t>│</a:t>
            </a:r>
            <a:r>
              <a:rPr dirty="0" sz="1000">
                <a:latin typeface="Consolas"/>
                <a:cs typeface="Consolas"/>
              </a:rPr>
              <a:t>	8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r>
              <a:rPr dirty="0" sz="1000">
                <a:latin typeface="Consolas"/>
                <a:cs typeface="Consolas"/>
              </a:rPr>
              <a:t>	│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48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bits│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48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bits│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16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bits│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variable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 spc="-50">
                <a:latin typeface="Consolas"/>
                <a:cs typeface="Consolas"/>
              </a:rPr>
              <a:t>│</a:t>
            </a:r>
            <a:r>
              <a:rPr dirty="0" sz="1000">
                <a:latin typeface="Consolas"/>
                <a:cs typeface="Consolas"/>
              </a:rPr>
              <a:t>	8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-50">
                <a:latin typeface="Consolas"/>
                <a:cs typeface="Consolas"/>
              </a:rPr>
              <a:t>│</a:t>
            </a:r>
            <a:r>
              <a:rPr dirty="0" sz="1000">
                <a:latin typeface="Consolas"/>
                <a:cs typeface="Consolas"/>
              </a:rPr>
              <a:t>	8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-50">
                <a:latin typeface="Consolas"/>
                <a:cs typeface="Consolas"/>
              </a:rPr>
              <a:t>│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latin typeface="Consolas"/>
                <a:cs typeface="Consolas"/>
              </a:rPr>
              <a:t>└──────────┴────────┴────────┴────────┴──────────┴──────────┴──────────┘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Font typeface="Consolas"/>
              <a:buAutoNum type="arabicPeriod" startAt="3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示例帧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源</a:t>
            </a:r>
            <a:r>
              <a:rPr dirty="0" sz="1000">
                <a:latin typeface="Consolas"/>
                <a:cs typeface="Consolas"/>
              </a:rPr>
              <a:t>MAC: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00:00:00:00:00:01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目标</a:t>
            </a:r>
            <a:r>
              <a:rPr dirty="0" sz="1000">
                <a:latin typeface="Consolas"/>
                <a:cs typeface="Consolas"/>
              </a:rPr>
              <a:t>MAC: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00:00:00:00:00:02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载荷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10">
                <a:latin typeface="Consolas"/>
                <a:cs typeface="Consolas"/>
              </a:rPr>
              <a:t>b'Test'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校验和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25">
                <a:latin typeface="Consolas"/>
                <a:cs typeface="Consolas"/>
              </a:rPr>
              <a:t>54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总长度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168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5824" y="573403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598168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621981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671511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695323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720088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5824" y="743901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5824" y="768666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7015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85824" y="793431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77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85824" y="817243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05"/>
                </a:moveTo>
                <a:lnTo>
                  <a:pt x="20654" y="47605"/>
                </a:lnTo>
                <a:lnTo>
                  <a:pt x="17617" y="46996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5"/>
                </a:lnTo>
                <a:lnTo>
                  <a:pt x="26970" y="4760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15925" y="4963159"/>
            <a:ext cx="4483100" cy="3809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技术</a:t>
            </a:r>
            <a:r>
              <a:rPr dirty="0" sz="1700" spc="-130" b="1">
                <a:latin typeface="Malgun Gothic"/>
                <a:cs typeface="Malgun Gothic"/>
              </a:rPr>
              <a:t>要点</a:t>
            </a:r>
            <a:endParaRPr sz="170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spcBef>
                <a:spcPts val="1235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MAC</a:t>
            </a:r>
            <a:r>
              <a:rPr dirty="0" sz="1350" spc="-170" b="1">
                <a:latin typeface="Microsoft JhengHei"/>
                <a:cs typeface="Microsoft JhengHei"/>
              </a:rPr>
              <a:t>地址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48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唯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标识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符</a:t>
            </a:r>
            <a:endParaRPr sz="135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⼗六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进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制表⽰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⽤冒号分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隔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FF:FF:FF:FF:FF:FF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为⼴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播地址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⽹络帧结构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Preamble: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帧同步</a:t>
            </a:r>
            <a:r>
              <a:rPr dirty="0" sz="1350" spc="-1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0xAA</a:t>
            </a:r>
            <a:r>
              <a:rPr dirty="0" sz="1350" spc="-1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621665" marR="1735455">
              <a:lnSpc>
                <a:spcPts val="1950"/>
              </a:lnSpc>
              <a:spcBef>
                <a:spcPts val="4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MAC:</a:t>
            </a:r>
            <a:r>
              <a:rPr dirty="0" sz="12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接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收⽅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地址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48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350" spc="-7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源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MAC:</a:t>
            </a:r>
            <a:r>
              <a:rPr dirty="0" sz="1200" spc="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地址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48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Length:</a:t>
            </a:r>
            <a:r>
              <a:rPr dirty="0" sz="1200" spc="9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载荷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⻓度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16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最⼤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65535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字节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621665" marR="1896110">
              <a:lnSpc>
                <a:spcPct val="118100"/>
              </a:lnSpc>
              <a:spcBef>
                <a:spcPts val="3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Payload: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据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Checksum:</a:t>
            </a:r>
            <a:r>
              <a:rPr dirty="0" sz="1200" spc="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误检测</a:t>
            </a:r>
            <a:r>
              <a:rPr dirty="0" sz="1350" spc="-9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90">
                <a:solidFill>
                  <a:srgbClr val="333333"/>
                </a:solidFill>
                <a:latin typeface="Arial MT"/>
                <a:cs typeface="Arial MT"/>
              </a:rPr>
              <a:t>8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350" spc="-100">
                <a:solidFill>
                  <a:srgbClr val="333333"/>
                </a:solidFill>
                <a:latin typeface="SimSun"/>
                <a:cs typeface="SimSun"/>
              </a:rPr>
              <a:t>）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Postamble: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帧结束</a:t>
            </a:r>
            <a:r>
              <a:rPr dirty="0" sz="1350" spc="-1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0x55</a:t>
            </a:r>
            <a:r>
              <a:rPr dirty="0" sz="1350" spc="-1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总开销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开</a:t>
            </a:r>
            <a:r>
              <a:rPr dirty="0" sz="1350" spc="-85">
                <a:solidFill>
                  <a:srgbClr val="333333"/>
                </a:solidFill>
                <a:latin typeface="Microsoft JhengHei"/>
                <a:cs typeface="Microsoft JhengHei"/>
              </a:rPr>
              <a:t>销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= 8 + 48 + 48 + 16 + 8 + 8 = 136 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bits</a:t>
            </a:r>
            <a:endParaRPr sz="120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⽰例计算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: "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Test"</a:t>
            </a:r>
            <a:r>
              <a:rPr dirty="0" sz="1350" spc="-45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4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字节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=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32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350" spc="-85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+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开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销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136</a:t>
            </a:r>
            <a:r>
              <a:rPr dirty="0" sz="1350" spc="-75">
                <a:solidFill>
                  <a:srgbClr val="333333"/>
                </a:solidFill>
                <a:latin typeface="Microsoft JhengHei"/>
                <a:cs typeface="Microsoft JhengHei"/>
              </a:rPr>
              <a:t>位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=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168</a:t>
            </a:r>
            <a:r>
              <a:rPr dirty="0" sz="1350" spc="-140">
                <a:solidFill>
                  <a:srgbClr val="333333"/>
                </a:solidFill>
                <a:latin typeface="Microsoft JhengHei"/>
                <a:cs typeface="Microsoft JhengHei"/>
              </a:rPr>
              <a:t>位总⻓度</a:t>
            </a:r>
            <a:endParaRPr sz="13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290956"/>
            <a:ext cx="2604135" cy="11283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35" b="1">
                <a:latin typeface="Microsoft JhengHei"/>
                <a:cs typeface="Microsoft JhengHei"/>
              </a:rPr>
              <a:t>任务 </a:t>
            </a:r>
            <a:r>
              <a:rPr dirty="0" sz="1800" b="1">
                <a:latin typeface="Arial"/>
                <a:cs typeface="Arial"/>
              </a:rPr>
              <a:t>2.3: </a:t>
            </a:r>
            <a:r>
              <a:rPr dirty="0" sz="2000" spc="-195" b="1">
                <a:latin typeface="Microsoft JhengHei"/>
                <a:cs typeface="Microsoft JhengHei"/>
              </a:rPr>
              <a:t>路由与转发讲解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700" spc="-175" b="1">
                <a:latin typeface="Microsoft JhengHei"/>
                <a:cs typeface="Microsoft JhengHei"/>
              </a:rPr>
              <a:t>测试⽬标</a:t>
            </a:r>
            <a:endParaRPr sz="1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演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⽰交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机的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学习和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转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发机制</a:t>
            </a:r>
            <a:endParaRPr sz="13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实现代码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4209415" cy="855027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latin typeface="Consolas"/>
                <a:cs typeface="Consolas"/>
              </a:rPr>
              <a:t>python3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-c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network_layer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*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12700" marR="1911350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print('===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交换机路由与转发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===')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创建网络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topology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StarTopology(num_hosts=3)</a:t>
            </a:r>
            <a:endParaRPr sz="1000">
              <a:latin typeface="Consolas"/>
              <a:cs typeface="Consolas"/>
            </a:endParaRPr>
          </a:p>
          <a:p>
            <a:pPr marL="12700" marR="912494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host1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topology.get_host('00:00:00:00:00:01')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host2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topology.get_host('00:00:00:00:00:02')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host3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topology.get_host('00:00:00:00:00:03')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print('1.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初始状态 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-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表为空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</a:t>
            </a:r>
            <a:endParaRPr sz="1000">
              <a:latin typeface="Consolas"/>
              <a:cs typeface="Consolas"/>
            </a:endParaRPr>
          </a:p>
          <a:p>
            <a:pPr marL="12700" marR="850265">
              <a:lnSpc>
                <a:spcPct val="137500"/>
              </a:lnSpc>
              <a:spcBef>
                <a:spcPts val="75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MAC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表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{topology.switch.mac_table}')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第一次通信 </a:t>
            </a: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- </a:t>
            </a:r>
            <a:r>
              <a:rPr dirty="0" sz="1000" spc="35">
                <a:solidFill>
                  <a:srgbClr val="173690"/>
                </a:solidFill>
                <a:latin typeface="NSimSun"/>
                <a:cs typeface="NSimSun"/>
              </a:rPr>
              <a:t>触发广播和学习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print('2.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Host1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发送给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Host2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首次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)')</a:t>
            </a:r>
            <a:endParaRPr sz="1000">
              <a:latin typeface="Consolas"/>
              <a:cs typeface="Consolas"/>
            </a:endParaRPr>
          </a:p>
          <a:p>
            <a:pPr marL="12700" marR="272415">
              <a:lnSpc>
                <a:spcPct val="140600"/>
              </a:lnSpc>
              <a:spcBef>
                <a:spcPts val="40"/>
              </a:spcBef>
              <a:tabLst>
                <a:tab pos="724535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host1.send_string('00:00:00:00:00:02',</a:t>
            </a:r>
            <a:r>
              <a:rPr dirty="0" sz="1000" spc="1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'First</a:t>
            </a:r>
            <a:r>
              <a:rPr dirty="0" sz="1000" spc="1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message') 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-&gt;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交换机学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习</a:t>
            </a:r>
            <a:r>
              <a:rPr dirty="0" sz="1000" spc="114">
                <a:solidFill>
                  <a:srgbClr val="173690"/>
                </a:solidFill>
                <a:latin typeface="NSimSun"/>
                <a:cs typeface="NSimSun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Host1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的</a:t>
            </a:r>
            <a:r>
              <a:rPr dirty="0" sz="1000" spc="110">
                <a:solidFill>
                  <a:srgbClr val="173690"/>
                </a:solidFill>
                <a:latin typeface="NSimSun"/>
                <a:cs typeface="NSimSun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来源端口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)')</a:t>
            </a:r>
            <a:r>
              <a:rPr dirty="0" sz="1000" spc="50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-&gt;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Host2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未知，广播到所有端口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</a:t>
            </a:r>
            <a:endParaRPr sz="1000">
              <a:latin typeface="Consolas"/>
              <a:cs typeface="Consolas"/>
            </a:endParaRPr>
          </a:p>
          <a:p>
            <a:pPr marL="12700" marR="850265">
              <a:lnSpc>
                <a:spcPct val="137500"/>
              </a:lnSpc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MAC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表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{topology.switch.mac_table}')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Host2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回复</a:t>
            </a:r>
            <a:endParaRPr sz="1000">
              <a:latin typeface="NSimSun"/>
              <a:cs typeface="NSimSun"/>
            </a:endParaRPr>
          </a:p>
          <a:p>
            <a:pPr marL="12700" marR="841375">
              <a:lnSpc>
                <a:spcPct val="137500"/>
              </a:lnSpc>
              <a:spcBef>
                <a:spcPts val="75"/>
              </a:spcBef>
              <a:tabLst>
                <a:tab pos="724535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print('3.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Host2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回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复</a:t>
            </a:r>
            <a:r>
              <a:rPr dirty="0" sz="1000" spc="125">
                <a:solidFill>
                  <a:srgbClr val="173690"/>
                </a:solidFill>
                <a:latin typeface="NSimSun"/>
                <a:cs typeface="NSimSun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Host1')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host2.send_string('00:00:00:00:00:01',</a:t>
            </a:r>
            <a:r>
              <a:rPr dirty="0" sz="1000" spc="2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'Reply') 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-&gt;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交换机学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习</a:t>
            </a:r>
            <a:r>
              <a:rPr dirty="0" sz="1000" spc="110">
                <a:solidFill>
                  <a:srgbClr val="173690"/>
                </a:solidFill>
                <a:latin typeface="NSimSun"/>
                <a:cs typeface="NSimSun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Host2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的</a:t>
            </a:r>
            <a:r>
              <a:rPr dirty="0" sz="1000" spc="110">
                <a:solidFill>
                  <a:srgbClr val="173690"/>
                </a:solidFill>
                <a:latin typeface="NSimSun"/>
                <a:cs typeface="NSimSun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MAC')</a:t>
            </a:r>
            <a:endParaRPr sz="1000">
              <a:latin typeface="Consolas"/>
              <a:cs typeface="Consolas"/>
            </a:endParaRPr>
          </a:p>
          <a:p>
            <a:pPr marL="12700" marR="850265">
              <a:lnSpc>
                <a:spcPct val="140600"/>
              </a:lnSpc>
              <a:spcBef>
                <a:spcPts val="35"/>
              </a:spcBef>
              <a:tabLst>
                <a:tab pos="724535" algn="l"/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-&gt;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Host1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已知，直接转发到端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口</a:t>
            </a:r>
            <a:r>
              <a:rPr dirty="0" sz="1000" spc="110">
                <a:solidFill>
                  <a:srgbClr val="173690"/>
                </a:solidFill>
                <a:latin typeface="NSimSun"/>
                <a:cs typeface="NSimSun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0')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	MAC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表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{topology.switch.mac_table}')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广播地址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print('4.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广播消息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(FF:FF:FF:FF:FF:FF)')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host1.send_string('FF:FF:FF:FF:FF:FF',</a:t>
            </a:r>
            <a:r>
              <a:rPr dirty="0" sz="1000" spc="2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'Broadcast!')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检查所有主机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Host2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收到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{host2.get_received()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is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not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None}')</a:t>
            </a: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37500"/>
              </a:lnSpc>
              <a:spcBef>
                <a:spcPts val="75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Host3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收到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{host3.get_received()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is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not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None}') print()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7815" y="362584"/>
            <a:ext cx="148526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print('5.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转发流程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50031" y="508508"/>
            <a:ext cx="1521460" cy="195897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algn="ctr" marR="561975">
              <a:lnSpc>
                <a:spcPct val="100000"/>
              </a:lnSpc>
              <a:spcBef>
                <a:spcPts val="62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┌─────────┐')</a:t>
            </a:r>
            <a:endParaRPr sz="1000">
              <a:latin typeface="Consolas"/>
              <a:cs typeface="Consolas"/>
            </a:endParaRPr>
          </a:p>
          <a:p>
            <a:pPr algn="ctr" marR="589280">
              <a:lnSpc>
                <a:spcPct val="100000"/>
              </a:lnSpc>
              <a:spcBef>
                <a:spcPts val="525"/>
              </a:spcBef>
              <a:tabLst>
                <a:tab pos="684530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收到</a:t>
            </a:r>
            <a:r>
              <a:rPr dirty="0" sz="1000" spc="-50">
                <a:solidFill>
                  <a:srgbClr val="173690"/>
                </a:solidFill>
                <a:latin typeface="NSimSun"/>
                <a:cs typeface="NSimSun"/>
              </a:rPr>
              <a:t>帧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	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│')</a:t>
            </a:r>
            <a:endParaRPr sz="1000">
              <a:latin typeface="Consolas"/>
              <a:cs typeface="Consolas"/>
            </a:endParaRPr>
          </a:p>
          <a:p>
            <a:pPr algn="ctr" marR="561975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└────┬────┘')</a:t>
            </a:r>
            <a:endParaRPr sz="1000">
              <a:latin typeface="Consolas"/>
              <a:cs typeface="Consolas"/>
            </a:endParaRPr>
          </a:p>
          <a:p>
            <a:pPr algn="ctr" marR="561975">
              <a:lnSpc>
                <a:spcPct val="100000"/>
              </a:lnSpc>
              <a:spcBef>
                <a:spcPts val="525"/>
              </a:spcBef>
            </a:pP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↓')</a:t>
            </a:r>
            <a:endParaRPr sz="10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┌─────────────────┐')</a:t>
            </a:r>
            <a:endParaRPr sz="1000">
              <a:latin typeface="Consolas"/>
              <a:cs typeface="Consolas"/>
            </a:endParaRPr>
          </a:p>
          <a:p>
            <a:pPr algn="ctr" marR="37465">
              <a:lnSpc>
                <a:spcPct val="100000"/>
              </a:lnSpc>
              <a:spcBef>
                <a:spcPts val="450"/>
              </a:spcBef>
              <a:tabLst>
                <a:tab pos="1236345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学习源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MAC→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端</a:t>
            </a:r>
            <a:r>
              <a:rPr dirty="0" sz="1000" spc="-50">
                <a:solidFill>
                  <a:srgbClr val="173690"/>
                </a:solidFill>
                <a:latin typeface="NSimSun"/>
                <a:cs typeface="NSimSun"/>
              </a:rPr>
              <a:t>口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	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│')</a:t>
            </a:r>
            <a:endParaRPr sz="10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└────────┬────────┘')</a:t>
            </a:r>
            <a:endParaRPr sz="10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↓')</a:t>
            </a:r>
            <a:endParaRPr sz="10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┌─────────────────┐')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50031" y="2496185"/>
            <a:ext cx="148526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257935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查询目标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MAC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│')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50031" y="2705735"/>
            <a:ext cx="152146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└────────┬────────┘')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015283" y="2870707"/>
            <a:ext cx="1021080" cy="87312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algn="ctr" marR="310515">
              <a:lnSpc>
                <a:spcPct val="100000"/>
              </a:lnSpc>
              <a:spcBef>
                <a:spcPts val="545"/>
              </a:spcBef>
            </a:pP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↓')</a:t>
            </a:r>
            <a:endParaRPr sz="1000">
              <a:latin typeface="Consolas"/>
              <a:cs typeface="Consolas"/>
            </a:endParaRPr>
          </a:p>
          <a:p>
            <a:pPr algn="ctr" marR="9842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[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未知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/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广播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]')</a:t>
            </a:r>
            <a:endParaRPr sz="1000">
              <a:latin typeface="Consolas"/>
              <a:cs typeface="Consolas"/>
            </a:endParaRPr>
          </a:p>
          <a:p>
            <a:pPr algn="ctr" marR="25400">
              <a:lnSpc>
                <a:spcPct val="100000"/>
              </a:lnSpc>
              <a:spcBef>
                <a:spcPts val="450"/>
              </a:spcBef>
            </a:pP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↓')</a:t>
            </a:r>
            <a:endParaRPr sz="1000">
              <a:latin typeface="Consolas"/>
              <a:cs typeface="Consolas"/>
            </a:endParaRPr>
          </a:p>
          <a:p>
            <a:pPr marL="65405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广播所有端口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7815" y="508508"/>
            <a:ext cx="1196340" cy="344487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just" marL="12700" marR="676910">
              <a:lnSpc>
                <a:spcPct val="140000"/>
              </a:lnSpc>
              <a:spcBef>
                <a:spcPts val="14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 print(' print(' print(' print(' print(' print(' print(' print(' print(' print('</a:t>
            </a: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39100"/>
              </a:lnSpc>
              <a:spcBef>
                <a:spcPts val="55"/>
              </a:spcBef>
              <a:tabLst>
                <a:tab pos="653415" algn="l"/>
                <a:tab pos="724535" algn="l"/>
                <a:tab pos="937894" algn="l"/>
                <a:tab pos="1080770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			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↓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	[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已知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]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		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↓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单播转</a:t>
            </a:r>
            <a:r>
              <a:rPr dirty="0" sz="1000" spc="-50">
                <a:solidFill>
                  <a:srgbClr val="173690"/>
                </a:solidFill>
                <a:latin typeface="NSimSun"/>
                <a:cs typeface="NSimSun"/>
              </a:rPr>
              <a:t>发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运⾏结果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67410"/>
            <a:ext cx="4147185" cy="6581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Consolas"/>
                <a:cs typeface="Consolas"/>
              </a:rPr>
              <a:t>=== </a:t>
            </a:r>
            <a:r>
              <a:rPr dirty="0" sz="1000" spc="45">
                <a:latin typeface="NSimSun"/>
                <a:cs typeface="NSimSun"/>
              </a:rPr>
              <a:t>交换机路由与转发 </a:t>
            </a:r>
            <a:r>
              <a:rPr dirty="0" sz="1000" spc="-25">
                <a:latin typeface="Consolas"/>
                <a:cs typeface="Consolas"/>
              </a:rPr>
              <a:t>===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226060" marR="2555875" indent="-213995">
              <a:lnSpc>
                <a:spcPct val="137500"/>
              </a:lnSpc>
              <a:spcBef>
                <a:spcPts val="5"/>
              </a:spcBef>
              <a:buFont typeface="Consolas"/>
              <a:buAutoNum type="arabicPeriod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初始状态 </a:t>
            </a:r>
            <a:r>
              <a:rPr dirty="0" sz="1000" spc="15">
                <a:latin typeface="Consolas"/>
                <a:cs typeface="Consolas"/>
              </a:rPr>
              <a:t>- 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 spc="15">
                <a:latin typeface="NSimSun"/>
                <a:cs typeface="NSimSun"/>
              </a:rPr>
              <a:t>表为空</a:t>
            </a:r>
            <a:r>
              <a:rPr dirty="0" sz="1000" spc="-50">
                <a:latin typeface="NSimSun"/>
                <a:cs typeface="NSimSun"/>
              </a:rPr>
              <a:t> 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 spc="50">
                <a:latin typeface="NSimSun"/>
                <a:cs typeface="NSimSun"/>
              </a:rPr>
              <a:t>表</a:t>
            </a:r>
            <a:r>
              <a:rPr dirty="0" sz="1000" spc="-5">
                <a:latin typeface="Consolas"/>
                <a:cs typeface="Consolas"/>
              </a:rPr>
              <a:t>: {}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Font typeface="Consolas"/>
              <a:buAutoNum type="arabicPeriod"/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AutoNum type="arabicPeriod"/>
              <a:tabLst>
                <a:tab pos="226060" algn="l"/>
              </a:tabLst>
            </a:pPr>
            <a:r>
              <a:rPr dirty="0" sz="1000">
                <a:latin typeface="Consolas"/>
                <a:cs typeface="Consolas"/>
              </a:rPr>
              <a:t>Host1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发送给 </a:t>
            </a:r>
            <a:r>
              <a:rPr dirty="0" sz="1000">
                <a:latin typeface="Consolas"/>
                <a:cs typeface="Consolas"/>
              </a:rPr>
              <a:t>Host2</a:t>
            </a:r>
            <a:r>
              <a:rPr dirty="0" sz="1000" spc="20">
                <a:latin typeface="Consolas"/>
                <a:cs typeface="Consolas"/>
              </a:rPr>
              <a:t> (</a:t>
            </a:r>
            <a:r>
              <a:rPr dirty="0" sz="1000" spc="50">
                <a:latin typeface="NSimSun"/>
                <a:cs typeface="NSimSun"/>
              </a:rPr>
              <a:t>首次</a:t>
            </a:r>
            <a:r>
              <a:rPr dirty="0" sz="1000" spc="-5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">
                <a:latin typeface="Consolas"/>
                <a:cs typeface="Consolas"/>
              </a:rPr>
              <a:t>-&gt; </a:t>
            </a:r>
            <a:r>
              <a:rPr dirty="0" sz="1000" spc="50">
                <a:latin typeface="NSimSun"/>
                <a:cs typeface="NSimSun"/>
              </a:rPr>
              <a:t>交换机学习 </a:t>
            </a:r>
            <a:r>
              <a:rPr dirty="0" sz="1000">
                <a:latin typeface="Consolas"/>
                <a:cs typeface="Consolas"/>
              </a:rPr>
              <a:t>Host1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55">
                <a:latin typeface="NSimSun"/>
                <a:cs typeface="NSimSun"/>
              </a:rPr>
              <a:t>的 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 spc="15">
                <a:latin typeface="Consolas"/>
                <a:cs typeface="Consolas"/>
              </a:rPr>
              <a:t> (</a:t>
            </a:r>
            <a:r>
              <a:rPr dirty="0" sz="1000" spc="50">
                <a:latin typeface="NSimSun"/>
                <a:cs typeface="NSimSun"/>
              </a:rPr>
              <a:t>来源端口</a:t>
            </a:r>
            <a:r>
              <a:rPr dirty="0" sz="1000" spc="-5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525"/>
              </a:spcBef>
            </a:pPr>
            <a:r>
              <a:rPr dirty="0" sz="1000" spc="5">
                <a:latin typeface="Consolas"/>
                <a:cs typeface="Consolas"/>
              </a:rPr>
              <a:t>-&gt; </a:t>
            </a:r>
            <a:r>
              <a:rPr dirty="0" sz="1000">
                <a:latin typeface="Consolas"/>
                <a:cs typeface="Consolas"/>
              </a:rPr>
              <a:t>Host2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40">
                <a:latin typeface="NSimSun"/>
                <a:cs typeface="NSimSun"/>
              </a:rPr>
              <a:t>未知，广播到所有端口</a:t>
            </a:r>
            <a:endParaRPr sz="1000">
              <a:latin typeface="NSimSun"/>
              <a:cs typeface="NSimSun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 spc="50">
                <a:latin typeface="NSimSun"/>
                <a:cs typeface="NSimSun"/>
              </a:rPr>
              <a:t>表</a:t>
            </a:r>
            <a:r>
              <a:rPr dirty="0" sz="1000" spc="35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{'00:00:00:00:00:01':</a:t>
            </a:r>
            <a:r>
              <a:rPr dirty="0" sz="1000" spc="80"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0}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AutoNum type="arabicPeriod" startAt="3"/>
              <a:tabLst>
                <a:tab pos="226060" algn="l"/>
              </a:tabLst>
            </a:pPr>
            <a:r>
              <a:rPr dirty="0" sz="1000">
                <a:latin typeface="Consolas"/>
                <a:cs typeface="Consolas"/>
              </a:rPr>
              <a:t>Host2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回复 </a:t>
            </a:r>
            <a:r>
              <a:rPr dirty="0" sz="1000" spc="-20">
                <a:latin typeface="Consolas"/>
                <a:cs typeface="Consolas"/>
              </a:rPr>
              <a:t>Host1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">
                <a:latin typeface="Consolas"/>
                <a:cs typeface="Consolas"/>
              </a:rPr>
              <a:t>-&gt; </a:t>
            </a:r>
            <a:r>
              <a:rPr dirty="0" sz="1000" spc="50">
                <a:latin typeface="NSimSun"/>
                <a:cs typeface="NSimSun"/>
              </a:rPr>
              <a:t>交换机学习 </a:t>
            </a:r>
            <a:r>
              <a:rPr dirty="0" sz="1000">
                <a:latin typeface="Consolas"/>
                <a:cs typeface="Consolas"/>
              </a:rPr>
              <a:t>Host2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55">
                <a:latin typeface="NSimSun"/>
                <a:cs typeface="NSimSun"/>
              </a:rPr>
              <a:t>的 </a:t>
            </a:r>
            <a:r>
              <a:rPr dirty="0" sz="1000" spc="-25">
                <a:latin typeface="Consolas"/>
                <a:cs typeface="Consolas"/>
              </a:rPr>
              <a:t>MAC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">
                <a:latin typeface="Consolas"/>
                <a:cs typeface="Consolas"/>
              </a:rPr>
              <a:t>-&gt; </a:t>
            </a:r>
            <a:r>
              <a:rPr dirty="0" sz="1000">
                <a:latin typeface="Consolas"/>
                <a:cs typeface="Consolas"/>
              </a:rPr>
              <a:t>Host1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已知，直接转发到端口 </a:t>
            </a:r>
            <a:r>
              <a:rPr dirty="0" sz="1000" spc="-50">
                <a:latin typeface="Consolas"/>
                <a:cs typeface="Consolas"/>
              </a:rPr>
              <a:t>0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 spc="50">
                <a:latin typeface="NSimSun"/>
                <a:cs typeface="NSimSun"/>
              </a:rPr>
              <a:t>表</a:t>
            </a:r>
            <a:r>
              <a:rPr dirty="0" sz="1000" spc="35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{'00:00:00:00:00:01':</a:t>
            </a:r>
            <a:r>
              <a:rPr dirty="0" sz="1000" spc="7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7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'00:00:00:00:00:02':</a:t>
            </a:r>
            <a:r>
              <a:rPr dirty="0" sz="1000" spc="75"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1}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Font typeface="Consolas"/>
              <a:buAutoNum type="arabicPeriod" startAt="4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广播消息 </a:t>
            </a:r>
            <a:r>
              <a:rPr dirty="0" sz="1000" spc="-10">
                <a:latin typeface="Consolas"/>
                <a:cs typeface="Consolas"/>
              </a:rPr>
              <a:t>(FF:FF:FF:FF:FF:FF)</a:t>
            </a:r>
            <a:endParaRPr sz="1000">
              <a:latin typeface="Consolas"/>
              <a:cs typeface="Consolas"/>
            </a:endParaRPr>
          </a:p>
          <a:p>
            <a:pPr marL="226060" marR="2791460">
              <a:lnSpc>
                <a:spcPct val="137500"/>
              </a:lnSpc>
            </a:pPr>
            <a:r>
              <a:rPr dirty="0" sz="1000">
                <a:latin typeface="Consolas"/>
                <a:cs typeface="Consolas"/>
              </a:rPr>
              <a:t>Host2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收到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 spc="-20">
                <a:latin typeface="Consolas"/>
                <a:cs typeface="Consolas"/>
              </a:rPr>
              <a:t>True </a:t>
            </a:r>
            <a:r>
              <a:rPr dirty="0" sz="1000">
                <a:latin typeface="Consolas"/>
                <a:cs typeface="Consolas"/>
              </a:rPr>
              <a:t>Host3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收到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 spc="-20">
                <a:latin typeface="Consolas"/>
                <a:cs typeface="Consolas"/>
              </a:rPr>
              <a:t>True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Font typeface="Consolas"/>
              <a:buAutoNum type="arabicPeriod" startAt="5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转发流程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latin typeface="Consolas"/>
                <a:cs typeface="Consolas"/>
              </a:rPr>
              <a:t>┌─────────┐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  <a:tabLst>
                <a:tab pos="911225" algn="l"/>
              </a:tabLst>
            </a:pP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收到</a:t>
            </a:r>
            <a:r>
              <a:rPr dirty="0" sz="1000" spc="-50">
                <a:latin typeface="NSimSun"/>
                <a:cs typeface="NSimSun"/>
              </a:rPr>
              <a:t>帧</a:t>
            </a:r>
            <a:r>
              <a:rPr dirty="0" sz="1000">
                <a:latin typeface="NSimSun"/>
                <a:cs typeface="NSimSun"/>
              </a:rPr>
              <a:t>	</a:t>
            </a:r>
            <a:r>
              <a:rPr dirty="0" sz="1000" spc="-50">
                <a:latin typeface="Consolas"/>
                <a:cs typeface="Consolas"/>
              </a:rPr>
              <a:t>│</a:t>
            </a:r>
            <a:endParaRPr sz="1000">
              <a:latin typeface="Consolas"/>
              <a:cs typeface="Consolas"/>
            </a:endParaRPr>
          </a:p>
          <a:p>
            <a:pPr algn="ctr" marR="2903220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latin typeface="Consolas"/>
                <a:cs typeface="Consolas"/>
              </a:rPr>
              <a:t>└────┬────┘</a:t>
            </a:r>
            <a:endParaRPr sz="1000">
              <a:latin typeface="Consolas"/>
              <a:cs typeface="Consolas"/>
            </a:endParaRPr>
          </a:p>
          <a:p>
            <a:pPr algn="ctr" marR="2903220">
              <a:lnSpc>
                <a:spcPct val="100000"/>
              </a:lnSpc>
              <a:spcBef>
                <a:spcPts val="525"/>
              </a:spcBef>
            </a:pPr>
            <a:r>
              <a:rPr dirty="0" sz="1000" spc="-50">
                <a:latin typeface="Consolas"/>
                <a:cs typeface="Consolas"/>
              </a:rPr>
              <a:t>↓</a:t>
            </a:r>
            <a:endParaRPr sz="1000">
              <a:latin typeface="Consolas"/>
              <a:cs typeface="Consolas"/>
            </a:endParaRPr>
          </a:p>
          <a:p>
            <a:pPr algn="ctr" marR="2332990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latin typeface="Consolas"/>
                <a:cs typeface="Consolas"/>
              </a:rPr>
              <a:t>┌─────────────────┐</a:t>
            </a:r>
            <a:endParaRPr sz="1000">
              <a:latin typeface="Consolas"/>
              <a:cs typeface="Consolas"/>
            </a:endParaRPr>
          </a:p>
          <a:p>
            <a:pPr algn="ctr" marR="2378710">
              <a:lnSpc>
                <a:spcPct val="100000"/>
              </a:lnSpc>
              <a:spcBef>
                <a:spcPts val="525"/>
              </a:spcBef>
              <a:tabLst>
                <a:tab pos="1236345" algn="l"/>
              </a:tabLst>
            </a:pP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学习源</a:t>
            </a:r>
            <a:r>
              <a:rPr dirty="0" sz="1000">
                <a:latin typeface="Consolas"/>
                <a:cs typeface="Consolas"/>
              </a:rPr>
              <a:t>MAC→</a:t>
            </a:r>
            <a:r>
              <a:rPr dirty="0" sz="1000" spc="50">
                <a:latin typeface="NSimSun"/>
                <a:cs typeface="NSimSun"/>
              </a:rPr>
              <a:t>端</a:t>
            </a:r>
            <a:r>
              <a:rPr dirty="0" sz="1000" spc="-50">
                <a:latin typeface="NSimSun"/>
                <a:cs typeface="NSimSun"/>
              </a:rPr>
              <a:t>口</a:t>
            </a:r>
            <a:r>
              <a:rPr dirty="0" sz="1000">
                <a:latin typeface="NSimSun"/>
                <a:cs typeface="NSimSun"/>
              </a:rPr>
              <a:t>	</a:t>
            </a:r>
            <a:r>
              <a:rPr dirty="0" sz="1000" spc="-50">
                <a:latin typeface="Consolas"/>
                <a:cs typeface="Consolas"/>
              </a:rPr>
              <a:t>│</a:t>
            </a:r>
            <a:endParaRPr sz="1000">
              <a:latin typeface="Consolas"/>
              <a:cs typeface="Consolas"/>
            </a:endParaRPr>
          </a:p>
          <a:p>
            <a:pPr algn="ctr" marR="2332990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latin typeface="Consolas"/>
                <a:cs typeface="Consolas"/>
              </a:rPr>
              <a:t>└────────┬────────┘</a:t>
            </a:r>
            <a:endParaRPr sz="1000">
              <a:latin typeface="Consolas"/>
              <a:cs typeface="Consolas"/>
            </a:endParaRPr>
          </a:p>
          <a:p>
            <a:pPr algn="ctr" marR="2332990">
              <a:lnSpc>
                <a:spcPct val="100000"/>
              </a:lnSpc>
              <a:spcBef>
                <a:spcPts val="450"/>
              </a:spcBef>
            </a:pPr>
            <a:r>
              <a:rPr dirty="0" sz="1000" spc="-50">
                <a:latin typeface="Consolas"/>
                <a:cs typeface="Consolas"/>
              </a:rPr>
              <a:t>↓</a:t>
            </a:r>
            <a:endParaRPr sz="1000">
              <a:latin typeface="Consolas"/>
              <a:cs typeface="Consolas"/>
            </a:endParaRPr>
          </a:p>
          <a:p>
            <a:pPr algn="ctr" marR="2332990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latin typeface="Consolas"/>
                <a:cs typeface="Consolas"/>
              </a:rPr>
              <a:t>┌─────────────────┐</a:t>
            </a:r>
            <a:endParaRPr sz="1000">
              <a:latin typeface="Consolas"/>
              <a:cs typeface="Consolas"/>
            </a:endParaRPr>
          </a:p>
          <a:p>
            <a:pPr algn="ctr" marR="2369820">
              <a:lnSpc>
                <a:spcPct val="100000"/>
              </a:lnSpc>
              <a:spcBef>
                <a:spcPts val="450"/>
              </a:spcBef>
              <a:tabLst>
                <a:tab pos="1245235" algn="l"/>
              </a:tabLst>
            </a:pP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查询目标</a:t>
            </a:r>
            <a:r>
              <a:rPr dirty="0" sz="1000" spc="-25">
                <a:latin typeface="Consolas"/>
                <a:cs typeface="Consolas"/>
              </a:rPr>
              <a:t>MAC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-50">
                <a:latin typeface="Consolas"/>
                <a:cs typeface="Consolas"/>
              </a:rPr>
              <a:t>│</a:t>
            </a:r>
            <a:endParaRPr sz="1000">
              <a:latin typeface="Consolas"/>
              <a:cs typeface="Consolas"/>
            </a:endParaRPr>
          </a:p>
          <a:p>
            <a:pPr algn="ctr" marR="2332990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latin typeface="Consolas"/>
                <a:cs typeface="Consolas"/>
              </a:rPr>
              <a:t>└────────┬────────┘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0258" y="7423657"/>
            <a:ext cx="554990" cy="873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3820" marR="35560" indent="355600">
              <a:lnSpc>
                <a:spcPct val="137500"/>
              </a:lnSpc>
              <a:spcBef>
                <a:spcPts val="95"/>
              </a:spcBef>
            </a:pPr>
            <a:r>
              <a:rPr dirty="0" sz="1000" spc="-50">
                <a:latin typeface="Consolas"/>
                <a:cs typeface="Consolas"/>
              </a:rPr>
              <a:t>↓ </a:t>
            </a:r>
            <a:r>
              <a:rPr dirty="0" sz="1000">
                <a:latin typeface="Consolas"/>
                <a:cs typeface="Consolas"/>
              </a:rPr>
              <a:t>[</a:t>
            </a:r>
            <a:r>
              <a:rPr dirty="0" sz="1000" spc="50">
                <a:latin typeface="NSimSun"/>
                <a:cs typeface="NSimSun"/>
              </a:rPr>
              <a:t>已知</a:t>
            </a:r>
            <a:r>
              <a:rPr dirty="0" sz="1000" spc="-50">
                <a:latin typeface="Consolas"/>
                <a:cs typeface="Consolas"/>
              </a:rPr>
              <a:t>]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 spc="-50">
                <a:latin typeface="Consolas"/>
                <a:cs typeface="Consolas"/>
              </a:rPr>
              <a:t>↓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25">
                <a:latin typeface="NSimSun"/>
                <a:cs typeface="NSimSun"/>
              </a:rPr>
              <a:t>单播转发</a:t>
            </a:r>
            <a:endParaRPr sz="1000">
              <a:latin typeface="NSimSun"/>
              <a:cs typeface="NSimSu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16731" y="7423657"/>
            <a:ext cx="875030" cy="87312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244475">
              <a:lnSpc>
                <a:spcPct val="100000"/>
              </a:lnSpc>
              <a:spcBef>
                <a:spcPts val="545"/>
              </a:spcBef>
            </a:pPr>
            <a:r>
              <a:rPr dirty="0" sz="1000" spc="-50">
                <a:latin typeface="Consolas"/>
                <a:cs typeface="Consolas"/>
              </a:rPr>
              <a:t>↓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[</a:t>
            </a:r>
            <a:r>
              <a:rPr dirty="0" sz="1000" spc="50">
                <a:latin typeface="NSimSun"/>
                <a:cs typeface="NSimSun"/>
              </a:rPr>
              <a:t>未知</a:t>
            </a:r>
            <a:r>
              <a:rPr dirty="0" sz="1000">
                <a:latin typeface="Consolas"/>
                <a:cs typeface="Consolas"/>
              </a:rPr>
              <a:t>/</a:t>
            </a:r>
            <a:r>
              <a:rPr dirty="0" sz="1000" spc="50">
                <a:latin typeface="NSimSun"/>
                <a:cs typeface="NSimSun"/>
              </a:rPr>
              <a:t>广播</a:t>
            </a:r>
            <a:r>
              <a:rPr dirty="0" sz="1000" spc="-50">
                <a:latin typeface="Consolas"/>
                <a:cs typeface="Consolas"/>
              </a:rPr>
              <a:t>]</a:t>
            </a:r>
            <a:endParaRPr sz="1000">
              <a:latin typeface="Consolas"/>
              <a:cs typeface="Consolas"/>
            </a:endParaRPr>
          </a:p>
          <a:p>
            <a:pPr algn="ctr" marR="21590">
              <a:lnSpc>
                <a:spcPct val="100000"/>
              </a:lnSpc>
              <a:spcBef>
                <a:spcPts val="525"/>
              </a:spcBef>
            </a:pPr>
            <a:r>
              <a:rPr dirty="0" sz="1000" spc="-50">
                <a:latin typeface="Consolas"/>
                <a:cs typeface="Consolas"/>
              </a:rPr>
              <a:t>↓</a:t>
            </a:r>
            <a:endParaRPr sz="1000">
              <a:latin typeface="Consolas"/>
              <a:cs typeface="Consolas"/>
            </a:endParaRPr>
          </a:p>
          <a:p>
            <a:pPr marL="65405">
              <a:lnSpc>
                <a:spcPct val="100000"/>
              </a:lnSpc>
              <a:spcBef>
                <a:spcPts val="450"/>
              </a:spcBef>
            </a:pPr>
            <a:r>
              <a:rPr dirty="0" sz="1000" spc="30">
                <a:latin typeface="NSimSun"/>
                <a:cs typeface="NSimSun"/>
              </a:rPr>
              <a:t>广播所有端口</a:t>
            </a:r>
            <a:endParaRPr sz="1000">
              <a:latin typeface="NSimSun"/>
              <a:cs typeface="NSimSu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85824" y="936306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15925" y="8582659"/>
            <a:ext cx="2955290" cy="894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技术</a:t>
            </a:r>
            <a:r>
              <a:rPr dirty="0" sz="1700" spc="-130" b="1">
                <a:latin typeface="Malgun Gothic"/>
                <a:cs typeface="Malgun Gothic"/>
              </a:rPr>
              <a:t>要点</a:t>
            </a:r>
            <a:endParaRPr sz="1700">
              <a:latin typeface="Malgun Gothic"/>
              <a:cs typeface="Malgun Gothic"/>
            </a:endParaRPr>
          </a:p>
          <a:p>
            <a:pPr marL="147955">
              <a:lnSpc>
                <a:spcPct val="100000"/>
              </a:lnSpc>
              <a:spcBef>
                <a:spcPts val="123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1.</a:t>
            </a:r>
            <a:r>
              <a:rPr dirty="0" sz="1200" spc="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b="1">
                <a:latin typeface="Arial"/>
                <a:cs typeface="Arial"/>
              </a:rPr>
              <a:t>MAC</a:t>
            </a:r>
            <a:r>
              <a:rPr dirty="0" sz="1350" spc="-170" b="1">
                <a:latin typeface="Microsoft JhengHei"/>
                <a:cs typeface="Microsoft JhengHei"/>
              </a:rPr>
              <a:t>学习算法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从每个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接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收的帧中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源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地址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5824" y="4571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85824" y="70483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5824" y="119061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142873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74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16763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216216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240981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264793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51209" y="297967"/>
            <a:ext cx="3894454" cy="2711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6409" marR="1604645">
              <a:lnSpc>
                <a:spcPct val="120400"/>
              </a:lnSpc>
              <a:spcBef>
                <a:spcPts val="95"/>
              </a:spcBef>
            </a:pPr>
            <a:r>
              <a:rPr dirty="0" sz="1350" spc="-125">
                <a:solidFill>
                  <a:srgbClr val="333333"/>
                </a:solidFill>
                <a:latin typeface="SimSun"/>
                <a:cs typeface="SimSun"/>
              </a:rPr>
              <a:t>记录：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→ </a:t>
            </a:r>
            <a:r>
              <a:rPr dirty="0" sz="1350" spc="-160">
                <a:solidFill>
                  <a:srgbClr val="333333"/>
                </a:solidFill>
                <a:latin typeface="Microsoft JhengHei"/>
                <a:cs typeface="Microsoft JhengHei"/>
              </a:rPr>
              <a:t>⼊端⼝映射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动态构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建转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发表</a:t>
            </a:r>
            <a:endParaRPr sz="1350">
              <a:latin typeface="Microsoft JhengHei"/>
              <a:cs typeface="Microsoft JhengHei"/>
            </a:endParaRPr>
          </a:p>
          <a:p>
            <a:pPr marL="182245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转发决策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 marR="1231900">
              <a:lnSpc>
                <a:spcPct val="115700"/>
              </a:lnSpc>
              <a:spcBef>
                <a:spcPts val="7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查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找⽬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在转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发表中的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记录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已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知：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单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dirty="0" sz="1350" spc="-150">
                <a:solidFill>
                  <a:srgbClr val="333333"/>
                </a:solidFill>
                <a:latin typeface="Microsoft JhengHei"/>
                <a:cs typeface="Microsoft JhengHei"/>
              </a:rPr>
              <a:t>到对应端⼝</a:t>
            </a:r>
            <a:endParaRPr sz="1350">
              <a:latin typeface="Microsoft JhengHei"/>
              <a:cs typeface="Microsoft JhengHei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未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知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播：洪泛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到所有端⼝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（除源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端⼝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182245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优化效果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初次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通信：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低效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486409" marR="1722755">
              <a:lnSpc>
                <a:spcPct val="115700"/>
              </a:lnSpc>
              <a:spcBef>
                <a:spcPts val="8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后续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通信：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单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⾼效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减少⽹络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流量</a:t>
            </a:r>
            <a:endParaRPr sz="1350">
              <a:latin typeface="SimSun"/>
              <a:cs typeface="SimSun"/>
            </a:endParaRPr>
          </a:p>
          <a:p>
            <a:pPr marL="182245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4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⼴</a:t>
            </a:r>
            <a:r>
              <a:rPr dirty="0" sz="1350" spc="-170" b="1">
                <a:latin typeface="Malgun Gothic"/>
                <a:cs typeface="Malgun Gothic"/>
              </a:rPr>
              <a:t>播</a:t>
            </a:r>
            <a:r>
              <a:rPr dirty="0" sz="1350" spc="-170" b="1">
                <a:latin typeface="Microsoft JhengHei"/>
                <a:cs typeface="Microsoft JhengHei"/>
              </a:rPr>
              <a:t>地址</a:t>
            </a:r>
            <a:r>
              <a:rPr dirty="0" sz="1200" spc="8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FF:FF:FF:FF:FF:FF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总是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触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dirty="0" sz="1350" spc="-150">
                <a:solidFill>
                  <a:srgbClr val="333333"/>
                </a:solidFill>
                <a:latin typeface="Microsoft JhengHei"/>
                <a:cs typeface="Microsoft JhengHei"/>
              </a:rPr>
              <a:t>到所有端⼝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5925" y="3619753"/>
            <a:ext cx="2159635" cy="13893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00" b="1">
                <a:latin typeface="Arial"/>
                <a:cs typeface="Arial"/>
              </a:rPr>
              <a:t>Level 3: </a:t>
            </a:r>
            <a:r>
              <a:rPr dirty="0" sz="2350" spc="-260" b="1">
                <a:latin typeface="Microsoft JhengHei"/>
                <a:cs typeface="Microsoft JhengHei"/>
              </a:rPr>
              <a:t>扩展功</a:t>
            </a:r>
            <a:r>
              <a:rPr dirty="0" sz="2350" spc="-310" b="1">
                <a:latin typeface="Malgun Gothic"/>
                <a:cs typeface="Malgun Gothic"/>
              </a:rPr>
              <a:t>能</a:t>
            </a:r>
            <a:endParaRPr sz="2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dirty="0" sz="2000" spc="-135" b="1">
                <a:latin typeface="Microsoft JhengHei"/>
                <a:cs typeface="Microsoft JhengHei"/>
              </a:rPr>
              <a:t>任务 </a:t>
            </a:r>
            <a:r>
              <a:rPr dirty="0" sz="1800" b="1">
                <a:latin typeface="Arial"/>
                <a:cs typeface="Arial"/>
              </a:rPr>
              <a:t>3.1: </a:t>
            </a:r>
            <a:r>
              <a:rPr dirty="0" sz="2000" spc="-170" b="1">
                <a:latin typeface="Microsoft JhengHei"/>
                <a:cs typeface="Microsoft JhengHei"/>
              </a:rPr>
              <a:t>传输层演⽰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700" spc="-175" b="1">
                <a:latin typeface="Microsoft JhengHei"/>
                <a:cs typeface="Microsoft JhengHei"/>
              </a:rPr>
              <a:t>测试⽬标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15925" y="5139562"/>
            <a:ext cx="272986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于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Stop-and-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Wait</a:t>
            </a:r>
            <a:r>
              <a:rPr dirty="0" sz="1200" spc="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ARQ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的可靠传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实现代码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5153660" cy="875982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latin typeface="Consolas"/>
                <a:cs typeface="Consolas"/>
              </a:rPr>
              <a:t>python3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-c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  <a:p>
            <a:pPr marL="12700" marR="242633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network_layer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StarTopology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transport_layer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*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Consolas"/>
              <a:cs typeface="Consolas"/>
            </a:endParaRPr>
          </a:p>
          <a:p>
            <a:pPr marL="12700" marR="2508250">
              <a:lnSpc>
                <a:spcPct val="143800"/>
              </a:lnSpc>
              <a:spcBef>
                <a:spcPts val="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print('===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传输层 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-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可靠传输演示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===')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创建网络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topology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StarTopology(num_hosts=2)</a:t>
            </a:r>
            <a:endParaRPr sz="1000">
              <a:latin typeface="Consolas"/>
              <a:cs typeface="Consolas"/>
            </a:endParaRPr>
          </a:p>
          <a:p>
            <a:pPr marL="12700" marR="1856739">
              <a:lnSpc>
                <a:spcPts val="1730"/>
              </a:lnSpc>
              <a:spcBef>
                <a:spcPts val="7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host1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topology.get_host('00:00:00:00:00:01')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host2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topology.get_host('00:00:00:00:00:02')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创建传输层</a:t>
            </a:r>
            <a:endParaRPr sz="1000">
              <a:latin typeface="NSimSun"/>
              <a:cs typeface="NSimSun"/>
            </a:endParaRPr>
          </a:p>
          <a:p>
            <a:pPr marL="12700" marR="157162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transport1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7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ReliableTransport(host1,</a:t>
            </a:r>
            <a:r>
              <a:rPr dirty="0" sz="1000" spc="7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timeout=0.5)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transport2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7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ReliableTransport(host2,</a:t>
            </a:r>
            <a:r>
              <a:rPr dirty="0" sz="1000" spc="7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timeout=0.5)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received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[]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transport2.on_receive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lambda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data,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src: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received.append(data.decode())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000">
              <a:latin typeface="Consolas"/>
              <a:cs typeface="Consolas"/>
            </a:endParaRPr>
          </a:p>
          <a:p>
            <a:pPr marL="12700" marR="2721610">
              <a:lnSpc>
                <a:spcPct val="143800"/>
              </a:lnSpc>
              <a:tabLst>
                <a:tab pos="653415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print('Stop-and-Wait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ARQ</a:t>
            </a:r>
            <a:r>
              <a:rPr dirty="0" sz="1000" spc="7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协议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1.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发送数据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段</a:t>
            </a:r>
            <a:r>
              <a:rPr dirty="0" sz="1000" spc="110">
                <a:solidFill>
                  <a:srgbClr val="173690"/>
                </a:solidFill>
                <a:latin typeface="NSimSun"/>
                <a:cs typeface="NSimSun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带序列号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)')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65341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2.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等待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ACK')</a:t>
            </a:r>
            <a:endParaRPr sz="1000">
              <a:latin typeface="Consolas"/>
              <a:cs typeface="Consolas"/>
            </a:endParaRPr>
          </a:p>
          <a:p>
            <a:pPr marL="12700" marR="3469004">
              <a:lnSpc>
                <a:spcPts val="1730"/>
              </a:lnSpc>
              <a:spcBef>
                <a:spcPts val="65"/>
              </a:spcBef>
              <a:tabLst>
                <a:tab pos="65341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3.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超时则重传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显示段格式</a:t>
            </a:r>
            <a:endParaRPr sz="1000">
              <a:latin typeface="NSimSun"/>
              <a:cs typeface="NSimSun"/>
            </a:endParaRPr>
          </a:p>
          <a:p>
            <a:pPr marL="12700" marR="788035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传输段格式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print('┌──────────┬──────────┬────────┬────────┬──────────┐')</a:t>
            </a:r>
            <a:endParaRPr sz="1000">
              <a:latin typeface="Consolas"/>
              <a:cs typeface="Consolas"/>
            </a:endParaRPr>
          </a:p>
          <a:p>
            <a:pPr algn="just" marL="12700" marR="788035">
              <a:lnSpc>
                <a:spcPct val="139600"/>
              </a:lnSpc>
              <a:spcBef>
                <a:spcPts val="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print('│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Seq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Num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Ack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Num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Flags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Length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Payload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│')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print('│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16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16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8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│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16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bits│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variable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│')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print('└──────────┴──────────┴────────┴────────┴──────────┘')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发送消息</a:t>
            </a:r>
            <a:endParaRPr sz="1000">
              <a:latin typeface="NSimSun"/>
              <a:cs typeface="NSimSun"/>
            </a:endParaRPr>
          </a:p>
          <a:p>
            <a:pPr marL="12700" marR="3682365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发送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3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条消息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range(3):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msg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f'Message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{i+1}'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success</a:t>
            </a:r>
            <a:r>
              <a:rPr dirty="0" sz="1000" spc="10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10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transport1.send_string('00:00:00:00:00:02',</a:t>
            </a:r>
            <a:r>
              <a:rPr dirty="0" sz="1000" spc="10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msg)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15">
                <a:solidFill>
                  <a:srgbClr val="173690"/>
                </a:solidFill>
                <a:latin typeface="NSimSun"/>
                <a:cs typeface="NSimSun"/>
              </a:rPr>
              <a:t>处理帧</a:t>
            </a:r>
            <a:endParaRPr sz="1000">
              <a:latin typeface="NSimSun"/>
              <a:cs typeface="NSimSun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_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range(5):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7815" y="308483"/>
            <a:ext cx="6809105" cy="236855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582295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frame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host2.get_received()</a:t>
            </a:r>
            <a:endParaRPr sz="1000">
              <a:latin typeface="Consolas"/>
              <a:cs typeface="Consolas"/>
            </a:endParaRPr>
          </a:p>
          <a:p>
            <a:pPr marL="582295" marR="315595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if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frame: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transport2._handle_receive(frame)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frame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host1.get_received()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if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frame: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transport1._handle_receive(frame)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297180" marR="3511550">
              <a:lnSpc>
                <a:spcPct val="137500"/>
              </a:lnSpc>
              <a:tabLst>
                <a:tab pos="1009650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status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'ACKed'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if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success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else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'Failed' 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[{status}]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{msg}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60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(seq={i})')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统计</a:t>
            </a:r>
            <a:r>
              <a:rPr dirty="0" sz="1000" spc="7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发送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={transport1.stats[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segments_sent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]},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ACK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收到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={transport1.stats[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acks_recei</a:t>
            </a:r>
            <a:r>
              <a:rPr dirty="0" sz="1000" spc="50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5925" y="2962910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运⾏结果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7815" y="3524884"/>
            <a:ext cx="3729354" cy="4019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Consolas"/>
                <a:cs typeface="Consolas"/>
              </a:rPr>
              <a:t>=== </a:t>
            </a:r>
            <a:r>
              <a:rPr dirty="0" sz="1000" spc="45">
                <a:latin typeface="NSimSun"/>
                <a:cs typeface="NSimSun"/>
              </a:rPr>
              <a:t>传输层 </a:t>
            </a:r>
            <a:r>
              <a:rPr dirty="0" sz="1000" spc="10">
                <a:latin typeface="Consolas"/>
                <a:cs typeface="Consolas"/>
              </a:rPr>
              <a:t>- </a:t>
            </a:r>
            <a:r>
              <a:rPr dirty="0" sz="1000" spc="45">
                <a:latin typeface="NSimSun"/>
                <a:cs typeface="NSimSun"/>
              </a:rPr>
              <a:t>可靠传输演示 </a:t>
            </a:r>
            <a:r>
              <a:rPr dirty="0" sz="1000" spc="-25">
                <a:latin typeface="Consolas"/>
                <a:cs typeface="Consolas"/>
              </a:rPr>
              <a:t>===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Consolas"/>
                <a:cs typeface="Consolas"/>
              </a:rPr>
              <a:t>Stop-and-Wait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ARQ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协议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368300" indent="-213360">
              <a:lnSpc>
                <a:spcPct val="100000"/>
              </a:lnSpc>
              <a:spcBef>
                <a:spcPts val="450"/>
              </a:spcBef>
              <a:buFont typeface="Consolas"/>
              <a:buAutoNum type="arabicPeriod"/>
              <a:tabLst>
                <a:tab pos="368300" algn="l"/>
              </a:tabLst>
            </a:pPr>
            <a:r>
              <a:rPr dirty="0" sz="1000" spc="50">
                <a:latin typeface="NSimSun"/>
                <a:cs typeface="NSimSun"/>
              </a:rPr>
              <a:t>发送数据段 </a:t>
            </a:r>
            <a:r>
              <a:rPr dirty="0" sz="1000">
                <a:latin typeface="Consolas"/>
                <a:cs typeface="Consolas"/>
              </a:rPr>
              <a:t>(</a:t>
            </a:r>
            <a:r>
              <a:rPr dirty="0" sz="1000" spc="50">
                <a:latin typeface="NSimSun"/>
                <a:cs typeface="NSimSun"/>
              </a:rPr>
              <a:t>带序列号</a:t>
            </a:r>
            <a:r>
              <a:rPr dirty="0" sz="1000" spc="-5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368300" indent="-213360">
              <a:lnSpc>
                <a:spcPct val="100000"/>
              </a:lnSpc>
              <a:spcBef>
                <a:spcPts val="450"/>
              </a:spcBef>
              <a:buFont typeface="Consolas"/>
              <a:buAutoNum type="arabicPeriod"/>
              <a:tabLst>
                <a:tab pos="368300" algn="l"/>
              </a:tabLst>
            </a:pPr>
            <a:r>
              <a:rPr dirty="0" sz="1000" spc="50">
                <a:latin typeface="NSimSun"/>
                <a:cs typeface="NSimSun"/>
              </a:rPr>
              <a:t>等待</a:t>
            </a:r>
            <a:r>
              <a:rPr dirty="0" sz="1000" spc="-25">
                <a:latin typeface="Consolas"/>
                <a:cs typeface="Consolas"/>
              </a:rPr>
              <a:t>ACK</a:t>
            </a:r>
            <a:endParaRPr sz="1000">
              <a:latin typeface="Consolas"/>
              <a:cs typeface="Consolas"/>
            </a:endParaRPr>
          </a:p>
          <a:p>
            <a:pPr marL="368300" indent="-213360">
              <a:lnSpc>
                <a:spcPct val="100000"/>
              </a:lnSpc>
              <a:spcBef>
                <a:spcPts val="525"/>
              </a:spcBef>
              <a:buFont typeface="Consolas"/>
              <a:buAutoNum type="arabicPeriod"/>
              <a:tabLst>
                <a:tab pos="368300" algn="l"/>
              </a:tabLst>
            </a:pPr>
            <a:r>
              <a:rPr dirty="0" sz="1000" spc="30">
                <a:latin typeface="NSimSun"/>
                <a:cs typeface="NSimSun"/>
              </a:rPr>
              <a:t>超时则重传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</a:pPr>
            <a:r>
              <a:rPr dirty="0" sz="1000" spc="50">
                <a:latin typeface="NSimSun"/>
                <a:cs typeface="NSimSun"/>
              </a:rPr>
              <a:t>传输段格式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latin typeface="Consolas"/>
                <a:cs typeface="Consolas"/>
              </a:rPr>
              <a:t>┌──────────┬──────────┬────────┬────────┬──────────┐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795655" algn="l"/>
                <a:tab pos="1579245" algn="l"/>
                <a:tab pos="2219960" algn="l"/>
                <a:tab pos="3644900" algn="l"/>
              </a:tabLst>
            </a:pP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Seq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Num</a:t>
            </a:r>
            <a:r>
              <a:rPr dirty="0" sz="1000">
                <a:latin typeface="Consolas"/>
                <a:cs typeface="Consolas"/>
              </a:rPr>
              <a:t>	│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Ack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Num</a:t>
            </a:r>
            <a:r>
              <a:rPr dirty="0" sz="1000">
                <a:latin typeface="Consolas"/>
                <a:cs typeface="Consolas"/>
              </a:rPr>
              <a:t>	│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Flags</a:t>
            </a:r>
            <a:r>
              <a:rPr dirty="0" sz="1000">
                <a:latin typeface="Consolas"/>
                <a:cs typeface="Consolas"/>
              </a:rPr>
              <a:t>	│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Length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Payload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-50">
                <a:latin typeface="Consolas"/>
                <a:cs typeface="Consolas"/>
              </a:rPr>
              <a:t>│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  <a:tabLst>
                <a:tab pos="795655" algn="l"/>
                <a:tab pos="1579245" algn="l"/>
              </a:tabLst>
            </a:pP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16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r>
              <a:rPr dirty="0" sz="1000">
                <a:latin typeface="Consolas"/>
                <a:cs typeface="Consolas"/>
              </a:rPr>
              <a:t>	│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16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r>
              <a:rPr dirty="0" sz="1000">
                <a:latin typeface="Consolas"/>
                <a:cs typeface="Consolas"/>
              </a:rPr>
              <a:t>	│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8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│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16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bits│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variable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50">
                <a:latin typeface="Consolas"/>
                <a:cs typeface="Consolas"/>
              </a:rPr>
              <a:t>│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latin typeface="Consolas"/>
                <a:cs typeface="Consolas"/>
              </a:rPr>
              <a:t>└──────────┴──────────┴────────┴────────┴──────────┘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0">
                <a:latin typeface="NSimSun"/>
                <a:cs typeface="NSimSun"/>
              </a:rPr>
              <a:t>发送</a:t>
            </a:r>
            <a:r>
              <a:rPr dirty="0" sz="1000">
                <a:latin typeface="Consolas"/>
                <a:cs typeface="Consolas"/>
              </a:rPr>
              <a:t>3</a:t>
            </a:r>
            <a:r>
              <a:rPr dirty="0" sz="1000" spc="50">
                <a:latin typeface="NSimSun"/>
                <a:cs typeface="NSimSun"/>
              </a:rPr>
              <a:t>条消息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15494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[ACKed]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"Message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1"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(seq=0)</a:t>
            </a:r>
            <a:endParaRPr sz="1000">
              <a:latin typeface="Consolas"/>
              <a:cs typeface="Consolas"/>
            </a:endParaRPr>
          </a:p>
          <a:p>
            <a:pPr marL="154940" marR="164274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[ACKed]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"Message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2"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(seq=1) </a:t>
            </a:r>
            <a:r>
              <a:rPr dirty="0" sz="1000">
                <a:latin typeface="Consolas"/>
                <a:cs typeface="Consolas"/>
              </a:rPr>
              <a:t>[ACKed]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"Message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3"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(seq=2)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0">
                <a:latin typeface="NSimSun"/>
                <a:cs typeface="NSimSun"/>
              </a:rPr>
              <a:t>统计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 spc="50">
                <a:latin typeface="NSimSun"/>
                <a:cs typeface="NSimSun"/>
              </a:rPr>
              <a:t>发送</a:t>
            </a:r>
            <a:r>
              <a:rPr dirty="0" sz="1000">
                <a:latin typeface="Consolas"/>
                <a:cs typeface="Consolas"/>
              </a:rPr>
              <a:t>=3,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ACK</a:t>
            </a:r>
            <a:r>
              <a:rPr dirty="0" sz="1000" spc="50">
                <a:latin typeface="NSimSun"/>
                <a:cs typeface="NSimSun"/>
              </a:rPr>
              <a:t>收到</a:t>
            </a:r>
            <a:r>
              <a:rPr dirty="0" sz="1000" spc="-25">
                <a:latin typeface="Consolas"/>
                <a:cs typeface="Consolas"/>
              </a:rPr>
              <a:t>=3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85824" y="861058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884871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909636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15925" y="7830184"/>
            <a:ext cx="2320290" cy="1618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技术</a:t>
            </a:r>
            <a:r>
              <a:rPr dirty="0" sz="1700" spc="-130" b="1">
                <a:latin typeface="Malgun Gothic"/>
                <a:cs typeface="Malgun Gothic"/>
              </a:rPr>
              <a:t>要点</a:t>
            </a:r>
            <a:endParaRPr sz="170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spcBef>
                <a:spcPts val="1385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dirty="0" sz="1200" spc="-10" b="1">
                <a:latin typeface="Arial"/>
                <a:cs typeface="Arial"/>
              </a:rPr>
              <a:t>Stop-and-Wait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ARQ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 marR="5080">
              <a:lnSpc>
                <a:spcPct val="118100"/>
              </a:lnSpc>
              <a:spcBef>
                <a:spcPts val="6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⼀个段后等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待确认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收到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ACK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后发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送</a:t>
            </a:r>
            <a:r>
              <a:rPr dirty="0" sz="1350" spc="-150">
                <a:solidFill>
                  <a:srgbClr val="333333"/>
                </a:solidFill>
                <a:latin typeface="Microsoft JhengHei"/>
                <a:cs typeface="Microsoft JhengHei"/>
              </a:rPr>
              <a:t>下⼀个段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超时未收到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ACK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段结构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5824" y="45718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85824" y="70483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5824" y="94296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119061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142873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192403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898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98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216216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240981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5824" y="289558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5824" y="314323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85824" y="338136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51209" y="297967"/>
            <a:ext cx="3065780" cy="319722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42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Seq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Num:</a:t>
            </a:r>
            <a:r>
              <a:rPr dirty="0" sz="1200" spc="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序列号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16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Ack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Num:</a:t>
            </a:r>
            <a:r>
              <a:rPr dirty="0" sz="1200" spc="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确认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号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16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486409" marR="5080">
              <a:lnSpc>
                <a:spcPts val="1950"/>
              </a:lnSpc>
              <a:spcBef>
                <a:spcPts val="4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Flags: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控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志</a:t>
            </a:r>
            <a:r>
              <a:rPr dirty="0" sz="1350" spc="-25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ACK,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SYN,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FIN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等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）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Length: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载荷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⻓度</a:t>
            </a:r>
            <a:endParaRPr sz="1350">
              <a:latin typeface="Microsoft JhengHei"/>
              <a:cs typeface="Microsoft JhengHei"/>
            </a:endParaRPr>
          </a:p>
          <a:p>
            <a:pPr marL="486409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Payload: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endParaRPr sz="1350">
              <a:latin typeface="SimSun"/>
              <a:cs typeface="SimSun"/>
            </a:endParaRPr>
          </a:p>
          <a:p>
            <a:pPr marL="182245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可靠性保证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 marR="1503680">
              <a:lnSpc>
                <a:spcPct val="118100"/>
              </a:lnSpc>
              <a:spcBef>
                <a:spcPts val="4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序列号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防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dirty="0" sz="1350" spc="-114">
                <a:solidFill>
                  <a:srgbClr val="333333"/>
                </a:solidFill>
                <a:latin typeface="Microsoft JhengHei"/>
                <a:cs typeface="Microsoft JhengHei"/>
              </a:rPr>
              <a:t>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超时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传机制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ACK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确认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机制</a:t>
            </a:r>
            <a:endParaRPr sz="1350">
              <a:latin typeface="Microsoft JhengHei"/>
              <a:cs typeface="Microsoft JhengHei"/>
            </a:endParaRPr>
          </a:p>
          <a:p>
            <a:pPr marL="182245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4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性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350" spc="-170" b="1">
                <a:latin typeface="Microsoft JhengHei"/>
                <a:cs typeface="Microsoft JhengHei"/>
              </a:rPr>
              <a:t>指标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 marR="1266825">
              <a:lnSpc>
                <a:spcPct val="120400"/>
              </a:lnSpc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3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个段全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成功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接</a:t>
            </a:r>
            <a:r>
              <a:rPr dirty="0" sz="1350" spc="-100">
                <a:solidFill>
                  <a:srgbClr val="333333"/>
                </a:solidFill>
                <a:latin typeface="Microsoft JhengHei"/>
                <a:cs typeface="Microsoft JhengHei"/>
              </a:rPr>
              <a:t>收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ACK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100%</a:t>
            </a:r>
            <a:endParaRPr sz="12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⽆需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endParaRPr sz="13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1168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00" b="1">
                <a:latin typeface="Microsoft JhengHei"/>
                <a:cs typeface="Microsoft JhengHei"/>
              </a:rPr>
              <a:t>关键代码实现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3004820" cy="66357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@dataclass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TransportSegment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传输层段结构，包含序列号和确认机制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2701" y="1451483"/>
            <a:ext cx="880744" cy="6635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2700" marR="5080">
              <a:lnSpc>
                <a:spcPct val="140600"/>
              </a:lnSpc>
              <a:spcBef>
                <a:spcPts val="55"/>
              </a:spcBef>
            </a:pPr>
            <a:r>
              <a:rPr dirty="0" sz="1000">
                <a:latin typeface="Consolas"/>
                <a:cs typeface="Consolas"/>
              </a:rPr>
              <a:t>seq_num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5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A61C5C"/>
                </a:solidFill>
                <a:latin typeface="Consolas"/>
                <a:cs typeface="Consolas"/>
              </a:rPr>
              <a:t>int </a:t>
            </a:r>
            <a:r>
              <a:rPr dirty="0" sz="1000">
                <a:latin typeface="Consolas"/>
                <a:cs typeface="Consolas"/>
              </a:rPr>
              <a:t>ack_num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5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A61C5C"/>
                </a:solidFill>
                <a:latin typeface="Consolas"/>
                <a:cs typeface="Consolas"/>
              </a:rPr>
              <a:t>int </a:t>
            </a:r>
            <a:r>
              <a:rPr dirty="0" sz="1000">
                <a:latin typeface="Consolas"/>
                <a:cs typeface="Consolas"/>
              </a:rPr>
              <a:t>flags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04975" y="1451483"/>
            <a:ext cx="2459990" cy="66357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 spc="3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序列号</a:t>
            </a:r>
            <a:r>
              <a:rPr dirty="0" sz="1000">
                <a:solidFill>
                  <a:srgbClr val="424442"/>
                </a:solidFill>
                <a:latin typeface="NSimSun"/>
                <a:cs typeface="NSimSun"/>
              </a:rPr>
              <a:t>（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16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位</a:t>
            </a:r>
            <a:r>
              <a:rPr dirty="0" sz="1000" spc="-50">
                <a:solidFill>
                  <a:srgbClr val="424442"/>
                </a:solidFill>
                <a:latin typeface="NSimSun"/>
                <a:cs typeface="NSimSun"/>
              </a:rPr>
              <a:t>）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3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确认号</a:t>
            </a:r>
            <a:r>
              <a:rPr dirty="0" sz="1000">
                <a:solidFill>
                  <a:srgbClr val="424442"/>
                </a:solidFill>
                <a:latin typeface="NSimSun"/>
                <a:cs typeface="NSimSun"/>
              </a:rPr>
              <a:t>（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16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位</a:t>
            </a:r>
            <a:r>
              <a:rPr dirty="0" sz="1000" spc="-50">
                <a:solidFill>
                  <a:srgbClr val="424442"/>
                </a:solidFill>
                <a:latin typeface="NSimSun"/>
                <a:cs typeface="NSimSun"/>
              </a:rPr>
              <a:t>）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控制标志</a:t>
            </a:r>
            <a:r>
              <a:rPr dirty="0" sz="1000" spc="-10">
                <a:solidFill>
                  <a:srgbClr val="424442"/>
                </a:solidFill>
                <a:latin typeface="NSimSun"/>
                <a:cs typeface="NSimSun"/>
              </a:rPr>
              <a:t>（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ACK/NACK/SYN/FIN/DATA</a:t>
            </a:r>
            <a:r>
              <a:rPr dirty="0" sz="1000" spc="-10">
                <a:solidFill>
                  <a:srgbClr val="424442"/>
                </a:solidFill>
                <a:latin typeface="NSimSun"/>
                <a:cs typeface="NSimSun"/>
              </a:rPr>
              <a:t>）</a:t>
            </a:r>
            <a:endParaRPr sz="1000">
              <a:latin typeface="NSimSun"/>
              <a:cs typeface="NSimSu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7815" y="2143760"/>
            <a:ext cx="6294755" cy="74295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97180">
              <a:lnSpc>
                <a:spcPct val="100000"/>
              </a:lnSpc>
              <a:spcBef>
                <a:spcPts val="120"/>
              </a:spcBef>
              <a:tabLst>
                <a:tab pos="1579880" algn="l"/>
              </a:tabLst>
            </a:pPr>
            <a:r>
              <a:rPr dirty="0" sz="1000">
                <a:latin typeface="Consolas"/>
                <a:cs typeface="Consolas"/>
              </a:rPr>
              <a:t>payload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424442"/>
                </a:solidFill>
                <a:latin typeface="NSimSun"/>
                <a:cs typeface="NSimSun"/>
              </a:rPr>
              <a:t>载荷数据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>
              <a:latin typeface="NSimSun"/>
              <a:cs typeface="NSimSun"/>
            </a:endParaRPr>
          </a:p>
          <a:p>
            <a:pPr marL="297180">
              <a:lnSpc>
                <a:spcPct val="100000"/>
              </a:lnSpc>
              <a:tabLst>
                <a:tab pos="1579245" algn="l"/>
              </a:tabLst>
            </a:pPr>
            <a:r>
              <a:rPr dirty="0" sz="1000">
                <a:latin typeface="Consolas"/>
                <a:cs typeface="Consolas"/>
              </a:rPr>
              <a:t>HEADER_SIZE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7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	</a:t>
            </a:r>
            <a:r>
              <a:rPr dirty="0" sz="1000" spc="5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40">
                <a:solidFill>
                  <a:srgbClr val="424442"/>
                </a:solidFill>
                <a:latin typeface="NSimSun"/>
                <a:cs typeface="NSimSun"/>
              </a:rPr>
              <a:t>头部总大小：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2+2+1+2=7</a:t>
            </a:r>
            <a:r>
              <a:rPr dirty="0" sz="1000">
                <a:solidFill>
                  <a:srgbClr val="424442"/>
                </a:solidFill>
                <a:latin typeface="NSimSun"/>
                <a:cs typeface="NSimSun"/>
              </a:rPr>
              <a:t>字节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000">
              <a:latin typeface="NSimSun"/>
              <a:cs typeface="NSimSun"/>
            </a:endParaRPr>
          </a:p>
          <a:p>
            <a:pPr marL="582295" marR="3993515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to_bytes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序列化段为字节流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header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struct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pack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'&gt;HHBH'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2006600" marR="2997200">
              <a:lnSpc>
                <a:spcPct val="139600"/>
              </a:lnSpc>
              <a:spcBef>
                <a:spcPts val="50"/>
              </a:spcBef>
            </a:pP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seq_num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ack_num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flags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payload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header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payload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@classmethod</a:t>
            </a:r>
            <a:endParaRPr sz="1000">
              <a:latin typeface="Consolas"/>
              <a:cs typeface="Consolas"/>
            </a:endParaRPr>
          </a:p>
          <a:p>
            <a:pPr marL="582295" marR="2070735" indent="-28511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from_bytes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cls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'TransportSegment'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从字节流反序列化段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 marR="508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seq_num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ack_num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flags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length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struct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unpack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'&gt;HHBH'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data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[:</a:t>
            </a:r>
            <a:r>
              <a:rPr dirty="0" sz="1000" spc="-10">
                <a:latin typeface="Consolas"/>
                <a:cs typeface="Consolas"/>
              </a:rPr>
              <a:t>cls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HEADER_SIZE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>
                <a:latin typeface="Consolas"/>
                <a:cs typeface="Consolas"/>
              </a:rPr>
              <a:t>payload</a:t>
            </a:r>
            <a:r>
              <a:rPr dirty="0" sz="1000" spc="7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7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cls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HEADER_SIZE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>
                <a:latin typeface="Consolas"/>
                <a:cs typeface="Consolas"/>
              </a:rPr>
              <a:t>cls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HEADER_SIZE</a:t>
            </a:r>
            <a:r>
              <a:rPr dirty="0" sz="1000" spc="7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7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length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8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cls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seq_num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>
                <a:latin typeface="Consolas"/>
                <a:cs typeface="Consolas"/>
              </a:rPr>
              <a:t>seq_num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8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ack_num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>
                <a:latin typeface="Consolas"/>
                <a:cs typeface="Consolas"/>
              </a:rPr>
              <a:t>ack_num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8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flags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>
                <a:latin typeface="Consolas"/>
                <a:cs typeface="Consolas"/>
              </a:rPr>
              <a:t>flags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8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payload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latin typeface="Consolas"/>
                <a:cs typeface="Consolas"/>
              </a:rPr>
              <a:t>payload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ReliableTransport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"""Stop-and-Wait</a:t>
            </a:r>
            <a:r>
              <a:rPr dirty="0" sz="1000" spc="11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ARQ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协议实现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00">
              <a:latin typeface="Consolas"/>
              <a:cs typeface="Consolas"/>
            </a:endParaRPr>
          </a:p>
          <a:p>
            <a:pPr marL="582295" marR="645160" indent="-285115">
              <a:lnSpc>
                <a:spcPct val="1438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3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init</a:t>
            </a:r>
            <a:r>
              <a:rPr dirty="0" u="sng" sz="1000" spc="33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host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Host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timeout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float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1.0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max_retries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3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host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host</a:t>
            </a:r>
            <a:endParaRPr sz="1000">
              <a:latin typeface="Consolas"/>
              <a:cs typeface="Consolas"/>
            </a:endParaRPr>
          </a:p>
          <a:p>
            <a:pPr marL="582295" marR="3566795">
              <a:lnSpc>
                <a:spcPct val="137500"/>
              </a:lnSpc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timeout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timeout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max_retries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max_retries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  <a:tabLst>
                <a:tab pos="1935480" algn="l"/>
              </a:tabLst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send_seq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发送序列号</a:t>
            </a:r>
            <a:endParaRPr sz="1000">
              <a:latin typeface="NSimSun"/>
              <a:cs typeface="NSimSun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  <a:tabLst>
                <a:tab pos="1935480" algn="l"/>
              </a:tabLst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recv_seq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接收序列号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NSimSun"/>
              <a:cs typeface="NSimSun"/>
            </a:endParaRPr>
          </a:p>
          <a:p>
            <a:pPr marL="582295" marR="2426335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send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dst_mac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bool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可靠发送数据，等待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ACK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确认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创建数据段</a:t>
            </a:r>
            <a:endParaRPr sz="1000">
              <a:latin typeface="NSimSun"/>
              <a:cs typeface="NSimSun"/>
            </a:endParaRPr>
          </a:p>
          <a:p>
            <a:pPr marL="866775" marR="3780790" indent="-285115">
              <a:lnSpc>
                <a:spcPct val="137500"/>
              </a:lnSpc>
            </a:pPr>
            <a:r>
              <a:rPr dirty="0" sz="1000">
                <a:latin typeface="Consolas"/>
                <a:cs typeface="Consolas"/>
              </a:rPr>
              <a:t>segment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TransportSegment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 </a:t>
            </a:r>
            <a:r>
              <a:rPr dirty="0" sz="1000" spc="-10">
                <a:latin typeface="Consolas"/>
                <a:cs typeface="Consolas"/>
              </a:rPr>
              <a:t>seq_num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send_seq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8483"/>
            <a:ext cx="6131560" cy="544449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988694" marR="3994150">
              <a:lnSpc>
                <a:spcPct val="140600"/>
              </a:lnSpc>
              <a:spcBef>
                <a:spcPts val="55"/>
              </a:spcBef>
            </a:pPr>
            <a:r>
              <a:rPr dirty="0" sz="1000" spc="-10">
                <a:latin typeface="Consolas"/>
                <a:cs typeface="Consolas"/>
              </a:rPr>
              <a:t>ack_num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-10">
                <a:latin typeface="Consolas"/>
                <a:cs typeface="Consolas"/>
              </a:rPr>
              <a:t>flags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latin typeface="Consolas"/>
                <a:cs typeface="Consolas"/>
              </a:rPr>
              <a:t>FLAG_DATA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-10">
                <a:latin typeface="Consolas"/>
                <a:cs typeface="Consolas"/>
              </a:rPr>
              <a:t>payload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latin typeface="Consolas"/>
                <a:cs typeface="Consolas"/>
              </a:rPr>
              <a:t>data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 spc="-5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424442"/>
                </a:solidFill>
                <a:latin typeface="NSimSun"/>
                <a:cs typeface="NSimSun"/>
              </a:rPr>
              <a:t>重传机制</a:t>
            </a:r>
            <a:endParaRPr sz="1000">
              <a:latin typeface="NSimSun"/>
              <a:cs typeface="NSimSun"/>
            </a:endParaRPr>
          </a:p>
          <a:p>
            <a:pPr marL="988694" marR="2640330" indent="-28511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attempt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max_retries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15">
                <a:solidFill>
                  <a:srgbClr val="424442"/>
                </a:solidFill>
                <a:latin typeface="NSimSun"/>
                <a:cs typeface="NSimSun"/>
              </a:rPr>
              <a:t>发送段</a:t>
            </a:r>
            <a:endParaRPr sz="1000">
              <a:latin typeface="NSimSun"/>
              <a:cs typeface="NSimSun"/>
            </a:endParaRPr>
          </a:p>
          <a:p>
            <a:pPr marL="988694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 spc="7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7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NetworkFrame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host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address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8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dst_mac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7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segment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to_bytes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())</a:t>
            </a:r>
            <a:endParaRPr sz="1000">
              <a:latin typeface="Consolas"/>
              <a:cs typeface="Consolas"/>
            </a:endParaRPr>
          </a:p>
          <a:p>
            <a:pPr marL="988694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host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send_frame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onsolas"/>
              <a:cs typeface="Consolas"/>
            </a:endParaRPr>
          </a:p>
          <a:p>
            <a:pPr marL="988694">
              <a:lnSpc>
                <a:spcPct val="100000"/>
              </a:lnSpc>
            </a:pPr>
            <a:r>
              <a:rPr dirty="0" sz="1000" spc="4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等待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ACK</a:t>
            </a:r>
            <a:r>
              <a:rPr dirty="0" sz="1000">
                <a:solidFill>
                  <a:srgbClr val="424442"/>
                </a:solidFill>
                <a:latin typeface="NSimSun"/>
                <a:cs typeface="NSimSun"/>
              </a:rPr>
              <a:t>（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带超时</a:t>
            </a:r>
            <a:r>
              <a:rPr dirty="0" sz="1000" spc="-50">
                <a:solidFill>
                  <a:srgbClr val="424442"/>
                </a:solidFill>
                <a:latin typeface="NSimSun"/>
                <a:cs typeface="NSimSun"/>
              </a:rPr>
              <a:t>）</a:t>
            </a:r>
            <a:endParaRPr sz="1000">
              <a:latin typeface="NSimSun"/>
              <a:cs typeface="NSimSun"/>
            </a:endParaRPr>
          </a:p>
          <a:p>
            <a:pPr marL="988694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start_time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time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time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 marL="1273810" marR="1786889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while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time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time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-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start_time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&lt;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timeout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_check_ack_received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send_seq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1558925" marR="1500505">
              <a:lnSpc>
                <a:spcPct val="137500"/>
              </a:lnSpc>
              <a:spcBef>
                <a:spcPts val="75"/>
              </a:spcBef>
              <a:tabLst>
                <a:tab pos="2484755" algn="l"/>
              </a:tabLst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send_seq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send_seq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+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% 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65536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True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424442"/>
                </a:solidFill>
                <a:latin typeface="NSimSun"/>
                <a:cs typeface="NSimSun"/>
              </a:rPr>
              <a:t>成功</a:t>
            </a:r>
            <a:endParaRPr sz="1000">
              <a:latin typeface="NSimSun"/>
              <a:cs typeface="NSimSun"/>
            </a:endParaRPr>
          </a:p>
          <a:p>
            <a:pPr marL="1273810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latin typeface="Consolas"/>
                <a:cs typeface="Consolas"/>
              </a:rPr>
              <a:t>time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sleep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0.01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onsolas"/>
              <a:cs typeface="Consolas"/>
            </a:endParaRPr>
          </a:p>
          <a:p>
            <a:pPr marL="988694">
              <a:lnSpc>
                <a:spcPct val="1000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5">
                <a:solidFill>
                  <a:srgbClr val="424442"/>
                </a:solidFill>
                <a:latin typeface="NSimSun"/>
                <a:cs typeface="NSimSun"/>
              </a:rPr>
              <a:t>超时，继续重传</a:t>
            </a:r>
            <a:endParaRPr sz="1000">
              <a:latin typeface="NSimSun"/>
              <a:cs typeface="NSimSun"/>
            </a:endParaRPr>
          </a:p>
          <a:p>
            <a:pPr marL="988694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stats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'timeouts'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7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7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tabLst>
                <a:tab pos="1701800" algn="l"/>
              </a:tabLst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False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424442"/>
                </a:solidFill>
                <a:latin typeface="NSimSun"/>
                <a:cs typeface="NSimSun"/>
              </a:rPr>
              <a:t>失败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</a:pPr>
            <a:r>
              <a:rPr dirty="0" sz="1350" spc="-170" b="1">
                <a:latin typeface="Microsoft JhengHei"/>
                <a:cs typeface="Microsoft JhengHei"/>
              </a:rPr>
              <a:t>功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200" spc="13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可靠传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议，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使⽤序列号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ACK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确认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和超时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传机制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保证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可靠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送达。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5925" y="6358381"/>
            <a:ext cx="2375535" cy="11283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35" b="1">
                <a:latin typeface="Microsoft JhengHei"/>
                <a:cs typeface="Microsoft JhengHei"/>
              </a:rPr>
              <a:t>任务 </a:t>
            </a:r>
            <a:r>
              <a:rPr dirty="0" sz="1800" b="1">
                <a:latin typeface="Arial"/>
                <a:cs typeface="Arial"/>
              </a:rPr>
              <a:t>3.2: </a:t>
            </a:r>
            <a:r>
              <a:rPr dirty="0" sz="2000" spc="-195" b="1">
                <a:latin typeface="Microsoft JhengHei"/>
                <a:cs typeface="Microsoft JhengHei"/>
              </a:rPr>
              <a:t>信道编码演⽰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700" spc="-175" b="1">
                <a:latin typeface="Microsoft JhengHei"/>
                <a:cs typeface="Microsoft JhengHei"/>
              </a:rPr>
              <a:t>测试⽬标</a:t>
            </a:r>
            <a:endParaRPr sz="1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演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⽰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Hamming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码纠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错和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CRC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实现代码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5846445" cy="855027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latin typeface="Consolas"/>
                <a:cs typeface="Consolas"/>
              </a:rPr>
              <a:t>python3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-c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  <a:p>
            <a:pPr marL="12700" marR="3830954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channel_coding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*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Consolas"/>
              <a:cs typeface="Consolas"/>
            </a:endParaRPr>
          </a:p>
          <a:p>
            <a:pPr marL="12700" marR="3333750">
              <a:lnSpc>
                <a:spcPct val="143800"/>
              </a:lnSpc>
              <a:spcBef>
                <a:spcPts val="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print('===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信道编码 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-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纠错演示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===')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Hamming</a:t>
            </a:r>
            <a:r>
              <a:rPr dirty="0" sz="1000" spc="15">
                <a:solidFill>
                  <a:srgbClr val="173690"/>
                </a:solidFill>
                <a:latin typeface="NSimSun"/>
                <a:cs typeface="NSimSun"/>
              </a:rPr>
              <a:t>码演示</a:t>
            </a:r>
            <a:endParaRPr sz="1000">
              <a:latin typeface="NSimSun"/>
              <a:cs typeface="NSimSun"/>
            </a:endParaRPr>
          </a:p>
          <a:p>
            <a:pPr marL="12700" marR="3839845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print('1.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Hamming(7,4)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码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hamming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HammingCode()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data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[1,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0,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1,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1]</a:t>
            </a:r>
            <a:endParaRPr sz="1000">
              <a:latin typeface="Consolas"/>
              <a:cs typeface="Consolas"/>
            </a:endParaRPr>
          </a:p>
          <a:p>
            <a:pPr marL="12700" marR="3378200">
              <a:lnSpc>
                <a:spcPct val="137500"/>
              </a:lnSpc>
              <a:tabLst>
                <a:tab pos="795655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encoded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hamming.encode(data) 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原始数据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{data}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(4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位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)')</a:t>
            </a:r>
            <a:endParaRPr sz="1000">
              <a:latin typeface="Consolas"/>
              <a:cs typeface="Consolas"/>
            </a:endParaRPr>
          </a:p>
          <a:p>
            <a:pPr marL="12700" marR="3155315">
              <a:lnSpc>
                <a:spcPct val="137500"/>
              </a:lnSpc>
              <a:spcBef>
                <a:spcPts val="75"/>
              </a:spcBef>
              <a:tabLst>
                <a:tab pos="795655" algn="l"/>
                <a:tab pos="1480820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编码后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: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{encoded}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(7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位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)')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5">
                <a:solidFill>
                  <a:srgbClr val="173690"/>
                </a:solidFill>
                <a:latin typeface="NSimSun"/>
                <a:cs typeface="NSimSun"/>
              </a:rPr>
              <a:t>引入错误并纠正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print('2.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单比特错误纠正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  <a:p>
            <a:pPr marL="12700" marR="3728720">
              <a:lnSpc>
                <a:spcPct val="137500"/>
              </a:lnSpc>
              <a:spcBef>
                <a:spcPts val="75"/>
              </a:spcBef>
              <a:tabLst>
                <a:tab pos="1365250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corrupted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encoded.copy()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corrupted[3]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^=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翻转第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4</a:t>
            </a:r>
            <a:r>
              <a:rPr dirty="0" sz="1000" spc="-50">
                <a:solidFill>
                  <a:srgbClr val="173690"/>
                </a:solidFill>
                <a:latin typeface="NSimSun"/>
                <a:cs typeface="NSimSun"/>
              </a:rPr>
              <a:t>位</a:t>
            </a:r>
            <a:endParaRPr sz="1000">
              <a:latin typeface="NSimSun"/>
              <a:cs typeface="NSimSun"/>
            </a:endParaRPr>
          </a:p>
          <a:p>
            <a:pPr marL="12700" marR="2727960">
              <a:lnSpc>
                <a:spcPct val="139100"/>
              </a:lnSpc>
              <a:spcBef>
                <a:spcPts val="55"/>
              </a:spcBef>
              <a:tabLst>
                <a:tab pos="795655" algn="l"/>
                <a:tab pos="1480820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损坏数据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: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{corrupted}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位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3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翻转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)')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decoded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hamming.decode(corrupted)</a:t>
            </a:r>
            <a:r>
              <a:rPr dirty="0" sz="1000" spc="500">
                <a:solidFill>
                  <a:srgbClr val="173690"/>
                </a:solidFill>
                <a:latin typeface="Consolas"/>
                <a:cs typeface="Consolas"/>
              </a:rPr>
              <a:t> 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纠正后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: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{decoded[:4]}')</a:t>
            </a:r>
            <a:r>
              <a:rPr dirty="0" sz="1000" spc="50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纠正成功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: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{data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decoded[:4]}')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CRC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演示</a:t>
            </a:r>
            <a:endParaRPr sz="1000">
              <a:latin typeface="NSimSun"/>
              <a:cs typeface="NSimSun"/>
            </a:endParaRPr>
          </a:p>
          <a:p>
            <a:pPr marL="12700" marR="420560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print('3.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CRC-8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校验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crc</a:t>
            </a: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CRC()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test_data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b'Test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data'</a:t>
            </a:r>
            <a:endParaRPr sz="1000">
              <a:latin typeface="Consolas"/>
              <a:cs typeface="Consolas"/>
            </a:endParaRPr>
          </a:p>
          <a:p>
            <a:pPr marL="12700" marR="3474720">
              <a:lnSpc>
                <a:spcPct val="137500"/>
              </a:lnSpc>
              <a:spcBef>
                <a:spcPts val="75"/>
              </a:spcBef>
              <a:tabLst>
                <a:tab pos="795655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checksum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crc.compute(test_data) 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数据</a:t>
            </a: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{test_data}')</a:t>
            </a:r>
            <a:endParaRPr sz="1000">
              <a:latin typeface="Consolas"/>
              <a:cs typeface="Consolas"/>
            </a:endParaRPr>
          </a:p>
          <a:p>
            <a:pPr marL="12700" marR="1873250">
              <a:lnSpc>
                <a:spcPts val="1730"/>
              </a:lnSpc>
              <a:spcBef>
                <a:spcPts val="65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CRC-8: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{checksum}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(0x{checksum:02X})') 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验证正确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{crc.verify(test_data,</a:t>
            </a:r>
            <a:r>
              <a:rPr dirty="0" sz="1000" spc="7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checksum)}')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损坏数据</a:t>
            </a:r>
            <a:endParaRPr sz="1000">
              <a:latin typeface="NSimSun"/>
              <a:cs typeface="NSimSun"/>
            </a:endParaRPr>
          </a:p>
          <a:p>
            <a:pPr marL="12700" marR="319024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corrupted_data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bytearray(test_data)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corrupted_data[0]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^=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1</a:t>
            </a: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37500"/>
              </a:lnSpc>
              <a:spcBef>
                <a:spcPts val="75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损坏后验证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{crc.verify(bytes(corrupted_data),</a:t>
            </a:r>
            <a:r>
              <a:rPr dirty="0" sz="1000" spc="9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checksum)}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检测到错误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)')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7815" y="308483"/>
            <a:ext cx="5652135" cy="493077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algn="r" marR="4959350">
              <a:lnSpc>
                <a:spcPct val="100000"/>
              </a:lnSpc>
              <a:spcBef>
                <a:spcPts val="545"/>
              </a:spcBef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性能对比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print('4.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有无编码性能对比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  <a:p>
            <a:pPr marL="12700" marR="3140075">
              <a:lnSpc>
                <a:spcPct val="137500"/>
              </a:lnSpc>
              <a:spcBef>
                <a:spcPts val="75"/>
              </a:spcBef>
              <a:tabLst>
                <a:tab pos="724535" algn="l"/>
                <a:tab pos="1276350" algn="l"/>
                <a:tab pos="1960880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噪</a:t>
            </a:r>
            <a:r>
              <a:rPr dirty="0" sz="1000" spc="-50">
                <a:solidFill>
                  <a:srgbClr val="173690"/>
                </a:solidFill>
                <a:latin typeface="NSimSun"/>
                <a:cs typeface="NSimSun"/>
              </a:rPr>
              <a:t>声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无编</a:t>
            </a:r>
            <a:r>
              <a:rPr dirty="0" sz="1000" spc="-50">
                <a:solidFill>
                  <a:srgbClr val="173690"/>
                </a:solidFill>
                <a:latin typeface="NSimSun"/>
                <a:cs typeface="NSimSun"/>
              </a:rPr>
              <a:t>码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有编码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noise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[0.1,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0.15,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0.2]:</a:t>
            </a:r>
            <a:endParaRPr sz="1000">
              <a:latin typeface="Consolas"/>
              <a:cs typeface="Consolas"/>
            </a:endParaRPr>
          </a:p>
          <a:p>
            <a:pPr marL="297180" marR="249745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cable_uncoded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Cable(noise_level=noise)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cable_coded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Cable(noise_level=noise)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coded_link</a:t>
            </a:r>
            <a:r>
              <a:rPr dirty="0" sz="1000" spc="8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9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CodedPhysicalLink(cable_coded,</a:t>
            </a:r>
            <a:r>
              <a:rPr dirty="0" sz="1000" spc="9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use_hamming=True,</a:t>
            </a:r>
            <a:r>
              <a:rPr dirty="0" sz="1000" spc="9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use_crc=True)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algn="r" marR="4940935">
              <a:lnSpc>
                <a:spcPct val="100000"/>
              </a:lnSpc>
              <a:spcBef>
                <a:spcPts val="5"/>
              </a:spcBef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测试</a:t>
            </a:r>
            <a:endParaRPr sz="1000">
              <a:latin typeface="NSimSun"/>
              <a:cs typeface="NSimSun"/>
            </a:endParaRPr>
          </a:p>
          <a:p>
            <a:pPr marL="297180" marR="4349115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msg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'Test'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uncoded_ok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0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coded_ok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0</a:t>
            </a:r>
            <a:endParaRPr sz="1000">
              <a:latin typeface="Consolas"/>
              <a:cs typeface="Consolas"/>
            </a:endParaRPr>
          </a:p>
          <a:p>
            <a:pPr marL="582295" marR="3992879" indent="-285115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_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range(20): </a:t>
            </a: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15">
                <a:solidFill>
                  <a:srgbClr val="173690"/>
                </a:solidFill>
                <a:latin typeface="NSimSun"/>
                <a:cs typeface="NSimSun"/>
              </a:rPr>
              <a:t>无编码</a:t>
            </a:r>
            <a:endParaRPr sz="1000">
              <a:latin typeface="NSimSun"/>
              <a:cs typeface="NSimSun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physical_layer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PhysicalLink</a:t>
            </a:r>
            <a:endParaRPr sz="1000">
              <a:latin typeface="Consolas"/>
              <a:cs typeface="Consolas"/>
            </a:endParaRPr>
          </a:p>
          <a:p>
            <a:pPr marL="582295" marR="1856739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link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PhysicalLink(Cable(noise_level=noise))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if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link.transmit_data(msg)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==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msg: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uncoded_ok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+=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1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15">
                <a:solidFill>
                  <a:srgbClr val="173690"/>
                </a:solidFill>
                <a:latin typeface="NSimSun"/>
                <a:cs typeface="NSimSun"/>
              </a:rPr>
              <a:t>有编码</a:t>
            </a:r>
            <a:endParaRPr sz="1000">
              <a:latin typeface="NSimSun"/>
              <a:cs typeface="NSimSun"/>
            </a:endParaRPr>
          </a:p>
          <a:p>
            <a:pPr marL="582295" marR="157162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result,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success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coded_link.transmit_string(msg)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if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success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and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result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==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msg: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coded_ok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+=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1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22701" y="5477509"/>
            <a:ext cx="59563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06140" y="5477509"/>
            <a:ext cx="80899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{noise:.2f}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74465" y="5477509"/>
            <a:ext cx="1805939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{uncoded_ok/20*100:5.0f}%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811115" y="5477509"/>
            <a:ext cx="1805939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{coded_ok/20*100:5.0f}%')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7815" y="5696584"/>
            <a:ext cx="9715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运⾏结果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67410"/>
            <a:ext cx="3095625" cy="38004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Consolas"/>
                <a:cs typeface="Consolas"/>
              </a:rPr>
              <a:t>=== </a:t>
            </a:r>
            <a:r>
              <a:rPr dirty="0" sz="1000" spc="45">
                <a:latin typeface="NSimSun"/>
                <a:cs typeface="NSimSun"/>
              </a:rPr>
              <a:t>信道编码 </a:t>
            </a:r>
            <a:r>
              <a:rPr dirty="0" sz="1000" spc="10">
                <a:latin typeface="Consolas"/>
                <a:cs typeface="Consolas"/>
              </a:rPr>
              <a:t>- </a:t>
            </a:r>
            <a:r>
              <a:rPr dirty="0" sz="1000" spc="45">
                <a:latin typeface="NSimSun"/>
                <a:cs typeface="NSimSun"/>
              </a:rPr>
              <a:t>纠错演示 </a:t>
            </a:r>
            <a:r>
              <a:rPr dirty="0" sz="1000" spc="-25">
                <a:latin typeface="Consolas"/>
                <a:cs typeface="Consolas"/>
              </a:rPr>
              <a:t>===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26060" algn="l"/>
              </a:tabLst>
            </a:pPr>
            <a:r>
              <a:rPr dirty="0" sz="1000">
                <a:latin typeface="Consolas"/>
                <a:cs typeface="Consolas"/>
              </a:rPr>
              <a:t>Hamming(7,4)</a:t>
            </a:r>
            <a:r>
              <a:rPr dirty="0" sz="1000" spc="7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码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原始数据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[1,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1]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(4</a:t>
            </a:r>
            <a:r>
              <a:rPr dirty="0" sz="1000" spc="50">
                <a:latin typeface="NSimSun"/>
                <a:cs typeface="NSimSun"/>
              </a:rPr>
              <a:t>位</a:t>
            </a:r>
            <a:r>
              <a:rPr dirty="0" sz="1000" spc="-5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  <a:tabLst>
                <a:tab pos="911225" algn="l"/>
              </a:tabLst>
            </a:pPr>
            <a:r>
              <a:rPr dirty="0" sz="1000" spc="50">
                <a:latin typeface="NSimSun"/>
                <a:cs typeface="NSimSun"/>
              </a:rPr>
              <a:t>编码后</a:t>
            </a:r>
            <a:r>
              <a:rPr dirty="0" sz="1000" spc="-50">
                <a:latin typeface="Consolas"/>
                <a:cs typeface="Consolas"/>
              </a:rPr>
              <a:t>:</a:t>
            </a:r>
            <a:r>
              <a:rPr dirty="0" sz="1000">
                <a:latin typeface="Consolas"/>
                <a:cs typeface="Consolas"/>
              </a:rPr>
              <a:t>	[0,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1]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(7</a:t>
            </a:r>
            <a:r>
              <a:rPr dirty="0" sz="1000" spc="50">
                <a:latin typeface="NSimSun"/>
                <a:cs typeface="NSimSun"/>
              </a:rPr>
              <a:t>位</a:t>
            </a:r>
            <a:r>
              <a:rPr dirty="0" sz="1000" spc="-5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Font typeface="Consolas"/>
              <a:buAutoNum type="arabicPeriod" startAt="2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单比特错误纠正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损坏数据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[0,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1]</a:t>
            </a:r>
            <a:r>
              <a:rPr dirty="0" sz="1000" spc="10">
                <a:latin typeface="Consolas"/>
                <a:cs typeface="Consolas"/>
              </a:rPr>
              <a:t> (</a:t>
            </a:r>
            <a:r>
              <a:rPr dirty="0" sz="1000" spc="50">
                <a:latin typeface="NSimSun"/>
                <a:cs typeface="NSimSun"/>
              </a:rPr>
              <a:t>位</a:t>
            </a:r>
            <a:r>
              <a:rPr dirty="0" sz="1000">
                <a:latin typeface="Consolas"/>
                <a:cs typeface="Consolas"/>
              </a:rPr>
              <a:t>3</a:t>
            </a:r>
            <a:r>
              <a:rPr dirty="0" sz="1000" spc="50">
                <a:latin typeface="NSimSun"/>
                <a:cs typeface="NSimSun"/>
              </a:rPr>
              <a:t>翻转</a:t>
            </a:r>
            <a:r>
              <a:rPr dirty="0" sz="1000" spc="-5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  <a:tabLst>
                <a:tab pos="911225" algn="l"/>
              </a:tabLst>
            </a:pPr>
            <a:r>
              <a:rPr dirty="0" sz="1000" spc="50">
                <a:latin typeface="NSimSun"/>
                <a:cs typeface="NSimSun"/>
              </a:rPr>
              <a:t>纠正后</a:t>
            </a:r>
            <a:r>
              <a:rPr dirty="0" sz="1000" spc="-50">
                <a:latin typeface="Consolas"/>
                <a:cs typeface="Consolas"/>
              </a:rPr>
              <a:t>:</a:t>
            </a:r>
            <a:r>
              <a:rPr dirty="0" sz="1000">
                <a:latin typeface="Consolas"/>
                <a:cs typeface="Consolas"/>
              </a:rPr>
              <a:t>	[1,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1]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纠正成功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20">
                <a:latin typeface="Consolas"/>
                <a:cs typeface="Consolas"/>
              </a:rPr>
              <a:t>True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AutoNum type="arabicPeriod" startAt="3"/>
              <a:tabLst>
                <a:tab pos="226060" algn="l"/>
              </a:tabLst>
            </a:pPr>
            <a:r>
              <a:rPr dirty="0" sz="1000">
                <a:latin typeface="Consolas"/>
                <a:cs typeface="Consolas"/>
              </a:rPr>
              <a:t>CRC-8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校验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26060" marR="1597660">
              <a:lnSpc>
                <a:spcPts val="1730"/>
              </a:lnSpc>
              <a:spcBef>
                <a:spcPts val="65"/>
              </a:spcBef>
            </a:pPr>
            <a:r>
              <a:rPr dirty="0" sz="1000" spc="50">
                <a:latin typeface="NSimSun"/>
                <a:cs typeface="NSimSun"/>
              </a:rPr>
              <a:t>数据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b'Test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data' </a:t>
            </a:r>
            <a:r>
              <a:rPr dirty="0" sz="1000">
                <a:latin typeface="Consolas"/>
                <a:cs typeface="Consolas"/>
              </a:rPr>
              <a:t>CRC-8: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166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(0xA6)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300"/>
              </a:spcBef>
            </a:pPr>
            <a:r>
              <a:rPr dirty="0" sz="1000" spc="50">
                <a:latin typeface="NSimSun"/>
                <a:cs typeface="NSimSun"/>
              </a:rPr>
              <a:t>验证正确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20">
                <a:latin typeface="Consolas"/>
                <a:cs typeface="Consolas"/>
              </a:rPr>
              <a:t>True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损坏后验证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False</a:t>
            </a:r>
            <a:r>
              <a:rPr dirty="0" sz="1000" spc="15">
                <a:latin typeface="Consolas"/>
                <a:cs typeface="Consolas"/>
              </a:rPr>
              <a:t> (</a:t>
            </a:r>
            <a:r>
              <a:rPr dirty="0" sz="1000" spc="50">
                <a:latin typeface="NSimSun"/>
                <a:cs typeface="NSimSun"/>
              </a:rPr>
              <a:t>检测到错误</a:t>
            </a:r>
            <a:r>
              <a:rPr dirty="0" sz="1000" spc="-5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Font typeface="Consolas"/>
              <a:buAutoNum type="arabicPeriod" startAt="4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有无编码性能对比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732430" y="4736901"/>
          <a:ext cx="1920239" cy="781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698500"/>
                <a:gridCol w="695324"/>
              </a:tblGrid>
              <a:tr h="176530">
                <a:tc>
                  <a:txBody>
                    <a:bodyPr/>
                    <a:lstStyle/>
                    <a:p>
                      <a:pPr marL="31750">
                        <a:lnSpc>
                          <a:spcPts val="1075"/>
                        </a:lnSpc>
                      </a:pPr>
                      <a:r>
                        <a:rPr dirty="0" sz="1000">
                          <a:latin typeface="NSimSun"/>
                          <a:cs typeface="NSimSun"/>
                        </a:rPr>
                        <a:t>噪声</a:t>
                      </a:r>
                      <a:endParaRPr sz="1000">
                        <a:latin typeface="NSimSun"/>
                        <a:cs typeface="NSimSu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075"/>
                        </a:lnSpc>
                      </a:pPr>
                      <a:r>
                        <a:rPr dirty="0" sz="1000" spc="15">
                          <a:latin typeface="NSimSun"/>
                          <a:cs typeface="NSimSun"/>
                        </a:rPr>
                        <a:t>无编码</a:t>
                      </a:r>
                      <a:endParaRPr sz="1000">
                        <a:latin typeface="NSimSun"/>
                        <a:cs typeface="NSimSu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ts val="1075"/>
                        </a:lnSpc>
                      </a:pPr>
                      <a:r>
                        <a:rPr dirty="0" sz="1000" spc="15">
                          <a:latin typeface="NSimSun"/>
                          <a:cs typeface="NSimSun"/>
                        </a:rPr>
                        <a:t>有编码</a:t>
                      </a:r>
                      <a:endParaRPr sz="1000">
                        <a:latin typeface="NSimSun"/>
                        <a:cs typeface="NSimSun"/>
                      </a:endParaRPr>
                    </a:p>
                  </a:txBody>
                  <a:tcPr marL="0" marR="0" marB="0" marT="0"/>
                </a:tc>
              </a:tr>
              <a:tr h="2216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0.10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6510"/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100%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651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100%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6510"/>
                </a:tc>
              </a:tr>
              <a:tr h="213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0.15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100%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100%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</a:tr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0.20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100%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100%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885824" y="65912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68294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898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98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70770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73247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78104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5824" y="80486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5824" y="82962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85824" y="87820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85824" y="90296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85824" y="92678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885824" y="95154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15925" y="5810884"/>
            <a:ext cx="2633345" cy="3818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技术</a:t>
            </a:r>
            <a:r>
              <a:rPr dirty="0" sz="1700" spc="-130" b="1">
                <a:latin typeface="Malgun Gothic"/>
                <a:cs typeface="Malgun Gothic"/>
              </a:rPr>
              <a:t>要点</a:t>
            </a:r>
            <a:endParaRPr sz="170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spcBef>
                <a:spcPts val="1235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Hamming(7,4)</a:t>
            </a:r>
            <a:r>
              <a:rPr dirty="0" sz="1350" spc="-170" b="1">
                <a:latin typeface="Microsoft JhengHei"/>
                <a:cs typeface="Microsoft JhengHei"/>
              </a:rPr>
              <a:t>码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为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7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字</a:t>
            </a:r>
            <a:endParaRPr sz="135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3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个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350" spc="-35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p1,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p2,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p3</a:t>
            </a:r>
            <a:r>
              <a:rPr dirty="0" sz="1350" spc="-25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621665" marR="5080">
              <a:lnSpc>
                <a:spcPct val="120400"/>
              </a:lnSpc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能检测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2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误，纠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正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位错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4/7 ≈ 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57%</a:t>
            </a:r>
            <a:endParaRPr sz="120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纠错算法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 marR="267335">
              <a:lnSpc>
                <a:spcPct val="115700"/>
              </a:lnSpc>
              <a:spcBef>
                <a:spcPts val="7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算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⼦</a:t>
            </a:r>
            <a:r>
              <a:rPr dirty="0" sz="1350" spc="-35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syndrome</a:t>
            </a:r>
            <a:r>
              <a:rPr dirty="0" sz="1350" spc="-35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定位错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位置</a:t>
            </a:r>
            <a:endParaRPr sz="135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翻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转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CRC-</a:t>
            </a:r>
            <a:r>
              <a:rPr dirty="0" sz="1200" spc="-25" b="1">
                <a:latin typeface="Arial"/>
                <a:cs typeface="Arial"/>
              </a:rPr>
              <a:t>8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28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循环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冗余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⽣成多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项式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405">
                <a:solidFill>
                  <a:srgbClr val="333333"/>
                </a:solidFill>
                <a:latin typeface="Arial MT"/>
                <a:cs typeface="Arial MT"/>
              </a:rPr>
              <a:t>x⁸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+ x² + x + 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能检测突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发错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不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能纠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只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能检测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5824" y="7048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85824" y="9429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5824" y="11906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898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98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51209" y="297967"/>
            <a:ext cx="2938145" cy="100647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4.</a:t>
            </a:r>
            <a:r>
              <a:rPr dirty="0" sz="1200" spc="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 b="1">
                <a:latin typeface="Microsoft JhengHei"/>
                <a:cs typeface="Microsoft JhengHei"/>
              </a:rPr>
              <a:t>性</a:t>
            </a:r>
            <a:r>
              <a:rPr dirty="0" sz="1350" spc="-170" b="1">
                <a:latin typeface="Malgun Gothic"/>
                <a:cs typeface="Malgun Gothic"/>
              </a:rPr>
              <a:t>能提</a:t>
            </a:r>
            <a:r>
              <a:rPr dirty="0" sz="1350" spc="-170" b="1">
                <a:latin typeface="Microsoft JhengHei"/>
                <a:cs typeface="Microsoft JhengHei"/>
              </a:rPr>
              <a:t>升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环境：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码增</a:t>
            </a:r>
            <a:r>
              <a:rPr dirty="0" sz="1350" spc="-140">
                <a:solidFill>
                  <a:srgbClr val="333333"/>
                </a:solidFill>
                <a:latin typeface="Microsoft JhengHei"/>
                <a:cs typeface="Microsoft JhengHei"/>
              </a:rPr>
              <a:t>益不明显</a:t>
            </a:r>
            <a:endParaRPr sz="1350">
              <a:latin typeface="Microsoft JhengHei"/>
              <a:cs typeface="Microsoft JhengHei"/>
            </a:endParaRPr>
          </a:p>
          <a:p>
            <a:pPr marL="486409" marR="5080">
              <a:lnSpc>
                <a:spcPts val="1950"/>
              </a:lnSpc>
              <a:spcBef>
                <a:spcPts val="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环境：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码能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显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著提</a:t>
            </a:r>
            <a:r>
              <a:rPr dirty="0" sz="1350" spc="-140">
                <a:solidFill>
                  <a:srgbClr val="333333"/>
                </a:solidFill>
                <a:latin typeface="Microsoft JhengHei"/>
                <a:cs typeface="Microsoft JhengHei"/>
              </a:rPr>
              <a:t>⾼可靠性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代价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：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冗余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开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、计</a:t>
            </a:r>
            <a:r>
              <a:rPr dirty="0" sz="1350" spc="-140">
                <a:solidFill>
                  <a:srgbClr val="333333"/>
                </a:solidFill>
                <a:latin typeface="Microsoft JhengHei"/>
                <a:cs typeface="Microsoft JhengHei"/>
              </a:rPr>
              <a:t>算复杂度</a:t>
            </a:r>
            <a:endParaRPr sz="13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1168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00" b="1">
                <a:latin typeface="Microsoft JhengHei"/>
                <a:cs typeface="Microsoft JhengHei"/>
              </a:rPr>
              <a:t>关键代码实现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3051810" cy="1082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797560" indent="-285115">
              <a:lnSpc>
                <a:spcPct val="137500"/>
              </a:lnSpc>
              <a:spcBef>
                <a:spcPts val="9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HammingCode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"""Hamming(7,4)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纠错码实现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297180" marR="5080">
              <a:lnSpc>
                <a:spcPct val="137500"/>
              </a:lnSpc>
            </a:pPr>
            <a:r>
              <a:rPr dirty="0" sz="1000" spc="1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45">
                <a:solidFill>
                  <a:srgbClr val="424442"/>
                </a:solidFill>
                <a:latin typeface="NSimSun"/>
                <a:cs typeface="NSimSun"/>
              </a:rPr>
              <a:t>生成矩阵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G</a:t>
            </a: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(4x7):</a:t>
            </a:r>
            <a:r>
              <a:rPr dirty="0" sz="1000" spc="2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data</a:t>
            </a: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*</a:t>
            </a:r>
            <a:r>
              <a:rPr dirty="0" sz="1000" spc="2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G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codeword </a:t>
            </a:r>
            <a:r>
              <a:rPr dirty="0" sz="1000">
                <a:latin typeface="Consolas"/>
                <a:cs typeface="Consolas"/>
              </a:rPr>
              <a:t>G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array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([</a:t>
            </a:r>
            <a:endParaRPr sz="1000">
              <a:latin typeface="Consolas"/>
              <a:cs typeface="Consolas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088628" y="1980243"/>
          <a:ext cx="2136140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305"/>
                <a:gridCol w="213995"/>
                <a:gridCol w="213995"/>
                <a:gridCol w="213995"/>
                <a:gridCol w="213995"/>
                <a:gridCol w="213994"/>
                <a:gridCol w="320675"/>
                <a:gridCol w="177800"/>
                <a:gridCol w="209550"/>
              </a:tblGrid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],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960"/>
                        </a:lnSpc>
                      </a:pPr>
                      <a:r>
                        <a:rPr dirty="0" sz="1000" spc="-50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d1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],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d2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],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50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d3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</a:tr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],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d4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822701" y="2781935"/>
            <a:ext cx="3194685" cy="819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],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dtype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int8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37500"/>
              </a:lnSpc>
              <a:spcBef>
                <a:spcPts val="5"/>
              </a:spcBef>
            </a:pPr>
            <a:r>
              <a:rPr dirty="0" sz="1000" spc="1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45">
                <a:solidFill>
                  <a:srgbClr val="424442"/>
                </a:solidFill>
                <a:latin typeface="NSimSun"/>
                <a:cs typeface="NSimSun"/>
              </a:rPr>
              <a:t>校验矩阵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H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(3x7):</a:t>
            </a:r>
            <a:r>
              <a:rPr dirty="0" sz="1000" spc="2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H</a:t>
            </a:r>
            <a:r>
              <a:rPr dirty="0" sz="1000" spc="3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*</a:t>
            </a:r>
            <a:r>
              <a:rPr dirty="0" sz="1000" spc="2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codeword^T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syndrome </a:t>
            </a:r>
            <a:r>
              <a:rPr dirty="0" sz="1000">
                <a:latin typeface="Consolas"/>
                <a:cs typeface="Consolas"/>
              </a:rPr>
              <a:t>H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array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([</a:t>
            </a:r>
            <a:endParaRPr sz="1000">
              <a:latin typeface="Consolas"/>
              <a:cs typeface="Consolas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088628" y="3685218"/>
          <a:ext cx="2562860" cy="556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305"/>
                <a:gridCol w="213995"/>
                <a:gridCol w="213995"/>
                <a:gridCol w="213995"/>
                <a:gridCol w="213995"/>
                <a:gridCol w="213994"/>
                <a:gridCol w="320675"/>
                <a:gridCol w="177800"/>
                <a:gridCol w="426719"/>
                <a:gridCol w="208914"/>
              </a:tblGrid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],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960"/>
                        </a:lnSpc>
                      </a:pPr>
                      <a:r>
                        <a:rPr dirty="0" sz="1000" spc="-50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dirty="0" sz="1000" spc="-10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Check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960"/>
                        </a:lnSpc>
                      </a:pPr>
                      <a:r>
                        <a:rPr dirty="0" sz="1000" spc="-25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p1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],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50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Check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p2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</a:tr>
              <a:tr h="173990"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ts val="116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0086B3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00" spc="-25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],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1160"/>
                        </a:lnSpc>
                        <a:spcBef>
                          <a:spcPts val="110"/>
                        </a:spcBef>
                      </a:pPr>
                      <a:r>
                        <a:rPr dirty="0" sz="1000" spc="-50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110"/>
                        </a:spcBef>
                      </a:pPr>
                      <a:r>
                        <a:rPr dirty="0" sz="1000" spc="-10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Check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6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solidFill>
                            <a:srgbClr val="424442"/>
                          </a:solidFill>
                          <a:latin typeface="Consolas"/>
                          <a:cs typeface="Consolas"/>
                        </a:rPr>
                        <a:t>p4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822821" y="4277359"/>
            <a:ext cx="4870450" cy="52959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],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dtype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int8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297180" marR="1144270" indent="-285115">
              <a:lnSpc>
                <a:spcPct val="1375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encode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data_bits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List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将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4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位数据编码为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7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位码字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encoded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[]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data_bits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),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4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582295" marR="295275">
              <a:lnSpc>
                <a:spcPts val="1730"/>
              </a:lnSpc>
              <a:spcBef>
                <a:spcPts val="65"/>
              </a:spcBef>
              <a:tabLst>
                <a:tab pos="3289300" algn="l"/>
              </a:tabLst>
            </a:pPr>
            <a:r>
              <a:rPr dirty="0" sz="1000">
                <a:latin typeface="Consolas"/>
                <a:cs typeface="Consolas"/>
              </a:rPr>
              <a:t>block</a:t>
            </a:r>
            <a:r>
              <a:rPr dirty="0" sz="1000" spc="65">
                <a:latin typeface="Consolas"/>
                <a:cs typeface="Consolas"/>
              </a:rPr>
              <a:t> 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array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data_bits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4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], </a:t>
            </a:r>
            <a:r>
              <a:rPr dirty="0" sz="1000" spc="-10">
                <a:latin typeface="Consolas"/>
                <a:cs typeface="Consolas"/>
              </a:rPr>
              <a:t>dtype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int8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latin typeface="Consolas"/>
                <a:cs typeface="Consolas"/>
              </a:rPr>
              <a:t>codeword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dot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block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G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%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	</a:t>
            </a:r>
            <a:r>
              <a:rPr dirty="0" sz="1000" spc="1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矩阵乘法，模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2</a:t>
            </a:r>
            <a:r>
              <a:rPr dirty="0" sz="1000">
                <a:solidFill>
                  <a:srgbClr val="424442"/>
                </a:solidFill>
                <a:latin typeface="NSimSun"/>
                <a:cs typeface="NSimSun"/>
              </a:rPr>
              <a:t>运算</a:t>
            </a:r>
            <a:endParaRPr sz="1000">
              <a:latin typeface="NSimSun"/>
              <a:cs typeface="NSimSun"/>
            </a:endParaRPr>
          </a:p>
          <a:p>
            <a:pPr marL="582295">
              <a:lnSpc>
                <a:spcPct val="100000"/>
              </a:lnSpc>
              <a:spcBef>
                <a:spcPts val="300"/>
              </a:spcBef>
            </a:pPr>
            <a:r>
              <a:rPr dirty="0" sz="1000" spc="-10">
                <a:latin typeface="Consolas"/>
                <a:cs typeface="Consolas"/>
              </a:rPr>
              <a:t>encoded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extend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codeword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tolist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())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encoded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000">
              <a:latin typeface="Consolas"/>
              <a:cs typeface="Consolas"/>
            </a:endParaRPr>
          </a:p>
          <a:p>
            <a:pPr marL="297180" marR="859790" indent="-285115">
              <a:lnSpc>
                <a:spcPct val="1438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decode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received_bits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List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解码并纠正单比特错误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decoded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[]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5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received_bits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),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7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block</a:t>
            </a:r>
            <a:r>
              <a:rPr dirty="0" sz="1000" spc="7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7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array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received_bits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7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],</a:t>
            </a:r>
            <a:r>
              <a:rPr dirty="0" sz="1000" spc="7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dtype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int8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计算校验子</a:t>
            </a:r>
            <a:r>
              <a:rPr dirty="0" sz="1000" spc="-10">
                <a:solidFill>
                  <a:srgbClr val="424442"/>
                </a:solidFill>
                <a:latin typeface="NSimSun"/>
                <a:cs typeface="NSimSun"/>
              </a:rPr>
              <a:t>（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syndrome</a:t>
            </a:r>
            <a:r>
              <a:rPr dirty="0" sz="1000" spc="-10">
                <a:solidFill>
                  <a:srgbClr val="424442"/>
                </a:solidFill>
                <a:latin typeface="NSimSun"/>
                <a:cs typeface="NSimSun"/>
              </a:rPr>
              <a:t>）</a:t>
            </a:r>
            <a:endParaRPr sz="1000">
              <a:latin typeface="NSimSun"/>
              <a:cs typeface="NSimSun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syndrome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dot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H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block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%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syndrome_value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syndrome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>
                <a:latin typeface="Consolas"/>
                <a:cs typeface="Consolas"/>
              </a:rPr>
              <a:t>syndrome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4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-10">
                <a:latin typeface="Consolas"/>
                <a:cs typeface="Consolas"/>
              </a:rPr>
              <a:t>syndrome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syndrome_value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!=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866775" marR="1857375">
              <a:lnSpc>
                <a:spcPct val="137500"/>
              </a:lnSpc>
              <a:spcBef>
                <a:spcPts val="75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40">
                <a:solidFill>
                  <a:srgbClr val="424442"/>
                </a:solidFill>
                <a:latin typeface="NSimSun"/>
                <a:cs typeface="NSimSun"/>
              </a:rPr>
              <a:t>检测到错误，定位并纠正</a:t>
            </a:r>
            <a:r>
              <a:rPr dirty="0" sz="1000" spc="-50">
                <a:solidFill>
                  <a:srgbClr val="424442"/>
                </a:solidFill>
                <a:latin typeface="NSimSun"/>
                <a:cs typeface="NSimSun"/>
              </a:rPr>
              <a:t> </a:t>
            </a:r>
            <a:r>
              <a:rPr dirty="0" sz="1000">
                <a:latin typeface="Consolas"/>
                <a:cs typeface="Consolas"/>
              </a:rPr>
              <a:t>error_pos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>
                <a:latin typeface="Consolas"/>
                <a:cs typeface="Consolas"/>
              </a:rPr>
              <a:t>syndrome_value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-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1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25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61C5C"/>
                </a:solidFill>
                <a:latin typeface="Consolas"/>
                <a:cs typeface="Consolas"/>
              </a:rPr>
              <a:t>&lt;= </a:t>
            </a:r>
            <a:r>
              <a:rPr dirty="0" sz="1000">
                <a:latin typeface="Consolas"/>
                <a:cs typeface="Consolas"/>
              </a:rPr>
              <a:t>error_pos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&lt;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7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8483"/>
            <a:ext cx="6122035" cy="693991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558925">
              <a:lnSpc>
                <a:spcPct val="100000"/>
              </a:lnSpc>
              <a:spcBef>
                <a:spcPts val="545"/>
              </a:spcBef>
              <a:tabLst>
                <a:tab pos="3197225" algn="l"/>
              </a:tabLst>
            </a:pPr>
            <a:r>
              <a:rPr dirty="0" sz="1000">
                <a:latin typeface="Consolas"/>
                <a:cs typeface="Consolas"/>
              </a:rPr>
              <a:t>block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error_pos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]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^=</a:t>
            </a:r>
            <a:r>
              <a:rPr dirty="0" sz="1000" spc="6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翻转错误位</a:t>
            </a:r>
            <a:endParaRPr sz="1000">
              <a:latin typeface="NSimSun"/>
              <a:cs typeface="NSimSun"/>
            </a:endParaRPr>
          </a:p>
          <a:p>
            <a:pPr marL="155892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stats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'errors_corrected'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9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10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988694">
              <a:lnSpc>
                <a:spcPct val="1000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提取数据位（位置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2,4,5,6</a:t>
            </a:r>
            <a:r>
              <a:rPr dirty="0" sz="1000" spc="-10">
                <a:solidFill>
                  <a:srgbClr val="424442"/>
                </a:solidFill>
                <a:latin typeface="NSimSun"/>
                <a:cs typeface="NSimSun"/>
              </a:rPr>
              <a:t>）</a:t>
            </a:r>
            <a:endParaRPr sz="1000">
              <a:latin typeface="NSimSun"/>
              <a:cs typeface="NSimSun"/>
            </a:endParaRPr>
          </a:p>
          <a:p>
            <a:pPr marL="988694" marR="177546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block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],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block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4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],</a:t>
            </a:r>
            <a:r>
              <a:rPr dirty="0" sz="1000" spc="5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block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5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],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block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6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]] </a:t>
            </a:r>
            <a:r>
              <a:rPr dirty="0" sz="1000" spc="-10">
                <a:latin typeface="Consolas"/>
                <a:cs typeface="Consolas"/>
              </a:rPr>
              <a:t>decoded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extend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data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decoded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33985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3A2D4E"/>
                </a:solidFill>
                <a:latin typeface="Consolas"/>
                <a:cs typeface="Consolas"/>
              </a:rPr>
              <a:t>CRC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"""CRC-8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循环冗余校验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tabLst>
                <a:tab pos="1772920" algn="l"/>
              </a:tabLst>
            </a:pPr>
            <a:r>
              <a:rPr dirty="0" sz="1000">
                <a:latin typeface="Consolas"/>
                <a:cs typeface="Consolas"/>
              </a:rPr>
              <a:t>POLYNOMIAL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0x07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	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x^8</a:t>
            </a: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+</a:t>
            </a: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x^2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+</a:t>
            </a: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x</a:t>
            </a: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+</a:t>
            </a: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424442"/>
                </a:solidFill>
                <a:latin typeface="Consolas"/>
                <a:cs typeface="Consolas"/>
              </a:rPr>
              <a:t>1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00">
              <a:latin typeface="Consolas"/>
              <a:cs typeface="Consolas"/>
            </a:endParaRPr>
          </a:p>
          <a:p>
            <a:pPr marL="704215" marR="2986405" indent="-285115">
              <a:lnSpc>
                <a:spcPct val="1438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compute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2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计算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CRC-8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校验和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crc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endParaRPr sz="1000">
              <a:latin typeface="Consolas"/>
              <a:cs typeface="Consolas"/>
            </a:endParaRPr>
          </a:p>
          <a:p>
            <a:pPr marL="988694" marR="4197985" indent="-28511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byte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data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crc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^=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byte</a:t>
            </a:r>
            <a:endParaRPr sz="1000">
              <a:latin typeface="Consolas"/>
              <a:cs typeface="Consolas"/>
            </a:endParaRPr>
          </a:p>
          <a:p>
            <a:pPr marL="1273810" marR="3841750" indent="-285115">
              <a:lnSpc>
                <a:spcPts val="1720"/>
              </a:lnSpc>
              <a:spcBef>
                <a:spcPts val="7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_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8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crc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&amp;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0x80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1558925">
              <a:lnSpc>
                <a:spcPct val="100000"/>
              </a:lnSpc>
              <a:spcBef>
                <a:spcPts val="310"/>
              </a:spcBef>
            </a:pPr>
            <a:r>
              <a:rPr dirty="0" sz="1000">
                <a:latin typeface="Consolas"/>
                <a:cs typeface="Consolas"/>
              </a:rPr>
              <a:t>crc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crc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&lt;&lt;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^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POLYNOMIAL</a:t>
            </a:r>
            <a:endParaRPr sz="1000">
              <a:latin typeface="Consolas"/>
              <a:cs typeface="Consolas"/>
            </a:endParaRPr>
          </a:p>
          <a:p>
            <a:pPr marL="1273810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else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1273810" marR="3557270" indent="284480">
              <a:lnSpc>
                <a:spcPct val="137500"/>
              </a:lnSpc>
            </a:pPr>
            <a:r>
              <a:rPr dirty="0" sz="1000">
                <a:latin typeface="Consolas"/>
                <a:cs typeface="Consolas"/>
              </a:rPr>
              <a:t>crc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crc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&lt;&lt;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1 </a:t>
            </a:r>
            <a:r>
              <a:rPr dirty="0" sz="1000">
                <a:latin typeface="Consolas"/>
                <a:cs typeface="Consolas"/>
              </a:rPr>
              <a:t>crc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&amp;=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0xFF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crc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704215" marR="1917700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verify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checksum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bool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验证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CRC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校验和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compute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checksum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50" spc="-170" b="1">
                <a:latin typeface="Microsoft JhengHei"/>
                <a:cs typeface="Microsoft JhengHei"/>
              </a:rPr>
              <a:t>功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200" spc="13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Hamming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码通过校验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⼦定位并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纠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正单⽐特错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误；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CRC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项式除法检测突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发错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误。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5925" y="7853806"/>
            <a:ext cx="2604135" cy="11283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35" b="1">
                <a:latin typeface="Microsoft JhengHei"/>
                <a:cs typeface="Microsoft JhengHei"/>
              </a:rPr>
              <a:t>任务 </a:t>
            </a:r>
            <a:r>
              <a:rPr dirty="0" sz="1800" b="1">
                <a:latin typeface="Arial"/>
                <a:cs typeface="Arial"/>
              </a:rPr>
              <a:t>3.3: </a:t>
            </a:r>
            <a:r>
              <a:rPr dirty="0" sz="2000" spc="-195" b="1">
                <a:latin typeface="Microsoft JhengHei"/>
                <a:cs typeface="Microsoft JhengHei"/>
              </a:rPr>
              <a:t>应⽤层协议演⽰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700" spc="-175" b="1">
                <a:latin typeface="Microsoft JhengHei"/>
                <a:cs typeface="Microsoft JhengHei"/>
              </a:rPr>
              <a:t>测试⽬标</a:t>
            </a:r>
            <a:endParaRPr sz="1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简单的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HTTP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实现代码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6221730" cy="875982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latin typeface="Consolas"/>
                <a:cs typeface="Consolas"/>
              </a:rPr>
              <a:t>python3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-c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application_layer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*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network_layer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StarTopology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000">
              <a:latin typeface="Consolas"/>
              <a:cs typeface="Consolas"/>
            </a:endParaRPr>
          </a:p>
          <a:p>
            <a:pPr marL="12700" marR="3558540">
              <a:lnSpc>
                <a:spcPct val="143800"/>
              </a:lnSpc>
              <a:spcBef>
                <a:spcPts val="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print('===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应用层 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-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协议演示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===')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请求格式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print('1.</a:t>
            </a:r>
            <a:r>
              <a:rPr dirty="0" sz="1000" spc="8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请求格式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ts val="1730"/>
              </a:lnSpc>
              <a:spcBef>
                <a:spcPts val="7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request</a:t>
            </a:r>
            <a:r>
              <a:rPr dirty="0" sz="1000" spc="8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8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HTTPRequest(method='GET',</a:t>
            </a:r>
            <a:r>
              <a:rPr dirty="0" sz="1000" spc="8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path='/api/users',</a:t>
            </a:r>
            <a:r>
              <a:rPr dirty="0" sz="1000" spc="8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headers={'Accept':</a:t>
            </a:r>
            <a:r>
              <a:rPr dirty="0" sz="1000" spc="8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'text/html'}) print(request.to_bytes().decode())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响应格式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print('2.</a:t>
            </a:r>
            <a:r>
              <a:rPr dirty="0" sz="1000" spc="8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响应格式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  <a:p>
            <a:pPr marL="12700" marR="313880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response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HTTPResponse.ok('Hello,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World!') print(response.to_bytes().decode())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服务器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/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客户端演示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print('3.</a:t>
            </a:r>
            <a:r>
              <a:rPr dirty="0" sz="1000" spc="8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服务器演示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topology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StarTopology(num_hosts=2)</a:t>
            </a:r>
            <a:endParaRPr sz="1000">
              <a:latin typeface="Consolas"/>
              <a:cs typeface="Consolas"/>
            </a:endParaRPr>
          </a:p>
          <a:p>
            <a:pPr marL="12700" marR="249745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server_host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topology.get_host('00:00:00:00:00:01')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client_host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topology.get_host('00:00:00:00:00:02')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server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HTTPServer(server_host)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000">
              <a:latin typeface="Consolas"/>
              <a:cs typeface="Consolas"/>
            </a:endParaRPr>
          </a:p>
          <a:p>
            <a:pPr marL="12700" marR="4563110">
              <a:lnSpc>
                <a:spcPct val="143800"/>
              </a:lnSpc>
              <a:spcBef>
                <a:spcPts val="5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@server.route('/hello')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hello(req):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return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HTTPResponse.ok('Hello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server!')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12700" marR="4634230">
              <a:lnSpc>
                <a:spcPct val="137500"/>
              </a:lnSpc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@server.route('/echo')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echo(req):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return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HTTPResponse.ok(f'You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said: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{req.body}')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00">
              <a:latin typeface="Consolas"/>
              <a:cs typeface="Consolas"/>
            </a:endParaRPr>
          </a:p>
          <a:p>
            <a:pPr marL="12700" marR="3744595">
              <a:lnSpc>
                <a:spcPct val="143800"/>
              </a:lnSpc>
              <a:tabLst>
                <a:tab pos="72453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注册路由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/hello,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/echo')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处理请求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print('4.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请求处理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req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HTTPRequest(method='GET',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path='/hello')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7815" y="308483"/>
            <a:ext cx="4797425" cy="236855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resp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server._process_request(req)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GET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/hello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-&gt;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{resp.status_code}: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{resp.body}')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43800"/>
              </a:lnSpc>
              <a:spcBef>
                <a:spcPts val="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req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HTTPRequest(method='POST',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path='/echo',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body='Test</a:t>
            </a:r>
            <a:r>
              <a:rPr dirty="0" sz="1000" spc="7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message')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resp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server._process_request(req)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POST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/echo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-&gt;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{resp.status_code}: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{resp.body}')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12700" marR="1286510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req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6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HTTPRequest(method='GET',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path='/notfound')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resp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server._process_request(req)</a:t>
            </a:r>
            <a:endParaRPr sz="1000">
              <a:latin typeface="Consolas"/>
              <a:cs typeface="Consolas"/>
            </a:endParaRPr>
          </a:p>
          <a:p>
            <a:pPr marL="12700" marR="1358265">
              <a:lnSpc>
                <a:spcPct val="137500"/>
              </a:lnSpc>
              <a:spcBef>
                <a:spcPts val="75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GET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/notfound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-&gt;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{resp.status_code}')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5925" y="2962910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运⾏结果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7815" y="3524884"/>
            <a:ext cx="2027555" cy="10287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Consolas"/>
                <a:cs typeface="Consolas"/>
              </a:rPr>
              <a:t>=== </a:t>
            </a:r>
            <a:r>
              <a:rPr dirty="0" sz="1000" spc="50">
                <a:latin typeface="NSimSun"/>
                <a:cs typeface="NSimSun"/>
              </a:rPr>
              <a:t>应用层 </a:t>
            </a:r>
            <a:r>
              <a:rPr dirty="0" sz="1000" spc="15">
                <a:latin typeface="Consolas"/>
                <a:cs typeface="Consolas"/>
              </a:rPr>
              <a:t>- </a:t>
            </a:r>
            <a:r>
              <a:rPr dirty="0" sz="1000">
                <a:latin typeface="Consolas"/>
                <a:cs typeface="Consolas"/>
              </a:rPr>
              <a:t>HTTP</a:t>
            </a:r>
            <a:r>
              <a:rPr dirty="0" sz="1000" spc="50">
                <a:latin typeface="NSimSun"/>
                <a:cs typeface="NSimSun"/>
              </a:rPr>
              <a:t>协议演示 </a:t>
            </a:r>
            <a:r>
              <a:rPr dirty="0" sz="1000" spc="-25">
                <a:latin typeface="Consolas"/>
                <a:cs typeface="Consolas"/>
              </a:rPr>
              <a:t>===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Consolas"/>
                <a:cs typeface="Consolas"/>
              </a:rPr>
              <a:t>1.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HTTP</a:t>
            </a:r>
            <a:r>
              <a:rPr dirty="0" sz="1000" spc="50">
                <a:latin typeface="NSimSun"/>
                <a:cs typeface="NSimSun"/>
              </a:rPr>
              <a:t>请求格式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12700" marR="368300">
              <a:lnSpc>
                <a:spcPct val="137500"/>
              </a:lnSpc>
            </a:pPr>
            <a:r>
              <a:rPr dirty="0" sz="1000">
                <a:latin typeface="Consolas"/>
                <a:cs typeface="Consolas"/>
              </a:rPr>
              <a:t>GET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/api/users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HTTP/1.0 </a:t>
            </a:r>
            <a:r>
              <a:rPr dirty="0" sz="1000">
                <a:latin typeface="Consolas"/>
                <a:cs typeface="Consolas"/>
              </a:rPr>
              <a:t>Accept: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text/html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7815" y="5175757"/>
            <a:ext cx="3159760" cy="300672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226060" indent="-213360">
              <a:lnSpc>
                <a:spcPct val="100000"/>
              </a:lnSpc>
              <a:spcBef>
                <a:spcPts val="545"/>
              </a:spcBef>
              <a:buAutoNum type="arabicPeriod" startAt="2"/>
              <a:tabLst>
                <a:tab pos="226060" algn="l"/>
              </a:tabLst>
            </a:pPr>
            <a:r>
              <a:rPr dirty="0" sz="1000">
                <a:latin typeface="Consolas"/>
                <a:cs typeface="Consolas"/>
              </a:rPr>
              <a:t>HTTP</a:t>
            </a:r>
            <a:r>
              <a:rPr dirty="0" sz="1000" spc="50">
                <a:latin typeface="NSimSun"/>
                <a:cs typeface="NSimSun"/>
              </a:rPr>
              <a:t>响应格式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HTTP/1.0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200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OK</a:t>
            </a:r>
            <a:endParaRPr sz="1000">
              <a:latin typeface="Consolas"/>
              <a:cs typeface="Consolas"/>
            </a:endParaRPr>
          </a:p>
          <a:p>
            <a:pPr marL="12700" marR="142938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Content-Type:</a:t>
            </a:r>
            <a:r>
              <a:rPr dirty="0" sz="1000" spc="8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text/plain </a:t>
            </a:r>
            <a:r>
              <a:rPr dirty="0" sz="1000">
                <a:latin typeface="Consolas"/>
                <a:cs typeface="Consolas"/>
              </a:rPr>
              <a:t>Content-Length:</a:t>
            </a:r>
            <a:r>
              <a:rPr dirty="0" sz="1000" spc="90"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13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latin typeface="Consolas"/>
                <a:cs typeface="Consolas"/>
              </a:rPr>
              <a:t>Hello,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World!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226060" algn="l"/>
              </a:tabLst>
            </a:pPr>
            <a:r>
              <a:rPr dirty="0" sz="1000">
                <a:latin typeface="Consolas"/>
                <a:cs typeface="Consolas"/>
              </a:rPr>
              <a:t>HTTP</a:t>
            </a:r>
            <a:r>
              <a:rPr dirty="0" sz="1000" spc="50">
                <a:latin typeface="NSimSun"/>
                <a:cs typeface="NSimSun"/>
              </a:rPr>
              <a:t>服务器演示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注册路由</a:t>
            </a:r>
            <a:r>
              <a:rPr dirty="0" sz="1000" spc="15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/hello,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/echo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Font typeface="Consolas"/>
              <a:buAutoNum type="arabicPeriod" startAt="4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请求处理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GET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/hello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-&gt;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200: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Hello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from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server!</a:t>
            </a:r>
            <a:endParaRPr sz="1000">
              <a:latin typeface="Consolas"/>
              <a:cs typeface="Consolas"/>
            </a:endParaRPr>
          </a:p>
          <a:p>
            <a:pPr marL="226060" marR="50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POST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/echo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-&gt;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200: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You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said: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Test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message </a:t>
            </a:r>
            <a:r>
              <a:rPr dirty="0" sz="1000">
                <a:latin typeface="Consolas"/>
                <a:cs typeface="Consolas"/>
              </a:rPr>
              <a:t>GET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/notfound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-&gt;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404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85824" y="92487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94868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15925" y="8468359"/>
            <a:ext cx="2964180" cy="1132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技术</a:t>
            </a:r>
            <a:r>
              <a:rPr dirty="0" sz="1700" spc="-130" b="1">
                <a:latin typeface="Malgun Gothic"/>
                <a:cs typeface="Malgun Gothic"/>
              </a:rPr>
              <a:t>要点</a:t>
            </a:r>
            <a:endParaRPr sz="1700">
              <a:latin typeface="Malgun Gothic"/>
              <a:cs typeface="Malgun Gothic"/>
            </a:endParaRPr>
          </a:p>
          <a:p>
            <a:pPr marL="147955">
              <a:lnSpc>
                <a:spcPct val="100000"/>
              </a:lnSpc>
              <a:spcBef>
                <a:spcPts val="123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1.</a:t>
            </a:r>
            <a:r>
              <a:rPr dirty="0" sz="1200" spc="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 b="1">
                <a:latin typeface="Arial"/>
                <a:cs typeface="Arial"/>
              </a:rPr>
              <a:t>HTTP</a:t>
            </a:r>
            <a:r>
              <a:rPr dirty="0" sz="1350" spc="-170" b="1">
                <a:latin typeface="Microsoft JhengHei"/>
                <a:cs typeface="Microsoft JhengHei"/>
              </a:rPr>
              <a:t>请求格式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 marR="5080">
              <a:lnSpc>
                <a:spcPct val="115700"/>
              </a:lnSpc>
              <a:spcBef>
                <a:spcPts val="7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请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求⾏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METHOD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path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HTTP/</a:t>
            </a:r>
            <a:r>
              <a:rPr dirty="0" sz="1350" spc="-145">
                <a:solidFill>
                  <a:srgbClr val="333333"/>
                </a:solidFill>
                <a:latin typeface="Microsoft JhengHei"/>
                <a:cs typeface="Microsoft JhengHei"/>
              </a:rPr>
              <a:t>版本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请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求头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Key: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Value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5824" y="4571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898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98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85824" y="7048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5824" y="11906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14287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16763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19240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24098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26479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5824" y="28955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74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4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5824" y="33813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85824" y="36290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85824" y="38671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898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98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551209" y="297967"/>
            <a:ext cx="3389629" cy="36830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42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空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⾏</a:t>
            </a:r>
            <a:endParaRPr sz="1350">
              <a:latin typeface="Microsoft JhengHei"/>
              <a:cs typeface="Microsoft JhengHei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请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求体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选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182245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Font typeface="Arial MT"/>
              <a:buAutoNum type="arabicPeriod" startAt="2"/>
              <a:tabLst>
                <a:tab pos="182245" algn="l"/>
              </a:tabLst>
            </a:pPr>
            <a:r>
              <a:rPr dirty="0" sz="1200" spc="-10" b="1">
                <a:latin typeface="Arial"/>
                <a:cs typeface="Arial"/>
              </a:rPr>
              <a:t>HTTP</a:t>
            </a:r>
            <a:r>
              <a:rPr dirty="0" sz="1350" spc="-170" b="1">
                <a:latin typeface="Microsoft JhengHei"/>
                <a:cs typeface="Microsoft JhengHei"/>
              </a:rPr>
              <a:t>响应格式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状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态⾏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HTTP/</a:t>
            </a:r>
            <a:r>
              <a:rPr dirty="0" sz="1350" spc="-105">
                <a:solidFill>
                  <a:srgbClr val="333333"/>
                </a:solidFill>
                <a:latin typeface="Microsoft JhengHei"/>
                <a:cs typeface="Microsoft JhengHei"/>
              </a:rPr>
              <a:t>版本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状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态</a:t>
            </a:r>
            <a:r>
              <a:rPr dirty="0" sz="1350" spc="-220">
                <a:solidFill>
                  <a:srgbClr val="333333"/>
                </a:solidFill>
                <a:latin typeface="SimSun"/>
                <a:cs typeface="SimSun"/>
              </a:rPr>
              <a:t>码 状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态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endParaRPr sz="1350">
              <a:latin typeface="Microsoft JhengHei"/>
              <a:cs typeface="Microsoft JhengHei"/>
            </a:endParaRPr>
          </a:p>
          <a:p>
            <a:pPr marL="486409" marR="149860">
              <a:lnSpc>
                <a:spcPts val="1950"/>
              </a:lnSpc>
              <a:spcBef>
                <a:spcPts val="4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应头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Content-Type,</a:t>
            </a:r>
            <a:r>
              <a:rPr dirty="0" sz="1200" spc="-8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Content-Length</a:t>
            </a:r>
            <a:r>
              <a:rPr dirty="0" sz="1350" spc="-100">
                <a:solidFill>
                  <a:srgbClr val="333333"/>
                </a:solidFill>
                <a:latin typeface="Microsoft JhengHei"/>
                <a:cs typeface="Microsoft JhengHei"/>
              </a:rPr>
              <a:t>等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空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⾏</a:t>
            </a:r>
            <a:endParaRPr sz="1350">
              <a:latin typeface="Microsoft JhengHei"/>
              <a:cs typeface="Microsoft JhengHei"/>
            </a:endParaRPr>
          </a:p>
          <a:p>
            <a:pPr marL="486409">
              <a:lnSpc>
                <a:spcPct val="100000"/>
              </a:lnSpc>
              <a:spcBef>
                <a:spcPts val="21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响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应体</a:t>
            </a:r>
            <a:endParaRPr sz="1350">
              <a:latin typeface="Microsoft JhengHei"/>
              <a:cs typeface="Microsoft JhengHei"/>
            </a:endParaRPr>
          </a:p>
          <a:p>
            <a:pPr marL="182245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路由机制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 marR="5080">
              <a:lnSpc>
                <a:spcPct val="115700"/>
              </a:lnSpc>
              <a:spcBef>
                <a:spcPts val="8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装饰器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@server.route()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册路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径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处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理器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径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配请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求</a:t>
            </a:r>
            <a:endParaRPr sz="1350">
              <a:latin typeface="Microsoft JhengHei"/>
              <a:cs typeface="Microsoft JhengHei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⽤对应处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函数</a:t>
            </a:r>
            <a:endParaRPr sz="1350">
              <a:latin typeface="Microsoft JhengHei"/>
              <a:cs typeface="Microsoft JhengHei"/>
            </a:endParaRPr>
          </a:p>
          <a:p>
            <a:pPr marL="182245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4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状态码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254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200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OK: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成功</a:t>
            </a:r>
            <a:endParaRPr sz="1350">
              <a:latin typeface="Microsoft JhengHei"/>
              <a:cs typeface="Microsoft JhengHei"/>
            </a:endParaRPr>
          </a:p>
          <a:p>
            <a:pPr marL="486409" marR="1039494">
              <a:lnSpc>
                <a:spcPct val="115700"/>
              </a:lnSpc>
              <a:spcBef>
                <a:spcPts val="7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404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Not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Found: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径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不存</a:t>
            </a:r>
            <a:r>
              <a:rPr dirty="0" sz="1350" spc="-12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其他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400,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500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等</a:t>
            </a:r>
            <a:endParaRPr sz="13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1168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00" b="1">
                <a:latin typeface="Microsoft JhengHei"/>
                <a:cs typeface="Microsoft JhengHei"/>
              </a:rPr>
              <a:t>关键代码实现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2091689" cy="130175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@dataclass</a:t>
            </a:r>
            <a:endParaRPr sz="1000">
              <a:latin typeface="Consolas"/>
              <a:cs typeface="Consolas"/>
            </a:endParaRPr>
          </a:p>
          <a:p>
            <a:pPr marL="297180" marR="673735" indent="-28511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HTTPRequest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"""HTTP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请求类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method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path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version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"HTTP/1.0"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85555" y="1451483"/>
            <a:ext cx="1521460" cy="44450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GET/POST/PUT/DELETE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424442"/>
                </a:solidFill>
                <a:latin typeface="NSimSun"/>
                <a:cs typeface="NSimSun"/>
              </a:rPr>
              <a:t>请求路径</a:t>
            </a:r>
            <a:endParaRPr sz="1000">
              <a:latin typeface="NSimSun"/>
              <a:cs typeface="NSimSu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7815" y="2080132"/>
            <a:ext cx="5582285" cy="7493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1500505">
              <a:lnSpc>
                <a:spcPct val="143800"/>
              </a:lnSpc>
              <a:spcBef>
                <a:spcPts val="95"/>
              </a:spcBef>
            </a:pPr>
            <a:r>
              <a:rPr dirty="0" sz="1000">
                <a:latin typeface="Consolas"/>
                <a:cs typeface="Consolas"/>
              </a:rPr>
              <a:t>headers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Dict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field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default_factory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=dict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latin typeface="Consolas"/>
                <a:cs typeface="Consolas"/>
              </a:rPr>
              <a:t>body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000">
              <a:latin typeface="Consolas"/>
              <a:cs typeface="Consolas"/>
            </a:endParaRPr>
          </a:p>
          <a:p>
            <a:pPr marL="582295" marR="3281679" indent="-285115">
              <a:lnSpc>
                <a:spcPct val="1438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to_bytes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序列化为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HTTP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格式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 marR="1215390" indent="-635">
              <a:lnSpc>
                <a:spcPct val="137500"/>
              </a:lnSpc>
            </a:pPr>
            <a:r>
              <a:rPr dirty="0" sz="1000">
                <a:latin typeface="Consolas"/>
                <a:cs typeface="Consolas"/>
              </a:rPr>
              <a:t>lines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f"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method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path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version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key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value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headers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items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():</a:t>
            </a:r>
            <a:endParaRPr sz="1000">
              <a:latin typeface="Consolas"/>
              <a:cs typeface="Consolas"/>
            </a:endParaRPr>
          </a:p>
          <a:p>
            <a:pPr marL="582295" marR="2498090" indent="284480">
              <a:lnSpc>
                <a:spcPct val="140600"/>
              </a:lnSpc>
              <a:spcBef>
                <a:spcPts val="40"/>
              </a:spcBef>
              <a:tabLst>
                <a:tab pos="1864995" algn="l"/>
              </a:tabLst>
            </a:pPr>
            <a:r>
              <a:rPr dirty="0" sz="1000">
                <a:latin typeface="Consolas"/>
                <a:cs typeface="Consolas"/>
              </a:rPr>
              <a:t>lines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append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f"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>
                <a:latin typeface="Consolas"/>
                <a:cs typeface="Consolas"/>
              </a:rPr>
              <a:t>key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 spc="-10">
                <a:latin typeface="Consolas"/>
                <a:cs typeface="Consolas"/>
              </a:rPr>
              <a:t>value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-10">
                <a:latin typeface="Consolas"/>
                <a:cs typeface="Consolas"/>
              </a:rPr>
              <a:t>lines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append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""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-5">
                <a:solidFill>
                  <a:srgbClr val="424442"/>
                </a:solidFill>
                <a:latin typeface="NSimSun"/>
                <a:cs typeface="NSimSun"/>
              </a:rPr>
              <a:t>空行</a:t>
            </a:r>
            <a:r>
              <a:rPr dirty="0" sz="1000" spc="-60">
                <a:solidFill>
                  <a:srgbClr val="424442"/>
                </a:solidFill>
                <a:latin typeface="NSimSun"/>
                <a:cs typeface="NSimSun"/>
              </a:rPr>
              <a:t> </a:t>
            </a:r>
            <a:r>
              <a:rPr dirty="0" sz="1000" spc="-10">
                <a:latin typeface="Consolas"/>
                <a:cs typeface="Consolas"/>
              </a:rPr>
              <a:t>lines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append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body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21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"\r\n"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join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lines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).</a:t>
            </a:r>
            <a:r>
              <a:rPr dirty="0" sz="1000">
                <a:latin typeface="Consolas"/>
                <a:cs typeface="Consolas"/>
              </a:rPr>
              <a:t>encode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'utf-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8'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@classmethod</a:t>
            </a:r>
            <a:endParaRPr sz="1000">
              <a:latin typeface="Consolas"/>
              <a:cs typeface="Consolas"/>
            </a:endParaRPr>
          </a:p>
          <a:p>
            <a:pPr marL="582295" marR="1714500" indent="-28511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from_bytes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cls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'HTTPRequest'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从字节流解析请求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text</a:t>
            </a:r>
            <a:r>
              <a:rPr dirty="0" sz="1000" spc="7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7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decode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'utf-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8'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 marR="3139440" indent="-63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lines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latin typeface="Consolas"/>
                <a:cs typeface="Consolas"/>
              </a:rPr>
              <a:t>text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split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'\r\n'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解析请求行</a:t>
            </a:r>
            <a:endParaRPr sz="1000">
              <a:latin typeface="NSimSun"/>
              <a:cs typeface="NSimSun"/>
            </a:endParaRPr>
          </a:p>
          <a:p>
            <a:pPr marL="58229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method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path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version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lines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].</a:t>
            </a:r>
            <a:r>
              <a:rPr dirty="0" sz="1000">
                <a:latin typeface="Consolas"/>
                <a:cs typeface="Consolas"/>
              </a:rPr>
              <a:t>split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解析头部和体</a:t>
            </a:r>
            <a:endParaRPr sz="1000">
              <a:latin typeface="NSimSun"/>
              <a:cs typeface="NSimSun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headers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{}</a:t>
            </a:r>
            <a:endParaRPr sz="1000">
              <a:latin typeface="Consolas"/>
              <a:cs typeface="Consolas"/>
            </a:endParaRPr>
          </a:p>
          <a:p>
            <a:pPr marL="867410" marR="3281679" indent="-28511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line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lines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:]: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line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break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key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value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line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split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':'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headers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key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strip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()]</a:t>
            </a:r>
            <a:r>
              <a:rPr dirty="0" sz="1000" spc="6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7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value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strip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6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cls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method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>
                <a:latin typeface="Consolas"/>
                <a:cs typeface="Consolas"/>
              </a:rPr>
              <a:t>method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8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path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>
                <a:latin typeface="Consolas"/>
                <a:cs typeface="Consolas"/>
              </a:rPr>
              <a:t>path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8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version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>
                <a:latin typeface="Consolas"/>
                <a:cs typeface="Consolas"/>
              </a:rPr>
              <a:t>version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8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headers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latin typeface="Consolas"/>
                <a:cs typeface="Consolas"/>
              </a:rPr>
              <a:t>headers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@dataclass</a:t>
            </a:r>
            <a:endParaRPr sz="1000">
              <a:latin typeface="Consolas"/>
              <a:cs typeface="Consolas"/>
            </a:endParaRPr>
          </a:p>
          <a:p>
            <a:pPr marL="297180" marR="4164329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HTTPResponse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"""HTTP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响应类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297180" marR="3495675">
              <a:lnSpc>
                <a:spcPct val="140600"/>
              </a:lnSpc>
              <a:spcBef>
                <a:spcPts val="35"/>
              </a:spcBef>
            </a:pPr>
            <a:r>
              <a:rPr dirty="0" sz="1000">
                <a:latin typeface="Consolas"/>
                <a:cs typeface="Consolas"/>
              </a:rPr>
              <a:t>status_code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7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A61C5C"/>
                </a:solidFill>
                <a:latin typeface="Consolas"/>
                <a:cs typeface="Consolas"/>
              </a:rPr>
              <a:t>int </a:t>
            </a:r>
            <a:r>
              <a:rPr dirty="0" sz="1000">
                <a:latin typeface="Consolas"/>
                <a:cs typeface="Consolas"/>
              </a:rPr>
              <a:t>status_message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9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A61C5C"/>
                </a:solidFill>
                <a:latin typeface="Consolas"/>
                <a:cs typeface="Consolas"/>
              </a:rPr>
              <a:t>str </a:t>
            </a:r>
            <a:r>
              <a:rPr dirty="0" sz="1000">
                <a:latin typeface="Consolas"/>
                <a:cs typeface="Consolas"/>
              </a:rPr>
              <a:t>version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"HTTP/1.0"</a:t>
            </a:r>
            <a:endParaRPr sz="1000">
              <a:latin typeface="Consolas"/>
              <a:cs typeface="Consolas"/>
            </a:endParaRPr>
          </a:p>
          <a:p>
            <a:pPr marL="297180" marR="1500505">
              <a:lnSpc>
                <a:spcPct val="137500"/>
              </a:lnSpc>
            </a:pPr>
            <a:r>
              <a:rPr dirty="0" sz="1000">
                <a:latin typeface="Consolas"/>
                <a:cs typeface="Consolas"/>
              </a:rPr>
              <a:t>headers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Dict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field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default_factory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=dict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latin typeface="Consolas"/>
                <a:cs typeface="Consolas"/>
              </a:rPr>
              <a:t>body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508508"/>
            <a:ext cx="5847080" cy="694944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419100">
              <a:lnSpc>
                <a:spcPct val="100000"/>
              </a:lnSpc>
              <a:spcBef>
                <a:spcPts val="620"/>
              </a:spcBef>
            </a:pP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@classmethod</a:t>
            </a:r>
            <a:endParaRPr sz="1000">
              <a:latin typeface="Consolas"/>
              <a:cs typeface="Consolas"/>
            </a:endParaRPr>
          </a:p>
          <a:p>
            <a:pPr marL="704215" marR="2141220" indent="-28511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ok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cls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body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 =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'HTTPResponse'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创建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200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OK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响应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7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cls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200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7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"OK"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7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headers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"Content-Type"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7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"text/plain"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},</a:t>
            </a:r>
            <a:r>
              <a:rPr dirty="0" sz="1000" spc="7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body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latin typeface="Consolas"/>
                <a:cs typeface="Consolas"/>
              </a:rPr>
              <a:t>body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</a:pP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@classmethod</a:t>
            </a:r>
            <a:endParaRPr sz="1000">
              <a:latin typeface="Consolas"/>
              <a:cs typeface="Consolas"/>
            </a:endParaRPr>
          </a:p>
          <a:p>
            <a:pPr marL="704215" marR="2783205" indent="-285115">
              <a:lnSpc>
                <a:spcPct val="140600"/>
              </a:lnSpc>
              <a:spcBef>
                <a:spcPts val="3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not_found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cls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'HTTPResponse'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创建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404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Not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Found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响应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cls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404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"Not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Found"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onsolas"/>
              <a:cs typeface="Consolas"/>
            </a:endParaRPr>
          </a:p>
          <a:p>
            <a:pPr marL="133985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HTTPServer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"""HTTP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服务器，支持路由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00">
              <a:latin typeface="Consolas"/>
              <a:cs typeface="Consolas"/>
            </a:endParaRPr>
          </a:p>
          <a:p>
            <a:pPr marL="704215" marR="3210560" indent="-285115">
              <a:lnSpc>
                <a:spcPct val="1438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2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init</a:t>
            </a:r>
            <a:r>
              <a:rPr dirty="0" u="sng" sz="1000" spc="32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host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Host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host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host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  <a:tabLst>
                <a:tab pos="1986280" algn="l"/>
              </a:tabLst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routes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{}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	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#</a:t>
            </a: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path</a:t>
            </a:r>
            <a:r>
              <a:rPr dirty="0" sz="1000" spc="2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-&gt;</a:t>
            </a:r>
            <a:r>
              <a:rPr dirty="0" sz="1000" spc="20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handler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704215" marR="3495675" indent="-285115">
              <a:lnSpc>
                <a:spcPct val="1375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route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path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路由装饰器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988694" marR="2926080" indent="-285115">
              <a:lnSpc>
                <a:spcPct val="140600"/>
              </a:lnSpc>
              <a:spcBef>
                <a:spcPts val="3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decorator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handler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routes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path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6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handler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handler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decorator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704215" marR="1073785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_process_request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req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HTTPRequest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HTTPResponse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处理请求并返回响应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70421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req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path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routes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704215" marR="2498090" indent="284480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routes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latin typeface="Consolas"/>
                <a:cs typeface="Consolas"/>
              </a:rPr>
              <a:t>req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path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](</a:t>
            </a:r>
            <a:r>
              <a:rPr dirty="0" sz="1000" spc="-10">
                <a:latin typeface="Consolas"/>
                <a:cs typeface="Consolas"/>
              </a:rPr>
              <a:t>req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else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988694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HTTPResponse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not_found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功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200" spc="10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HTTP/1.0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请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求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解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析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路由匹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状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态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处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理。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5925" y="8072881"/>
            <a:ext cx="3048635" cy="11188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35" b="1">
                <a:latin typeface="Microsoft JhengHei"/>
                <a:cs typeface="Microsoft JhengHei"/>
              </a:rPr>
              <a:t>任务 </a:t>
            </a:r>
            <a:r>
              <a:rPr dirty="0" sz="1800" b="1">
                <a:latin typeface="Arial"/>
                <a:cs typeface="Arial"/>
              </a:rPr>
              <a:t>3.4: </a:t>
            </a:r>
            <a:r>
              <a:rPr dirty="0" sz="2000" spc="-185" b="1">
                <a:latin typeface="Microsoft JhengHei"/>
                <a:cs typeface="Microsoft JhengHei"/>
              </a:rPr>
              <a:t>调制⽅式对⽐演⽰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700" spc="-175" b="1">
                <a:latin typeface="Microsoft JhengHei"/>
                <a:cs typeface="Microsoft JhengHei"/>
              </a:rPr>
              <a:t>测试⽬标</a:t>
            </a:r>
            <a:endParaRPr sz="1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对⽐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ASK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FSK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BPSK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的抗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声性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实现代码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308"/>
            <a:ext cx="5241290" cy="514032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latin typeface="Consolas"/>
                <a:cs typeface="Consolas"/>
              </a:rPr>
              <a:t>python3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-c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  <a:p>
            <a:pPr marL="12700" marR="294132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modulation_schemes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*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numpy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as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np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Consolas"/>
              <a:cs typeface="Consolas"/>
            </a:endParaRPr>
          </a:p>
          <a:p>
            <a:pPr marL="12700" marR="2943225">
              <a:lnSpc>
                <a:spcPct val="143800"/>
              </a:lnSpc>
              <a:spcBef>
                <a:spcPts val="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print('===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调制方式对比演示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===')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5">
                <a:solidFill>
                  <a:srgbClr val="173690"/>
                </a:solidFill>
                <a:latin typeface="NSimSun"/>
                <a:cs typeface="NSimSun"/>
              </a:rPr>
              <a:t>测试各调制方式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[1,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0,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1,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1,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0,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0,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1,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0]</a:t>
            </a:r>
            <a:endParaRPr sz="1000">
              <a:latin typeface="Consolas"/>
              <a:cs typeface="Consolas"/>
            </a:endParaRPr>
          </a:p>
          <a:p>
            <a:pPr marL="12700" marR="3405504">
              <a:lnSpc>
                <a:spcPts val="1730"/>
              </a:lnSpc>
              <a:spcBef>
                <a:spcPts val="7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测试比特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{bits}')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schemes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[OOK(),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ASK(),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FSK(),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BPSK()]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000">
              <a:latin typeface="Consolas"/>
              <a:cs typeface="Consolas"/>
            </a:endParaRPr>
          </a:p>
          <a:p>
            <a:pPr marL="12700" marR="3627754">
              <a:lnSpc>
                <a:spcPct val="1438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print('1.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无噪声测试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scheme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schemes:</a:t>
            </a:r>
            <a:endParaRPr sz="1000">
              <a:latin typeface="Consolas"/>
              <a:cs typeface="Consolas"/>
            </a:endParaRPr>
          </a:p>
          <a:p>
            <a:pPr marL="297180" marR="2300605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signal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scheme.modulate(bits)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recovered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scheme.demodulate(signal)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match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recovered[:len(bits)]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==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bits</a:t>
            </a:r>
            <a:endParaRPr sz="1000">
              <a:latin typeface="Consolas"/>
              <a:cs typeface="Consolas"/>
            </a:endParaRPr>
          </a:p>
          <a:p>
            <a:pPr marL="12700" marR="5080" indent="284480">
              <a:lnSpc>
                <a:spcPts val="1730"/>
              </a:lnSpc>
              <a:spcBef>
                <a:spcPts val="65"/>
              </a:spcBef>
              <a:tabLst>
                <a:tab pos="1080770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{scheme.name:6s}:</a:t>
            </a:r>
            <a:r>
              <a:rPr dirty="0" sz="1000" spc="10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信号长度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={len(signal):4d},</a:t>
            </a:r>
            <a:r>
              <a:rPr dirty="0" sz="1000" spc="10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匹配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={match}')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噪声下性能 </a:t>
            </a: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- </a:t>
            </a:r>
            <a:r>
              <a:rPr dirty="0" sz="1000" spc="35">
                <a:solidFill>
                  <a:srgbClr val="173690"/>
                </a:solidFill>
                <a:latin typeface="NSimSun"/>
                <a:cs typeface="NSimSun"/>
              </a:rPr>
              <a:t>使用更高噪声水平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print('2.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45">
                <a:solidFill>
                  <a:srgbClr val="173690"/>
                </a:solidFill>
                <a:latin typeface="NSimSun"/>
                <a:cs typeface="NSimSun"/>
              </a:rPr>
              <a:t>不同噪声下的误码率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(BER):')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7815" y="5918707"/>
            <a:ext cx="2785110" cy="46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3800"/>
              </a:lnSpc>
              <a:spcBef>
                <a:spcPts val="95"/>
              </a:spcBef>
              <a:tabLst>
                <a:tab pos="724535" algn="l"/>
                <a:tab pos="1418590" algn="l"/>
                <a:tab pos="1988185" algn="l"/>
                <a:tab pos="255841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方</a:t>
            </a:r>
            <a:r>
              <a:rPr dirty="0" sz="1000" spc="-50">
                <a:solidFill>
                  <a:srgbClr val="173690"/>
                </a:solidFill>
                <a:latin typeface="NSimSun"/>
                <a:cs typeface="NSimSun"/>
              </a:rPr>
              <a:t>案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	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0.5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1.0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1.5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'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+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'-'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55)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653382" y="5982334"/>
            <a:ext cx="23939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2.0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223155" y="5982334"/>
            <a:ext cx="38163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2.5')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7815" y="6556882"/>
            <a:ext cx="3942715" cy="301625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noise_levels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[0.5,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1.0,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1.5,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2.0,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2.5]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scheme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schemes:</a:t>
            </a:r>
            <a:endParaRPr sz="1000">
              <a:latin typeface="Consolas"/>
              <a:cs typeface="Consolas"/>
            </a:endParaRPr>
          </a:p>
          <a:p>
            <a:pPr marL="297180" marR="1002030">
              <a:lnSpc>
                <a:spcPct val="137500"/>
              </a:lnSpc>
              <a:tabLst>
                <a:tab pos="1080770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{scheme.name:6s}',</a:t>
            </a:r>
            <a:r>
              <a:rPr dirty="0" sz="1000" spc="10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end='')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noise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noise_levels:</a:t>
            </a:r>
            <a:endParaRPr sz="1000">
              <a:latin typeface="Consolas"/>
              <a:cs typeface="Consolas"/>
            </a:endParaRPr>
          </a:p>
          <a:p>
            <a:pPr marL="582295" marR="107315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cable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Cable(noise_level=noise)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total_errors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0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total_bits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0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_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range(50):</a:t>
            </a:r>
            <a:endParaRPr sz="1000">
              <a:latin typeface="Consolas"/>
              <a:cs typeface="Consolas"/>
            </a:endParaRPr>
          </a:p>
          <a:p>
            <a:pPr marL="866775" marR="50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tx_bits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list(np.random.randint(0,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2,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50))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signal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scheme.modulate(tx_bits)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received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cable.transmit(signal)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7815" y="362584"/>
            <a:ext cx="6791959" cy="25241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866775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rx_bits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scheme.demodulate(received)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min_len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min(len(tx_bits),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len(rx_bits))</a:t>
            </a:r>
            <a:endParaRPr sz="1000">
              <a:latin typeface="Consolas"/>
              <a:cs typeface="Consolas"/>
            </a:endParaRPr>
          </a:p>
          <a:p>
            <a:pPr marL="866775" marR="508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total_errors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+=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sum(1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t,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zip(tx_bits[:min_len],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rx_bits[:min_len])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if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!=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total_bits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+=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min_len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Consolas"/>
              <a:cs typeface="Consolas"/>
            </a:endParaRPr>
          </a:p>
          <a:p>
            <a:pPr marL="582295" marR="3992879">
              <a:lnSpc>
                <a:spcPct val="143800"/>
              </a:lnSpc>
              <a:tabLst>
                <a:tab pos="1294130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ber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total_errors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/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total_bits 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{ber:6.1%}',</a:t>
            </a:r>
            <a:r>
              <a:rPr dirty="0" sz="1000" spc="7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end='')</a:t>
            </a:r>
            <a:endParaRPr sz="1000">
              <a:latin typeface="Consolas"/>
              <a:cs typeface="Consolas"/>
            </a:endParaRPr>
          </a:p>
          <a:p>
            <a:pPr marL="12700" marR="5987415" indent="284480">
              <a:lnSpc>
                <a:spcPts val="1730"/>
              </a:lnSpc>
              <a:spcBef>
                <a:spcPts val="65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print('3.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调制方式特点与性能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50031" y="2870707"/>
            <a:ext cx="2809240" cy="87312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39600"/>
              </a:lnSpc>
              <a:spcBef>
                <a:spcPts val="70"/>
              </a:spcBef>
              <a:tabLst>
                <a:tab pos="368300" algn="l"/>
              </a:tabLst>
            </a:pP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OOK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-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最简单的开关键控，中等抗噪性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</a:t>
            </a:r>
            <a:r>
              <a:rPr dirty="0" sz="1000" spc="50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ASK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-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幅度调制，易受噪声影响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性能最差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)') FSK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-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频率调制，相关性检测，抗噪性好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BPSK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-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相位调制，相关性检测，性能最佳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7815" y="2870707"/>
            <a:ext cx="524510" cy="108267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39100"/>
              </a:lnSpc>
              <a:spcBef>
                <a:spcPts val="75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 print(' print(' print(' print()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7815" y="3937508"/>
            <a:ext cx="3522979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结论</a:t>
            </a: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BPSK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&gt;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FSK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&gt;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OOK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&gt;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ASK</a:t>
            </a: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 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抗噪声性能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)')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3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运⾏结果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67410"/>
            <a:ext cx="2463800" cy="1885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Consolas"/>
                <a:cs typeface="Consolas"/>
              </a:rPr>
              <a:t>=== </a:t>
            </a:r>
            <a:r>
              <a:rPr dirty="0" sz="1000" spc="45">
                <a:latin typeface="NSimSun"/>
                <a:cs typeface="NSimSun"/>
              </a:rPr>
              <a:t>调制方式对比演示 </a:t>
            </a:r>
            <a:r>
              <a:rPr dirty="0" sz="1000" spc="-25">
                <a:latin typeface="Consolas"/>
                <a:cs typeface="Consolas"/>
              </a:rPr>
              <a:t>===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50">
                <a:latin typeface="NSimSun"/>
                <a:cs typeface="NSimSun"/>
              </a:rPr>
              <a:t>测试比特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[1,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0,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1,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0]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latin typeface="Consolas"/>
                <a:cs typeface="Consolas"/>
              </a:rPr>
              <a:t>1.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无噪声测试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algn="just" marL="226060" marR="5080">
              <a:lnSpc>
                <a:spcPct val="139600"/>
              </a:lnSpc>
              <a:spcBef>
                <a:spcPts val="50"/>
              </a:spcBef>
            </a:pPr>
            <a:r>
              <a:rPr dirty="0" sz="1000">
                <a:latin typeface="Consolas"/>
                <a:cs typeface="Consolas"/>
              </a:rPr>
              <a:t>OOK</a:t>
            </a:r>
            <a:r>
              <a:rPr dirty="0" sz="1000" spc="155">
                <a:latin typeface="Consolas"/>
                <a:cs typeface="Consolas"/>
              </a:rPr>
              <a:t>  : </a:t>
            </a:r>
            <a:r>
              <a:rPr dirty="0" sz="1000" spc="50">
                <a:latin typeface="NSimSun"/>
                <a:cs typeface="NSimSun"/>
              </a:rPr>
              <a:t>信号长度</a:t>
            </a:r>
            <a:r>
              <a:rPr dirty="0" sz="1000" spc="10">
                <a:latin typeface="Consolas"/>
                <a:cs typeface="Consolas"/>
              </a:rPr>
              <a:t>= </a:t>
            </a:r>
            <a:r>
              <a:rPr dirty="0" sz="1000">
                <a:latin typeface="Consolas"/>
                <a:cs typeface="Consolas"/>
              </a:rPr>
              <a:t>800,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匹配</a:t>
            </a:r>
            <a:r>
              <a:rPr dirty="0" sz="1000" spc="-10">
                <a:latin typeface="Consolas"/>
                <a:cs typeface="Consolas"/>
              </a:rPr>
              <a:t>=True </a:t>
            </a:r>
            <a:r>
              <a:rPr dirty="0" sz="1000">
                <a:latin typeface="Consolas"/>
                <a:cs typeface="Consolas"/>
              </a:rPr>
              <a:t>ASK</a:t>
            </a:r>
            <a:r>
              <a:rPr dirty="0" sz="1000" spc="155">
                <a:latin typeface="Consolas"/>
                <a:cs typeface="Consolas"/>
              </a:rPr>
              <a:t>  : </a:t>
            </a:r>
            <a:r>
              <a:rPr dirty="0" sz="1000" spc="50">
                <a:latin typeface="NSimSun"/>
                <a:cs typeface="NSimSun"/>
              </a:rPr>
              <a:t>信号长度</a:t>
            </a:r>
            <a:r>
              <a:rPr dirty="0" sz="1000" spc="10">
                <a:latin typeface="Consolas"/>
                <a:cs typeface="Consolas"/>
              </a:rPr>
              <a:t>= </a:t>
            </a:r>
            <a:r>
              <a:rPr dirty="0" sz="1000">
                <a:latin typeface="Consolas"/>
                <a:cs typeface="Consolas"/>
              </a:rPr>
              <a:t>800,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匹配</a:t>
            </a:r>
            <a:r>
              <a:rPr dirty="0" sz="1000" spc="-10">
                <a:latin typeface="Consolas"/>
                <a:cs typeface="Consolas"/>
              </a:rPr>
              <a:t>=True </a:t>
            </a:r>
            <a:r>
              <a:rPr dirty="0" sz="1000">
                <a:latin typeface="Consolas"/>
                <a:cs typeface="Consolas"/>
              </a:rPr>
              <a:t>FSK</a:t>
            </a:r>
            <a:r>
              <a:rPr dirty="0" sz="1000" spc="155">
                <a:latin typeface="Consolas"/>
                <a:cs typeface="Consolas"/>
              </a:rPr>
              <a:t>  : </a:t>
            </a:r>
            <a:r>
              <a:rPr dirty="0" sz="1000" spc="50">
                <a:latin typeface="NSimSun"/>
                <a:cs typeface="NSimSun"/>
              </a:rPr>
              <a:t>信号长度</a:t>
            </a:r>
            <a:r>
              <a:rPr dirty="0" sz="1000" spc="10">
                <a:latin typeface="Consolas"/>
                <a:cs typeface="Consolas"/>
              </a:rPr>
              <a:t>= </a:t>
            </a:r>
            <a:r>
              <a:rPr dirty="0" sz="1000">
                <a:latin typeface="Consolas"/>
                <a:cs typeface="Consolas"/>
              </a:rPr>
              <a:t>800,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匹配</a:t>
            </a:r>
            <a:r>
              <a:rPr dirty="0" sz="1000" spc="-10">
                <a:latin typeface="Consolas"/>
                <a:cs typeface="Consolas"/>
              </a:rPr>
              <a:t>=True </a:t>
            </a:r>
            <a:r>
              <a:rPr dirty="0" sz="1000">
                <a:latin typeface="Consolas"/>
                <a:cs typeface="Consolas"/>
              </a:rPr>
              <a:t>BPSK</a:t>
            </a:r>
            <a:r>
              <a:rPr dirty="0" sz="1000" spc="5">
                <a:latin typeface="Consolas"/>
                <a:cs typeface="Consolas"/>
              </a:rPr>
              <a:t>  : </a:t>
            </a:r>
            <a:r>
              <a:rPr dirty="0" sz="1000" spc="50">
                <a:latin typeface="NSimSun"/>
                <a:cs typeface="NSimSun"/>
              </a:rPr>
              <a:t>信号长度</a:t>
            </a:r>
            <a:r>
              <a:rPr dirty="0" sz="1000" spc="10">
                <a:latin typeface="Consolas"/>
                <a:cs typeface="Consolas"/>
              </a:rPr>
              <a:t>= </a:t>
            </a:r>
            <a:r>
              <a:rPr dirty="0" sz="1000">
                <a:latin typeface="Consolas"/>
                <a:cs typeface="Consolas"/>
              </a:rPr>
              <a:t>800,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匹配</a:t>
            </a:r>
            <a:r>
              <a:rPr dirty="0" sz="1000" spc="-10">
                <a:latin typeface="Consolas"/>
                <a:cs typeface="Consolas"/>
              </a:rPr>
              <a:t>=True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7815" y="2946907"/>
            <a:ext cx="1938020" cy="44450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latin typeface="Consolas"/>
                <a:cs typeface="Consolas"/>
              </a:rPr>
              <a:t>2.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45">
                <a:latin typeface="NSimSun"/>
                <a:cs typeface="NSimSun"/>
              </a:rPr>
              <a:t>不同噪声下的误码率 </a:t>
            </a:r>
            <a:r>
              <a:rPr dirty="0" sz="1000" spc="-10">
                <a:latin typeface="Consolas"/>
                <a:cs typeface="Consolas"/>
              </a:rPr>
              <a:t>(BER):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  <a:tabLst>
                <a:tab pos="920115" algn="l"/>
                <a:tab pos="1489710" algn="l"/>
              </a:tabLst>
            </a:pPr>
            <a:r>
              <a:rPr dirty="0" sz="1000" spc="50">
                <a:latin typeface="NSimSun"/>
                <a:cs typeface="NSimSun"/>
              </a:rPr>
              <a:t>方</a:t>
            </a:r>
            <a:r>
              <a:rPr dirty="0" sz="1000" spc="-50">
                <a:latin typeface="NSimSun"/>
                <a:cs typeface="NSimSun"/>
              </a:rPr>
              <a:t>案</a:t>
            </a:r>
            <a:r>
              <a:rPr dirty="0" sz="1000">
                <a:latin typeface="NSimSun"/>
                <a:cs typeface="NSimSun"/>
              </a:rPr>
              <a:t>	</a:t>
            </a:r>
            <a:r>
              <a:rPr dirty="0" sz="1000" spc="-25">
                <a:latin typeface="Consolas"/>
                <a:cs typeface="Consolas"/>
              </a:rPr>
              <a:t>0.5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-25">
                <a:latin typeface="Consolas"/>
                <a:cs typeface="Consolas"/>
              </a:rPr>
              <a:t>1.0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585056" y="3210560"/>
            <a:ext cx="23939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25">
                <a:latin typeface="Consolas"/>
                <a:cs typeface="Consolas"/>
              </a:rPr>
              <a:t>1.5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154830" y="3210560"/>
            <a:ext cx="23939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25">
                <a:latin typeface="Consolas"/>
                <a:cs typeface="Consolas"/>
              </a:rPr>
              <a:t>2.0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24603" y="3210560"/>
            <a:ext cx="23939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25">
                <a:latin typeface="Consolas"/>
                <a:cs typeface="Consolas"/>
              </a:rPr>
              <a:t>2.5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64180" y="3527892"/>
            <a:ext cx="3917315" cy="0"/>
          </a:xfrm>
          <a:custGeom>
            <a:avLst/>
            <a:gdLst/>
            <a:ahLst/>
            <a:cxnLst/>
            <a:rect l="l" t="t" r="r" b="b"/>
            <a:pathLst>
              <a:path w="3917315" h="0">
                <a:moveTo>
                  <a:pt x="0" y="0"/>
                </a:moveTo>
                <a:lnTo>
                  <a:pt x="3917191" y="0"/>
                </a:lnTo>
              </a:path>
            </a:pathLst>
          </a:custGeom>
          <a:ln w="10363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732430" y="3685218"/>
          <a:ext cx="3416300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665"/>
                <a:gridCol w="640715"/>
                <a:gridCol w="569594"/>
                <a:gridCol w="569594"/>
                <a:gridCol w="569594"/>
                <a:gridCol w="494664"/>
              </a:tblGrid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ts val="960"/>
                        </a:lnSpc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OOK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ts val="960"/>
                        </a:lnSpc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ts val="960"/>
                        </a:lnSpc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ts val="960"/>
                        </a:lnSpc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2.0%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ts val="960"/>
                        </a:lnSpc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19.3%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60"/>
                        </a:lnSpc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34.0%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13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ASK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36.0%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49.3%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50.0%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49.5%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50.0%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</a:tr>
              <a:tr h="213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5">
                          <a:latin typeface="Consolas"/>
                          <a:cs typeface="Consolas"/>
                        </a:rPr>
                        <a:t>FSK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0.2%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2.1%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6.2%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</a:tr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BPSK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0.0%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0.1%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60"/>
                        </a:lnSpc>
                        <a:spcBef>
                          <a:spcPts val="70"/>
                        </a:spcBef>
                      </a:pPr>
                      <a:r>
                        <a:rPr dirty="0" sz="1000" spc="-20">
                          <a:latin typeface="Consolas"/>
                          <a:cs typeface="Consolas"/>
                        </a:rPr>
                        <a:t>0.5%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8890"/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537815" y="4651882"/>
            <a:ext cx="2882265" cy="151130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latin typeface="Consolas"/>
                <a:cs typeface="Consolas"/>
              </a:rPr>
              <a:t>3.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调制方式特点与性能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  <a:tabLst>
                <a:tab pos="582295" algn="l"/>
              </a:tabLst>
            </a:pPr>
            <a:r>
              <a:rPr dirty="0" sz="1000" spc="-25">
                <a:latin typeface="Consolas"/>
                <a:cs typeface="Consolas"/>
              </a:rPr>
              <a:t>OOK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5">
                <a:latin typeface="Consolas"/>
                <a:cs typeface="Consolas"/>
              </a:rPr>
              <a:t>- </a:t>
            </a:r>
            <a:r>
              <a:rPr dirty="0" sz="1000" spc="40">
                <a:latin typeface="NSimSun"/>
                <a:cs typeface="NSimSun"/>
              </a:rPr>
              <a:t>最简单的开关键控，中等抗噪性</a:t>
            </a:r>
            <a:endParaRPr sz="1000">
              <a:latin typeface="NSimSun"/>
              <a:cs typeface="NSimSun"/>
            </a:endParaRPr>
          </a:p>
          <a:p>
            <a:pPr marL="226060" marR="6350">
              <a:lnSpc>
                <a:spcPct val="137500"/>
              </a:lnSpc>
              <a:spcBef>
                <a:spcPts val="75"/>
              </a:spcBef>
              <a:tabLst>
                <a:tab pos="582295" algn="l"/>
              </a:tabLst>
            </a:pPr>
            <a:r>
              <a:rPr dirty="0" sz="1000" spc="-25">
                <a:latin typeface="Consolas"/>
                <a:cs typeface="Consolas"/>
              </a:rPr>
              <a:t>ASK</a:t>
            </a:r>
            <a:r>
              <a:rPr dirty="0" sz="1000">
                <a:latin typeface="Consolas"/>
                <a:cs typeface="Consolas"/>
              </a:rPr>
              <a:t>	-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幅度调制，易受噪声影响</a:t>
            </a:r>
            <a:r>
              <a:rPr dirty="0" sz="1000">
                <a:latin typeface="Consolas"/>
                <a:cs typeface="Consolas"/>
              </a:rPr>
              <a:t>(</a:t>
            </a:r>
            <a:r>
              <a:rPr dirty="0" sz="1000" spc="50">
                <a:latin typeface="NSimSun"/>
                <a:cs typeface="NSimSun"/>
              </a:rPr>
              <a:t>性能最差</a:t>
            </a:r>
            <a:r>
              <a:rPr dirty="0" sz="1000" spc="-50">
                <a:latin typeface="Consolas"/>
                <a:cs typeface="Consolas"/>
              </a:rPr>
              <a:t>) </a:t>
            </a:r>
            <a:r>
              <a:rPr dirty="0" sz="1000" spc="-25">
                <a:latin typeface="Consolas"/>
                <a:cs typeface="Consolas"/>
              </a:rPr>
              <a:t>FSK</a:t>
            </a:r>
            <a:r>
              <a:rPr dirty="0" sz="1000">
                <a:latin typeface="Consolas"/>
                <a:cs typeface="Consolas"/>
              </a:rPr>
              <a:t>	-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频率调制，相关性检测，抗噪性</a:t>
            </a:r>
            <a:r>
              <a:rPr dirty="0" sz="1000" spc="-50">
                <a:latin typeface="NSimSun"/>
                <a:cs typeface="NSimSun"/>
              </a:rPr>
              <a:t>好 </a:t>
            </a:r>
            <a:r>
              <a:rPr dirty="0" sz="1000">
                <a:latin typeface="Consolas"/>
                <a:cs typeface="Consolas"/>
              </a:rPr>
              <a:t>BPSK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-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相位调制，相关性检测，性能最</a:t>
            </a:r>
            <a:r>
              <a:rPr dirty="0" sz="1000" spc="-50">
                <a:latin typeface="NSimSun"/>
                <a:cs typeface="NSimSun"/>
              </a:rPr>
              <a:t>佳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50">
                <a:latin typeface="NSimSun"/>
                <a:cs typeface="NSimSun"/>
              </a:rPr>
              <a:t>结论</a:t>
            </a:r>
            <a:r>
              <a:rPr dirty="0" sz="1000" spc="1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BPSK</a:t>
            </a:r>
            <a:r>
              <a:rPr dirty="0" sz="1000" spc="15">
                <a:latin typeface="Consolas"/>
                <a:cs typeface="Consolas"/>
              </a:rPr>
              <a:t> &gt; </a:t>
            </a:r>
            <a:r>
              <a:rPr dirty="0" sz="1000">
                <a:latin typeface="Consolas"/>
                <a:cs typeface="Consolas"/>
              </a:rPr>
              <a:t>FSK</a:t>
            </a:r>
            <a:r>
              <a:rPr dirty="0" sz="1000" spc="15">
                <a:latin typeface="Consolas"/>
                <a:cs typeface="Consolas"/>
              </a:rPr>
              <a:t> &gt; </a:t>
            </a:r>
            <a:r>
              <a:rPr dirty="0" sz="1000">
                <a:latin typeface="Consolas"/>
                <a:cs typeface="Consolas"/>
              </a:rPr>
              <a:t>OOK</a:t>
            </a:r>
            <a:r>
              <a:rPr dirty="0" sz="1000" spc="15">
                <a:latin typeface="Consolas"/>
                <a:cs typeface="Consolas"/>
              </a:rPr>
              <a:t> &gt; </a:t>
            </a:r>
            <a:r>
              <a:rPr dirty="0" sz="1000">
                <a:latin typeface="Consolas"/>
                <a:cs typeface="Consolas"/>
              </a:rPr>
              <a:t>ASK</a:t>
            </a:r>
            <a:r>
              <a:rPr dirty="0" sz="1000" spc="10">
                <a:latin typeface="Consolas"/>
                <a:cs typeface="Consolas"/>
              </a:rPr>
              <a:t> (</a:t>
            </a:r>
            <a:r>
              <a:rPr dirty="0" sz="1000" spc="50">
                <a:latin typeface="NSimSun"/>
                <a:cs typeface="NSimSun"/>
              </a:rPr>
              <a:t>抗噪声性能</a:t>
            </a:r>
            <a:r>
              <a:rPr dirty="0" sz="1000" spc="-5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885824" y="722945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85824" y="747710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85824" y="771523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85824" y="796288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898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98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885824" y="844865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885824" y="869630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885824" y="893442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885824" y="918207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415925" y="6449059"/>
            <a:ext cx="3103880" cy="3081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技术</a:t>
            </a:r>
            <a:r>
              <a:rPr dirty="0" sz="1700" spc="-130" b="1">
                <a:latin typeface="Malgun Gothic"/>
                <a:cs typeface="Malgun Gothic"/>
              </a:rPr>
              <a:t>要点</a:t>
            </a:r>
            <a:endParaRPr sz="170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spcBef>
                <a:spcPts val="1385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OOK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(On-</a:t>
            </a:r>
            <a:r>
              <a:rPr dirty="0" sz="1200" b="1">
                <a:latin typeface="Arial"/>
                <a:cs typeface="Arial"/>
              </a:rPr>
              <a:t>Off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Keying)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 marR="762635">
              <a:lnSpc>
                <a:spcPct val="120400"/>
              </a:lnSpc>
              <a:spcBef>
                <a:spcPts val="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 →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⾼电平</a:t>
            </a:r>
            <a:r>
              <a:rPr dirty="0" sz="1350" spc="-85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200" spc="-85">
                <a:solidFill>
                  <a:srgbClr val="333333"/>
                </a:solidFill>
                <a:latin typeface="Arial MT"/>
                <a:cs typeface="Arial MT"/>
              </a:rPr>
              <a:t>0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→ </a:t>
            </a:r>
            <a:r>
              <a:rPr dirty="0" sz="1350" spc="-155">
                <a:solidFill>
                  <a:srgbClr val="333333"/>
                </a:solidFill>
                <a:latin typeface="Microsoft JhengHei"/>
                <a:cs typeface="Microsoft JhengHei"/>
              </a:rPr>
              <a:t>零电平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最简单的实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中等抗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endParaRPr sz="135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 spc="-10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BER≈34%</a:t>
            </a:r>
            <a:endParaRPr sz="120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spcBef>
                <a:spcPts val="405"/>
              </a:spcBef>
              <a:buClr>
                <a:srgbClr val="333333"/>
              </a:buClr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ASK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(Amplitude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Shift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Keying)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 marR="1042035">
              <a:lnSpc>
                <a:spcPct val="118100"/>
              </a:lnSpc>
              <a:spcBef>
                <a:spcPts val="6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载波振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幅表⽰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0/1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极易受幅度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影响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最差</a:t>
            </a:r>
            <a:endParaRPr sz="135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 spc="-100">
                <a:solidFill>
                  <a:srgbClr val="333333"/>
                </a:solidFill>
                <a:latin typeface="Arial MT"/>
                <a:cs typeface="Arial MT"/>
              </a:rPr>
              <a:t>σ=1.0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BER≈50%</a:t>
            </a:r>
            <a:r>
              <a:rPr dirty="0" sz="1350" spc="-3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等同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猜测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405"/>
              </a:spcBef>
              <a:buClr>
                <a:srgbClr val="333333"/>
              </a:buClr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FSK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(Frequency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Shift</a:t>
            </a:r>
            <a:r>
              <a:rPr dirty="0" sz="1200" spc="-10" b="1">
                <a:latin typeface="Arial"/>
                <a:cs typeface="Arial"/>
              </a:rPr>
              <a:t> Keying)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5824" y="45716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898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98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85824" y="70481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5824" y="94294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57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119059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167636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192401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216214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898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98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240979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51209" y="297951"/>
            <a:ext cx="4005579" cy="2711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6409" marR="2105025">
              <a:lnSpc>
                <a:spcPct val="120400"/>
              </a:lnSpc>
              <a:spcBef>
                <a:spcPts val="9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 →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频，</a:t>
            </a:r>
            <a:r>
              <a:rPr dirty="0" sz="1200" spc="-85">
                <a:solidFill>
                  <a:srgbClr val="333333"/>
                </a:solidFill>
                <a:latin typeface="Arial MT"/>
                <a:cs typeface="Arial MT"/>
              </a:rPr>
              <a:t>0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→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r>
              <a:rPr dirty="0" sz="1350" spc="-150">
                <a:solidFill>
                  <a:srgbClr val="333333"/>
                </a:solidFill>
                <a:latin typeface="SimSun"/>
                <a:cs typeface="SimSun"/>
              </a:rPr>
              <a:t>频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使⽤相关性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检测</a:t>
            </a:r>
            <a:endParaRPr sz="1350">
              <a:latin typeface="SimSun"/>
              <a:cs typeface="SimSun"/>
            </a:endParaRPr>
          </a:p>
          <a:p>
            <a:pPr marL="486409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良好抗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endParaRPr sz="1350">
              <a:latin typeface="Microsoft JhengHei"/>
              <a:cs typeface="Microsoft JhengHei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200" spc="-10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BER≈6.2%</a:t>
            </a:r>
            <a:endParaRPr sz="1200">
              <a:latin typeface="Arial MT"/>
              <a:cs typeface="Arial MT"/>
            </a:endParaRPr>
          </a:p>
          <a:p>
            <a:pPr marL="181610" marR="1308735" indent="-169545">
              <a:lnSpc>
                <a:spcPct val="125000"/>
              </a:lnSpc>
              <a:spcBef>
                <a:spcPts val="45"/>
              </a:spcBef>
              <a:buClr>
                <a:srgbClr val="333333"/>
              </a:buClr>
              <a:buFont typeface="Arial MT"/>
              <a:buAutoNum type="arabicPeriod" startAt="4"/>
              <a:tabLst>
                <a:tab pos="486409" algn="l"/>
              </a:tabLst>
            </a:pPr>
            <a:r>
              <a:rPr dirty="0" sz="1200" b="1">
                <a:latin typeface="Arial"/>
                <a:cs typeface="Arial"/>
              </a:rPr>
              <a:t>BPSK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(Binary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Phase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Shift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Keying)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	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 → 0°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相位</a:t>
            </a:r>
            <a:r>
              <a:rPr dirty="0" sz="1350" spc="-85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200" spc="-85">
                <a:solidFill>
                  <a:srgbClr val="333333"/>
                </a:solidFill>
                <a:latin typeface="Arial MT"/>
                <a:cs typeface="Arial MT"/>
              </a:rPr>
              <a:t>0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→ 180°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相位</a:t>
            </a:r>
            <a:endParaRPr sz="1350">
              <a:latin typeface="Microsoft JhengHei"/>
              <a:cs typeface="Microsoft JhengHei"/>
            </a:endParaRPr>
          </a:p>
          <a:p>
            <a:pPr marL="486409" marR="2443480">
              <a:lnSpc>
                <a:spcPct val="115700"/>
              </a:lnSpc>
              <a:spcBef>
                <a:spcPts val="7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相位相关性</a:t>
            </a:r>
            <a:r>
              <a:rPr dirty="0" sz="1350" spc="-145">
                <a:solidFill>
                  <a:srgbClr val="333333"/>
                </a:solidFill>
                <a:latin typeface="SimSun"/>
                <a:cs typeface="SimSun"/>
              </a:rPr>
              <a:t>检测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最佳抗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endParaRPr sz="1350">
              <a:latin typeface="Microsoft JhengHei"/>
              <a:cs typeface="Microsoft JhengHei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200" spc="-10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BER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仅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0.5%</a:t>
            </a:r>
            <a:endParaRPr sz="1200">
              <a:latin typeface="Arial MT"/>
              <a:cs typeface="Arial MT"/>
            </a:endParaRPr>
          </a:p>
          <a:p>
            <a:pPr marL="182245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5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性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350" spc="-170" b="1">
                <a:latin typeface="Microsoft JhengHei"/>
                <a:cs typeface="Microsoft JhengHei"/>
              </a:rPr>
              <a:t>排名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BPSK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&gt;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FSK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&gt;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 &gt; 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ASK</a:t>
            </a:r>
            <a:endParaRPr sz="1200">
              <a:latin typeface="Arial MT"/>
              <a:cs typeface="Arial MT"/>
            </a:endParaRPr>
          </a:p>
          <a:p>
            <a:pPr marL="182245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5"/>
              <a:tabLst>
                <a:tab pos="182245" algn="l"/>
              </a:tabLst>
            </a:pPr>
            <a:r>
              <a:rPr dirty="0" sz="1350" spc="-170" b="1">
                <a:latin typeface="Malgun Gothic"/>
                <a:cs typeface="Malgun Gothic"/>
              </a:rPr>
              <a:t>噪</a:t>
            </a:r>
            <a:r>
              <a:rPr dirty="0" sz="1350" spc="-170" b="1">
                <a:latin typeface="Microsoft JhengHei"/>
                <a:cs typeface="Microsoft JhengHei"/>
              </a:rPr>
              <a:t>声说明</a:t>
            </a:r>
            <a:r>
              <a:rPr dirty="0" sz="1200" spc="6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使⽤⾼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(0.5-2.5)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因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为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平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均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效应</a:t>
            </a:r>
            <a:endParaRPr sz="13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19"/>
            <a:ext cx="1168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00" b="1">
                <a:latin typeface="Microsoft JhengHei"/>
                <a:cs typeface="Microsoft JhengHei"/>
              </a:rPr>
              <a:t>关键代码实现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292"/>
            <a:ext cx="4727575" cy="8759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2320925" indent="-285115">
              <a:lnSpc>
                <a:spcPct val="137500"/>
              </a:lnSpc>
              <a:spcBef>
                <a:spcPts val="9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OOK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ModulationScheme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"""On-Off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Keying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-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开关键控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582295" marR="859155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modulate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List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ndarray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"""1→</a:t>
            </a:r>
            <a:r>
              <a:rPr dirty="0" sz="1000" spc="35">
                <a:solidFill>
                  <a:srgbClr val="173690"/>
                </a:solidFill>
                <a:latin typeface="NSimSun"/>
                <a:cs typeface="NSimSun"/>
              </a:rPr>
              <a:t>高电平，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0→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零电平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 marR="503555" indent="-63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zeros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enumerate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start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 marL="867410" marR="1287145" indent="-635">
              <a:lnSpc>
                <a:spcPct val="137500"/>
              </a:lnSpc>
            </a:pPr>
            <a:r>
              <a:rPr dirty="0" sz="1000">
                <a:latin typeface="Consolas"/>
                <a:cs typeface="Consolas"/>
              </a:rPr>
              <a:t>end</a:t>
            </a:r>
            <a:r>
              <a:rPr dirty="0" sz="1000" spc="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35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-35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582295" marR="1144905" indent="56959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start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>
                <a:latin typeface="Consolas"/>
                <a:cs typeface="Consolas"/>
              </a:rPr>
              <a:t>end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6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amplitude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signal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582295" marR="574040" indent="-285115">
              <a:lnSpc>
                <a:spcPct val="1375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demodulate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ndarray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阈值判决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 marR="85979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num_bits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//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 </a:t>
            </a:r>
            <a:r>
              <a:rPr dirty="0" sz="1000">
                <a:latin typeface="Consolas"/>
                <a:cs typeface="Consolas"/>
              </a:rPr>
              <a:t>threshold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mean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abs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))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0.5</a:t>
            </a:r>
            <a:r>
              <a:rPr dirty="0" sz="1000" spc="500">
                <a:solidFill>
                  <a:srgbClr val="0086B3"/>
                </a:solidFill>
                <a:latin typeface="Consolas"/>
                <a:cs typeface="Consolas"/>
              </a:rPr>
              <a:t>  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[]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num_bits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start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 marL="866775" marR="128714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end</a:t>
            </a:r>
            <a:r>
              <a:rPr dirty="0" sz="1000" spc="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 </a:t>
            </a:r>
            <a:r>
              <a:rPr dirty="0" sz="1000">
                <a:latin typeface="Consolas"/>
                <a:cs typeface="Consolas"/>
              </a:rPr>
              <a:t>avg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mean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signal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latin typeface="Consolas"/>
                <a:cs typeface="Consolas"/>
              </a:rPr>
              <a:t>start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-10">
                <a:latin typeface="Consolas"/>
                <a:cs typeface="Consolas"/>
              </a:rPr>
              <a:t>end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])</a:t>
            </a:r>
            <a:endParaRPr sz="1000">
              <a:latin typeface="Consolas"/>
              <a:cs typeface="Consolas"/>
            </a:endParaRPr>
          </a:p>
          <a:p>
            <a:pPr marL="582295" marR="1002030" indent="28448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append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35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avg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&gt;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threshold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else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FSK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ModulationScheme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"""Frequency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Shift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Keying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-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频移键控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582295" marR="574040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3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init</a:t>
            </a:r>
            <a:r>
              <a:rPr dirty="0" u="sng" sz="1000" spc="33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freq_1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15.0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freq_0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5.0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**</a:t>
            </a:r>
            <a:r>
              <a:rPr dirty="0" sz="1000" spc="-10">
                <a:latin typeface="Consolas"/>
                <a:cs typeface="Consolas"/>
              </a:rPr>
              <a:t>kwargs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super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().</a:t>
            </a:r>
            <a:r>
              <a:rPr dirty="0" u="sng" sz="1000" spc="3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latin typeface="Consolas"/>
                <a:cs typeface="Consolas"/>
              </a:rPr>
              <a:t>init</a:t>
            </a:r>
            <a:r>
              <a:rPr dirty="0" u="sng" sz="1000" spc="3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**</a:t>
            </a:r>
            <a:r>
              <a:rPr dirty="0" sz="1000" spc="-10">
                <a:latin typeface="Consolas"/>
                <a:cs typeface="Consolas"/>
              </a:rPr>
              <a:t>kwargs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  <a:tabLst>
                <a:tab pos="2149475" algn="l"/>
              </a:tabLst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freq_1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latin typeface="Consolas"/>
                <a:cs typeface="Consolas"/>
              </a:rPr>
              <a:t>freq_1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1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比特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1</a:t>
            </a:r>
            <a:r>
              <a:rPr dirty="0" sz="1000" spc="15">
                <a:solidFill>
                  <a:srgbClr val="424442"/>
                </a:solidFill>
                <a:latin typeface="NSimSun"/>
                <a:cs typeface="NSimSun"/>
              </a:rPr>
              <a:t>的频率</a:t>
            </a:r>
            <a:endParaRPr sz="1000">
              <a:latin typeface="NSimSun"/>
              <a:cs typeface="NSimSun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  <a:tabLst>
                <a:tab pos="2149475" algn="l"/>
              </a:tabLst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freq_0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latin typeface="Consolas"/>
                <a:cs typeface="Consolas"/>
              </a:rPr>
              <a:t>freq_0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1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比特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0</a:t>
            </a:r>
            <a:r>
              <a:rPr dirty="0" sz="1000" spc="15">
                <a:solidFill>
                  <a:srgbClr val="424442"/>
                </a:solidFill>
                <a:latin typeface="NSimSun"/>
                <a:cs typeface="NSimSun"/>
              </a:rPr>
              <a:t>的频率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000">
              <a:latin typeface="NSimSun"/>
              <a:cs typeface="NSimSun"/>
            </a:endParaRPr>
          </a:p>
          <a:p>
            <a:pPr marL="582295" marR="859155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modulate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List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ndarray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不同比特使用不同频率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zeros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 marR="5080" indent="-63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t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arange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samples_per_bit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/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enumerate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start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end</a:t>
            </a:r>
            <a:r>
              <a:rPr dirty="0" sz="1000" spc="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freq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freq_1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25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else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freq_0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7815" y="308467"/>
            <a:ext cx="5796280" cy="9188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82295" marR="1500505" indent="284480">
              <a:lnSpc>
                <a:spcPct val="137500"/>
              </a:lnSpc>
              <a:spcBef>
                <a:spcPts val="95"/>
              </a:spcBef>
            </a:pP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start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>
                <a:latin typeface="Consolas"/>
                <a:cs typeface="Consolas"/>
              </a:rPr>
              <a:t>end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sin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35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pi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freq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t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signal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00">
              <a:latin typeface="Consolas"/>
              <a:cs typeface="Consolas"/>
            </a:endParaRPr>
          </a:p>
          <a:p>
            <a:pPr marL="582295" marR="1643380" indent="-285115">
              <a:lnSpc>
                <a:spcPct val="1438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demodulate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ndarray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相关性检测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num_bits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//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 marL="582295" marR="107378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t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arange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samples_per_bit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/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 </a:t>
            </a:r>
            <a:r>
              <a:rPr dirty="0" sz="1000">
                <a:latin typeface="Consolas"/>
                <a:cs typeface="Consolas"/>
              </a:rPr>
              <a:t>ref_1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sin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30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pi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freq_1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t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ref_0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sin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30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pi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freq_0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t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[]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num_bits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start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 marL="866775" marR="235585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end</a:t>
            </a:r>
            <a:r>
              <a:rPr dirty="0" sz="1000" spc="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 </a:t>
            </a:r>
            <a:r>
              <a:rPr dirty="0" sz="1000">
                <a:latin typeface="Consolas"/>
                <a:cs typeface="Consolas"/>
              </a:rPr>
              <a:t>segment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signal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latin typeface="Consolas"/>
                <a:cs typeface="Consolas"/>
              </a:rPr>
              <a:t>start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-10">
                <a:latin typeface="Consolas"/>
                <a:cs typeface="Consolas"/>
              </a:rPr>
              <a:t>end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endParaRPr sz="1000">
              <a:latin typeface="Consolas"/>
              <a:cs typeface="Consolas"/>
            </a:endParaRPr>
          </a:p>
          <a:p>
            <a:pPr marL="867410">
              <a:lnSpc>
                <a:spcPct val="100000"/>
              </a:lnSpc>
              <a:spcBef>
                <a:spcPts val="450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5">
                <a:solidFill>
                  <a:srgbClr val="424442"/>
                </a:solidFill>
                <a:latin typeface="NSimSun"/>
                <a:cs typeface="NSimSun"/>
              </a:rPr>
              <a:t>与参考信号做相关</a:t>
            </a:r>
            <a:endParaRPr sz="1000">
              <a:latin typeface="NSimSun"/>
              <a:cs typeface="NSimSun"/>
            </a:endParaRPr>
          </a:p>
          <a:p>
            <a:pPr algn="just" marL="866775" marR="2070735">
              <a:lnSpc>
                <a:spcPct val="140600"/>
              </a:lnSpc>
              <a:spcBef>
                <a:spcPts val="35"/>
              </a:spcBef>
            </a:pPr>
            <a:r>
              <a:rPr dirty="0" sz="1000">
                <a:latin typeface="Consolas"/>
                <a:cs typeface="Consolas"/>
              </a:rPr>
              <a:t>corr_1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abs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segment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ref_1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)) </a:t>
            </a:r>
            <a:r>
              <a:rPr dirty="0" sz="1000">
                <a:latin typeface="Consolas"/>
                <a:cs typeface="Consolas"/>
              </a:rPr>
              <a:t>corr_0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abs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segment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ref_0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)) 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append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35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corr_1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&gt;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corr_0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else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algn="just"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BPSK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ModulationScheme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"""Binary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Phase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Shift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Keying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-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二进制相移键控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582295" marR="1927860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modulate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List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])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ndarray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"""1→0°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相位，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0→180°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相位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zeros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 marR="1073785" indent="-63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t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arange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samples_per_bit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/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enumerate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start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end</a:t>
            </a:r>
            <a:r>
              <a:rPr dirty="0" sz="1000" spc="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525"/>
              </a:spcBef>
              <a:tabLst>
                <a:tab pos="3289935" algn="l"/>
              </a:tabLst>
            </a:pPr>
            <a:r>
              <a:rPr dirty="0" sz="1000">
                <a:latin typeface="Consolas"/>
                <a:cs typeface="Consolas"/>
              </a:rPr>
              <a:t>phase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20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bit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61C5C"/>
                </a:solidFill>
                <a:latin typeface="Consolas"/>
                <a:cs typeface="Consolas"/>
              </a:rPr>
              <a:t>==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25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else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np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20">
                <a:latin typeface="Consolas"/>
                <a:cs typeface="Consolas"/>
              </a:rPr>
              <a:t>pi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相位差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180</a:t>
            </a:r>
            <a:r>
              <a:rPr dirty="0" sz="1000" spc="-50">
                <a:solidFill>
                  <a:srgbClr val="424442"/>
                </a:solidFill>
                <a:latin typeface="NSimSun"/>
                <a:cs typeface="NSimSun"/>
              </a:rPr>
              <a:t>度</a:t>
            </a:r>
            <a:endParaRPr sz="1000">
              <a:latin typeface="NSimSun"/>
              <a:cs typeface="NSimSun"/>
            </a:endParaRPr>
          </a:p>
          <a:p>
            <a:pPr marL="582295" marR="5080" indent="28448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start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>
                <a:latin typeface="Consolas"/>
                <a:cs typeface="Consolas"/>
              </a:rPr>
              <a:t>end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sin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40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pi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carrier_freq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phase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signal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Consolas"/>
              <a:cs typeface="Consolas"/>
            </a:endParaRPr>
          </a:p>
          <a:p>
            <a:pPr marL="582295" marR="1643380" indent="-285115">
              <a:lnSpc>
                <a:spcPct val="1438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demodulate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ndarray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List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相位相关性检测，抗噪性最强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num_bits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//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  <a:p>
            <a:pPr marL="582295" marR="1073785">
              <a:lnSpc>
                <a:spcPts val="1720"/>
              </a:lnSpc>
              <a:spcBef>
                <a:spcPts val="70"/>
              </a:spcBef>
            </a:pPr>
            <a:r>
              <a:rPr dirty="0" sz="1000">
                <a:latin typeface="Consolas"/>
                <a:cs typeface="Consolas"/>
              </a:rPr>
              <a:t>t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arange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samples_per_bit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/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 </a:t>
            </a:r>
            <a:r>
              <a:rPr dirty="0" sz="1000">
                <a:latin typeface="Consolas"/>
                <a:cs typeface="Consolas"/>
              </a:rPr>
              <a:t>ref_1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sin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40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pi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carrier_freq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t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315"/>
              </a:spcBef>
            </a:pPr>
            <a:r>
              <a:rPr dirty="0" sz="1000">
                <a:latin typeface="Consolas"/>
                <a:cs typeface="Consolas"/>
              </a:rPr>
              <a:t>ref_0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sin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30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pi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carrier_freq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np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pi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[]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num_bits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start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8467"/>
            <a:ext cx="4936490" cy="18154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88694" marR="1374140">
              <a:lnSpc>
                <a:spcPct val="137500"/>
              </a:lnSpc>
              <a:spcBef>
                <a:spcPts val="95"/>
              </a:spcBef>
            </a:pPr>
            <a:r>
              <a:rPr dirty="0" sz="1000">
                <a:latin typeface="Consolas"/>
                <a:cs typeface="Consolas"/>
              </a:rPr>
              <a:t>end</a:t>
            </a:r>
            <a:r>
              <a:rPr dirty="0" sz="1000" spc="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samples_per_bit </a:t>
            </a:r>
            <a:r>
              <a:rPr dirty="0" sz="1000">
                <a:latin typeface="Consolas"/>
                <a:cs typeface="Consolas"/>
              </a:rPr>
              <a:t>segment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signal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latin typeface="Consolas"/>
                <a:cs typeface="Consolas"/>
              </a:rPr>
              <a:t>start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-10">
                <a:latin typeface="Consolas"/>
                <a:cs typeface="Consolas"/>
              </a:rPr>
              <a:t>end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endParaRPr sz="1000">
              <a:latin typeface="Consolas"/>
              <a:cs typeface="Consolas"/>
            </a:endParaRPr>
          </a:p>
          <a:p>
            <a:pPr marL="988694" marR="165925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corr_1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segment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ref_1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latin typeface="Consolas"/>
                <a:cs typeface="Consolas"/>
              </a:rPr>
              <a:t>corr_0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sum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segment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*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ref_0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704215" marR="1089025" indent="2844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append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35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corr_1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&gt;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corr_0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else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bits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功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200" spc="12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现四种调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dirty="0" sz="1350" spc="-105">
                <a:solidFill>
                  <a:srgbClr val="333333"/>
                </a:solidFill>
                <a:latin typeface="SimSun"/>
                <a:cs typeface="SimSun"/>
              </a:rPr>
              <a:t>式，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BPSK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相位相关性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检测达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到最优抗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能。</a:t>
            </a:r>
            <a:endParaRPr sz="1350">
              <a:latin typeface="SimSun"/>
              <a:cs typeface="SimSu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877" y="2410936"/>
            <a:ext cx="6703085" cy="389016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15925" y="6677297"/>
            <a:ext cx="647573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3.4: 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四种调制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⽅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式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BER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对</a:t>
            </a:r>
            <a:r>
              <a:rPr dirty="0" sz="1400" spc="-120">
                <a:solidFill>
                  <a:srgbClr val="333333"/>
                </a:solidFill>
                <a:latin typeface="Microsoft JhengHei"/>
                <a:cs typeface="Microsoft JhengHei"/>
              </a:rPr>
              <a:t>⽐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- BPSK(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紫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) &lt;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FSK(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绿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) &lt;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OOK(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蓝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) &lt;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ASK(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红</a:t>
            </a:r>
            <a:r>
              <a:rPr dirty="0" sz="1200" spc="-114" i="1">
                <a:solidFill>
                  <a:srgbClr val="333333"/>
                </a:solidFill>
                <a:latin typeface="Arial"/>
                <a:cs typeface="Arial"/>
              </a:rPr>
              <a:t>)</a:t>
            </a:r>
            <a:r>
              <a:rPr dirty="0" sz="1400" spc="-195">
                <a:solidFill>
                  <a:srgbClr val="333333"/>
                </a:solidFill>
                <a:latin typeface="SimSun"/>
                <a:cs typeface="SimSun"/>
              </a:rPr>
              <a:t>，噪声范围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σ=0.5~2.5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437" y="458554"/>
            <a:ext cx="6721525" cy="392218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15925" y="4724672"/>
            <a:ext cx="578358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3.5: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Level 3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调制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400" spc="-295">
                <a:solidFill>
                  <a:srgbClr val="333333"/>
                </a:solidFill>
                <a:latin typeface="SimSun"/>
                <a:cs typeface="SimSun"/>
              </a:rPr>
              <a:t>能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- 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四种调制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⽅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式在不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同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噪声下的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BER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曲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，验证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BPSK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400" spc="-160">
                <a:solidFill>
                  <a:srgbClr val="333333"/>
                </a:solidFill>
                <a:latin typeface="SimSun"/>
                <a:cs typeface="SimSun"/>
              </a:rPr>
              <a:t>能最优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5925" y="5577316"/>
            <a:ext cx="2375535" cy="11283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35" b="1">
                <a:latin typeface="Microsoft JhengHei"/>
                <a:cs typeface="Microsoft JhengHei"/>
              </a:rPr>
              <a:t>任务 </a:t>
            </a:r>
            <a:r>
              <a:rPr dirty="0" sz="1800" b="1">
                <a:latin typeface="Arial"/>
                <a:cs typeface="Arial"/>
              </a:rPr>
              <a:t>3.5: </a:t>
            </a:r>
            <a:r>
              <a:rPr dirty="0" sz="2000" spc="-200" b="1">
                <a:latin typeface="Microsoft JhengHei"/>
                <a:cs typeface="Microsoft JhengHei"/>
              </a:rPr>
              <a:t>并发处</a:t>
            </a:r>
            <a:r>
              <a:rPr dirty="0" sz="2000" spc="-200" b="1">
                <a:latin typeface="Malgun Gothic"/>
                <a:cs typeface="Malgun Gothic"/>
              </a:rPr>
              <a:t>理</a:t>
            </a:r>
            <a:r>
              <a:rPr dirty="0" sz="2000" spc="-175" b="1">
                <a:latin typeface="Microsoft JhengHei"/>
                <a:cs typeface="Microsoft JhengHei"/>
              </a:rPr>
              <a:t>演⽰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700" spc="-175" b="1">
                <a:latin typeface="Microsoft JhengHei"/>
                <a:cs typeface="Microsoft JhengHei"/>
              </a:rPr>
              <a:t>测试⽬标</a:t>
            </a:r>
            <a:endParaRPr sz="1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演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⽰多线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并发⽹络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通信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19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实现代码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292"/>
            <a:ext cx="5011420" cy="875982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latin typeface="Consolas"/>
                <a:cs typeface="Consolas"/>
              </a:rPr>
              <a:t>python3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-c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  <a:p>
            <a:pPr marL="12700" marR="320992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concurrency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*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import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time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Consolas"/>
              <a:cs typeface="Consolas"/>
            </a:endParaRPr>
          </a:p>
          <a:p>
            <a:pPr marL="12700" marR="2979420">
              <a:lnSpc>
                <a:spcPct val="143800"/>
              </a:lnSpc>
              <a:spcBef>
                <a:spcPts val="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print('===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并发处理演示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===') 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创建并发网络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print('1.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创建多线程网络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  <a:p>
            <a:pPr marL="12700" marR="1073150">
              <a:lnSpc>
                <a:spcPts val="1730"/>
              </a:lnSpc>
              <a:spcBef>
                <a:spcPts val="70"/>
              </a:spcBef>
              <a:tabLst>
                <a:tab pos="795655" algn="l"/>
              </a:tabLst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network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ConcurrentNetwork(num_hosts=4,</a:t>
            </a:r>
            <a:r>
              <a:rPr dirty="0" sz="1000" spc="8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num_workers=4) 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主机数</a:t>
            </a: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4')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工作线程</a:t>
            </a: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4')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000">
              <a:latin typeface="Consolas"/>
              <a:cs typeface="Consolas"/>
            </a:endParaRPr>
          </a:p>
          <a:p>
            <a:pPr marL="12700" marR="3921760">
              <a:lnSpc>
                <a:spcPct val="1406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173690"/>
                </a:solidFill>
                <a:latin typeface="NSimSun"/>
                <a:cs typeface="NSimSun"/>
              </a:rPr>
              <a:t>启动</a:t>
            </a:r>
            <a:r>
              <a:rPr dirty="0" sz="1000" spc="-50">
                <a:solidFill>
                  <a:srgbClr val="173690"/>
                </a:solidFill>
                <a:latin typeface="NSimSun"/>
                <a:cs typeface="NSimSun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network.start() time.sleep(0.2)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获取主机</a:t>
            </a:r>
            <a:endParaRPr sz="1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hosts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[network.get_host(f'00:00:00:00:00:0{i+1}')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6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range(4)]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12700" marR="1983739">
              <a:lnSpc>
                <a:spcPct val="137500"/>
              </a:lnSpc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print('2.</a:t>
            </a:r>
            <a:r>
              <a:rPr dirty="0" sz="1000" spc="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并发发送消息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(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所有主机同时发送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):')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start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time.time()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同时发送</a:t>
            </a:r>
            <a:endParaRPr sz="1000">
              <a:latin typeface="NSimSun"/>
              <a:cs typeface="NSimSun"/>
            </a:endParaRPr>
          </a:p>
          <a:p>
            <a:pPr marL="297180" marR="2497455" indent="-28511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i,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enumerate(hosts):</a:t>
            </a:r>
            <a:r>
              <a:rPr dirty="0" sz="1000" spc="50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1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j,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dst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enumerate(hosts):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if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!=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j: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host.send_string(str(dst.mac),</a:t>
            </a:r>
            <a:r>
              <a:rPr dirty="0" sz="1000" spc="7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f'Hi</a:t>
            </a:r>
            <a:r>
              <a:rPr dirty="0" sz="1000" spc="8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from</a:t>
            </a:r>
            <a:r>
              <a:rPr dirty="0" sz="1000" spc="8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Host{i+1}')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time.sleep(0.5)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elapsed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time.time()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-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start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12700" marR="1929130">
              <a:lnSpc>
                <a:spcPct val="137500"/>
              </a:lnSpc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发送完成，耗时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{elapsed:.3f}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秒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173690"/>
                </a:solidFill>
                <a:latin typeface="NSimSun"/>
                <a:cs typeface="NSimSun"/>
              </a:rPr>
              <a:t>收集统计</a:t>
            </a:r>
            <a:endParaRPr sz="1000">
              <a:latin typeface="NSimSun"/>
              <a:cs typeface="NSimSun"/>
            </a:endParaRPr>
          </a:p>
          <a:p>
            <a:pPr marL="12700" marR="353123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print('3.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接收统计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hosts: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count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0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while</a:t>
            </a:r>
            <a:r>
              <a:rPr dirty="0" sz="1000" spc="3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True: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7815" y="308467"/>
            <a:ext cx="3559810" cy="4711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82295" marR="903605">
              <a:lnSpc>
                <a:spcPct val="137500"/>
              </a:lnSpc>
              <a:spcBef>
                <a:spcPts val="9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frame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host.receive_nowait()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if</a:t>
            </a:r>
            <a:r>
              <a:rPr dirty="0" sz="1000" spc="2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frame:</a:t>
            </a:r>
            <a:endParaRPr sz="1000">
              <a:latin typeface="Consolas"/>
              <a:cs typeface="Consolas"/>
            </a:endParaRPr>
          </a:p>
          <a:p>
            <a:pPr marL="582295" marR="1972945" indent="2844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count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+=</a:t>
            </a:r>
            <a:r>
              <a:rPr dirty="0" sz="1000" spc="3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1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else: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break</a:t>
            </a:r>
            <a:endParaRPr sz="1000">
              <a:latin typeface="Consolas"/>
              <a:cs typeface="Consolas"/>
            </a:endParaRPr>
          </a:p>
          <a:p>
            <a:pPr marL="12700" marR="94615" indent="284480">
              <a:lnSpc>
                <a:spcPct val="137500"/>
              </a:lnSpc>
              <a:tabLst>
                <a:tab pos="1080770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{host.name}: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60">
                <a:solidFill>
                  <a:srgbClr val="173690"/>
                </a:solidFill>
                <a:latin typeface="NSimSun"/>
                <a:cs typeface="NSimSun"/>
              </a:rPr>
              <a:t>收到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{count}</a:t>
            </a:r>
            <a:r>
              <a:rPr dirty="0" sz="1000" spc="5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条消息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173690"/>
                </a:solidFill>
                <a:latin typeface="NSimSun"/>
                <a:cs typeface="NSimSun"/>
              </a:rPr>
              <a:t>交换机统计</a:t>
            </a:r>
            <a:endParaRPr sz="1000">
              <a:latin typeface="NSimSun"/>
              <a:cs typeface="NSimSun"/>
            </a:endParaRPr>
          </a:p>
          <a:p>
            <a:pPr marL="12700" marR="111760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stats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=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network.switch.get_stats()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print('4.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交换机统计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帧接收</a:t>
            </a: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{stats[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frames_received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]}')</a:t>
            </a: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37500"/>
              </a:lnSpc>
              <a:spcBef>
                <a:spcPts val="75"/>
              </a:spcBef>
              <a:tabLst>
                <a:tab pos="79565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帧转发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: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{stats[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frames_forwarded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]}') print(f'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广播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:</a:t>
            </a:r>
            <a:r>
              <a:rPr dirty="0" sz="1000" spc="1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{stats[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frames_broadcast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\"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]}')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12700" marR="2541905">
              <a:lnSpc>
                <a:spcPct val="137500"/>
              </a:lnSpc>
              <a:spcBef>
                <a:spcPts val="5"/>
              </a:spcBef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network.stop() print()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print('5.</a:t>
            </a:r>
            <a:r>
              <a:rPr dirty="0" sz="1000" spc="5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多线程架构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:')</a:t>
            </a:r>
            <a:endParaRPr sz="1000">
              <a:latin typeface="Consolas"/>
              <a:cs typeface="Consolas"/>
            </a:endParaRPr>
          </a:p>
          <a:p>
            <a:pPr marL="12700" marR="299085">
              <a:lnSpc>
                <a:spcPct val="137500"/>
              </a:lnSpc>
              <a:tabLst>
                <a:tab pos="72453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-</a:t>
            </a:r>
            <a:r>
              <a:rPr dirty="0" sz="1000" spc="40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每个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Host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有独立的发送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/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接收线程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-</a:t>
            </a:r>
            <a:r>
              <a:rPr dirty="0" sz="1000" spc="14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Switch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使用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ThreadPoolExecutor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处理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</a:t>
            </a:r>
            <a:endParaRPr sz="1000">
              <a:latin typeface="Consolas"/>
              <a:cs typeface="Consolas"/>
            </a:endParaRPr>
          </a:p>
          <a:p>
            <a:pPr marL="12700" marR="1075055">
              <a:lnSpc>
                <a:spcPct val="137500"/>
              </a:lnSpc>
              <a:spcBef>
                <a:spcPts val="75"/>
              </a:spcBef>
              <a:tabLst>
                <a:tab pos="724535" algn="l"/>
              </a:tabLst>
            </a:pP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print('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173690"/>
                </a:solidFill>
                <a:latin typeface="Consolas"/>
                <a:cs typeface="Consolas"/>
              </a:rPr>
              <a:t>- 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消息队列实现非阻塞通信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') </a:t>
            </a:r>
            <a:r>
              <a:rPr dirty="0" sz="1000" spc="-5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19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95" b="1">
                <a:latin typeface="Microsoft JhengHei"/>
                <a:cs typeface="Microsoft JhengHei"/>
              </a:rPr>
              <a:t>运⾏结果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67394"/>
            <a:ext cx="2620645" cy="50863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Consolas"/>
                <a:cs typeface="Consolas"/>
              </a:rPr>
              <a:t>=== </a:t>
            </a:r>
            <a:r>
              <a:rPr dirty="0" sz="1000" spc="50">
                <a:latin typeface="NSimSun"/>
                <a:cs typeface="NSimSun"/>
              </a:rPr>
              <a:t>并发处理演示 </a:t>
            </a:r>
            <a:r>
              <a:rPr dirty="0" sz="1000" spc="-25">
                <a:latin typeface="Consolas"/>
                <a:cs typeface="Consolas"/>
              </a:rPr>
              <a:t>===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spcBef>
                <a:spcPts val="5"/>
              </a:spcBef>
              <a:buFont typeface="Consolas"/>
              <a:buAutoNum type="arabicPeriod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创建多线程网络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主机数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50">
                <a:latin typeface="Consolas"/>
                <a:cs typeface="Consolas"/>
              </a:rPr>
              <a:t>4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工作线程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50">
                <a:latin typeface="Consolas"/>
                <a:cs typeface="Consolas"/>
              </a:rPr>
              <a:t>4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buFont typeface="Consolas"/>
              <a:buAutoNum type="arabicPeriod" startAt="2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并发发送消息 </a:t>
            </a:r>
            <a:r>
              <a:rPr dirty="0" sz="1000">
                <a:latin typeface="Consolas"/>
                <a:cs typeface="Consolas"/>
              </a:rPr>
              <a:t>(</a:t>
            </a:r>
            <a:r>
              <a:rPr dirty="0" sz="1000" spc="50">
                <a:latin typeface="NSimSun"/>
                <a:cs typeface="NSimSun"/>
              </a:rPr>
              <a:t>所有主机同时发送</a:t>
            </a:r>
            <a:r>
              <a:rPr dirty="0" sz="1000" spc="-25"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发送完成，耗时</a:t>
            </a:r>
            <a:r>
              <a:rPr dirty="0" sz="1000" spc="20"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0.500</a:t>
            </a:r>
            <a:r>
              <a:rPr dirty="0" sz="1000" spc="-50">
                <a:latin typeface="NSimSun"/>
                <a:cs typeface="NSimSun"/>
              </a:rPr>
              <a:t>秒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000">
              <a:latin typeface="NSimSun"/>
              <a:cs typeface="NSimSun"/>
            </a:endParaRPr>
          </a:p>
          <a:p>
            <a:pPr marL="226060" indent="-213360">
              <a:lnSpc>
                <a:spcPct val="100000"/>
              </a:lnSpc>
              <a:buFont typeface="Consolas"/>
              <a:buAutoNum type="arabicPeriod" startAt="3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接收统计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algn="just" marL="226060" marR="939800">
              <a:lnSpc>
                <a:spcPct val="139600"/>
              </a:lnSpc>
              <a:spcBef>
                <a:spcPts val="50"/>
              </a:spcBef>
            </a:pPr>
            <a:r>
              <a:rPr dirty="0" sz="1000">
                <a:latin typeface="Consolas"/>
                <a:cs typeface="Consolas"/>
              </a:rPr>
              <a:t>CHost1: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收到 </a:t>
            </a:r>
            <a:r>
              <a:rPr dirty="0" sz="1000">
                <a:latin typeface="Consolas"/>
                <a:cs typeface="Consolas"/>
              </a:rPr>
              <a:t>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15">
                <a:latin typeface="NSimSun"/>
                <a:cs typeface="NSimSun"/>
              </a:rPr>
              <a:t>条消息</a:t>
            </a:r>
            <a:r>
              <a:rPr dirty="0" sz="1000" spc="-50">
                <a:latin typeface="NSimSun"/>
                <a:cs typeface="NSimSun"/>
              </a:rPr>
              <a:t> </a:t>
            </a:r>
            <a:r>
              <a:rPr dirty="0" sz="1000">
                <a:latin typeface="Consolas"/>
                <a:cs typeface="Consolas"/>
              </a:rPr>
              <a:t>CHost2: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收到 </a:t>
            </a:r>
            <a:r>
              <a:rPr dirty="0" sz="1000">
                <a:latin typeface="Consolas"/>
                <a:cs typeface="Consolas"/>
              </a:rPr>
              <a:t>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15">
                <a:latin typeface="NSimSun"/>
                <a:cs typeface="NSimSun"/>
              </a:rPr>
              <a:t>条消息</a:t>
            </a:r>
            <a:r>
              <a:rPr dirty="0" sz="1000" spc="-50">
                <a:latin typeface="NSimSun"/>
                <a:cs typeface="NSimSun"/>
              </a:rPr>
              <a:t> </a:t>
            </a:r>
            <a:r>
              <a:rPr dirty="0" sz="1000">
                <a:latin typeface="Consolas"/>
                <a:cs typeface="Consolas"/>
              </a:rPr>
              <a:t>CHost3: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收到 </a:t>
            </a:r>
            <a:r>
              <a:rPr dirty="0" sz="1000">
                <a:latin typeface="Consolas"/>
                <a:cs typeface="Consolas"/>
              </a:rPr>
              <a:t>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15">
                <a:latin typeface="NSimSun"/>
                <a:cs typeface="NSimSun"/>
              </a:rPr>
              <a:t>条消息</a:t>
            </a:r>
            <a:r>
              <a:rPr dirty="0" sz="1000" spc="-50">
                <a:latin typeface="NSimSun"/>
                <a:cs typeface="NSimSun"/>
              </a:rPr>
              <a:t> </a:t>
            </a:r>
            <a:r>
              <a:rPr dirty="0" sz="1000">
                <a:latin typeface="Consolas"/>
                <a:cs typeface="Consolas"/>
              </a:rPr>
              <a:t>CHost4: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50">
                <a:latin typeface="NSimSun"/>
                <a:cs typeface="NSimSun"/>
              </a:rPr>
              <a:t>收到 </a:t>
            </a:r>
            <a:r>
              <a:rPr dirty="0" sz="1000">
                <a:latin typeface="Consolas"/>
                <a:cs typeface="Consolas"/>
              </a:rPr>
              <a:t>3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15">
                <a:latin typeface="NSimSun"/>
                <a:cs typeface="NSimSun"/>
              </a:rPr>
              <a:t>条消息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000">
              <a:latin typeface="NSimSun"/>
              <a:cs typeface="NSimSun"/>
            </a:endParaRPr>
          </a:p>
          <a:p>
            <a:pPr marL="226060" indent="-213360">
              <a:lnSpc>
                <a:spcPct val="100000"/>
              </a:lnSpc>
              <a:buFont typeface="Consolas"/>
              <a:buAutoNum type="arabicPeriod" startAt="4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交换机统计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帧接收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25">
                <a:latin typeface="Consolas"/>
                <a:cs typeface="Consolas"/>
              </a:rPr>
              <a:t>12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450"/>
              </a:spcBef>
            </a:pPr>
            <a:r>
              <a:rPr dirty="0" sz="1000" spc="50">
                <a:latin typeface="NSimSun"/>
                <a:cs typeface="NSimSun"/>
              </a:rPr>
              <a:t>帧转发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25">
                <a:latin typeface="Consolas"/>
                <a:cs typeface="Consolas"/>
              </a:rPr>
              <a:t>14</a:t>
            </a:r>
            <a:endParaRPr sz="1000">
              <a:latin typeface="Consolas"/>
              <a:cs typeface="Consolas"/>
            </a:endParaRPr>
          </a:p>
          <a:p>
            <a:pPr marL="226060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NSimSun"/>
                <a:cs typeface="NSimSun"/>
              </a:rPr>
              <a:t>广播</a:t>
            </a:r>
            <a:r>
              <a:rPr dirty="0" sz="1000" spc="5">
                <a:latin typeface="Consolas"/>
                <a:cs typeface="Consolas"/>
              </a:rPr>
              <a:t>: </a:t>
            </a:r>
            <a:r>
              <a:rPr dirty="0" sz="1000" spc="-50">
                <a:latin typeface="Consolas"/>
                <a:cs typeface="Consolas"/>
              </a:rPr>
              <a:t>1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226060" indent="-213360">
              <a:lnSpc>
                <a:spcPct val="100000"/>
              </a:lnSpc>
              <a:spcBef>
                <a:spcPts val="5"/>
              </a:spcBef>
              <a:buFont typeface="Consolas"/>
              <a:buAutoNum type="arabicPeriod" startAt="5"/>
              <a:tabLst>
                <a:tab pos="226060" algn="l"/>
              </a:tabLst>
            </a:pPr>
            <a:r>
              <a:rPr dirty="0" sz="1000" spc="50">
                <a:latin typeface="NSimSun"/>
                <a:cs typeface="NSimSun"/>
              </a:rPr>
              <a:t>多线程架构</a:t>
            </a:r>
            <a:r>
              <a:rPr dirty="0" sz="1000" spc="-50"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lvl="1" marL="368300" indent="-142240">
              <a:lnSpc>
                <a:spcPct val="100000"/>
              </a:lnSpc>
              <a:spcBef>
                <a:spcPts val="450"/>
              </a:spcBef>
              <a:buFont typeface="Consolas"/>
              <a:buChar char="-"/>
              <a:tabLst>
                <a:tab pos="368300" algn="l"/>
              </a:tabLst>
            </a:pPr>
            <a:r>
              <a:rPr dirty="0" sz="1000" spc="50">
                <a:latin typeface="NSimSun"/>
                <a:cs typeface="NSimSun"/>
              </a:rPr>
              <a:t>每个</a:t>
            </a:r>
            <a:r>
              <a:rPr dirty="0" sz="1000">
                <a:latin typeface="Consolas"/>
                <a:cs typeface="Consolas"/>
              </a:rPr>
              <a:t>Host</a:t>
            </a:r>
            <a:r>
              <a:rPr dirty="0" sz="1000" spc="50">
                <a:latin typeface="NSimSun"/>
                <a:cs typeface="NSimSun"/>
              </a:rPr>
              <a:t>有独立的发送</a:t>
            </a:r>
            <a:r>
              <a:rPr dirty="0" sz="1000">
                <a:latin typeface="Consolas"/>
                <a:cs typeface="Consolas"/>
              </a:rPr>
              <a:t>/</a:t>
            </a:r>
            <a:r>
              <a:rPr dirty="0" sz="1000" spc="25">
                <a:latin typeface="NSimSun"/>
                <a:cs typeface="NSimSun"/>
              </a:rPr>
              <a:t>接收线程</a:t>
            </a:r>
            <a:endParaRPr sz="1000">
              <a:latin typeface="NSimSun"/>
              <a:cs typeface="NSimSun"/>
            </a:endParaRPr>
          </a:p>
          <a:p>
            <a:pPr lvl="1" marL="368300" indent="-142240">
              <a:lnSpc>
                <a:spcPct val="100000"/>
              </a:lnSpc>
              <a:spcBef>
                <a:spcPts val="450"/>
              </a:spcBef>
              <a:buChar char="-"/>
              <a:tabLst>
                <a:tab pos="368300" algn="l"/>
              </a:tabLst>
            </a:pPr>
            <a:r>
              <a:rPr dirty="0" sz="1000">
                <a:latin typeface="Consolas"/>
                <a:cs typeface="Consolas"/>
              </a:rPr>
              <a:t>Switch</a:t>
            </a:r>
            <a:r>
              <a:rPr dirty="0" sz="1000" spc="50">
                <a:latin typeface="NSimSun"/>
                <a:cs typeface="NSimSun"/>
              </a:rPr>
              <a:t>使用</a:t>
            </a:r>
            <a:r>
              <a:rPr dirty="0" sz="1000">
                <a:latin typeface="Consolas"/>
                <a:cs typeface="Consolas"/>
              </a:rPr>
              <a:t>ThreadPoolExecutor</a:t>
            </a:r>
            <a:r>
              <a:rPr dirty="0" sz="1000">
                <a:latin typeface="NSimSun"/>
                <a:cs typeface="NSimSun"/>
              </a:rPr>
              <a:t>处理</a:t>
            </a:r>
            <a:endParaRPr sz="1000">
              <a:latin typeface="NSimSun"/>
              <a:cs typeface="NSimSun"/>
            </a:endParaRPr>
          </a:p>
          <a:p>
            <a:pPr lvl="1" marL="368300" indent="-142240">
              <a:lnSpc>
                <a:spcPct val="100000"/>
              </a:lnSpc>
              <a:spcBef>
                <a:spcPts val="525"/>
              </a:spcBef>
              <a:buFont typeface="Consolas"/>
              <a:buChar char="-"/>
              <a:tabLst>
                <a:tab pos="368300" algn="l"/>
              </a:tabLst>
            </a:pPr>
            <a:r>
              <a:rPr dirty="0" sz="1000" spc="40">
                <a:latin typeface="NSimSun"/>
                <a:cs typeface="NSimSun"/>
              </a:rPr>
              <a:t>消息队列实现非阻塞通信</a:t>
            </a:r>
            <a:endParaRPr sz="1000">
              <a:latin typeface="NSimSun"/>
              <a:cs typeface="NSimSu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5824" y="70198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725801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898"/>
                </a:lnTo>
                <a:lnTo>
                  <a:pt x="0" y="2057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98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750566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799143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898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98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82390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57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847721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898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98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5824" y="872486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5824" y="921063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85824" y="94582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15925" y="6239494"/>
            <a:ext cx="3074035" cy="3333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技术</a:t>
            </a:r>
            <a:r>
              <a:rPr dirty="0" sz="1700" spc="-130" b="1">
                <a:latin typeface="Malgun Gothic"/>
                <a:cs typeface="Malgun Gothic"/>
              </a:rPr>
              <a:t>要点</a:t>
            </a:r>
            <a:endParaRPr sz="170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spcBef>
                <a:spcPts val="1235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并发架构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每个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Host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独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⽴线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Switch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池处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理转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endParaRPr sz="135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队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列</a:t>
            </a:r>
            <a:r>
              <a:rPr dirty="0" sz="1350" spc="-55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Queue</a:t>
            </a:r>
            <a:r>
              <a:rPr dirty="0" sz="1350" spc="-55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dirty="0" sz="1350" spc="-140">
                <a:solidFill>
                  <a:srgbClr val="333333"/>
                </a:solidFill>
                <a:latin typeface="SimSun"/>
                <a:cs typeface="SimSun"/>
              </a:rPr>
              <a:t>程间通信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性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350" spc="-170" b="1">
                <a:latin typeface="Microsoft JhengHei"/>
                <a:cs typeface="Microsoft JhengHei"/>
              </a:rPr>
              <a:t>分析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 marR="597535">
              <a:lnSpc>
                <a:spcPct val="120400"/>
              </a:lnSpc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个主机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每个发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3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条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总共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12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条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dirty="0" sz="1350" spc="-2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4×3</a:t>
            </a:r>
            <a:r>
              <a:rPr dirty="0" sz="1350" spc="-2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621665" marR="597535">
              <a:lnSpc>
                <a:spcPts val="1950"/>
              </a:lnSpc>
              <a:spcBef>
                <a:spcPts val="4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转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14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次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含⼴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每个主机正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收到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3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条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135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线</a:t>
            </a:r>
            <a:r>
              <a:rPr dirty="0" sz="1350" spc="-170" b="1">
                <a:latin typeface="Malgun Gothic"/>
                <a:cs typeface="Malgun Gothic"/>
              </a:rPr>
              <a:t>程</a:t>
            </a:r>
            <a:r>
              <a:rPr dirty="0" sz="1350" spc="-170" b="1">
                <a:latin typeface="Microsoft JhengHei"/>
                <a:cs typeface="Microsoft JhengHei"/>
              </a:rPr>
              <a:t>安全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Queue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保证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安全</a:t>
            </a:r>
            <a:endParaRPr sz="135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访问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加锁</a:t>
            </a:r>
            <a:endParaRPr sz="13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5824" y="45716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898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98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85824" y="94293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5824" y="11905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58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142871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586"/>
                </a:moveTo>
                <a:lnTo>
                  <a:pt x="20654" y="47586"/>
                </a:lnTo>
                <a:lnTo>
                  <a:pt x="17617" y="46996"/>
                </a:lnTo>
                <a:lnTo>
                  <a:pt x="0" y="26898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98"/>
                </a:lnTo>
                <a:lnTo>
                  <a:pt x="26970" y="475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51209" y="297951"/>
            <a:ext cx="1871345" cy="12446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42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避</a:t>
            </a:r>
            <a:r>
              <a:rPr dirty="0" sz="1350" spc="-150">
                <a:solidFill>
                  <a:srgbClr val="333333"/>
                </a:solidFill>
                <a:latin typeface="Microsoft JhengHei"/>
                <a:cs typeface="Microsoft JhengHei"/>
              </a:rPr>
              <a:t>免竞争条件</a:t>
            </a:r>
            <a:endParaRPr sz="1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4.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 b="1">
                <a:latin typeface="Microsoft JhengHei"/>
                <a:cs typeface="Microsoft JhengHei"/>
              </a:rPr>
              <a:t>优势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并发处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⾼吞吐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endParaRPr sz="1350">
              <a:latin typeface="SimSun"/>
              <a:cs typeface="SimSun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⾮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阻塞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I/O</a:t>
            </a:r>
            <a:endParaRPr sz="12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模拟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真实⽹络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环境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5419"/>
            <a:ext cx="1168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00" b="1">
                <a:latin typeface="Microsoft JhengHei"/>
                <a:cs typeface="Microsoft JhengHei"/>
              </a:rPr>
              <a:t>关键代码实现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7815" y="813292"/>
            <a:ext cx="6151880" cy="875982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ThreadedHost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algn="r" marR="421894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支持并发的网络主机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582295" marR="2497455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2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init</a:t>
            </a:r>
            <a:r>
              <a:rPr dirty="0" u="sng" sz="1000" spc="32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None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MACAddress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mac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name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name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or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f"THost-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-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5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-20">
                <a:latin typeface="Consolas"/>
                <a:cs typeface="Consolas"/>
              </a:rPr>
              <a:t>]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r>
              <a:rPr dirty="0" sz="1000" spc="-2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线程安全队列</a:t>
            </a:r>
            <a:endParaRPr sz="1000">
              <a:latin typeface="NSimSun"/>
              <a:cs typeface="NSimSun"/>
            </a:endParaRPr>
          </a:p>
          <a:p>
            <a:pPr marL="582295" marR="2498090">
              <a:lnSpc>
                <a:spcPct val="137500"/>
              </a:lnSpc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send_queue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SafeQueue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maxsize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100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receive_queue</a:t>
            </a:r>
            <a:r>
              <a:rPr dirty="0" sz="1000" spc="6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6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SafeQueue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maxsize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100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000">
              <a:latin typeface="Consolas"/>
              <a:cs typeface="Consolas"/>
            </a:endParaRPr>
          </a:p>
          <a:p>
            <a:pPr marL="582295" marR="3709035">
              <a:lnSpc>
                <a:spcPct val="1396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424442"/>
                </a:solidFill>
                <a:latin typeface="NSimSun"/>
                <a:cs typeface="NSimSun"/>
              </a:rPr>
              <a:t>工作线程</a:t>
            </a:r>
            <a:r>
              <a:rPr dirty="0" sz="1000" spc="500">
                <a:solidFill>
                  <a:srgbClr val="424442"/>
                </a:solidFill>
                <a:latin typeface="NSimSun"/>
                <a:cs typeface="NSimSun"/>
              </a:rPr>
              <a:t>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send_thread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None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receive_thread</a:t>
            </a:r>
            <a:r>
              <a:rPr dirty="0" sz="1000" spc="65">
                <a:latin typeface="Consolas"/>
                <a:cs typeface="Consolas"/>
              </a:rPr>
              <a:t> 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None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_running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False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start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582295" marR="393382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启动发送和接收线程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_running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True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send_thread</a:t>
            </a:r>
            <a:r>
              <a:rPr dirty="0" sz="1000" spc="11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114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threading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Thread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target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_send_loop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14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daemon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True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582295" marR="50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receive_thread</a:t>
            </a:r>
            <a:r>
              <a:rPr dirty="0" sz="1000" spc="1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1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threading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Thread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target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_receive_loop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2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daemon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True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send_thread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start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receive_thread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start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000">
              <a:latin typeface="Consolas"/>
              <a:cs typeface="Consolas"/>
            </a:endParaRPr>
          </a:p>
          <a:p>
            <a:pPr marL="582295" marR="4136390" indent="-285115">
              <a:lnSpc>
                <a:spcPct val="1406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_send_loop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r>
              <a:rPr dirty="0" sz="1000" spc="50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发送线程循环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while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_running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867410" marR="2426970" indent="-63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send_queue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get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timeout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0.1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algn="r" marR="4186554">
              <a:lnSpc>
                <a:spcPct val="100000"/>
              </a:lnSpc>
              <a:spcBef>
                <a:spcPts val="300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调制、传输</a:t>
            </a:r>
            <a:endParaRPr sz="1000">
              <a:latin typeface="NSimSun"/>
              <a:cs typeface="NSimSun"/>
            </a:endParaRPr>
          </a:p>
          <a:p>
            <a:pPr marL="1151890" marR="306832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to_bits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 </a:t>
            </a: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modulate_ook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cable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transmit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signal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115189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stats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'frames_sent'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8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8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Consolas"/>
              <a:cs typeface="Consolas"/>
            </a:endParaRPr>
          </a:p>
          <a:p>
            <a:pPr marL="582295" marR="4136390" indent="-285115">
              <a:lnSpc>
                <a:spcPct val="1406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_receive_loop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接收线程循环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while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_running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867410">
              <a:lnSpc>
                <a:spcPct val="100000"/>
              </a:lnSpc>
              <a:spcBef>
                <a:spcPts val="525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5">
                <a:solidFill>
                  <a:srgbClr val="424442"/>
                </a:solidFill>
                <a:latin typeface="NSimSun"/>
                <a:cs typeface="NSimSun"/>
              </a:rPr>
              <a:t>从物理层接收信号</a:t>
            </a:r>
            <a:endParaRPr sz="1000">
              <a:latin typeface="NSimSun"/>
              <a:cs typeface="NSimSun"/>
            </a:endParaRPr>
          </a:p>
          <a:p>
            <a:pPr marL="867410" marR="2426970" indent="-635">
              <a:lnSpc>
                <a:spcPct val="137500"/>
              </a:lnSpc>
            </a:pP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cable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receive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timeout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0.1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signal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is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not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0086B3"/>
                </a:solidFill>
                <a:latin typeface="Consolas"/>
                <a:cs typeface="Consolas"/>
              </a:rPr>
              <a:t>None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7815" y="308467"/>
            <a:ext cx="5452110" cy="918845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151890">
              <a:lnSpc>
                <a:spcPct val="100000"/>
              </a:lnSpc>
              <a:spcBef>
                <a:spcPts val="545"/>
              </a:spcBef>
            </a:pPr>
            <a:r>
              <a:rPr dirty="0" sz="1000" spc="-20">
                <a:solidFill>
                  <a:srgbClr val="A61C5C"/>
                </a:solidFill>
                <a:latin typeface="Consolas"/>
                <a:cs typeface="Consolas"/>
              </a:rPr>
              <a:t>try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algn="r" marR="3201670">
              <a:lnSpc>
                <a:spcPct val="100000"/>
              </a:lnSpc>
              <a:spcBef>
                <a:spcPts val="450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解调、解帧</a:t>
            </a:r>
            <a:endParaRPr sz="1000">
              <a:latin typeface="NSimSun"/>
              <a:cs typeface="NSimSun"/>
            </a:endParaRPr>
          </a:p>
          <a:p>
            <a:pPr marL="143700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bits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demodulate_ook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signal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1437005" marR="144272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latin typeface="Consolas"/>
                <a:cs typeface="Consolas"/>
              </a:rPr>
              <a:t>NetworkFrame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from_bits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bits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放入接收队列</a:t>
            </a:r>
            <a:endParaRPr sz="1000">
              <a:latin typeface="NSimSun"/>
              <a:cs typeface="NSimSun"/>
            </a:endParaRPr>
          </a:p>
          <a:p>
            <a:pPr marL="1437005">
              <a:lnSpc>
                <a:spcPct val="100000"/>
              </a:lnSpc>
              <a:spcBef>
                <a:spcPts val="300"/>
              </a:spcBef>
            </a:pP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receive_queue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put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1151890" marR="1584960" indent="284480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stats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'frames_received'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9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9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1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except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Exception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as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latin typeface="Consolas"/>
                <a:cs typeface="Consolas"/>
              </a:rPr>
              <a:t>e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143700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stats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'receive_errors'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9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+=</a:t>
            </a:r>
            <a:r>
              <a:rPr dirty="0" sz="1000" spc="9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582295" marR="1014094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send_string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dst_mac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message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str</a:t>
            </a:r>
            <a:r>
              <a:rPr dirty="0" sz="1000" spc="2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bool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非阻塞发送消息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 marR="231140" indent="-63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 spc="7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7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NetworkFrame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address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7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dst_mac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7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message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encode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9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send_queue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put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0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timeout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0.1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>
              <a:latin typeface="Consolas"/>
              <a:cs typeface="Consolas"/>
            </a:endParaRPr>
          </a:p>
          <a:p>
            <a:pPr marL="582295" marR="1513205" indent="-285115">
              <a:lnSpc>
                <a:spcPct val="137500"/>
              </a:lnSpc>
              <a:spcBef>
                <a:spcPts val="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receive_nowait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Optional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latin typeface="Consolas"/>
                <a:cs typeface="Consolas"/>
              </a:rPr>
              <a:t>NetworkFrame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非阻塞接收消息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receive_queue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get_nowait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000">
              <a:latin typeface="Consolas"/>
              <a:cs typeface="Consolas"/>
            </a:endParaRPr>
          </a:p>
          <a:p>
            <a:pPr marL="297180" marR="3721735" indent="-285115">
              <a:lnSpc>
                <a:spcPct val="1438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ConcurrentNetwork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多线程并发网络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>
              <a:latin typeface="Consolas"/>
              <a:cs typeface="Consolas"/>
            </a:endParaRPr>
          </a:p>
          <a:p>
            <a:pPr marL="582295" marR="1085215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3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init</a:t>
            </a:r>
            <a:r>
              <a:rPr dirty="0" u="sng" sz="1000" spc="33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num_hosts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num_workers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int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4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num_hosts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num_hosts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  <a:tabLst>
                <a:tab pos="4500245" algn="l"/>
              </a:tabLst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switch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latin typeface="Consolas"/>
                <a:cs typeface="Consolas"/>
              </a:rPr>
              <a:t>ThreadedSwitch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num_workers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latin typeface="Consolas"/>
                <a:cs typeface="Consolas"/>
              </a:rPr>
              <a:t>num_workers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线程池交换机</a:t>
            </a:r>
            <a:endParaRPr sz="1000">
              <a:latin typeface="NSimSun"/>
              <a:cs typeface="NSimSun"/>
            </a:endParaRPr>
          </a:p>
          <a:p>
            <a:pPr marL="5822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hosts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[]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algn="r" marR="3256279">
              <a:lnSpc>
                <a:spcPct val="1000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40">
                <a:solidFill>
                  <a:srgbClr val="424442"/>
                </a:solidFill>
                <a:latin typeface="NSimSun"/>
                <a:cs typeface="NSimSun"/>
              </a:rPr>
              <a:t>创建主机并连接到交换机</a:t>
            </a:r>
            <a:endParaRPr sz="1000">
              <a:latin typeface="NSimSun"/>
              <a:cs typeface="NSimSun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num_hosts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86677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f'00:00:00:00:00:0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 spc="-10">
                <a:latin typeface="Consolas"/>
                <a:cs typeface="Consolas"/>
              </a:rPr>
              <a:t>i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</a:t>
            </a:r>
            <a:endParaRPr sz="1000">
              <a:latin typeface="Consolas"/>
              <a:cs typeface="Consolas"/>
            </a:endParaRPr>
          </a:p>
          <a:p>
            <a:pPr marL="866775" marR="1299845">
              <a:lnSpc>
                <a:spcPct val="140600"/>
              </a:lnSpc>
              <a:spcBef>
                <a:spcPts val="35"/>
              </a:spcBef>
            </a:pPr>
            <a:r>
              <a:rPr dirty="0" sz="1000">
                <a:latin typeface="Consolas"/>
                <a:cs typeface="Consolas"/>
              </a:rPr>
              <a:t>host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ThreadedHost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5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f"CHost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r>
              <a:rPr dirty="0" sz="1000" spc="-10">
                <a:latin typeface="Consolas"/>
                <a:cs typeface="Consolas"/>
              </a:rPr>
              <a:t>i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+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"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latin typeface="Consolas"/>
                <a:cs typeface="Consolas"/>
              </a:rPr>
              <a:t>host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connect_to_switch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switch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20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port_id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latin typeface="Consolas"/>
                <a:cs typeface="Consolas"/>
              </a:rPr>
              <a:t>i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hosts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append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host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start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582295" marR="310070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启动所有主机和交换机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switch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start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 marL="866775" marR="3223260" indent="-285115">
              <a:lnSpc>
                <a:spcPts val="1720"/>
              </a:lnSpc>
              <a:spcBef>
                <a:spcPts val="7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host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hosts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 spc="-10">
                <a:latin typeface="Consolas"/>
                <a:cs typeface="Consolas"/>
              </a:rPr>
              <a:t>host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start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stop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r>
              <a:rPr dirty="0" sz="1000" spc="50">
                <a:solidFill>
                  <a:srgbClr val="173690"/>
                </a:solidFill>
                <a:latin typeface="NSimSun"/>
                <a:cs typeface="NSimSun"/>
              </a:rPr>
              <a:t>停止所有线程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"""</a:t>
            </a:r>
            <a:endParaRPr sz="1000">
              <a:latin typeface="Consolas"/>
              <a:cs typeface="Consolas"/>
            </a:endParaRPr>
          </a:p>
          <a:p>
            <a:pPr marL="582295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host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hosts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5925" y="308467"/>
            <a:ext cx="5444490" cy="967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04215" marR="3449320" indent="284480">
              <a:lnSpc>
                <a:spcPct val="137500"/>
              </a:lnSpc>
              <a:spcBef>
                <a:spcPts val="95"/>
              </a:spcBef>
            </a:pPr>
            <a:r>
              <a:rPr dirty="0" sz="1000" spc="-10">
                <a:latin typeface="Consolas"/>
                <a:cs typeface="Consolas"/>
              </a:rPr>
              <a:t>host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stop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switch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stop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功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200" spc="13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池和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队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列实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并发⽹络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所有主机可同时收发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⽆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阻塞。</a:t>
            </a:r>
            <a:endParaRPr sz="1350">
              <a:latin typeface="SimSun"/>
              <a:cs typeface="SimSu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922" y="1505951"/>
            <a:ext cx="6810433" cy="562129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15925" y="7395136"/>
            <a:ext cx="6910070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3.6: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Level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3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综合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展</a:t>
            </a:r>
            <a:r>
              <a:rPr dirty="0" sz="1400" spc="-120">
                <a:solidFill>
                  <a:srgbClr val="333333"/>
                </a:solidFill>
                <a:latin typeface="Microsoft JhengHei"/>
                <a:cs typeface="Microsoft JhengHei"/>
              </a:rPr>
              <a:t>⽰ 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- 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左上：传输层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ACK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计；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右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上：信道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能；左下：调制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BER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对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⽐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；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右</a:t>
            </a:r>
            <a:r>
              <a:rPr dirty="0" sz="1400" spc="-130">
                <a:solidFill>
                  <a:srgbClr val="333333"/>
                </a:solidFill>
                <a:latin typeface="SimSun"/>
                <a:cs typeface="SimSun"/>
              </a:rPr>
              <a:t>下：</a:t>
            </a:r>
            <a:r>
              <a:rPr dirty="0" sz="1400" spc="-210">
                <a:solidFill>
                  <a:srgbClr val="333333"/>
                </a:solidFill>
                <a:latin typeface="SimSun"/>
                <a:cs typeface="SimSun"/>
              </a:rPr>
              <a:t>并</a:t>
            </a:r>
            <a:r>
              <a:rPr dirty="0" sz="1400" spc="-210">
                <a:solidFill>
                  <a:srgbClr val="333333"/>
                </a:solidFill>
                <a:latin typeface="Microsoft JhengHei"/>
                <a:cs typeface="Microsoft JhengHei"/>
              </a:rPr>
              <a:t>发吞吐</a:t>
            </a:r>
            <a:r>
              <a:rPr dirty="0" sz="1400" spc="-5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endParaRPr sz="1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28624" y="1828760"/>
          <a:ext cx="6991350" cy="1464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/>
                <a:gridCol w="933450"/>
                <a:gridCol w="4200525"/>
              </a:tblGrid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 b="1">
                          <a:latin typeface="Malgun Gothic"/>
                          <a:cs typeface="Malgun Gothic"/>
                        </a:rPr>
                        <a:t>要</a:t>
                      </a:r>
                      <a:r>
                        <a:rPr dirty="0" sz="1350" spc="-110" b="1">
                          <a:latin typeface="Microsoft JhengHei"/>
                          <a:cs typeface="Microsoft JhengHei"/>
                        </a:rPr>
                        <a:t>求项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40" b="1">
                          <a:latin typeface="Microsoft JhengHei"/>
                          <a:cs typeface="Microsoft JhengHei"/>
                        </a:rPr>
                        <a:t>完成状态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40" b="1">
                          <a:latin typeface="Microsoft JhengHei"/>
                          <a:cs typeface="Microsoft JhengHei"/>
                        </a:rPr>
                        <a:t>实现说明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60" b="1">
                          <a:latin typeface="Microsoft JhengHei"/>
                          <a:cs typeface="Microsoft JhengHei"/>
                        </a:rPr>
                        <a:t>成功传输简单字符串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1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完成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实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现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string_to_bits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和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bits_to_string</a:t>
                      </a:r>
                      <a:r>
                        <a:rPr dirty="0" sz="1350" spc="-2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，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⽀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持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ASCII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编</a:t>
                      </a:r>
                      <a:r>
                        <a:rPr dirty="0" sz="1350" spc="-5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码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 b="1">
                          <a:latin typeface="Microsoft JhengHei"/>
                          <a:cs typeface="Microsoft JhengHei"/>
                        </a:rPr>
                        <a:t>处</a:t>
                      </a:r>
                      <a:r>
                        <a:rPr dirty="0" sz="1350" spc="-170" b="1">
                          <a:latin typeface="Malgun Gothic"/>
                          <a:cs typeface="Malgun Gothic"/>
                        </a:rPr>
                        <a:t>理</a:t>
                      </a:r>
                      <a:r>
                        <a:rPr dirty="0" sz="1350" spc="-170" b="1">
                          <a:latin typeface="Microsoft JhengHei"/>
                          <a:cs typeface="Microsoft JhengHei"/>
                        </a:rPr>
                        <a:t>⻓消息</a:t>
                      </a:r>
                      <a:r>
                        <a:rPr dirty="0" sz="1350" spc="-170" b="1">
                          <a:latin typeface="Malgun Gothic"/>
                          <a:cs typeface="Malgun Gothic"/>
                        </a:rPr>
                        <a:t>（</a:t>
                      </a:r>
                      <a:r>
                        <a:rPr dirty="0" sz="1350" spc="-170" b="1">
                          <a:latin typeface="Microsoft JhengHei"/>
                          <a:cs typeface="Microsoft JhengHei"/>
                        </a:rPr>
                        <a:t>分⽚</a:t>
                      </a:r>
                      <a:r>
                        <a:rPr dirty="0" sz="1350" spc="-50" b="1">
                          <a:latin typeface="Malgun Gothic"/>
                          <a:cs typeface="Malgun Gothic"/>
                        </a:rPr>
                        <a:t>）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1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完成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PacketSlicer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类，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⽀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持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可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配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置分⽚⼤⼩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（默认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64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字节</a:t>
                      </a:r>
                      <a:r>
                        <a:rPr dirty="0" sz="1350" spc="-5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）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 b="1">
                          <a:latin typeface="Malgun Gothic"/>
                          <a:cs typeface="Malgun Gothic"/>
                        </a:rPr>
                        <a:t>基</a:t>
                      </a:r>
                      <a:r>
                        <a:rPr dirty="0" sz="1350" spc="-155" b="1">
                          <a:latin typeface="Microsoft JhengHei"/>
                          <a:cs typeface="Microsoft JhengHei"/>
                        </a:rPr>
                        <a:t>本错误检测机制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1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完成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帧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校验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和</a:t>
                      </a:r>
                      <a:r>
                        <a:rPr dirty="0" sz="1350" spc="-3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（</a:t>
                      </a:r>
                      <a:r>
                        <a:rPr dirty="0" sz="1200" spc="-3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checksum</a:t>
                      </a:r>
                      <a:r>
                        <a:rPr dirty="0" sz="1350" spc="-3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）</a:t>
                      </a:r>
                      <a:r>
                        <a:rPr dirty="0" sz="1200" spc="5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+ 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CRC-8</a:t>
                      </a:r>
                      <a:r>
                        <a:rPr dirty="0" sz="1350" spc="-11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校验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28624" y="6657935"/>
          <a:ext cx="6991350" cy="1102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6925"/>
                <a:gridCol w="1104900"/>
                <a:gridCol w="3733800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 b="1">
                          <a:latin typeface="Malgun Gothic"/>
                          <a:cs typeface="Malgun Gothic"/>
                        </a:rPr>
                        <a:t>要</a:t>
                      </a:r>
                      <a:r>
                        <a:rPr dirty="0" sz="1350" spc="-110" b="1">
                          <a:latin typeface="Microsoft JhengHei"/>
                          <a:cs typeface="Microsoft JhengHei"/>
                        </a:rPr>
                        <a:t>求项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40" b="1">
                          <a:latin typeface="Microsoft JhengHei"/>
                          <a:cs typeface="Microsoft JhengHei"/>
                        </a:rPr>
                        <a:t>完成状态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40" b="1">
                          <a:latin typeface="Microsoft JhengHei"/>
                          <a:cs typeface="Microsoft JhengHei"/>
                        </a:rPr>
                        <a:t>实现说明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50" b="1">
                          <a:latin typeface="Microsoft JhengHei"/>
                          <a:cs typeface="Microsoft JhengHei"/>
                        </a:rPr>
                        <a:t>区分不同主机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1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完成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48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位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MAC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地址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机制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，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⽀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持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⼴</a:t>
                      </a:r>
                      <a:r>
                        <a:rPr dirty="0" sz="1350" spc="-13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播地址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 b="1">
                          <a:latin typeface="Malgun Gothic"/>
                          <a:cs typeface="Malgun Gothic"/>
                        </a:rPr>
                        <a:t>正</a:t>
                      </a:r>
                      <a:r>
                        <a:rPr dirty="0" sz="1350" spc="-155" b="1">
                          <a:latin typeface="Microsoft JhengHei"/>
                          <a:cs typeface="Microsoft JhengHei"/>
                        </a:rPr>
                        <a:t>确路由到⽬标主机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1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完成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MAC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学习算</a:t>
                      </a:r>
                      <a:r>
                        <a:rPr dirty="0" sz="1350" spc="-235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法 </a:t>
                      </a:r>
                      <a:r>
                        <a:rPr dirty="0" sz="1200" spc="25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+ 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转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发表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，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⽀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持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单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播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⼴</a:t>
                      </a:r>
                      <a:r>
                        <a:rPr dirty="0" sz="1350" spc="-5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播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925" y="285988"/>
            <a:ext cx="1892300" cy="3873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70"/>
              <a:t>项⽬完成度清单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15925" y="919591"/>
            <a:ext cx="2743835" cy="7651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00" b="1">
                <a:latin typeface="Arial"/>
                <a:cs typeface="Arial"/>
              </a:rPr>
              <a:t>Level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1: </a:t>
            </a:r>
            <a:r>
              <a:rPr dirty="0" sz="2000" spc="-200" b="1">
                <a:latin typeface="Malgun Gothic"/>
                <a:cs typeface="Malgun Gothic"/>
              </a:rPr>
              <a:t>点</a:t>
            </a:r>
            <a:r>
              <a:rPr dirty="0" sz="2000" spc="-200" b="1">
                <a:latin typeface="Microsoft JhengHei"/>
                <a:cs typeface="Microsoft JhengHei"/>
              </a:rPr>
              <a:t>对</a:t>
            </a:r>
            <a:r>
              <a:rPr dirty="0" sz="2000" spc="-200" b="1">
                <a:latin typeface="Malgun Gothic"/>
                <a:cs typeface="Malgun Gothic"/>
              </a:rPr>
              <a:t>点</a:t>
            </a:r>
            <a:r>
              <a:rPr dirty="0" sz="2000" spc="-135" b="1">
                <a:latin typeface="Microsoft JhengHei"/>
                <a:cs typeface="Microsoft JhengHei"/>
              </a:rPr>
              <a:t>通信 </a:t>
            </a:r>
            <a:r>
              <a:rPr dirty="0" sz="1800" spc="-5" b="1">
                <a:latin typeface="Arial"/>
                <a:cs typeface="Arial"/>
              </a:rPr>
              <a:t>- </a:t>
            </a:r>
            <a:r>
              <a:rPr dirty="0" sz="2000" spc="-175" b="1">
                <a:latin typeface="Microsoft JhengHei"/>
                <a:cs typeface="Microsoft JhengHei"/>
              </a:rPr>
              <a:t>完成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700" spc="-210" b="1">
                <a:latin typeface="Malgun Gothic"/>
                <a:cs typeface="Malgun Gothic"/>
              </a:rPr>
              <a:t>基</a:t>
            </a:r>
            <a:r>
              <a:rPr dirty="0" sz="1700" spc="-210" b="1">
                <a:latin typeface="Microsoft JhengHei"/>
                <a:cs typeface="Microsoft JhengHei"/>
              </a:rPr>
              <a:t>本</a:t>
            </a:r>
            <a:r>
              <a:rPr dirty="0" sz="1700" spc="-210" b="1">
                <a:latin typeface="Malgun Gothic"/>
                <a:cs typeface="Malgun Gothic"/>
              </a:rPr>
              <a:t>要</a:t>
            </a:r>
            <a:r>
              <a:rPr dirty="0" sz="1700" spc="-50" b="1">
                <a:latin typeface="Microsoft JhengHei"/>
                <a:cs typeface="Microsoft JhengHei"/>
              </a:rPr>
              <a:t>求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81024" y="39814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81024" y="422906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81024" y="446718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81024" y="471483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81024" y="496248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81024" y="52006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81024" y="544826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15925" y="3448669"/>
            <a:ext cx="4480560" cy="3065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85" b="1">
                <a:latin typeface="Microsoft JhengHei"/>
                <a:cs typeface="Microsoft JhengHei"/>
              </a:rPr>
              <a:t>详细实现清单</a:t>
            </a:r>
            <a:endParaRPr sz="170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123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数字信号⽣成</a:t>
            </a:r>
            <a:r>
              <a:rPr dirty="0" sz="1200" spc="6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字符串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→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⽐特</a:t>
            </a:r>
            <a:r>
              <a:rPr dirty="0" sz="1350" spc="-185">
                <a:solidFill>
                  <a:srgbClr val="333333"/>
                </a:solidFill>
                <a:latin typeface="SimSun"/>
                <a:cs typeface="SimSun"/>
              </a:rPr>
              <a:t>流转换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(physical_layer.py:28-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78)</a:t>
            </a:r>
            <a:endParaRPr sz="1200">
              <a:latin typeface="Arial MT"/>
              <a:cs typeface="Arial MT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调制</a:t>
            </a:r>
            <a:r>
              <a:rPr dirty="0" sz="1350" spc="-170" b="1">
                <a:latin typeface="Malgun Gothic"/>
                <a:cs typeface="Malgun Gothic"/>
              </a:rPr>
              <a:t>器</a:t>
            </a:r>
            <a:r>
              <a:rPr dirty="0" sz="1200" spc="5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制实</a:t>
            </a:r>
            <a:r>
              <a:rPr dirty="0" sz="1350" spc="-204">
                <a:solidFill>
                  <a:srgbClr val="333333"/>
                </a:solidFill>
                <a:latin typeface="SimSun"/>
                <a:cs typeface="SimSun"/>
              </a:rPr>
              <a:t>现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(physical_layer.py:158-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184)</a:t>
            </a:r>
            <a:endParaRPr sz="1200">
              <a:latin typeface="Arial MT"/>
              <a:cs typeface="Arial MT"/>
            </a:endParaRPr>
          </a:p>
          <a:p>
            <a:pPr marL="316865">
              <a:lnSpc>
                <a:spcPct val="100000"/>
              </a:lnSpc>
              <a:spcBef>
                <a:spcPts val="254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使⽤</a:t>
            </a:r>
            <a:r>
              <a:rPr dirty="0" sz="1200" b="1">
                <a:latin typeface="Arial"/>
                <a:cs typeface="Arial"/>
              </a:rPr>
              <a:t>Cable</a:t>
            </a:r>
            <a:r>
              <a:rPr dirty="0" sz="1350" spc="-170" b="1">
                <a:latin typeface="Microsoft JhengHei"/>
                <a:cs typeface="Microsoft JhengHei"/>
              </a:rPr>
              <a:t>类传输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完整集成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Cable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API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(physical_layer.py:302)</a:t>
            </a:r>
            <a:endParaRPr sz="1200">
              <a:latin typeface="Arial MT"/>
              <a:cs typeface="Arial MT"/>
            </a:endParaRPr>
          </a:p>
          <a:p>
            <a:pPr algn="just" marL="316865" marR="301625">
              <a:lnSpc>
                <a:spcPct val="118100"/>
              </a:lnSpc>
              <a:spcBef>
                <a:spcPts val="35"/>
              </a:spcBef>
            </a:pPr>
            <a:r>
              <a:rPr dirty="0" sz="1350" spc="-165" b="1">
                <a:latin typeface="Microsoft JhengHei"/>
                <a:cs typeface="Microsoft JhengHei"/>
              </a:rPr>
              <a:t>解调</a:t>
            </a:r>
            <a:r>
              <a:rPr dirty="0" sz="1350" spc="-165" b="1">
                <a:latin typeface="Malgun Gothic"/>
                <a:cs typeface="Malgun Gothic"/>
              </a:rPr>
              <a:t>器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65">
                <a:solidFill>
                  <a:srgbClr val="333333"/>
                </a:solidFill>
                <a:latin typeface="Microsoft JhengHei"/>
                <a:cs typeface="Microsoft JhengHei"/>
              </a:rPr>
              <a:t>⾃</a:t>
            </a:r>
            <a:r>
              <a:rPr dirty="0" sz="1350" spc="-165">
                <a:solidFill>
                  <a:srgbClr val="333333"/>
                </a:solidFill>
                <a:latin typeface="SimSun"/>
                <a:cs typeface="SimSun"/>
              </a:rPr>
              <a:t>适</a:t>
            </a:r>
            <a:r>
              <a:rPr dirty="0" sz="1350" spc="-165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dirty="0" sz="1350" spc="-165">
                <a:solidFill>
                  <a:srgbClr val="333333"/>
                </a:solidFill>
                <a:latin typeface="SimSun"/>
                <a:cs typeface="SimSun"/>
              </a:rPr>
              <a:t>阈值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dirty="0" sz="1350" spc="-225">
                <a:solidFill>
                  <a:srgbClr val="333333"/>
                </a:solidFill>
                <a:latin typeface="SimSun"/>
                <a:cs typeface="SimSun"/>
              </a:rPr>
              <a:t>解调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(physical_laye</a:t>
            </a:r>
            <a:r>
              <a:rPr dirty="0" sz="1200" spc="-70">
                <a:solidFill>
                  <a:srgbClr val="333333"/>
                </a:solidFill>
                <a:latin typeface="Arial MT"/>
                <a:cs typeface="Arial MT"/>
              </a:rPr>
              <a:t>r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.py:186-219)</a:t>
            </a:r>
            <a:r>
              <a:rPr dirty="0" sz="1350" spc="-165" b="1">
                <a:latin typeface="Microsoft JhengHei"/>
                <a:cs typeface="Microsoft JhengHei"/>
              </a:rPr>
              <a:t>数据恢复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65">
                <a:solidFill>
                  <a:srgbClr val="333333"/>
                </a:solidFill>
                <a:latin typeface="Microsoft JhengHei"/>
                <a:cs typeface="Microsoft JhengHei"/>
              </a:rPr>
              <a:t>⽐特</a:t>
            </a:r>
            <a:r>
              <a:rPr dirty="0" sz="1350" spc="-165">
                <a:solidFill>
                  <a:srgbClr val="333333"/>
                </a:solidFill>
                <a:latin typeface="SimSun"/>
                <a:cs typeface="SimSun"/>
              </a:rPr>
              <a:t>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→</a:t>
            </a:r>
            <a:r>
              <a:rPr dirty="0" sz="1350" spc="-165">
                <a:solidFill>
                  <a:srgbClr val="333333"/>
                </a:solidFill>
                <a:latin typeface="Microsoft JhengHei"/>
                <a:cs typeface="Microsoft JhengHei"/>
              </a:rPr>
              <a:t>字符串</a:t>
            </a:r>
            <a:r>
              <a:rPr dirty="0" sz="1350" spc="-225">
                <a:solidFill>
                  <a:srgbClr val="333333"/>
                </a:solidFill>
                <a:latin typeface="SimSun"/>
                <a:cs typeface="SimSun"/>
              </a:rPr>
              <a:t>转换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(physical_laye</a:t>
            </a:r>
            <a:r>
              <a:rPr dirty="0" sz="1200" spc="-70">
                <a:solidFill>
                  <a:srgbClr val="333333"/>
                </a:solidFill>
                <a:latin typeface="Arial MT"/>
                <a:cs typeface="Arial MT"/>
              </a:rPr>
              <a:t>r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.py:51-78)</a:t>
            </a:r>
            <a:r>
              <a:rPr dirty="0" sz="1350" spc="-165" b="1">
                <a:latin typeface="Malgun Gothic"/>
                <a:cs typeface="Malgun Gothic"/>
              </a:rPr>
              <a:t>噪</a:t>
            </a:r>
            <a:r>
              <a:rPr dirty="0" sz="1350" spc="-165" b="1">
                <a:latin typeface="Microsoft JhengHei"/>
                <a:cs typeface="Microsoft JhengHei"/>
              </a:rPr>
              <a:t>声环</a:t>
            </a:r>
            <a:r>
              <a:rPr dirty="0" sz="1350" spc="-165" b="1">
                <a:latin typeface="Malgun Gothic"/>
                <a:cs typeface="Malgun Gothic"/>
              </a:rPr>
              <a:t>境</a:t>
            </a:r>
            <a:r>
              <a:rPr dirty="0" sz="1350" spc="-165" b="1">
                <a:latin typeface="Microsoft JhengHei"/>
                <a:cs typeface="Microsoft JhengHei"/>
              </a:rPr>
              <a:t>测试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65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165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0.5-2.0</a:t>
            </a:r>
            <a:r>
              <a:rPr dirty="0" sz="1350" spc="-165">
                <a:solidFill>
                  <a:srgbClr val="333333"/>
                </a:solidFill>
                <a:latin typeface="SimSun"/>
                <a:cs typeface="SimSun"/>
              </a:rPr>
              <a:t>范围噪</a:t>
            </a:r>
            <a:r>
              <a:rPr dirty="0" sz="1350" spc="-165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65">
                <a:solidFill>
                  <a:srgbClr val="333333"/>
                </a:solidFill>
                <a:latin typeface="SimSun"/>
                <a:cs typeface="SimSun"/>
              </a:rPr>
              <a:t>测试</a:t>
            </a:r>
            <a:endParaRPr sz="1350">
              <a:latin typeface="SimSun"/>
              <a:cs typeface="SimSun"/>
            </a:endParaRPr>
          </a:p>
          <a:p>
            <a:pPr algn="just" marL="316865">
              <a:lnSpc>
                <a:spcPct val="100000"/>
              </a:lnSpc>
              <a:spcBef>
                <a:spcPts val="330"/>
              </a:spcBef>
            </a:pPr>
            <a:r>
              <a:rPr dirty="0" sz="1200" spc="-10" b="1">
                <a:latin typeface="Arial"/>
                <a:cs typeface="Arial"/>
              </a:rPr>
              <a:t>Shannon</a:t>
            </a:r>
            <a:r>
              <a:rPr dirty="0" sz="1350" spc="-170" b="1">
                <a:latin typeface="Microsoft JhengHei"/>
                <a:cs typeface="Microsoft JhengHei"/>
              </a:rPr>
              <a:t>公式对⽐</a:t>
            </a:r>
            <a:r>
              <a:rPr dirty="0" sz="1200" spc="5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完整的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信道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分析</a:t>
            </a:r>
            <a:endParaRPr sz="1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1800" b="1">
                <a:latin typeface="Arial"/>
                <a:cs typeface="Arial"/>
              </a:rPr>
              <a:t>Level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2: </a:t>
            </a:r>
            <a:r>
              <a:rPr dirty="0" sz="2000" spc="-170" b="1">
                <a:latin typeface="Microsoft JhengHei"/>
                <a:cs typeface="Microsoft JhengHei"/>
              </a:rPr>
              <a:t>多主机通信 </a:t>
            </a:r>
            <a:r>
              <a:rPr dirty="0" sz="1800" spc="-5" b="1">
                <a:latin typeface="Arial"/>
                <a:cs typeface="Arial"/>
              </a:rPr>
              <a:t>- </a:t>
            </a:r>
            <a:r>
              <a:rPr dirty="0" sz="2000" spc="-125" b="1">
                <a:latin typeface="Microsoft JhengHei"/>
                <a:cs typeface="Microsoft JhengHei"/>
              </a:rPr>
              <a:t>完成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700" spc="-210" b="1">
                <a:latin typeface="Malgun Gothic"/>
                <a:cs typeface="Malgun Gothic"/>
              </a:rPr>
              <a:t>基</a:t>
            </a:r>
            <a:r>
              <a:rPr dirty="0" sz="1700" spc="-210" b="1">
                <a:latin typeface="Microsoft JhengHei"/>
                <a:cs typeface="Microsoft JhengHei"/>
              </a:rPr>
              <a:t>本</a:t>
            </a:r>
            <a:r>
              <a:rPr dirty="0" sz="1700" spc="-210" b="1">
                <a:latin typeface="Malgun Gothic"/>
                <a:cs typeface="Malgun Gothic"/>
              </a:rPr>
              <a:t>要</a:t>
            </a:r>
            <a:r>
              <a:rPr dirty="0" sz="1700" spc="-50" b="1">
                <a:latin typeface="Microsoft JhengHei"/>
                <a:cs typeface="Microsoft JhengHei"/>
              </a:rPr>
              <a:t>求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81024" y="844863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81024" y="868676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885824" y="89344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36"/>
                </a:lnTo>
                <a:lnTo>
                  <a:pt x="47020" y="29918"/>
                </a:lnTo>
                <a:lnTo>
                  <a:pt x="45812" y="32813"/>
                </a:lnTo>
                <a:lnTo>
                  <a:pt x="44603" y="35718"/>
                </a:lnTo>
                <a:lnTo>
                  <a:pt x="23812" y="47624"/>
                </a:lnTo>
                <a:lnTo>
                  <a:pt x="20654" y="47548"/>
                </a:lnTo>
                <a:lnTo>
                  <a:pt x="0" y="26936"/>
                </a:lnTo>
                <a:lnTo>
                  <a:pt x="0" y="23812"/>
                </a:lnTo>
                <a:lnTo>
                  <a:pt x="0" y="20612"/>
                </a:lnTo>
                <a:lnTo>
                  <a:pt x="6974" y="6924"/>
                </a:lnTo>
                <a:lnTo>
                  <a:pt x="9207" y="4686"/>
                </a:lnTo>
                <a:lnTo>
                  <a:pt x="11782" y="2981"/>
                </a:lnTo>
                <a:lnTo>
                  <a:pt x="14699" y="1790"/>
                </a:lnTo>
                <a:lnTo>
                  <a:pt x="17617" y="600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0"/>
                </a:lnTo>
                <a:lnTo>
                  <a:pt x="32925" y="179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5812" y="14582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885824" y="918206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36"/>
                </a:lnTo>
                <a:lnTo>
                  <a:pt x="47020" y="29918"/>
                </a:lnTo>
                <a:lnTo>
                  <a:pt x="45812" y="32813"/>
                </a:lnTo>
                <a:lnTo>
                  <a:pt x="44603" y="35718"/>
                </a:lnTo>
                <a:lnTo>
                  <a:pt x="23812" y="47624"/>
                </a:lnTo>
                <a:lnTo>
                  <a:pt x="20654" y="47548"/>
                </a:lnTo>
                <a:lnTo>
                  <a:pt x="1812" y="32813"/>
                </a:lnTo>
                <a:lnTo>
                  <a:pt x="604" y="29918"/>
                </a:lnTo>
                <a:lnTo>
                  <a:pt x="0" y="26936"/>
                </a:lnTo>
                <a:lnTo>
                  <a:pt x="0" y="23812"/>
                </a:lnTo>
                <a:lnTo>
                  <a:pt x="0" y="20612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4699" y="1790"/>
                </a:lnTo>
                <a:lnTo>
                  <a:pt x="17617" y="600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0"/>
                </a:lnTo>
                <a:lnTo>
                  <a:pt x="32925" y="179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153"/>
                </a:lnTo>
                <a:lnTo>
                  <a:pt x="44603" y="11753"/>
                </a:lnTo>
                <a:lnTo>
                  <a:pt x="45812" y="14658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885824" y="942018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36"/>
                </a:lnTo>
                <a:lnTo>
                  <a:pt x="47020" y="29918"/>
                </a:lnTo>
                <a:lnTo>
                  <a:pt x="45812" y="32813"/>
                </a:lnTo>
                <a:lnTo>
                  <a:pt x="44603" y="35718"/>
                </a:lnTo>
                <a:lnTo>
                  <a:pt x="32925" y="45691"/>
                </a:lnTo>
                <a:lnTo>
                  <a:pt x="30007" y="46958"/>
                </a:lnTo>
                <a:lnTo>
                  <a:pt x="26970" y="47548"/>
                </a:lnTo>
                <a:lnTo>
                  <a:pt x="23812" y="47624"/>
                </a:lnTo>
                <a:lnTo>
                  <a:pt x="20654" y="47548"/>
                </a:lnTo>
                <a:lnTo>
                  <a:pt x="17617" y="46958"/>
                </a:lnTo>
                <a:lnTo>
                  <a:pt x="14699" y="45691"/>
                </a:lnTo>
                <a:lnTo>
                  <a:pt x="11782" y="44500"/>
                </a:lnTo>
                <a:lnTo>
                  <a:pt x="1812" y="32813"/>
                </a:lnTo>
                <a:lnTo>
                  <a:pt x="604" y="29918"/>
                </a:lnTo>
                <a:lnTo>
                  <a:pt x="0" y="26936"/>
                </a:lnTo>
                <a:lnTo>
                  <a:pt x="0" y="23812"/>
                </a:lnTo>
                <a:lnTo>
                  <a:pt x="0" y="20612"/>
                </a:lnTo>
                <a:lnTo>
                  <a:pt x="6974" y="6924"/>
                </a:lnTo>
                <a:lnTo>
                  <a:pt x="9207" y="4686"/>
                </a:lnTo>
                <a:lnTo>
                  <a:pt x="11782" y="2981"/>
                </a:lnTo>
                <a:lnTo>
                  <a:pt x="14699" y="1714"/>
                </a:lnTo>
                <a:lnTo>
                  <a:pt x="17617" y="600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24"/>
                </a:lnTo>
                <a:lnTo>
                  <a:pt x="42883" y="9153"/>
                </a:lnTo>
                <a:lnTo>
                  <a:pt x="44603" y="11687"/>
                </a:lnTo>
                <a:lnTo>
                  <a:pt x="45812" y="14582"/>
                </a:lnTo>
                <a:lnTo>
                  <a:pt x="47020" y="17487"/>
                </a:lnTo>
                <a:lnTo>
                  <a:pt x="47624" y="20612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415925" y="7915894"/>
            <a:ext cx="4958715" cy="1618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85" b="1">
                <a:latin typeface="Microsoft JhengHei"/>
                <a:cs typeface="Microsoft JhengHei"/>
              </a:rPr>
              <a:t>详细实现清单</a:t>
            </a:r>
            <a:endParaRPr sz="170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123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星型拓扑</a:t>
            </a:r>
            <a:r>
              <a:rPr dirty="0" sz="1200" spc="4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StarTopology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类，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中⼼交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架</a:t>
            </a:r>
            <a:r>
              <a:rPr dirty="0" sz="1350" spc="-40">
                <a:solidFill>
                  <a:srgbClr val="333333"/>
                </a:solidFill>
                <a:latin typeface="Microsoft JhengHei"/>
                <a:cs typeface="Microsoft JhengHei"/>
              </a:rPr>
              <a:t>构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(network_layer.py:200+)</a:t>
            </a:r>
            <a:endParaRPr sz="1200">
              <a:latin typeface="Arial MT"/>
              <a:cs typeface="Arial MT"/>
            </a:endParaRPr>
          </a:p>
          <a:p>
            <a:pPr marL="316865">
              <a:lnSpc>
                <a:spcPct val="100000"/>
              </a:lnSpc>
              <a:spcBef>
                <a:spcPts val="254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寻址机制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MACAddress</a:t>
            </a:r>
            <a:r>
              <a:rPr dirty="0" sz="1350" spc="-114">
                <a:solidFill>
                  <a:srgbClr val="333333"/>
                </a:solidFill>
                <a:latin typeface="SimSun"/>
                <a:cs typeface="SimSun"/>
              </a:rPr>
              <a:t>类，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48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地址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(network_layer.py:10-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50)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帧头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包含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源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200" spc="204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(network_layer.py:52-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100)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播地址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FF:FF:FF:FF:FF:FF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28624" y="2886035"/>
          <a:ext cx="6991350" cy="2205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/>
                <a:gridCol w="1114425"/>
                <a:gridCol w="4495800"/>
              </a:tblGrid>
              <a:tr h="370840"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 b="1">
                          <a:latin typeface="Microsoft JhengHei"/>
                          <a:cs typeface="Microsoft JhengHei"/>
                        </a:rPr>
                        <a:t>扩展功</a:t>
                      </a:r>
                      <a:r>
                        <a:rPr dirty="0" sz="1350" spc="-50" b="1">
                          <a:latin typeface="Malgun Gothic"/>
                          <a:cs typeface="Malgun Gothic"/>
                        </a:rPr>
                        <a:t>能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40" b="1">
                          <a:latin typeface="Microsoft JhengHei"/>
                          <a:cs typeface="Microsoft JhengHei"/>
                        </a:rPr>
                        <a:t>完成状态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40" b="1">
                          <a:latin typeface="Microsoft JhengHei"/>
                          <a:cs typeface="Microsoft JhengHei"/>
                        </a:rPr>
                        <a:t>实现说明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30" b="1">
                          <a:latin typeface="Microsoft JhengHei"/>
                          <a:cs typeface="Microsoft JhengHei"/>
                        </a:rPr>
                        <a:t>传输层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1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完成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Stop-and-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Wait</a:t>
                      </a:r>
                      <a:r>
                        <a:rPr dirty="0" sz="1200" spc="-6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ARQ,</a:t>
                      </a:r>
                      <a:r>
                        <a:rPr dirty="0" sz="1200" spc="15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序列号</a:t>
                      </a:r>
                      <a:r>
                        <a:rPr dirty="0" sz="1200" spc="5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, 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确认</a:t>
                      </a:r>
                      <a:r>
                        <a:rPr dirty="0" sz="1200" spc="5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, 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超时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重</a:t>
                      </a:r>
                      <a:r>
                        <a:rPr dirty="0" sz="1350" spc="-6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传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40" b="1">
                          <a:latin typeface="Microsoft JhengHei"/>
                          <a:cs typeface="Microsoft JhengHei"/>
                        </a:rPr>
                        <a:t>信道编码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1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完成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Hamming(7,4)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纠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错</a:t>
                      </a:r>
                      <a:r>
                        <a:rPr dirty="0" sz="1350" spc="-25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码 </a:t>
                      </a:r>
                      <a:r>
                        <a:rPr dirty="0" sz="1200" spc="5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+ 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CRC-8</a:t>
                      </a:r>
                      <a:r>
                        <a:rPr dirty="0" sz="1350" spc="-225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校验 </a:t>
                      </a:r>
                      <a:r>
                        <a:rPr dirty="0" sz="1200" spc="5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+ 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性</a:t>
                      </a:r>
                      <a:r>
                        <a:rPr dirty="0" sz="1350" spc="-13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能测试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50" b="1">
                          <a:latin typeface="Microsoft JhengHei"/>
                          <a:cs typeface="Microsoft JhengHei"/>
                        </a:rPr>
                        <a:t>应⽤层协议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1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完成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1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HTTP/1.0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协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议，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路由机制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，请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求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响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应</a:t>
                      </a:r>
                      <a:r>
                        <a:rPr dirty="0" sz="1350" spc="-11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模式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 b="1">
                          <a:latin typeface="Microsoft JhengHei"/>
                          <a:cs typeface="Microsoft JhengHei"/>
                        </a:rPr>
                        <a:t>性</a:t>
                      </a:r>
                      <a:r>
                        <a:rPr dirty="0" sz="1350" spc="-170" b="1">
                          <a:latin typeface="Malgun Gothic"/>
                          <a:cs typeface="Malgun Gothic"/>
                        </a:rPr>
                        <a:t>能</a:t>
                      </a:r>
                      <a:r>
                        <a:rPr dirty="0" sz="1350" spc="-110" b="1">
                          <a:latin typeface="Microsoft JhengHei"/>
                          <a:cs typeface="Microsoft JhengHei"/>
                        </a:rPr>
                        <a:t>优化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1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完成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种调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制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(OOK/ASK/FSK/BPSK)</a:t>
                      </a:r>
                      <a:r>
                        <a:rPr dirty="0" sz="1200" spc="35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+ 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性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能</a:t>
                      </a:r>
                      <a:r>
                        <a:rPr dirty="0" sz="1350" spc="-14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对⽐分析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 b="1">
                          <a:latin typeface="Microsoft JhengHei"/>
                          <a:cs typeface="Microsoft JhengHei"/>
                        </a:rPr>
                        <a:t>并发处</a:t>
                      </a:r>
                      <a:r>
                        <a:rPr dirty="0" sz="1350" spc="-50" b="1">
                          <a:latin typeface="Malgun Gothic"/>
                          <a:cs typeface="Malgun Gothic"/>
                        </a:rPr>
                        <a:t>理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1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完成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多线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程架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构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，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线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程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安全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，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⾮</a:t>
                      </a:r>
                      <a:r>
                        <a:rPr dirty="0" sz="1350" spc="-14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阻塞通信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/>
          <p:nvPr/>
        </p:nvSpPr>
        <p:spPr>
          <a:xfrm>
            <a:off x="581024" y="45716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5824" y="7048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36"/>
                </a:lnTo>
                <a:lnTo>
                  <a:pt x="47020" y="29984"/>
                </a:lnTo>
                <a:lnTo>
                  <a:pt x="45812" y="32889"/>
                </a:lnTo>
                <a:lnTo>
                  <a:pt x="44603" y="35794"/>
                </a:lnTo>
                <a:lnTo>
                  <a:pt x="32925" y="45691"/>
                </a:lnTo>
                <a:lnTo>
                  <a:pt x="30007" y="46958"/>
                </a:lnTo>
                <a:lnTo>
                  <a:pt x="26970" y="47548"/>
                </a:lnTo>
                <a:lnTo>
                  <a:pt x="23812" y="47624"/>
                </a:lnTo>
                <a:lnTo>
                  <a:pt x="20654" y="47548"/>
                </a:lnTo>
                <a:lnTo>
                  <a:pt x="0" y="26936"/>
                </a:lnTo>
                <a:lnTo>
                  <a:pt x="0" y="23812"/>
                </a:lnTo>
                <a:lnTo>
                  <a:pt x="0" y="20612"/>
                </a:lnTo>
                <a:lnTo>
                  <a:pt x="6974" y="6924"/>
                </a:lnTo>
                <a:lnTo>
                  <a:pt x="9207" y="4686"/>
                </a:lnTo>
                <a:lnTo>
                  <a:pt x="11782" y="2981"/>
                </a:lnTo>
                <a:lnTo>
                  <a:pt x="14699" y="1790"/>
                </a:lnTo>
                <a:lnTo>
                  <a:pt x="17617" y="600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0"/>
                </a:lnTo>
                <a:lnTo>
                  <a:pt x="32925" y="179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24"/>
                </a:lnTo>
                <a:lnTo>
                  <a:pt x="42883" y="9153"/>
                </a:lnTo>
                <a:lnTo>
                  <a:pt x="44603" y="11687"/>
                </a:lnTo>
                <a:lnTo>
                  <a:pt x="45812" y="14582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94293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36"/>
                </a:lnTo>
                <a:lnTo>
                  <a:pt x="47020" y="29918"/>
                </a:lnTo>
                <a:lnTo>
                  <a:pt x="45812" y="32813"/>
                </a:lnTo>
                <a:lnTo>
                  <a:pt x="44603" y="35718"/>
                </a:lnTo>
                <a:lnTo>
                  <a:pt x="32925" y="45767"/>
                </a:lnTo>
                <a:lnTo>
                  <a:pt x="30007" y="46958"/>
                </a:lnTo>
                <a:lnTo>
                  <a:pt x="26970" y="47548"/>
                </a:lnTo>
                <a:lnTo>
                  <a:pt x="23812" y="47624"/>
                </a:lnTo>
                <a:lnTo>
                  <a:pt x="20654" y="47548"/>
                </a:lnTo>
                <a:lnTo>
                  <a:pt x="17617" y="46958"/>
                </a:lnTo>
                <a:lnTo>
                  <a:pt x="14699" y="45767"/>
                </a:lnTo>
                <a:lnTo>
                  <a:pt x="11782" y="44576"/>
                </a:lnTo>
                <a:lnTo>
                  <a:pt x="1812" y="32813"/>
                </a:lnTo>
                <a:lnTo>
                  <a:pt x="604" y="29918"/>
                </a:lnTo>
                <a:lnTo>
                  <a:pt x="0" y="26936"/>
                </a:lnTo>
                <a:lnTo>
                  <a:pt x="0" y="23812"/>
                </a:lnTo>
                <a:lnTo>
                  <a:pt x="0" y="20612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4699" y="1790"/>
                </a:lnTo>
                <a:lnTo>
                  <a:pt x="17617" y="600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0"/>
                </a:lnTo>
                <a:lnTo>
                  <a:pt x="32925" y="179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153"/>
                </a:lnTo>
                <a:lnTo>
                  <a:pt x="44603" y="11753"/>
                </a:lnTo>
                <a:lnTo>
                  <a:pt x="45812" y="14658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119058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36"/>
                </a:lnTo>
                <a:lnTo>
                  <a:pt x="47020" y="29984"/>
                </a:lnTo>
                <a:lnTo>
                  <a:pt x="45812" y="32889"/>
                </a:lnTo>
                <a:lnTo>
                  <a:pt x="44603" y="35794"/>
                </a:lnTo>
                <a:lnTo>
                  <a:pt x="23812" y="47624"/>
                </a:lnTo>
                <a:lnTo>
                  <a:pt x="20654" y="47548"/>
                </a:lnTo>
                <a:lnTo>
                  <a:pt x="17617" y="46958"/>
                </a:lnTo>
                <a:lnTo>
                  <a:pt x="14699" y="45691"/>
                </a:lnTo>
                <a:lnTo>
                  <a:pt x="11782" y="44500"/>
                </a:lnTo>
                <a:lnTo>
                  <a:pt x="0" y="26936"/>
                </a:lnTo>
                <a:lnTo>
                  <a:pt x="0" y="23812"/>
                </a:lnTo>
                <a:lnTo>
                  <a:pt x="0" y="20612"/>
                </a:lnTo>
                <a:lnTo>
                  <a:pt x="6974" y="6924"/>
                </a:lnTo>
                <a:lnTo>
                  <a:pt x="9207" y="4686"/>
                </a:lnTo>
                <a:lnTo>
                  <a:pt x="11782" y="2981"/>
                </a:lnTo>
                <a:lnTo>
                  <a:pt x="14699" y="1714"/>
                </a:lnTo>
                <a:lnTo>
                  <a:pt x="17617" y="600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24"/>
                </a:lnTo>
                <a:lnTo>
                  <a:pt x="42883" y="9153"/>
                </a:lnTo>
                <a:lnTo>
                  <a:pt x="44603" y="11753"/>
                </a:lnTo>
                <a:lnTo>
                  <a:pt x="45812" y="14658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14287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36"/>
                </a:lnTo>
                <a:lnTo>
                  <a:pt x="47020" y="29918"/>
                </a:lnTo>
                <a:lnTo>
                  <a:pt x="45812" y="32813"/>
                </a:lnTo>
                <a:lnTo>
                  <a:pt x="44603" y="35718"/>
                </a:lnTo>
                <a:lnTo>
                  <a:pt x="32925" y="45767"/>
                </a:lnTo>
                <a:lnTo>
                  <a:pt x="30007" y="46958"/>
                </a:lnTo>
                <a:lnTo>
                  <a:pt x="26970" y="47548"/>
                </a:lnTo>
                <a:lnTo>
                  <a:pt x="23812" y="47624"/>
                </a:lnTo>
                <a:lnTo>
                  <a:pt x="20654" y="47548"/>
                </a:lnTo>
                <a:lnTo>
                  <a:pt x="17617" y="46958"/>
                </a:lnTo>
                <a:lnTo>
                  <a:pt x="14699" y="45767"/>
                </a:lnTo>
                <a:lnTo>
                  <a:pt x="11782" y="44576"/>
                </a:lnTo>
                <a:lnTo>
                  <a:pt x="0" y="26936"/>
                </a:lnTo>
                <a:lnTo>
                  <a:pt x="0" y="23812"/>
                </a:lnTo>
                <a:lnTo>
                  <a:pt x="0" y="20612"/>
                </a:lnTo>
                <a:lnTo>
                  <a:pt x="604" y="17564"/>
                </a:lnTo>
                <a:lnTo>
                  <a:pt x="1812" y="14658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86"/>
                </a:lnTo>
                <a:lnTo>
                  <a:pt x="11782" y="2981"/>
                </a:lnTo>
                <a:lnTo>
                  <a:pt x="14699" y="1714"/>
                </a:lnTo>
                <a:lnTo>
                  <a:pt x="17617" y="600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5812" y="14658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81024" y="167636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15925" y="297951"/>
            <a:ext cx="3857625" cy="244411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16865">
              <a:lnSpc>
                <a:spcPct val="100000"/>
              </a:lnSpc>
              <a:spcBef>
                <a:spcPts val="42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路由</a:t>
            </a:r>
            <a:r>
              <a:rPr dirty="0" sz="1200" spc="-10" b="1">
                <a:latin typeface="Arial"/>
                <a:cs typeface="Arial"/>
              </a:rPr>
              <a:t>/</a:t>
            </a:r>
            <a:r>
              <a:rPr dirty="0" sz="1350" spc="-170" b="1">
                <a:latin typeface="Microsoft JhengHei"/>
                <a:cs typeface="Microsoft JhengHei"/>
              </a:rPr>
              <a:t>转发机制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Switch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05">
                <a:solidFill>
                  <a:srgbClr val="333333"/>
                </a:solidFill>
                <a:latin typeface="Microsoft JhengHei"/>
                <a:cs typeface="Microsoft JhengHei"/>
              </a:rPr>
              <a:t>学习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(network_layer.py:150+)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转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发表⾃动构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建</a:t>
            </a:r>
            <a:endParaRPr sz="1350">
              <a:latin typeface="SimSun"/>
              <a:cs typeface="SimSun"/>
            </a:endParaRPr>
          </a:p>
          <a:p>
            <a:pPr marL="621665" marR="2007870">
              <a:lnSpc>
                <a:spcPct val="115700"/>
              </a:lnSpc>
              <a:spcBef>
                <a:spcPts val="8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未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知地址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⾃动⼴</a:t>
            </a:r>
            <a:r>
              <a:rPr dirty="0" sz="1350" spc="-105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已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知地址精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准单</a:t>
            </a:r>
            <a:r>
              <a:rPr dirty="0" sz="1350" spc="-105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多主机处</a:t>
            </a:r>
            <a:r>
              <a:rPr dirty="0" sz="1350" spc="-170" b="1">
                <a:latin typeface="Malgun Gothic"/>
                <a:cs typeface="Malgun Gothic"/>
              </a:rPr>
              <a:t>理</a:t>
            </a:r>
            <a:r>
              <a:rPr dirty="0" sz="1200" spc="4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4+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主机同时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通信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2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Level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3: </a:t>
            </a:r>
            <a:r>
              <a:rPr dirty="0" sz="2000" spc="-200" b="1">
                <a:latin typeface="Microsoft JhengHei"/>
                <a:cs typeface="Microsoft JhengHei"/>
              </a:rPr>
              <a:t>扩展功</a:t>
            </a:r>
            <a:r>
              <a:rPr dirty="0" sz="2000" spc="-204" b="1">
                <a:latin typeface="Malgun Gothic"/>
                <a:cs typeface="Malgun Gothic"/>
              </a:rPr>
              <a:t>能 </a:t>
            </a:r>
            <a:r>
              <a:rPr dirty="0" sz="1800" spc="-5" b="1">
                <a:latin typeface="Arial"/>
                <a:cs typeface="Arial"/>
              </a:rPr>
              <a:t>- </a:t>
            </a:r>
            <a:r>
              <a:rPr dirty="0" sz="2000" spc="-200" b="1">
                <a:latin typeface="Microsoft JhengHei"/>
                <a:cs typeface="Microsoft JhengHei"/>
              </a:rPr>
              <a:t>实现</a:t>
            </a:r>
            <a:r>
              <a:rPr dirty="0" sz="1800" b="1">
                <a:latin typeface="Arial"/>
                <a:cs typeface="Arial"/>
              </a:rPr>
              <a:t>5</a:t>
            </a:r>
            <a:r>
              <a:rPr dirty="0" sz="2000" spc="-50" b="1">
                <a:latin typeface="Microsoft JhengHei"/>
                <a:cs typeface="Microsoft JhengHei"/>
              </a:rPr>
              <a:t>项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700" spc="-175" b="1">
                <a:latin typeface="Microsoft JhengHei"/>
                <a:cs typeface="Microsoft JhengHei"/>
              </a:rPr>
              <a:t>实现清单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81024" y="578163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81024" y="602928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81024" y="62674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81024" y="651506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81024" y="675318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81024" y="757233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581024" y="781046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581024" y="80581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581024" y="83057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581024" y="91153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581024" y="93630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415925" y="5248894"/>
            <a:ext cx="3624579" cy="4228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80" b="1">
                <a:latin typeface="Microsoft JhengHei"/>
                <a:cs typeface="Microsoft JhengHei"/>
              </a:rPr>
              <a:t>传输层详细</a:t>
            </a:r>
            <a:endParaRPr sz="1700">
              <a:latin typeface="Microsoft JhengHei"/>
              <a:cs typeface="Microsoft JhengHei"/>
            </a:endParaRPr>
          </a:p>
          <a:p>
            <a:pPr marL="316865" marR="332105">
              <a:lnSpc>
                <a:spcPct val="120400"/>
              </a:lnSpc>
              <a:spcBef>
                <a:spcPts val="90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可靠传</a:t>
            </a:r>
            <a:r>
              <a:rPr dirty="0" sz="1350" spc="-254">
                <a:solidFill>
                  <a:srgbClr val="333333"/>
                </a:solidFill>
                <a:latin typeface="SimSun"/>
                <a:cs typeface="SimSun"/>
              </a:rPr>
              <a:t>输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(ACK/NACK):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ReliableTransport</a:t>
            </a:r>
            <a:r>
              <a:rPr dirty="0" sz="1350" spc="-90">
                <a:solidFill>
                  <a:srgbClr val="333333"/>
                </a:solidFill>
                <a:latin typeface="SimSun"/>
                <a:cs typeface="SimSun"/>
              </a:rPr>
              <a:t>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序列号机制</a:t>
            </a:r>
            <a:r>
              <a:rPr dirty="0" sz="1200" spc="2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16</a:t>
            </a:r>
            <a:r>
              <a:rPr dirty="0" sz="1350" spc="-140">
                <a:solidFill>
                  <a:srgbClr val="333333"/>
                </a:solidFill>
                <a:latin typeface="Microsoft JhengHei"/>
                <a:cs typeface="Microsoft JhengHei"/>
              </a:rPr>
              <a:t>位序列号</a:t>
            </a:r>
            <a:endParaRPr sz="1350">
              <a:latin typeface="Microsoft JhengHei"/>
              <a:cs typeface="Microsoft JhengHei"/>
            </a:endParaRPr>
          </a:p>
          <a:p>
            <a:pPr marL="316865" marR="563880">
              <a:lnSpc>
                <a:spcPts val="1950"/>
              </a:lnSpc>
              <a:spcBef>
                <a:spcPts val="4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超时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置超时时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间（默认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0.5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秒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流控</a:t>
            </a:r>
            <a:r>
              <a:rPr dirty="0" sz="1200" spc="2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Stop-and-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Wait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13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计信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dirty="0" sz="1200" spc="4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送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接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收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endParaRPr sz="1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700" spc="-185" b="1">
                <a:latin typeface="Microsoft JhengHei"/>
                <a:cs typeface="Microsoft JhengHei"/>
              </a:rPr>
              <a:t>信道编码详细</a:t>
            </a:r>
            <a:endParaRPr sz="1700">
              <a:latin typeface="Microsoft JhengHei"/>
              <a:cs typeface="Microsoft JhengHei"/>
            </a:endParaRPr>
          </a:p>
          <a:p>
            <a:pPr marL="316865" marR="13335">
              <a:lnSpc>
                <a:spcPct val="115700"/>
              </a:lnSpc>
              <a:spcBef>
                <a:spcPts val="98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Hamming(7,4)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HammingCode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类，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单⽐特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纠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错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CRC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CRC-8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误纠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正</a:t>
            </a:r>
            <a:r>
              <a:rPr dirty="0" sz="1200" spc="3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⾃动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纠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错功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能测试</a:t>
            </a:r>
            <a:r>
              <a:rPr dirty="0" sz="1200" spc="5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有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⽆编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对⽐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，纠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分析</a:t>
            </a:r>
            <a:endParaRPr sz="1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1700" spc="-190" b="1">
                <a:latin typeface="Microsoft JhengHei"/>
                <a:cs typeface="Microsoft JhengHei"/>
              </a:rPr>
              <a:t>应⽤层协议详细</a:t>
            </a:r>
            <a:endParaRPr sz="170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1235"/>
              </a:spcBef>
            </a:pP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HTTP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议设计</a:t>
            </a:r>
            <a:r>
              <a:rPr dirty="0" sz="1200" spc="4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HTTP/1.0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准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格式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请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求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-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模式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HTTPRequest/HTTPResponse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类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1024" y="45716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1024" y="7048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81024" y="94293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81024" y="176208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81024" y="20002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81024" y="224786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81024" y="24955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81024" y="330513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81024" y="355278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81024" y="37909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81024" y="403856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15925" y="297951"/>
            <a:ext cx="3373120" cy="3854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6865" marR="939165">
              <a:lnSpc>
                <a:spcPct val="120400"/>
              </a:lnSpc>
              <a:spcBef>
                <a:spcPts val="9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议解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析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完整的头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部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主体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解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路由机制</a:t>
            </a:r>
            <a:r>
              <a:rPr dirty="0" sz="1200" spc="3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装饰器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路由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注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册</a:t>
            </a:r>
            <a:endParaRPr sz="135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状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态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200,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404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等</a:t>
            </a:r>
            <a:endParaRPr sz="1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性</a:t>
            </a:r>
            <a:r>
              <a:rPr dirty="0" sz="1700" spc="-210" b="1">
                <a:latin typeface="Malgun Gothic"/>
                <a:cs typeface="Malgun Gothic"/>
              </a:rPr>
              <a:t>能</a:t>
            </a:r>
            <a:r>
              <a:rPr dirty="0" sz="1700" spc="-175" b="1">
                <a:latin typeface="Microsoft JhengHei"/>
                <a:cs typeface="Microsoft JhengHei"/>
              </a:rPr>
              <a:t>优化详细</a:t>
            </a:r>
            <a:endParaRPr sz="170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123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种调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OOK,</a:t>
            </a:r>
            <a:r>
              <a:rPr dirty="0" sz="12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ASK,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FSK,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BPSK</a:t>
            </a:r>
            <a:endParaRPr sz="1200">
              <a:latin typeface="Arial MT"/>
              <a:cs typeface="Arial MT"/>
            </a:endParaRPr>
          </a:p>
          <a:p>
            <a:pPr marL="316865" marR="1116330">
              <a:lnSpc>
                <a:spcPts val="1950"/>
              </a:lnSpc>
              <a:spcBef>
                <a:spcPts val="4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对⽐</a:t>
            </a:r>
            <a:r>
              <a:rPr dirty="0" sz="1200" spc="3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误码率</a:t>
            </a:r>
            <a:r>
              <a:rPr dirty="0" sz="1350" spc="-140">
                <a:solidFill>
                  <a:srgbClr val="333333"/>
                </a:solidFill>
                <a:latin typeface="Microsoft JhengHei"/>
                <a:cs typeface="Microsoft JhengHei"/>
              </a:rPr>
              <a:t>曲线分析</a:t>
            </a:r>
            <a:r>
              <a:rPr dirty="0" sz="1350" spc="500">
                <a:solidFill>
                  <a:srgbClr val="333333"/>
                </a:solidFill>
                <a:latin typeface="Microsoft JhengHei"/>
                <a:cs typeface="Microsoft JhengHei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抗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测试</a:t>
            </a:r>
            <a:r>
              <a:rPr dirty="0" sz="1200" spc="2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0.5-2.5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25">
                <a:solidFill>
                  <a:srgbClr val="333333"/>
                </a:solidFill>
                <a:latin typeface="SimSun"/>
                <a:cs typeface="SimSun"/>
              </a:rPr>
              <a:t>范围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21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视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化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modulation_comparison.png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表</a:t>
            </a:r>
            <a:endParaRPr sz="1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并发处</a:t>
            </a:r>
            <a:r>
              <a:rPr dirty="0" sz="1700" spc="-210" b="1">
                <a:latin typeface="Malgun Gothic"/>
                <a:cs typeface="Malgun Gothic"/>
              </a:rPr>
              <a:t>理</a:t>
            </a:r>
            <a:r>
              <a:rPr dirty="0" sz="1700" spc="-130" b="1">
                <a:latin typeface="Microsoft JhengHei"/>
                <a:cs typeface="Microsoft JhengHei"/>
              </a:rPr>
              <a:t>详细</a:t>
            </a:r>
            <a:endParaRPr sz="170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123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threading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+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ThreadPoolExecutor</a:t>
            </a:r>
            <a:endParaRPr sz="1200">
              <a:latin typeface="Arial MT"/>
              <a:cs typeface="Arial MT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并发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访问</a:t>
            </a:r>
            <a:r>
              <a:rPr dirty="0" sz="1200" spc="3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Queue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安全</a:t>
            </a:r>
            <a:endParaRPr sz="1350">
              <a:latin typeface="Microsoft JhengHei"/>
              <a:cs typeface="Microsoft JhengHei"/>
            </a:endParaRPr>
          </a:p>
          <a:p>
            <a:pPr marL="316865" marR="722630">
              <a:lnSpc>
                <a:spcPts val="1950"/>
              </a:lnSpc>
              <a:spcBef>
                <a:spcPts val="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⾼并发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测试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主机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×3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息同时发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dirty="0" sz="1200" spc="3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并发性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15925" y="4762738"/>
            <a:ext cx="2692400" cy="3873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50" spc="-260" b="1">
                <a:latin typeface="Microsoft JhengHei"/>
                <a:cs typeface="Microsoft JhengHei"/>
              </a:rPr>
              <a:t>遇到</a:t>
            </a:r>
            <a:r>
              <a:rPr dirty="0" sz="2350" spc="-260" b="1">
                <a:latin typeface="Malgun Gothic"/>
                <a:cs typeface="Malgun Gothic"/>
              </a:rPr>
              <a:t>的</a:t>
            </a:r>
            <a:r>
              <a:rPr dirty="0" sz="2350" spc="-270" b="1">
                <a:latin typeface="Microsoft JhengHei"/>
                <a:cs typeface="Microsoft JhengHei"/>
              </a:rPr>
              <a:t>挑战与解决⽅案</a:t>
            </a:r>
            <a:endParaRPr sz="2350">
              <a:latin typeface="Microsoft JhengHei"/>
              <a:cs typeface="Microsoft JhengHei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885824" y="75056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885824" y="77533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885824" y="79914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885824" y="84867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20654" y="47548"/>
                </a:lnTo>
                <a:lnTo>
                  <a:pt x="17617" y="46958"/>
                </a:lnTo>
                <a:lnTo>
                  <a:pt x="14699" y="45691"/>
                </a:lnTo>
                <a:lnTo>
                  <a:pt x="11782" y="44576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32925" y="45691"/>
                </a:lnTo>
                <a:lnTo>
                  <a:pt x="30007" y="46958"/>
                </a:lnTo>
                <a:lnTo>
                  <a:pt x="26970" y="47548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885824" y="87248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885824" y="89725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885824" y="94582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415925" y="5396341"/>
            <a:ext cx="6812280" cy="41763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200" b="1">
                <a:latin typeface="Microsoft JhengHei"/>
                <a:cs typeface="Microsoft JhengHei"/>
              </a:rPr>
              <a:t>挑战</a:t>
            </a:r>
            <a:r>
              <a:rPr dirty="0" sz="1800" b="1">
                <a:latin typeface="Arial"/>
                <a:cs typeface="Arial"/>
              </a:rPr>
              <a:t>1: </a:t>
            </a:r>
            <a:r>
              <a:rPr dirty="0" sz="2000" spc="-200" b="1">
                <a:latin typeface="Malgun Gothic"/>
                <a:cs typeface="Malgun Gothic"/>
              </a:rPr>
              <a:t>噪</a:t>
            </a:r>
            <a:r>
              <a:rPr dirty="0" sz="2000" spc="-200" b="1">
                <a:latin typeface="Microsoft JhengHei"/>
                <a:cs typeface="Microsoft JhengHei"/>
              </a:rPr>
              <a:t>声环</a:t>
            </a:r>
            <a:r>
              <a:rPr dirty="0" sz="2000" spc="-200" b="1">
                <a:latin typeface="Malgun Gothic"/>
                <a:cs typeface="Malgun Gothic"/>
              </a:rPr>
              <a:t>境</a:t>
            </a:r>
            <a:r>
              <a:rPr dirty="0" sz="2000" spc="-200" b="1">
                <a:latin typeface="Microsoft JhengHei"/>
                <a:cs typeface="Microsoft JhengHei"/>
              </a:rPr>
              <a:t>下</a:t>
            </a:r>
            <a:r>
              <a:rPr dirty="0" sz="2000" spc="-200" b="1">
                <a:latin typeface="Malgun Gothic"/>
                <a:cs typeface="Malgun Gothic"/>
              </a:rPr>
              <a:t>的</a:t>
            </a:r>
            <a:r>
              <a:rPr dirty="0" sz="2000" spc="-170" b="1">
                <a:latin typeface="Microsoft JhengHei"/>
                <a:cs typeface="Microsoft JhengHei"/>
              </a:rPr>
              <a:t>误码率过⾼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问题</a:t>
            </a:r>
            <a:r>
              <a:rPr dirty="0" sz="1350" spc="-170" b="1">
                <a:latin typeface="Malgun Gothic"/>
                <a:cs typeface="Malgun Gothic"/>
              </a:rPr>
              <a:t>描</a:t>
            </a:r>
            <a:r>
              <a:rPr dirty="0" sz="1350" spc="-170" b="1">
                <a:latin typeface="Microsoft JhengHei"/>
                <a:cs typeface="Microsoft JhengHei"/>
              </a:rPr>
              <a:t>述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20400"/>
              </a:lnSpc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早期实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中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，当噪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声⽔平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noise_level &gt; 0.1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，误码率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急剧上升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导致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完全失败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简单的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定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值解调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法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法适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应不同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环境。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解决⽅案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35" b="1">
                <a:latin typeface="Microsoft JhengHei"/>
                <a:cs typeface="Microsoft JhengHei"/>
              </a:rPr>
              <a:t>实现⾃适应阈值算法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(physical_layer.py:222-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258)</a:t>
            </a:r>
            <a:endParaRPr sz="1200">
              <a:latin typeface="Arial MT"/>
              <a:cs typeface="Arial MT"/>
            </a:endParaRPr>
          </a:p>
          <a:p>
            <a:pPr marL="621665" marR="4048125">
              <a:lnSpc>
                <a:spcPts val="1950"/>
              </a:lnSpc>
              <a:spcBef>
                <a:spcPts val="4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计接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信</a:t>
            </a:r>
            <a:r>
              <a:rPr dirty="0" sz="1350" spc="-155">
                <a:solidFill>
                  <a:srgbClr val="333333"/>
                </a:solidFill>
                <a:latin typeface="Microsoft JhengHei"/>
                <a:cs typeface="Microsoft JhengHei"/>
              </a:rPr>
              <a:t>号的⾼低电平分布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使⽤中位数分割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法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dirty="0" sz="1350" spc="-140">
                <a:solidFill>
                  <a:srgbClr val="333333"/>
                </a:solidFill>
                <a:latin typeface="Microsoft JhengHei"/>
                <a:cs typeface="Microsoft JhengHei"/>
              </a:rPr>
              <a:t>⾼低电平</a:t>
            </a:r>
            <a:endParaRPr sz="135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13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动态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算最优判决</a:t>
            </a:r>
            <a:r>
              <a:rPr dirty="0" sz="1350" spc="-225">
                <a:solidFill>
                  <a:srgbClr val="333333"/>
                </a:solidFill>
                <a:latin typeface="SimSun"/>
                <a:cs typeface="SimSun"/>
              </a:rPr>
              <a:t>阈值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= (</a:t>
            </a:r>
            <a:r>
              <a:rPr dirty="0" sz="1350" spc="-125">
                <a:solidFill>
                  <a:srgbClr val="333333"/>
                </a:solidFill>
                <a:latin typeface="Microsoft JhengHei"/>
                <a:cs typeface="Microsoft JhengHei"/>
              </a:rPr>
              <a:t>⾼电平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+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低电平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) / 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350" spc="-170" b="1">
                <a:latin typeface="Malgun Gothic"/>
                <a:cs typeface="Malgun Gothic"/>
              </a:rPr>
              <a:t>增</a:t>
            </a:r>
            <a:r>
              <a:rPr dirty="0" sz="1350" spc="-170" b="1">
                <a:latin typeface="Microsoft JhengHei"/>
                <a:cs typeface="Microsoft JhengHei"/>
              </a:rPr>
              <a:t>加</a:t>
            </a:r>
            <a:r>
              <a:rPr dirty="0" sz="1350" spc="-170" b="1">
                <a:latin typeface="Malgun Gothic"/>
                <a:cs typeface="Malgun Gothic"/>
              </a:rPr>
              <a:t>采</a:t>
            </a:r>
            <a:r>
              <a:rPr dirty="0" sz="1350" spc="-170" b="1">
                <a:latin typeface="Microsoft JhengHei"/>
                <a:cs typeface="Microsoft JhengHei"/>
              </a:rPr>
              <a:t>样</a:t>
            </a:r>
            <a:r>
              <a:rPr dirty="0" sz="1350" spc="-170" b="1">
                <a:latin typeface="Malgun Gothic"/>
                <a:cs typeface="Malgun Gothic"/>
              </a:rPr>
              <a:t>点</a:t>
            </a:r>
            <a:r>
              <a:rPr dirty="0" sz="1350" spc="-170" b="1">
                <a:latin typeface="Microsoft JhengHei"/>
                <a:cs typeface="Microsoft JhengHei"/>
              </a:rPr>
              <a:t>数</a:t>
            </a:r>
            <a:r>
              <a:rPr dirty="0" sz="1350" spc="-50" b="1">
                <a:latin typeface="Malgun Gothic"/>
                <a:cs typeface="Malgun Gothic"/>
              </a:rPr>
              <a:t>量</a:t>
            </a:r>
            <a:endParaRPr sz="1350">
              <a:latin typeface="Malgun Gothic"/>
              <a:cs typeface="Malgun Gothic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bit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个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⽽⾮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个</a:t>
            </a:r>
            <a:endParaRPr sz="1350">
              <a:latin typeface="Microsoft JhengHei"/>
              <a:cs typeface="Microsoft JhengHei"/>
            </a:endParaRPr>
          </a:p>
          <a:p>
            <a:pPr marL="621665" marR="3879215">
              <a:lnSpc>
                <a:spcPts val="1950"/>
              </a:lnSpc>
              <a:spcBef>
                <a:spcPts val="4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利⽤平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效应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影响约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有效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80">
                <a:solidFill>
                  <a:srgbClr val="333333"/>
                </a:solidFill>
                <a:latin typeface="Microsoft JhengHei"/>
                <a:cs typeface="Microsoft JhengHei"/>
              </a:rPr>
              <a:t>声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=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际噪</a:t>
            </a:r>
            <a:r>
              <a:rPr dirty="0" sz="1350" spc="-80">
                <a:solidFill>
                  <a:srgbClr val="333333"/>
                </a:solidFill>
                <a:latin typeface="Microsoft JhengHei"/>
                <a:cs typeface="Microsoft JhengHei"/>
              </a:rPr>
              <a:t>声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/ 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采样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135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50" b="1">
                <a:latin typeface="Microsoft JhengHei"/>
                <a:cs typeface="Microsoft JhengHei"/>
              </a:rPr>
              <a:t>实现信道编码</a:t>
            </a:r>
            <a:endParaRPr sz="135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Hamming(7,4)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纠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纠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正单⽐特错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5824" y="4571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1024" y="12477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81024" y="14953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15925" y="338947"/>
            <a:ext cx="3443604" cy="1270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21665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环境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下显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著提</a:t>
            </a:r>
            <a:r>
              <a:rPr dirty="0" sz="1350" spc="-140">
                <a:solidFill>
                  <a:srgbClr val="333333"/>
                </a:solidFill>
                <a:latin typeface="Microsoft JhengHei"/>
                <a:cs typeface="Microsoft JhengHei"/>
              </a:rPr>
              <a:t>⾼可靠性</a:t>
            </a:r>
            <a:endParaRPr sz="1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效果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00">
              <a:latin typeface="Arial MT"/>
              <a:cs typeface="Arial MT"/>
            </a:endParaRPr>
          </a:p>
          <a:p>
            <a:pPr marL="316865">
              <a:lnSpc>
                <a:spcPct val="100000"/>
              </a:lnSpc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dirty="0" sz="1200" spc="-100">
                <a:solidFill>
                  <a:srgbClr val="333333"/>
                </a:solidFill>
                <a:latin typeface="Arial MT"/>
                <a:cs typeface="Arial MT"/>
              </a:rPr>
              <a:t>σ=2.0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声下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，误码率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从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30%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低到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1.36%</a:t>
            </a:r>
            <a:endParaRPr sz="1200">
              <a:latin typeface="Arial MT"/>
              <a:cs typeface="Arial MT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⾃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适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阈值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适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0.01-2.5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范围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85824" y="73246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75628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80485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82962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81024" y="90868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81024" y="93344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415925" y="2214991"/>
            <a:ext cx="6917690" cy="7233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200" b="1">
                <a:latin typeface="Microsoft JhengHei"/>
                <a:cs typeface="Microsoft JhengHei"/>
              </a:rPr>
              <a:t>挑战</a:t>
            </a:r>
            <a:r>
              <a:rPr dirty="0" sz="1800" b="1">
                <a:latin typeface="Arial"/>
                <a:cs typeface="Arial"/>
              </a:rPr>
              <a:t>2:</a:t>
            </a:r>
            <a:r>
              <a:rPr dirty="0" sz="1800" spc="15" b="1">
                <a:latin typeface="Arial"/>
                <a:cs typeface="Arial"/>
              </a:rPr>
              <a:t> </a:t>
            </a:r>
            <a:r>
              <a:rPr dirty="0" sz="2000" spc="-200" b="1">
                <a:latin typeface="Microsoft JhengHei"/>
                <a:cs typeface="Microsoft JhengHei"/>
              </a:rPr>
              <a:t>交换机</a:t>
            </a:r>
            <a:r>
              <a:rPr dirty="0" sz="1800" spc="-20" b="1">
                <a:latin typeface="Arial"/>
                <a:cs typeface="Arial"/>
              </a:rPr>
              <a:t>MAC</a:t>
            </a:r>
            <a:r>
              <a:rPr dirty="0" sz="2000" spc="-200" b="1">
                <a:latin typeface="Microsoft JhengHei"/>
                <a:cs typeface="Microsoft JhengHei"/>
              </a:rPr>
              <a:t>学习</a:t>
            </a:r>
            <a:r>
              <a:rPr dirty="0" sz="2000" spc="-200" b="1">
                <a:latin typeface="Malgun Gothic"/>
                <a:cs typeface="Malgun Gothic"/>
              </a:rPr>
              <a:t>的</a:t>
            </a:r>
            <a:r>
              <a:rPr dirty="0" sz="2000" spc="-200" b="1">
                <a:latin typeface="Microsoft JhengHei"/>
                <a:cs typeface="Microsoft JhengHei"/>
              </a:rPr>
              <a:t>⼴</a:t>
            </a:r>
            <a:r>
              <a:rPr dirty="0" sz="2000" spc="-200" b="1">
                <a:latin typeface="Malgun Gothic"/>
                <a:cs typeface="Malgun Gothic"/>
              </a:rPr>
              <a:t>播</a:t>
            </a:r>
            <a:r>
              <a:rPr dirty="0" sz="2000" spc="-165" b="1">
                <a:latin typeface="Microsoft JhengHei"/>
                <a:cs typeface="Microsoft JhengHei"/>
              </a:rPr>
              <a:t>⻛暴问题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问题</a:t>
            </a:r>
            <a:r>
              <a:rPr dirty="0" sz="1350" spc="-170" b="1">
                <a:latin typeface="Malgun Gothic"/>
                <a:cs typeface="Malgun Gothic"/>
              </a:rPr>
              <a:t>描</a:t>
            </a:r>
            <a:r>
              <a:rPr dirty="0" sz="1350" spc="-170" b="1">
                <a:latin typeface="Microsoft JhengHei"/>
                <a:cs typeface="Microsoft JhengHei"/>
              </a:rPr>
              <a:t>述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15700"/>
              </a:lnSpc>
              <a:spcBef>
                <a:spcPts val="8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多主机⽹络中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由于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表初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空，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所有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都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会被⼴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到所有端⼝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导致⽹络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流量激增。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特别是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个以上主机时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播流量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占⽐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达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到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80%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以上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解决⽅案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20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spcBef>
                <a:spcPts val="5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优化</a:t>
            </a:r>
            <a:r>
              <a:rPr dirty="0" sz="1200" b="1">
                <a:latin typeface="Arial"/>
                <a:cs typeface="Arial"/>
              </a:rPr>
              <a:t>MAC</a:t>
            </a:r>
            <a:r>
              <a:rPr dirty="0" sz="1350" spc="-100" b="1">
                <a:latin typeface="Microsoft JhengHei"/>
                <a:cs typeface="Microsoft JhengHei"/>
              </a:rPr>
              <a:t>学习算法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(network_layer.py:165-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180)</a:t>
            </a:r>
            <a:endParaRPr sz="1200">
              <a:latin typeface="Arial MT"/>
              <a:cs typeface="Arial MT"/>
            </a:endParaRPr>
          </a:p>
          <a:p>
            <a:pPr marL="723900" marR="3620135" indent="-285115">
              <a:lnSpc>
                <a:spcPct val="137500"/>
              </a:lnSpc>
              <a:spcBef>
                <a:spcPts val="98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forward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-10">
                <a:latin typeface="Consolas"/>
                <a:cs typeface="Consolas"/>
              </a:rPr>
              <a:t>incoming_port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立即学习源</a:t>
            </a:r>
            <a:r>
              <a:rPr dirty="0" sz="1000" spc="-25">
                <a:solidFill>
                  <a:srgbClr val="424442"/>
                </a:solidFill>
                <a:latin typeface="Consolas"/>
                <a:cs typeface="Consolas"/>
              </a:rPr>
              <a:t>MAC</a:t>
            </a:r>
            <a:endParaRPr sz="1000">
              <a:latin typeface="Consolas"/>
              <a:cs typeface="Consolas"/>
            </a:endParaRPr>
          </a:p>
          <a:p>
            <a:pPr algn="ctr" marR="225552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mac_table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src_mac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8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9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incoming_port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723900">
              <a:lnSpc>
                <a:spcPct val="1000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424442"/>
                </a:solidFill>
                <a:latin typeface="NSimSun"/>
                <a:cs typeface="NSimSun"/>
              </a:rPr>
              <a:t>查表转发</a:t>
            </a:r>
            <a:endParaRPr sz="1000">
              <a:latin typeface="NSimSun"/>
              <a:cs typeface="NSimSun"/>
            </a:endParaRPr>
          </a:p>
          <a:p>
            <a:pPr marL="1009015" marR="3691254" indent="-285115">
              <a:lnSpc>
                <a:spcPct val="1375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dst_mac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mac_table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424442"/>
                </a:solidFill>
                <a:latin typeface="NSimSun"/>
                <a:cs typeface="NSimSun"/>
              </a:rPr>
              <a:t>精准单播</a:t>
            </a:r>
            <a:endParaRPr sz="1000">
              <a:latin typeface="NSimSun"/>
              <a:cs typeface="NSimSun"/>
            </a:endParaRPr>
          </a:p>
          <a:p>
            <a:pPr marL="723900" marR="1910714" indent="284480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_send_to_port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mac_table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dst_mac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],</a:t>
            </a:r>
            <a:r>
              <a:rPr dirty="0" sz="1000" spc="27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else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1009015">
              <a:lnSpc>
                <a:spcPct val="100000"/>
              </a:lnSpc>
              <a:spcBef>
                <a:spcPts val="450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5">
                <a:solidFill>
                  <a:srgbClr val="424442"/>
                </a:solidFill>
                <a:latin typeface="NSimSun"/>
                <a:cs typeface="NSimSun"/>
              </a:rPr>
              <a:t>仅在必要时广播</a:t>
            </a:r>
            <a:endParaRPr sz="1000">
              <a:latin typeface="NSimSun"/>
              <a:cs typeface="NSimSun"/>
            </a:endParaRPr>
          </a:p>
          <a:p>
            <a:pPr algn="ctr" marR="225552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_broadcast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incoming_port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>
              <a:latin typeface="Consolas"/>
              <a:cs typeface="Consolas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MAC</a:t>
            </a:r>
            <a:r>
              <a:rPr dirty="0" sz="1350" spc="-150" b="1">
                <a:latin typeface="Microsoft JhengHei"/>
                <a:cs typeface="Microsoft JhengHei"/>
              </a:rPr>
              <a:t>表⽼化机制</a:t>
            </a:r>
            <a:endParaRPr sz="1350">
              <a:latin typeface="Microsoft JhengHei"/>
              <a:cs typeface="Microsoft JhengHei"/>
            </a:endParaRPr>
          </a:p>
          <a:p>
            <a:pPr marL="621665" marR="3543935">
              <a:lnSpc>
                <a:spcPct val="115700"/>
              </a:lnSpc>
              <a:spcBef>
                <a:spcPts val="7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加时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间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戳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⾃动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清除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⻓时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间</a:t>
            </a:r>
            <a:r>
              <a:rPr dirty="0" sz="1350" spc="-150">
                <a:solidFill>
                  <a:srgbClr val="333333"/>
                </a:solidFill>
                <a:latin typeface="Microsoft JhengHei"/>
                <a:cs typeface="Microsoft JhengHei"/>
              </a:rPr>
              <a:t>未⽤的条⽬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避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免表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项过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期导致的错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误转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55" b="1">
                <a:latin typeface="Microsoft JhengHei"/>
                <a:cs typeface="Microsoft JhengHei"/>
              </a:rPr>
              <a:t>预加载静态路由</a:t>
            </a:r>
            <a:endParaRPr sz="1350">
              <a:latin typeface="Microsoft JhengHei"/>
              <a:cs typeface="Microsoft JhengHei"/>
            </a:endParaRPr>
          </a:p>
          <a:p>
            <a:pPr marL="621665" marR="3510279">
              <a:lnSpc>
                <a:spcPts val="1950"/>
              </a:lnSpc>
              <a:spcBef>
                <a:spcPts val="4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对于已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知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扑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预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置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完全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消除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初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效果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00">
              <a:latin typeface="Arial MT"/>
              <a:cs typeface="Arial MT"/>
            </a:endParaRPr>
          </a:p>
          <a:p>
            <a:pPr marL="316865">
              <a:lnSpc>
                <a:spcPct val="100000"/>
              </a:lnSpc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播流量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从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80%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低到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5%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以下</a:t>
            </a:r>
            <a:endParaRPr sz="135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⽹络吞吐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约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3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倍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1024" y="4571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20724" y="338947"/>
            <a:ext cx="160464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学习收敛时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间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&lt;1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秒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81024" y="24193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81024" y="26574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39433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41814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44290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64102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5824" y="66484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81024" y="74389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81024" y="76866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81024" y="79342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15925" y="1186291"/>
            <a:ext cx="4991100" cy="68624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200" b="1">
                <a:latin typeface="Microsoft JhengHei"/>
                <a:cs typeface="Microsoft JhengHei"/>
              </a:rPr>
              <a:t>挑战</a:t>
            </a:r>
            <a:r>
              <a:rPr dirty="0" sz="1800" b="1">
                <a:latin typeface="Arial"/>
                <a:cs typeface="Arial"/>
              </a:rPr>
              <a:t>3:</a:t>
            </a:r>
            <a:r>
              <a:rPr dirty="0" sz="1800" spc="60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Shannon</a:t>
            </a:r>
            <a:r>
              <a:rPr dirty="0" sz="2000" spc="-200" b="1">
                <a:latin typeface="Microsoft JhengHei"/>
                <a:cs typeface="Microsoft JhengHei"/>
              </a:rPr>
              <a:t>容</a:t>
            </a:r>
            <a:r>
              <a:rPr dirty="0" sz="2000" spc="-200" b="1">
                <a:latin typeface="Malgun Gothic"/>
                <a:cs typeface="Malgun Gothic"/>
              </a:rPr>
              <a:t>量</a:t>
            </a:r>
            <a:r>
              <a:rPr dirty="0" sz="2000" spc="-200" b="1">
                <a:latin typeface="Microsoft JhengHei"/>
                <a:cs typeface="Microsoft JhengHei"/>
              </a:rPr>
              <a:t>对⽐</a:t>
            </a:r>
            <a:r>
              <a:rPr dirty="0" sz="2000" spc="-200" b="1">
                <a:latin typeface="Malgun Gothic"/>
                <a:cs typeface="Malgun Gothic"/>
              </a:rPr>
              <a:t>的</a:t>
            </a:r>
            <a:r>
              <a:rPr dirty="0" sz="2000" spc="-165" b="1">
                <a:latin typeface="Microsoft JhengHei"/>
                <a:cs typeface="Microsoft JhengHei"/>
              </a:rPr>
              <a:t>概念错误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问题</a:t>
            </a:r>
            <a:r>
              <a:rPr dirty="0" sz="1350" spc="-170" b="1">
                <a:latin typeface="Malgun Gothic"/>
                <a:cs typeface="Malgun Gothic"/>
              </a:rPr>
              <a:t>描</a:t>
            </a:r>
            <a:r>
              <a:rPr dirty="0" sz="1350" spc="-170" b="1">
                <a:latin typeface="Microsoft JhengHei"/>
                <a:cs typeface="Microsoft JhengHei"/>
              </a:rPr>
              <a:t>述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50" spc="-114">
                <a:solidFill>
                  <a:srgbClr val="333333"/>
                </a:solidFill>
                <a:latin typeface="Microsoft JhengHei"/>
                <a:cs typeface="Microsoft JhengHei"/>
              </a:rPr>
              <a:t>最初使⽤ </a:t>
            </a:r>
            <a:r>
              <a:rPr dirty="0" sz="1000">
                <a:latin typeface="Consolas"/>
                <a:cs typeface="Consolas"/>
              </a:rPr>
              <a:t>(1-BER)</a:t>
            </a:r>
            <a:r>
              <a:rPr dirty="0" sz="1000" spc="-85">
                <a:latin typeface="Consolas"/>
                <a:cs typeface="Consolas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作为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"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"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与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Shannon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对⽐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但两者单位不同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：</a:t>
            </a:r>
            <a:endParaRPr sz="1350">
              <a:latin typeface="SimSun"/>
              <a:cs typeface="SimSun"/>
            </a:endParaRPr>
          </a:p>
          <a:p>
            <a:pPr marL="316865" marR="1684020">
              <a:lnSpc>
                <a:spcPct val="115700"/>
              </a:lnSpc>
              <a:spcBef>
                <a:spcPts val="128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Shannon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单位</a:t>
            </a:r>
            <a:r>
              <a:rPr dirty="0" sz="1200" spc="6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bits/symbol</a:t>
            </a:r>
            <a:r>
              <a:rPr dirty="0" sz="1350" spc="-2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输速率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1-BER:</a:t>
            </a:r>
            <a:r>
              <a:rPr dirty="0" sz="1200" spc="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纲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成功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这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导致对⽐结果没有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义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解决⽅案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20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spcBef>
                <a:spcPts val="5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algun Gothic"/>
                <a:cs typeface="Malgun Gothic"/>
              </a:rPr>
              <a:t>理</a:t>
            </a:r>
            <a:r>
              <a:rPr dirty="0" sz="1350" spc="-130" b="1">
                <a:latin typeface="Microsoft JhengHei"/>
                <a:cs typeface="Microsoft JhengHei"/>
              </a:rPr>
              <a:t>清概念</a:t>
            </a:r>
            <a:endParaRPr sz="135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Shannon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最⼤传</a:t>
            </a:r>
            <a:r>
              <a:rPr dirty="0" sz="1350" spc="-215">
                <a:solidFill>
                  <a:srgbClr val="333333"/>
                </a:solidFill>
                <a:latin typeface="SimSun"/>
                <a:cs typeface="SimSun"/>
              </a:rPr>
              <a:t>输速率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=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×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log</a:t>
            </a:r>
            <a:r>
              <a:rPr dirty="0" sz="1200">
                <a:solidFill>
                  <a:srgbClr val="333333"/>
                </a:solidFill>
                <a:latin typeface="Segoe UI"/>
                <a:cs typeface="Segoe UI"/>
              </a:rPr>
              <a:t>₂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(1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+ 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SNR)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际速率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定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bit/symbol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频谱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dirty="0" sz="1350" spc="-225">
                <a:solidFill>
                  <a:srgbClr val="333333"/>
                </a:solidFill>
                <a:latin typeface="SimSun"/>
                <a:cs typeface="SimSun"/>
              </a:rPr>
              <a:t>速率 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/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Shannon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修</a:t>
            </a:r>
            <a:r>
              <a:rPr dirty="0" sz="1350" spc="-170" b="1">
                <a:latin typeface="Malgun Gothic"/>
                <a:cs typeface="Malgun Gothic"/>
              </a:rPr>
              <a:t>正</a:t>
            </a:r>
            <a:r>
              <a:rPr dirty="0" sz="1350" spc="-140" b="1">
                <a:latin typeface="Microsoft JhengHei"/>
                <a:cs typeface="Microsoft JhengHei"/>
              </a:rPr>
              <a:t>对⽐⽅法</a:t>
            </a:r>
            <a:endParaRPr sz="1350">
              <a:latin typeface="Microsoft JhengHei"/>
              <a:cs typeface="Microsoft JhengHei"/>
            </a:endParaRPr>
          </a:p>
          <a:p>
            <a:pPr marL="438784" marR="482600">
              <a:lnSpc>
                <a:spcPct val="137500"/>
              </a:lnSpc>
              <a:spcBef>
                <a:spcPts val="1055"/>
              </a:spcBef>
              <a:tabLst>
                <a:tab pos="1578610" algn="l"/>
                <a:tab pos="3573779" algn="l"/>
              </a:tabLst>
            </a:pPr>
            <a:r>
              <a:rPr dirty="0" sz="1000">
                <a:latin typeface="Consolas"/>
                <a:cs typeface="Consolas"/>
              </a:rPr>
              <a:t>shannon_capacity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>
                <a:latin typeface="Consolas"/>
                <a:cs typeface="Consolas"/>
              </a:rPr>
              <a:t>np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log2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50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+ </a:t>
            </a:r>
            <a:r>
              <a:rPr dirty="0" sz="1000" spc="-10">
                <a:latin typeface="Consolas"/>
                <a:cs typeface="Consolas"/>
              </a:rPr>
              <a:t>snr_linear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bits/symbol </a:t>
            </a:r>
            <a:r>
              <a:rPr dirty="0" sz="1000">
                <a:latin typeface="Consolas"/>
                <a:cs typeface="Consolas"/>
              </a:rPr>
              <a:t>ook_rate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1.0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	</a:t>
            </a:r>
            <a:r>
              <a:rPr dirty="0" sz="1000" spc="1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OOK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固定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1</a:t>
            </a:r>
            <a:r>
              <a:rPr dirty="0" sz="1000" spc="25">
                <a:solidFill>
                  <a:srgbClr val="424442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bit/symbol</a:t>
            </a:r>
            <a:endParaRPr sz="1000">
              <a:latin typeface="Consolas"/>
              <a:cs typeface="Consolas"/>
            </a:endParaRPr>
          </a:p>
          <a:p>
            <a:pPr marL="438784">
              <a:lnSpc>
                <a:spcPct val="100000"/>
              </a:lnSpc>
              <a:spcBef>
                <a:spcPts val="525"/>
              </a:spcBef>
              <a:tabLst>
                <a:tab pos="3430904" algn="l"/>
              </a:tabLst>
            </a:pPr>
            <a:r>
              <a:rPr dirty="0" sz="1000">
                <a:latin typeface="Consolas"/>
                <a:cs typeface="Consolas"/>
              </a:rPr>
              <a:t>efficiency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>
                <a:latin typeface="Consolas"/>
                <a:cs typeface="Consolas"/>
              </a:rPr>
              <a:t>ook_rate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/ </a:t>
            </a:r>
            <a:r>
              <a:rPr dirty="0" sz="1000" spc="-10">
                <a:latin typeface="Consolas"/>
                <a:cs typeface="Consolas"/>
              </a:rPr>
              <a:t>shannon_capacity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424442"/>
                </a:solidFill>
                <a:latin typeface="NSimSun"/>
                <a:cs typeface="NSimSun"/>
              </a:rPr>
              <a:t>频谱效率</a:t>
            </a:r>
            <a:endParaRPr sz="1000">
              <a:latin typeface="NSimSun"/>
              <a:cs typeface="NSimSun"/>
            </a:endParaRPr>
          </a:p>
          <a:p>
            <a:pPr marL="438784">
              <a:lnSpc>
                <a:spcPct val="100000"/>
              </a:lnSpc>
              <a:spcBef>
                <a:spcPts val="450"/>
              </a:spcBef>
              <a:tabLst>
                <a:tab pos="2291080" algn="l"/>
              </a:tabLst>
            </a:pPr>
            <a:r>
              <a:rPr dirty="0" sz="1000">
                <a:latin typeface="Consolas"/>
                <a:cs typeface="Consolas"/>
              </a:rPr>
              <a:t>success_rate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1.0</a:t>
            </a:r>
            <a:r>
              <a:rPr dirty="0" sz="1000" spc="35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 </a:t>
            </a:r>
            <a:r>
              <a:rPr dirty="0" sz="1000" spc="-25">
                <a:latin typeface="Consolas"/>
                <a:cs typeface="Consolas"/>
              </a:rPr>
              <a:t>ber</a:t>
            </a:r>
            <a:r>
              <a:rPr dirty="0" sz="1000">
                <a:latin typeface="Consolas"/>
                <a:cs typeface="Consolas"/>
              </a:rPr>
              <a:t>	</a:t>
            </a: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传输成功率（另外统计</a:t>
            </a:r>
            <a:r>
              <a:rPr dirty="0" sz="1000" spc="-50">
                <a:solidFill>
                  <a:srgbClr val="424442"/>
                </a:solidFill>
                <a:latin typeface="NSimSun"/>
                <a:cs typeface="NSimSun"/>
              </a:rPr>
              <a:t>）</a:t>
            </a:r>
            <a:endParaRPr sz="1000">
              <a:latin typeface="NSimSun"/>
              <a:cs typeface="NSimSun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000">
              <a:latin typeface="NSimSun"/>
              <a:cs typeface="NSimSun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分</a:t>
            </a:r>
            <a:r>
              <a:rPr dirty="0" sz="1350" spc="-170" b="1">
                <a:latin typeface="Malgun Gothic"/>
                <a:cs typeface="Malgun Gothic"/>
              </a:rPr>
              <a:t>离</a:t>
            </a:r>
            <a:r>
              <a:rPr dirty="0" sz="1350" spc="-140" b="1">
                <a:latin typeface="Microsoft JhengHei"/>
                <a:cs typeface="Microsoft JhengHei"/>
              </a:rPr>
              <a:t>指标展⽰</a:t>
            </a:r>
            <a:endParaRPr sz="1350">
              <a:latin typeface="Microsoft JhengHei"/>
              <a:cs typeface="Microsoft JhengHei"/>
            </a:endParaRPr>
          </a:p>
          <a:p>
            <a:pPr marL="621665" marR="617855">
              <a:lnSpc>
                <a:spcPct val="115700"/>
              </a:lnSpc>
              <a:spcBef>
                <a:spcPts val="8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频谱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: 8%-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29%</a:t>
            </a:r>
            <a:r>
              <a:rPr dirty="0" sz="1350" spc="-35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只⽤了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的⼀⼩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分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成功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200" spc="6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100%</a:t>
            </a:r>
            <a:r>
              <a:rPr dirty="0" sz="1350" spc="-4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环境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下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效果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200">
              <a:latin typeface="Arial MT"/>
              <a:cs typeface="Arial MT"/>
            </a:endParaRPr>
          </a:p>
          <a:p>
            <a:pPr marL="316865">
              <a:lnSpc>
                <a:spcPct val="100000"/>
              </a:lnSpc>
              <a:spcBef>
                <a:spcPts val="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正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确理解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Shannon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的含义</a:t>
            </a:r>
            <a:endParaRPr sz="1350">
              <a:latin typeface="Microsoft JhengHei"/>
              <a:cs typeface="Microsoft JhengHei"/>
            </a:endParaRPr>
          </a:p>
          <a:p>
            <a:pPr marL="316865" marR="1278890">
              <a:lnSpc>
                <a:spcPct val="120400"/>
              </a:lnSpc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清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晰展⽰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频谱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低但可靠性⾼的特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为后续实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阶调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如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QAM</a:t>
            </a:r>
            <a:r>
              <a:rPr dirty="0" sz="1350" spc="-55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供</a:t>
            </a:r>
            <a:r>
              <a:rPr dirty="0" sz="1350" spc="-140">
                <a:solidFill>
                  <a:srgbClr val="333333"/>
                </a:solidFill>
                <a:latin typeface="SimSun"/>
                <a:cs typeface="SimSun"/>
              </a:rPr>
              <a:t>理论基础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15925" y="8653891"/>
            <a:ext cx="6867525" cy="95694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200" b="1">
                <a:latin typeface="Microsoft JhengHei"/>
                <a:cs typeface="Microsoft JhengHei"/>
              </a:rPr>
              <a:t>挑战</a:t>
            </a:r>
            <a:r>
              <a:rPr dirty="0" sz="1800" b="1">
                <a:latin typeface="Arial"/>
                <a:cs typeface="Arial"/>
              </a:rPr>
              <a:t>4: </a:t>
            </a:r>
            <a:r>
              <a:rPr dirty="0" sz="2000" spc="-200" b="1">
                <a:latin typeface="Microsoft JhengHei"/>
                <a:cs typeface="Microsoft JhengHei"/>
              </a:rPr>
              <a:t>调制⽅式对⽐中误码率全为</a:t>
            </a:r>
            <a:r>
              <a:rPr dirty="0" sz="1800" spc="-50" b="1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问题</a:t>
            </a:r>
            <a:r>
              <a:rPr dirty="0" sz="1350" spc="-170" b="1">
                <a:latin typeface="Malgun Gothic"/>
                <a:cs typeface="Malgun Gothic"/>
              </a:rPr>
              <a:t>描</a:t>
            </a:r>
            <a:r>
              <a:rPr dirty="0" sz="1350" spc="-170" b="1">
                <a:latin typeface="Microsoft JhengHei"/>
                <a:cs typeface="Microsoft JhengHei"/>
              </a:rPr>
              <a:t>述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在测试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种调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式</a:t>
            </a:r>
            <a:r>
              <a:rPr dirty="0" sz="1350" spc="-3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OOK/ASK/FSK/BPSK</a:t>
            </a:r>
            <a:r>
              <a:rPr dirty="0" sz="1350" spc="-3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声⽔平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0.05-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0.2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结果所有⽅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dirty="0" sz="1350" spc="-150">
                <a:solidFill>
                  <a:srgbClr val="333333"/>
                </a:solidFill>
                <a:latin typeface="SimSun"/>
                <a:cs typeface="SimSun"/>
              </a:rPr>
              <a:t>误码率都接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5824" y="14953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85824" y="17335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5824" y="19811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604" y="17487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7020" y="17487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860"/>
                </a:lnTo>
                <a:lnTo>
                  <a:pt x="26970" y="47548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24669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27145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29527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535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34480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36861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5824" y="39337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5824" y="41719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81024" y="49720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604" y="17487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7020" y="17487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48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81024" y="52101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936"/>
                </a:lnTo>
                <a:lnTo>
                  <a:pt x="30007" y="47034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81024" y="54577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15925" y="338947"/>
            <a:ext cx="3714115" cy="52330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近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0%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法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展⽰性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差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异。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解决⽅案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0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50" b="1">
                <a:latin typeface="Microsoft JhengHei"/>
                <a:cs typeface="Microsoft JhengHei"/>
              </a:rPr>
              <a:t>分析根本原因</a:t>
            </a:r>
            <a:endParaRPr sz="1350">
              <a:latin typeface="Microsoft JhengHei"/>
              <a:cs typeface="Microsoft JhengHei"/>
            </a:endParaRPr>
          </a:p>
          <a:p>
            <a:pPr marL="621665" marR="1296670">
              <a:lnSpc>
                <a:spcPct val="115700"/>
              </a:lnSpc>
              <a:spcBef>
                <a:spcPts val="7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bit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个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平</a:t>
            </a:r>
            <a:r>
              <a:rPr dirty="0" sz="1350" spc="-70">
                <a:solidFill>
                  <a:srgbClr val="333333"/>
                </a:solidFill>
                <a:latin typeface="SimSun"/>
                <a:cs typeface="SimSun"/>
              </a:rPr>
              <a:t>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有效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85">
                <a:solidFill>
                  <a:srgbClr val="333333"/>
                </a:solidFill>
                <a:latin typeface="Microsoft JhengHei"/>
                <a:cs typeface="Microsoft JhengHei"/>
              </a:rPr>
              <a:t>声 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≈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际噪</a:t>
            </a:r>
            <a:r>
              <a:rPr dirty="0" sz="1350" spc="-85">
                <a:solidFill>
                  <a:srgbClr val="333333"/>
                </a:solidFill>
                <a:latin typeface="Microsoft JhengHei"/>
                <a:cs typeface="Microsoft JhengHei"/>
              </a:rPr>
              <a:t>声 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/ 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0.05-0.2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声对于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来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说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太低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350" spc="-170" b="1">
                <a:latin typeface="Malgun Gothic"/>
                <a:cs typeface="Malgun Gothic"/>
              </a:rPr>
              <a:t>提</a:t>
            </a:r>
            <a:r>
              <a:rPr dirty="0" sz="1350" spc="-170" b="1">
                <a:latin typeface="Microsoft JhengHei"/>
                <a:cs typeface="Microsoft JhengHei"/>
              </a:rPr>
              <a:t>⾼</a:t>
            </a:r>
            <a:r>
              <a:rPr dirty="0" sz="1350" spc="-170" b="1">
                <a:latin typeface="Malgun Gothic"/>
                <a:cs typeface="Malgun Gothic"/>
              </a:rPr>
              <a:t>噪</a:t>
            </a:r>
            <a:r>
              <a:rPr dirty="0" sz="1350" spc="-170" b="1">
                <a:latin typeface="Microsoft JhengHei"/>
                <a:cs typeface="Microsoft JhengHei"/>
              </a:rPr>
              <a:t>声</a:t>
            </a:r>
            <a:r>
              <a:rPr dirty="0" sz="1350" spc="-170" b="1">
                <a:latin typeface="Malgun Gothic"/>
                <a:cs typeface="Malgun Gothic"/>
              </a:rPr>
              <a:t>范</a:t>
            </a:r>
            <a:r>
              <a:rPr dirty="0" sz="1350" spc="-50" b="1">
                <a:latin typeface="Microsoft JhengHei"/>
                <a:cs typeface="Microsoft JhengHei"/>
              </a:rPr>
              <a:t>围</a:t>
            </a:r>
            <a:endParaRPr sz="1350">
              <a:latin typeface="Microsoft JhengHei"/>
              <a:cs typeface="Microsoft JhengHei"/>
            </a:endParaRPr>
          </a:p>
          <a:p>
            <a:pPr marL="621665" marR="1067435">
              <a:lnSpc>
                <a:spcPts val="1950"/>
              </a:lnSpc>
              <a:spcBef>
                <a:spcPts val="4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测试噪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范围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改为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0.5-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2.5</a:t>
            </a:r>
            <a:r>
              <a:rPr dirty="0" sz="1200" spc="5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这样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有效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范围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为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0.05-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0.25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13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⾜以区分不同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的性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性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350" spc="-140" b="1">
                <a:latin typeface="Microsoft JhengHei"/>
                <a:cs typeface="Microsoft JhengHei"/>
              </a:rPr>
              <a:t>梯度显现</a:t>
            </a:r>
            <a:endParaRPr sz="1350">
              <a:latin typeface="Microsoft JhengHei"/>
              <a:cs typeface="Microsoft JhengHei"/>
            </a:endParaRPr>
          </a:p>
          <a:p>
            <a:pPr marL="621665" marR="846455">
              <a:lnSpc>
                <a:spcPct val="117300"/>
              </a:lnSpc>
              <a:spcBef>
                <a:spcPts val="5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BPSK: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BER=0.5% (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最佳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)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FSK: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BER=6.2%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(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良好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)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OOK: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BER=34%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(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中等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)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ASK: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0">
                <a:solidFill>
                  <a:srgbClr val="333333"/>
                </a:solidFill>
                <a:latin typeface="Arial MT"/>
                <a:cs typeface="Arial MT"/>
              </a:rPr>
              <a:t>σ=1.0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BER=50%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(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最差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50" spc="-170" b="1">
                <a:latin typeface="Microsoft JhengHei"/>
                <a:cs typeface="Microsoft JhengHei"/>
              </a:rPr>
              <a:t>效果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algn="just" marL="316865" marR="5080">
              <a:lnSpc>
                <a:spcPct val="118100"/>
              </a:lnSpc>
              <a:spcBef>
                <a:spcPts val="123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清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晰展⽰了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BPSK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 &gt;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FSK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 &gt;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&gt;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ASK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能排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验证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了相位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制优于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频率调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制优于幅度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制的</a:t>
            </a:r>
            <a:r>
              <a:rPr dirty="0" sz="1350" spc="-114">
                <a:solidFill>
                  <a:srgbClr val="333333"/>
                </a:solidFill>
                <a:latin typeface="SimSun"/>
                <a:cs typeface="SimSun"/>
              </a:rPr>
              <a:t>理论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为实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应⽤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选择调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式提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供依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581024" y="74104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581024" y="76580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936"/>
                </a:lnTo>
                <a:lnTo>
                  <a:pt x="30007" y="47034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581024" y="78961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415925" y="6177391"/>
            <a:ext cx="4784090" cy="26333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200" b="1">
                <a:latin typeface="Microsoft JhengHei"/>
                <a:cs typeface="Microsoft JhengHei"/>
              </a:rPr>
              <a:t>挑战</a:t>
            </a:r>
            <a:r>
              <a:rPr dirty="0" sz="1800" b="1">
                <a:latin typeface="Arial"/>
                <a:cs typeface="Arial"/>
              </a:rPr>
              <a:t>5: </a:t>
            </a:r>
            <a:r>
              <a:rPr dirty="0" sz="2000" spc="-200" b="1">
                <a:latin typeface="Microsoft JhengHei"/>
                <a:cs typeface="Microsoft JhengHei"/>
              </a:rPr>
              <a:t>并发环</a:t>
            </a:r>
            <a:r>
              <a:rPr dirty="0" sz="2000" spc="-200" b="1">
                <a:latin typeface="Malgun Gothic"/>
                <a:cs typeface="Malgun Gothic"/>
              </a:rPr>
              <a:t>境</a:t>
            </a:r>
            <a:r>
              <a:rPr dirty="0" sz="2000" spc="-200" b="1">
                <a:latin typeface="Microsoft JhengHei"/>
                <a:cs typeface="Microsoft JhengHei"/>
              </a:rPr>
              <a:t>下</a:t>
            </a:r>
            <a:r>
              <a:rPr dirty="0" sz="2000" spc="-200" b="1">
                <a:latin typeface="Malgun Gothic"/>
                <a:cs typeface="Malgun Gothic"/>
              </a:rPr>
              <a:t>的</a:t>
            </a:r>
            <a:r>
              <a:rPr dirty="0" sz="2000" spc="-165" b="1">
                <a:latin typeface="Microsoft JhengHei"/>
                <a:cs typeface="Microsoft JhengHei"/>
              </a:rPr>
              <a:t>竞态条件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问题</a:t>
            </a:r>
            <a:r>
              <a:rPr dirty="0" sz="1350" spc="-170" b="1">
                <a:latin typeface="Malgun Gothic"/>
                <a:cs typeface="Malgun Gothic"/>
              </a:rPr>
              <a:t>描</a:t>
            </a:r>
            <a:r>
              <a:rPr dirty="0" sz="1350" spc="-170" b="1">
                <a:latin typeface="Microsoft JhengHei"/>
                <a:cs typeface="Microsoft JhengHei"/>
              </a:rPr>
              <a:t>述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并发⽹络时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多个线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同时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访问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机的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导致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：</a:t>
            </a:r>
            <a:endParaRPr sz="1350">
              <a:latin typeface="SimSun"/>
              <a:cs typeface="SimSun"/>
            </a:endParaRPr>
          </a:p>
          <a:p>
            <a:pPr marL="316865" marR="2901315">
              <a:lnSpc>
                <a:spcPct val="118100"/>
              </a:lnSpc>
              <a:spcBef>
                <a:spcPts val="116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表条⽬丢失或错</a:t>
            </a:r>
            <a:r>
              <a:rPr dirty="0" sz="1350" spc="-105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转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发到错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端⼝</a:t>
            </a:r>
            <a:r>
              <a:rPr dirty="0" sz="1350" spc="500">
                <a:solidFill>
                  <a:srgbClr val="333333"/>
                </a:solidFill>
                <a:latin typeface="Microsoft JhengHei"/>
                <a:cs typeface="Microsoft JhengHei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偶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发性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崩溃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解决⽅案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Arial MT"/>
              <a:cs typeface="Arial MT"/>
            </a:endParaRPr>
          </a:p>
          <a:p>
            <a:pPr marL="147955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1.</a:t>
            </a:r>
            <a:r>
              <a:rPr dirty="0" sz="1200" spc="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 b="1">
                <a:latin typeface="Microsoft JhengHei"/>
                <a:cs typeface="Microsoft JhengHei"/>
              </a:rPr>
              <a:t>使⽤线</a:t>
            </a:r>
            <a:r>
              <a:rPr dirty="0" sz="1350" spc="-170" b="1">
                <a:latin typeface="Malgun Gothic"/>
                <a:cs typeface="Malgun Gothic"/>
              </a:rPr>
              <a:t>程</a:t>
            </a:r>
            <a:r>
              <a:rPr dirty="0" sz="1350" spc="-170" b="1">
                <a:latin typeface="Microsoft JhengHei"/>
                <a:cs typeface="Microsoft JhengHei"/>
              </a:rPr>
              <a:t>安全</a:t>
            </a:r>
            <a:r>
              <a:rPr dirty="0" sz="1350" spc="-170" b="1">
                <a:latin typeface="Malgun Gothic"/>
                <a:cs typeface="Malgun Gothic"/>
              </a:rPr>
              <a:t>的</a:t>
            </a:r>
            <a:r>
              <a:rPr dirty="0" sz="1350" spc="-140" b="1">
                <a:latin typeface="Microsoft JhengHei"/>
                <a:cs typeface="Microsoft JhengHei"/>
              </a:rPr>
              <a:t>数据结构</a:t>
            </a:r>
            <a:endParaRPr sz="13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5824" y="52101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936"/>
                </a:lnTo>
                <a:lnTo>
                  <a:pt x="30007" y="47034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85824" y="54577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5824" y="56959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604" y="17487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7020" y="17487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860"/>
                </a:lnTo>
                <a:lnTo>
                  <a:pt x="26970" y="47548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61816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64293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66769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81024" y="74675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81024" y="77056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604" y="17487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7020" y="17487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860"/>
                </a:lnTo>
                <a:lnTo>
                  <a:pt x="26970" y="47548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81024" y="79533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15925" y="432292"/>
            <a:ext cx="4869180" cy="7635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38784" marR="2569210">
              <a:lnSpc>
                <a:spcPct val="137500"/>
              </a:lnSpc>
              <a:spcBef>
                <a:spcPts val="9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from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queue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import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Queue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from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threading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import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Lock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438784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class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3A2D4E"/>
                </a:solidFill>
                <a:latin typeface="Consolas"/>
                <a:cs typeface="Consolas"/>
              </a:rPr>
              <a:t>Switch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1009015" marR="2498090" indent="-28511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u="sng" sz="1000" spc="315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init</a:t>
            </a:r>
            <a:r>
              <a:rPr dirty="0" u="sng" sz="1000" spc="32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mac_table</a:t>
            </a:r>
            <a:r>
              <a:rPr dirty="0" sz="1000" spc="5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35">
                <a:solidFill>
                  <a:srgbClr val="333333"/>
                </a:solidFill>
                <a:latin typeface="Consolas"/>
                <a:cs typeface="Consolas"/>
              </a:rPr>
              <a:t>{}</a:t>
            </a:r>
            <a:endParaRPr sz="1000">
              <a:latin typeface="Consolas"/>
              <a:cs typeface="Consolas"/>
            </a:endParaRPr>
          </a:p>
          <a:p>
            <a:pPr marL="1009015">
              <a:lnSpc>
                <a:spcPct val="100000"/>
              </a:lnSpc>
              <a:spcBef>
                <a:spcPts val="300"/>
              </a:spcBef>
              <a:tabLst>
                <a:tab pos="2433955" algn="l"/>
              </a:tabLst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lock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dirty="0" sz="1000" spc="-10">
                <a:latin typeface="Consolas"/>
                <a:cs typeface="Consolas"/>
              </a:rPr>
              <a:t>Lock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	</a:t>
            </a:r>
            <a:r>
              <a:rPr dirty="0" sz="1000" spc="1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保护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MAC</a:t>
            </a:r>
            <a:r>
              <a:rPr dirty="0" sz="1000" spc="15">
                <a:solidFill>
                  <a:srgbClr val="424442"/>
                </a:solidFill>
                <a:latin typeface="NSimSun"/>
                <a:cs typeface="NSimSun"/>
              </a:rPr>
              <a:t>表访问</a:t>
            </a:r>
            <a:endParaRPr sz="1000">
              <a:latin typeface="NSimSun"/>
              <a:cs typeface="NSimSun"/>
            </a:endParaRPr>
          </a:p>
          <a:p>
            <a:pPr marL="100901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port_queues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Queue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_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A61C5C"/>
                </a:solidFill>
                <a:latin typeface="Consolas"/>
                <a:cs typeface="Consolas"/>
              </a:rPr>
              <a:t>range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num_ports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)]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Consolas"/>
              <a:cs typeface="Consolas"/>
            </a:endParaRPr>
          </a:p>
          <a:p>
            <a:pPr algn="just" marL="317500" indent="-169545">
              <a:lnSpc>
                <a:spcPct val="100000"/>
              </a:lnSpc>
              <a:spcBef>
                <a:spcPts val="5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350" spc="-155" b="1">
                <a:latin typeface="Microsoft JhengHei"/>
                <a:cs typeface="Microsoft JhengHei"/>
              </a:rPr>
              <a:t>加锁保护关键区</a:t>
            </a:r>
            <a:endParaRPr sz="1350">
              <a:latin typeface="Microsoft JhengHei"/>
              <a:cs typeface="Microsoft JhengHei"/>
            </a:endParaRPr>
          </a:p>
          <a:p>
            <a:pPr marL="723900" marR="2212975" indent="-285115">
              <a:lnSpc>
                <a:spcPct val="143800"/>
              </a:lnSpc>
              <a:spcBef>
                <a:spcPts val="900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forward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5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5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port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with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lock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algn="r" marR="2290445">
              <a:lnSpc>
                <a:spcPct val="100000"/>
              </a:lnSpc>
              <a:spcBef>
                <a:spcPts val="450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原子操作</a:t>
            </a:r>
            <a:r>
              <a:rPr dirty="0" sz="1000" spc="10">
                <a:solidFill>
                  <a:srgbClr val="424442"/>
                </a:solidFill>
                <a:latin typeface="Consolas"/>
                <a:cs typeface="Consolas"/>
              </a:rPr>
              <a:t>: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学习 </a:t>
            </a:r>
            <a:r>
              <a:rPr dirty="0" sz="1000" spc="10">
                <a:solidFill>
                  <a:srgbClr val="424442"/>
                </a:solidFill>
                <a:latin typeface="Consolas"/>
                <a:cs typeface="Consolas"/>
              </a:rPr>
              <a:t>+ </a:t>
            </a:r>
            <a:r>
              <a:rPr dirty="0" sz="1000">
                <a:solidFill>
                  <a:srgbClr val="424442"/>
                </a:solidFill>
                <a:latin typeface="NSimSun"/>
                <a:cs typeface="NSimSun"/>
              </a:rPr>
              <a:t>查表</a:t>
            </a:r>
            <a:endParaRPr sz="1000">
              <a:latin typeface="NSimSun"/>
              <a:cs typeface="NSimSun"/>
            </a:endParaRPr>
          </a:p>
          <a:p>
            <a:pPr marL="1009015" marR="504190">
              <a:lnSpc>
                <a:spcPts val="1730"/>
              </a:lnSpc>
              <a:spcBef>
                <a:spcPts val="70"/>
              </a:spcBef>
            </a:pP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mac_table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frame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src_mac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9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9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port</a:t>
            </a:r>
            <a:r>
              <a:rPr dirty="0" sz="1000" spc="50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target_port</a:t>
            </a:r>
            <a:r>
              <a:rPr dirty="0" sz="1000" spc="4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self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mac_table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get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latin typeface="Consolas"/>
                <a:cs typeface="Consolas"/>
              </a:rPr>
              <a:t>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dst_mac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000">
              <a:latin typeface="Consolas"/>
              <a:cs typeface="Consolas"/>
            </a:endParaRPr>
          </a:p>
          <a:p>
            <a:pPr algn="r" marR="2264410">
              <a:lnSpc>
                <a:spcPct val="1000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发送在锁外进行（避免死锁</a:t>
            </a:r>
            <a:r>
              <a:rPr dirty="0" sz="1000" spc="-50">
                <a:solidFill>
                  <a:srgbClr val="424442"/>
                </a:solidFill>
                <a:latin typeface="NSimSun"/>
                <a:cs typeface="NSimSun"/>
              </a:rPr>
              <a:t>）</a:t>
            </a:r>
            <a:endParaRPr sz="1000">
              <a:latin typeface="NSimSun"/>
              <a:cs typeface="NSimSun"/>
            </a:endParaRPr>
          </a:p>
          <a:p>
            <a:pPr marL="1009015" marR="1144905" indent="-285115">
              <a:lnSpc>
                <a:spcPct val="137500"/>
              </a:lnSpc>
              <a:spcBef>
                <a:spcPts val="7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target_port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is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not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None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latin typeface="Consolas"/>
                <a:cs typeface="Consolas"/>
              </a:rPr>
              <a:t>self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_send_to_port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target_port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8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frame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>
              <a:latin typeface="Consolas"/>
              <a:cs typeface="Consolas"/>
            </a:endParaRPr>
          </a:p>
          <a:p>
            <a:pPr algn="just"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55" b="1">
                <a:latin typeface="Microsoft JhengHei"/>
                <a:cs typeface="Microsoft JhengHei"/>
              </a:rPr>
              <a:t>使⽤消息队列解耦</a:t>
            </a:r>
            <a:endParaRPr sz="1350">
              <a:latin typeface="Microsoft JhengHei"/>
              <a:cs typeface="Microsoft JhengHei"/>
            </a:endParaRPr>
          </a:p>
          <a:p>
            <a:pPr algn="just" marL="621665" marR="2019935">
              <a:lnSpc>
                <a:spcPct val="118100"/>
              </a:lnSpc>
              <a:spcBef>
                <a:spcPts val="3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主机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→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Queue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递</a:t>
            </a:r>
            <a:r>
              <a:rPr dirty="0" sz="1350" spc="-65">
                <a:solidFill>
                  <a:srgbClr val="333333"/>
                </a:solidFill>
                <a:latin typeface="Microsoft JhengHei"/>
                <a:cs typeface="Microsoft JhengHei"/>
              </a:rPr>
              <a:t>帧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交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→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主机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通过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Queue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递</a:t>
            </a:r>
            <a:r>
              <a:rPr dirty="0" sz="1350" spc="-65">
                <a:solidFill>
                  <a:srgbClr val="333333"/>
                </a:solidFill>
                <a:latin typeface="Microsoft JhengHei"/>
                <a:cs typeface="Microsoft JhengHei"/>
              </a:rPr>
              <a:t>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避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免直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接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函数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⽤的</a:t>
            </a:r>
            <a:r>
              <a:rPr dirty="0" sz="1350" spc="-140">
                <a:solidFill>
                  <a:srgbClr val="333333"/>
                </a:solidFill>
                <a:latin typeface="SimSun"/>
                <a:cs typeface="SimSun"/>
              </a:rPr>
              <a:t>阻塞问题</a:t>
            </a:r>
            <a:endParaRPr sz="1350">
              <a:latin typeface="SimSun"/>
              <a:cs typeface="SimSun"/>
            </a:endParaRPr>
          </a:p>
          <a:p>
            <a:pPr algn="just"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4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测试并发</a:t>
            </a:r>
            <a:r>
              <a:rPr dirty="0" sz="1350" spc="-170" b="1">
                <a:latin typeface="Malgun Gothic"/>
                <a:cs typeface="Malgun Gothic"/>
              </a:rPr>
              <a:t>正</a:t>
            </a:r>
            <a:r>
              <a:rPr dirty="0" sz="1350" spc="-110" b="1">
                <a:latin typeface="Microsoft JhengHei"/>
                <a:cs typeface="Microsoft JhengHei"/>
              </a:rPr>
              <a:t>确性</a:t>
            </a:r>
            <a:endParaRPr sz="135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主机同时发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12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条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endParaRPr sz="1350">
              <a:latin typeface="Microsoft JhengHei"/>
              <a:cs typeface="Microsoft JhengHei"/>
            </a:endParaRPr>
          </a:p>
          <a:p>
            <a:pPr marL="621665" marR="2257425">
              <a:lnSpc>
                <a:spcPct val="120400"/>
              </a:lnSpc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验证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息丢失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复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接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收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压⼒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测试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主机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×100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endParaRPr sz="1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效果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316865" marR="2714625">
              <a:lnSpc>
                <a:spcPct val="115700"/>
              </a:lnSpc>
              <a:spcBef>
                <a:spcPts val="127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消除</a:t>
            </a:r>
            <a:r>
              <a:rPr dirty="0" sz="1350" spc="-160">
                <a:solidFill>
                  <a:srgbClr val="333333"/>
                </a:solidFill>
                <a:latin typeface="Microsoft JhengHei"/>
                <a:cs typeface="Microsoft JhengHei"/>
              </a:rPr>
              <a:t>了所有竞态条件和死锁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并发性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dirty="0" sz="1350" spc="-140">
                <a:solidFill>
                  <a:srgbClr val="333333"/>
                </a:solidFill>
                <a:latin typeface="Microsoft JhengHei"/>
                <a:cs typeface="Microsoft JhengHei"/>
              </a:rPr>
              <a:t>线性扩展</a:t>
            </a:r>
            <a:endParaRPr sz="135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12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条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丢失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15925" y="8682466"/>
            <a:ext cx="3471545" cy="9474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200" b="1">
                <a:latin typeface="Microsoft JhengHei"/>
                <a:cs typeface="Microsoft JhengHei"/>
              </a:rPr>
              <a:t>挑战</a:t>
            </a:r>
            <a:r>
              <a:rPr dirty="0" sz="1800" b="1">
                <a:latin typeface="Arial"/>
                <a:cs typeface="Arial"/>
              </a:rPr>
              <a:t>6:</a:t>
            </a:r>
            <a:r>
              <a:rPr dirty="0" sz="1800" spc="30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HTTP</a:t>
            </a:r>
            <a:r>
              <a:rPr dirty="0" sz="2000" spc="-200" b="1">
                <a:latin typeface="Microsoft JhengHei"/>
                <a:cs typeface="Microsoft JhengHei"/>
              </a:rPr>
              <a:t>协议解析</a:t>
            </a:r>
            <a:r>
              <a:rPr dirty="0" sz="2000" spc="-200" b="1">
                <a:latin typeface="Malgun Gothic"/>
                <a:cs typeface="Malgun Gothic"/>
              </a:rPr>
              <a:t>的</a:t>
            </a:r>
            <a:r>
              <a:rPr dirty="0" sz="2000" spc="-200" b="1">
                <a:latin typeface="Microsoft JhengHei"/>
                <a:cs typeface="Microsoft JhengHei"/>
              </a:rPr>
              <a:t>边界</a:t>
            </a:r>
            <a:r>
              <a:rPr dirty="0" sz="2000" spc="-200" b="1">
                <a:latin typeface="Malgun Gothic"/>
                <a:cs typeface="Malgun Gothic"/>
              </a:rPr>
              <a:t>情</a:t>
            </a:r>
            <a:r>
              <a:rPr dirty="0" sz="2000" spc="-50" b="1">
                <a:latin typeface="Microsoft JhengHei"/>
                <a:cs typeface="Microsoft JhengHei"/>
              </a:rPr>
              <a:t>况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问题</a:t>
            </a:r>
            <a:r>
              <a:rPr dirty="0" sz="1350" spc="-170" b="1">
                <a:latin typeface="Malgun Gothic"/>
                <a:cs typeface="Malgun Gothic"/>
              </a:rPr>
              <a:t>描</a:t>
            </a:r>
            <a:r>
              <a:rPr dirty="0" sz="1350" spc="-170" b="1">
                <a:latin typeface="Microsoft JhengHei"/>
                <a:cs typeface="Microsoft JhengHei"/>
              </a:rPr>
              <a:t>述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HTTP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简单的字符串分割⽆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法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处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理：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1024" y="4571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1024" y="7048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81024" y="9429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81024" y="11905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75532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604" y="17487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7020" y="17487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860"/>
                </a:lnTo>
                <a:lnTo>
                  <a:pt x="26970" y="47548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78009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82867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85343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81024" y="93249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15925" y="297951"/>
            <a:ext cx="4726940" cy="9140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6865" marR="3639185">
              <a:lnSpc>
                <a:spcPct val="120400"/>
              </a:lnSpc>
              <a:spcBef>
                <a:spcPts val="9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多⾏头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部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⾏分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隔</a:t>
            </a:r>
            <a:r>
              <a:rPr dirty="0" sz="1350" spc="-140">
                <a:solidFill>
                  <a:srgbClr val="333333"/>
                </a:solidFill>
                <a:latin typeface="Microsoft JhengHei"/>
                <a:cs typeface="Microsoft JhengHei"/>
              </a:rPr>
              <a:t>符</a:t>
            </a:r>
            <a:endParaRPr sz="135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请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求体可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dirty="0" sz="1350" spc="-150">
                <a:solidFill>
                  <a:srgbClr val="333333"/>
                </a:solidFill>
                <a:latin typeface="Microsoft JhengHei"/>
                <a:cs typeface="Microsoft JhengHei"/>
              </a:rPr>
              <a:t>包含特殊字符</a:t>
            </a:r>
            <a:endParaRPr sz="135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Content-Length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不匹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配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解决⽅案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规</a:t>
            </a:r>
            <a:r>
              <a:rPr dirty="0" sz="1350" spc="-170" b="1">
                <a:latin typeface="Malgun Gothic"/>
                <a:cs typeface="Malgun Gothic"/>
              </a:rPr>
              <a:t>范的</a:t>
            </a:r>
            <a:r>
              <a:rPr dirty="0" sz="1200" spc="-10" b="1">
                <a:latin typeface="Arial"/>
                <a:cs typeface="Arial"/>
              </a:rPr>
              <a:t>HTTP</a:t>
            </a:r>
            <a:r>
              <a:rPr dirty="0" sz="1350" spc="-170" b="1">
                <a:latin typeface="Microsoft JhengHei"/>
                <a:cs typeface="Microsoft JhengHei"/>
              </a:rPr>
              <a:t>解析</a:t>
            </a:r>
            <a:r>
              <a:rPr dirty="0" sz="1350" spc="-50" b="1">
                <a:latin typeface="Malgun Gothic"/>
                <a:cs typeface="Malgun Gothic"/>
              </a:rPr>
              <a:t>器</a:t>
            </a:r>
            <a:endParaRPr sz="1350">
              <a:latin typeface="Malgun Gothic"/>
              <a:cs typeface="Malgun Gothic"/>
            </a:endParaRPr>
          </a:p>
          <a:p>
            <a:pPr marL="723900" marR="1002030" indent="-285115">
              <a:lnSpc>
                <a:spcPct val="143800"/>
              </a:lnSpc>
              <a:spcBef>
                <a:spcPts val="90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dirty="0" sz="1000" spc="5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3A2D4E"/>
                </a:solidFill>
                <a:latin typeface="Consolas"/>
                <a:cs typeface="Consolas"/>
              </a:rPr>
              <a:t>parse_request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bytes</a:t>
            </a:r>
            <a:r>
              <a:rPr dirty="0" sz="1000" spc="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15">
                <a:solidFill>
                  <a:srgbClr val="A61C5C"/>
                </a:solidFill>
                <a:latin typeface="Consolas"/>
                <a:cs typeface="Consolas"/>
              </a:rPr>
              <a:t>-&gt; </a:t>
            </a:r>
            <a:r>
              <a:rPr dirty="0" sz="1000" spc="-10">
                <a:latin typeface="Consolas"/>
                <a:cs typeface="Consolas"/>
              </a:rPr>
              <a:t>HTTPRequest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 spc="2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分割头部和主体（按</a:t>
            </a:r>
            <a:r>
              <a:rPr dirty="0" sz="1000">
                <a:solidFill>
                  <a:srgbClr val="424442"/>
                </a:solidFill>
                <a:latin typeface="Consolas"/>
                <a:cs typeface="Consolas"/>
              </a:rPr>
              <a:t>\r\n\r\n</a:t>
            </a:r>
            <a:r>
              <a:rPr dirty="0" sz="1000" spc="50">
                <a:solidFill>
                  <a:srgbClr val="424442"/>
                </a:solidFill>
                <a:latin typeface="NSimSun"/>
                <a:cs typeface="NSimSun"/>
              </a:rPr>
              <a:t>或</a:t>
            </a:r>
            <a:r>
              <a:rPr dirty="0" sz="1000" spc="-10">
                <a:solidFill>
                  <a:srgbClr val="424442"/>
                </a:solidFill>
                <a:latin typeface="Consolas"/>
                <a:cs typeface="Consolas"/>
              </a:rPr>
              <a:t>\n\n</a:t>
            </a:r>
            <a:r>
              <a:rPr dirty="0" sz="1000" spc="-10">
                <a:solidFill>
                  <a:srgbClr val="424442"/>
                </a:solidFill>
                <a:latin typeface="NSimSun"/>
                <a:cs typeface="NSimSun"/>
              </a:rPr>
              <a:t>）</a:t>
            </a:r>
            <a:endParaRPr sz="1000">
              <a:latin typeface="NSimSun"/>
              <a:cs typeface="NSimSun"/>
            </a:endParaRPr>
          </a:p>
          <a:p>
            <a:pPr marL="723900" marR="1572260" indent="-63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latin typeface="Consolas"/>
                <a:cs typeface="Consolas"/>
              </a:rPr>
              <a:t>parts</a:t>
            </a:r>
            <a:r>
              <a:rPr dirty="0" sz="1000" spc="6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6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split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b'\r\n\r\n'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parts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==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100901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parts</a:t>
            </a:r>
            <a:r>
              <a:rPr dirty="0" sz="1000" spc="5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5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data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split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b'\n\n'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5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723900">
              <a:lnSpc>
                <a:spcPct val="100000"/>
              </a:lnSpc>
            </a:pPr>
            <a:r>
              <a:rPr dirty="0" sz="1000">
                <a:latin typeface="Consolas"/>
                <a:cs typeface="Consolas"/>
              </a:rPr>
              <a:t>header_lines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parts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].</a:t>
            </a:r>
            <a:r>
              <a:rPr dirty="0" sz="1000" spc="-10">
                <a:latin typeface="Consolas"/>
                <a:cs typeface="Consolas"/>
              </a:rPr>
              <a:t>decode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().</a:t>
            </a:r>
            <a:r>
              <a:rPr dirty="0" sz="1000" spc="-10">
                <a:latin typeface="Consolas"/>
                <a:cs typeface="Consolas"/>
              </a:rPr>
              <a:t>split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-10">
                <a:solidFill>
                  <a:srgbClr val="173690"/>
                </a:solidFill>
                <a:latin typeface="Consolas"/>
                <a:cs typeface="Consolas"/>
              </a:rPr>
              <a:t>'\n'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onsolas"/>
              <a:cs typeface="Consolas"/>
            </a:endParaRPr>
          </a:p>
          <a:p>
            <a:pPr marL="723900">
              <a:lnSpc>
                <a:spcPct val="1000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30">
                <a:solidFill>
                  <a:srgbClr val="424442"/>
                </a:solidFill>
                <a:latin typeface="NSimSun"/>
                <a:cs typeface="NSimSun"/>
              </a:rPr>
              <a:t>解析请求行</a:t>
            </a:r>
            <a:endParaRPr sz="1000">
              <a:latin typeface="NSimSun"/>
              <a:cs typeface="NSimSun"/>
            </a:endParaRPr>
          </a:p>
          <a:p>
            <a:pPr marL="7239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method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path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version</a:t>
            </a:r>
            <a:r>
              <a:rPr dirty="0" sz="1000" spc="3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header_lines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0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].</a:t>
            </a:r>
            <a:r>
              <a:rPr dirty="0" sz="1000" spc="-10">
                <a:latin typeface="Consolas"/>
                <a:cs typeface="Consolas"/>
              </a:rPr>
              <a:t>split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>
              <a:latin typeface="Consolas"/>
              <a:cs typeface="Consolas"/>
            </a:endParaRPr>
          </a:p>
          <a:p>
            <a:pPr marL="723900">
              <a:lnSpc>
                <a:spcPct val="100000"/>
              </a:lnSpc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424442"/>
                </a:solidFill>
                <a:latin typeface="NSimSun"/>
                <a:cs typeface="NSimSun"/>
              </a:rPr>
              <a:t>解析头部</a:t>
            </a:r>
            <a:endParaRPr sz="1000">
              <a:latin typeface="NSimSun"/>
              <a:cs typeface="NSimSun"/>
            </a:endParaRPr>
          </a:p>
          <a:p>
            <a:pPr marL="723900">
              <a:lnSpc>
                <a:spcPct val="100000"/>
              </a:lnSpc>
              <a:spcBef>
                <a:spcPts val="450"/>
              </a:spcBef>
            </a:pPr>
            <a:r>
              <a:rPr dirty="0" sz="1000">
                <a:latin typeface="Consolas"/>
                <a:cs typeface="Consolas"/>
              </a:rPr>
              <a:t>headers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{}</a:t>
            </a:r>
            <a:endParaRPr sz="1000">
              <a:latin typeface="Consolas"/>
              <a:cs typeface="Consolas"/>
            </a:endParaRPr>
          </a:p>
          <a:p>
            <a:pPr marL="1009015" marR="1927860" indent="-285115">
              <a:lnSpc>
                <a:spcPts val="1730"/>
              </a:lnSpc>
              <a:spcBef>
                <a:spcPts val="65"/>
              </a:spcBef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for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line</a:t>
            </a:r>
            <a:r>
              <a:rPr dirty="0" sz="1000" spc="2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header_lines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-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:]: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':'</a:t>
            </a:r>
            <a:r>
              <a:rPr dirty="0" sz="1000" spc="25">
                <a:solidFill>
                  <a:srgbClr val="17369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in</a:t>
            </a:r>
            <a:r>
              <a:rPr dirty="0" sz="1000" spc="2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latin typeface="Consolas"/>
                <a:cs typeface="Consolas"/>
              </a:rPr>
              <a:t>line</a:t>
            </a:r>
            <a:r>
              <a:rPr dirty="0" sz="1000" spc="-2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>
              <a:latin typeface="Consolas"/>
              <a:cs typeface="Consolas"/>
            </a:endParaRPr>
          </a:p>
          <a:p>
            <a:pPr marL="129349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Consolas"/>
                <a:cs typeface="Consolas"/>
              </a:rPr>
              <a:t>key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value</a:t>
            </a:r>
            <a:r>
              <a:rPr dirty="0" sz="1000" spc="45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line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split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solidFill>
                  <a:srgbClr val="173690"/>
                </a:solidFill>
                <a:latin typeface="Consolas"/>
                <a:cs typeface="Consolas"/>
              </a:rPr>
              <a:t>':'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4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129349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headers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latin typeface="Consolas"/>
                <a:cs typeface="Consolas"/>
              </a:rPr>
              <a:t>key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>
                <a:latin typeface="Consolas"/>
                <a:cs typeface="Consolas"/>
              </a:rPr>
              <a:t>strip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()]</a:t>
            </a:r>
            <a:r>
              <a:rPr dirty="0" sz="1000" spc="6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7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value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strip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000">
              <a:latin typeface="Consolas"/>
              <a:cs typeface="Consolas"/>
            </a:endParaRPr>
          </a:p>
          <a:p>
            <a:pPr marL="723900">
              <a:lnSpc>
                <a:spcPct val="100000"/>
              </a:lnSpc>
              <a:spcBef>
                <a:spcPts val="5"/>
              </a:spcBef>
            </a:pPr>
            <a:r>
              <a:rPr dirty="0" sz="1000" spc="5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dirty="0" sz="1000" spc="25">
                <a:solidFill>
                  <a:srgbClr val="424442"/>
                </a:solidFill>
                <a:latin typeface="NSimSun"/>
                <a:cs typeface="NSimSun"/>
              </a:rPr>
              <a:t>解析主体</a:t>
            </a:r>
            <a:endParaRPr sz="1000">
              <a:latin typeface="NSimSun"/>
              <a:cs typeface="NSimSun"/>
            </a:endParaRPr>
          </a:p>
          <a:p>
            <a:pPr marL="7239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Consolas"/>
                <a:cs typeface="Consolas"/>
              </a:rPr>
              <a:t>body</a:t>
            </a:r>
            <a:r>
              <a:rPr dirty="0" sz="1000" spc="30"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=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parts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]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if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len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parts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r>
              <a:rPr dirty="0" sz="1000" spc="3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&gt;</a:t>
            </a:r>
            <a:r>
              <a:rPr dirty="0" sz="1000" spc="3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30">
                <a:solidFill>
                  <a:srgbClr val="0086B3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else</a:t>
            </a:r>
            <a:r>
              <a:rPr dirty="0" sz="1000" spc="35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173690"/>
                </a:solidFill>
                <a:latin typeface="Consolas"/>
                <a:cs typeface="Consolas"/>
              </a:rPr>
              <a:t>b''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>
              <a:latin typeface="Consolas"/>
              <a:cs typeface="Consolas"/>
            </a:endParaRPr>
          </a:p>
          <a:p>
            <a:pPr marL="723900">
              <a:lnSpc>
                <a:spcPct val="100000"/>
              </a:lnSpc>
            </a:pPr>
            <a:r>
              <a:rPr dirty="0" sz="1000">
                <a:solidFill>
                  <a:srgbClr val="A61C5C"/>
                </a:solidFill>
                <a:latin typeface="Consolas"/>
                <a:cs typeface="Consolas"/>
              </a:rPr>
              <a:t>return</a:t>
            </a:r>
            <a:r>
              <a:rPr dirty="0" sz="1000" spc="6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HTTPRequest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>
                <a:latin typeface="Consolas"/>
                <a:cs typeface="Consolas"/>
              </a:rPr>
              <a:t>method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path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6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headers</a:t>
            </a:r>
            <a:r>
              <a:rPr dirty="0" sz="100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body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-10">
                <a:latin typeface="Consolas"/>
                <a:cs typeface="Consolas"/>
              </a:rPr>
              <a:t>decode</a:t>
            </a:r>
            <a:r>
              <a:rPr dirty="0" sz="1000" spc="-10">
                <a:solidFill>
                  <a:srgbClr val="333333"/>
                </a:solidFill>
                <a:latin typeface="Consolas"/>
                <a:cs typeface="Consolas"/>
              </a:rPr>
              <a:t>())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>
              <a:latin typeface="Consolas"/>
              <a:cs typeface="Consolas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200" spc="-10" b="1">
                <a:latin typeface="Arial"/>
                <a:cs typeface="Arial"/>
              </a:rPr>
              <a:t>Content-Length</a:t>
            </a:r>
            <a:r>
              <a:rPr dirty="0" sz="1350" spc="-110" b="1">
                <a:latin typeface="Microsoft JhengHei"/>
                <a:cs typeface="Microsoft JhengHei"/>
              </a:rPr>
              <a:t>验证</a:t>
            </a:r>
            <a:endParaRPr sz="1350">
              <a:latin typeface="Microsoft JhengHei"/>
              <a:cs typeface="Microsoft JhengHei"/>
            </a:endParaRPr>
          </a:p>
          <a:p>
            <a:pPr marL="621665" marR="1673860">
              <a:lnSpc>
                <a:spcPts val="1950"/>
              </a:lnSpc>
              <a:spcBef>
                <a:spcPts val="4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根据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Content-Length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确</a:t>
            </a:r>
            <a:r>
              <a:rPr dirty="0" sz="1350" spc="-150">
                <a:solidFill>
                  <a:srgbClr val="333333"/>
                </a:solidFill>
                <a:latin typeface="Microsoft JhengHei"/>
                <a:cs typeface="Microsoft JhengHei"/>
              </a:rPr>
              <a:t>定主体⻓度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避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免截断或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多数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21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异常处</a:t>
            </a:r>
            <a:r>
              <a:rPr dirty="0" sz="1350" spc="-50" b="1">
                <a:latin typeface="Malgun Gothic"/>
                <a:cs typeface="Malgun Gothic"/>
              </a:rPr>
              <a:t>理</a:t>
            </a:r>
            <a:endParaRPr sz="1350">
              <a:latin typeface="Malgun Gothic"/>
              <a:cs typeface="Malgun Gothic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捕获解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析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异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常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，返回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400</a:t>
            </a:r>
            <a:r>
              <a:rPr dirty="0" sz="1200" spc="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Bad</a:t>
            </a:r>
            <a:r>
              <a:rPr dirty="0" sz="1200" spc="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Request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记录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⽇志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便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于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调试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效果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Arial MT"/>
              <a:cs typeface="Arial MT"/>
            </a:endParaRPr>
          </a:p>
          <a:p>
            <a:pPr marL="316865">
              <a:lnSpc>
                <a:spcPct val="100000"/>
              </a:lnSpc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持标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准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HTTP/1.0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格式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1024" y="4571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20724" y="297951"/>
            <a:ext cx="1710689" cy="520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400"/>
              </a:lnSpc>
              <a:spcBef>
                <a:spcPts val="9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正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GET/POST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请</a:t>
            </a:r>
            <a:r>
              <a:rPr dirty="0" sz="1350" spc="-95">
                <a:solidFill>
                  <a:srgbClr val="333333"/>
                </a:solidFill>
                <a:latin typeface="Microsoft JhengHei"/>
                <a:cs typeface="Microsoft JhengHei"/>
              </a:rPr>
              <a:t>求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兼容各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种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客⼾端实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81024" y="7048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7012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7012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70"/>
              <a:t>总结与展望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415925" y="2053066"/>
            <a:ext cx="939800" cy="3359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90" b="1">
                <a:latin typeface="Microsoft JhengHei"/>
                <a:cs typeface="Microsoft JhengHei"/>
              </a:rPr>
              <a:t>项⽬成果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81024" y="34670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81024" y="37051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81024" y="39528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81024" y="41909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81024" y="44386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81024" y="46862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81024" y="54958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81024" y="57435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81024" y="59816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581024" y="62293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581024" y="64769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604" y="17487"/>
                </a:lnTo>
                <a:lnTo>
                  <a:pt x="3021" y="11610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10"/>
                </a:lnTo>
                <a:lnTo>
                  <a:pt x="47020" y="17487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48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581024" y="72865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936"/>
                </a:lnTo>
                <a:lnTo>
                  <a:pt x="30007" y="47034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581024" y="75342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581024" y="77723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581024" y="80200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581024" y="82581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581024" y="85057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70"/>
              <a:t>本</a:t>
            </a:r>
            <a:r>
              <a:rPr dirty="0" spc="-170">
                <a:latin typeface="SimSun"/>
                <a:cs typeface="SimSun"/>
              </a:rPr>
              <a:t>项</a:t>
            </a:r>
            <a:r>
              <a:rPr dirty="0" spc="-170"/>
              <a:t>⽬成功实</a:t>
            </a:r>
            <a:r>
              <a:rPr dirty="0" spc="-170">
                <a:latin typeface="SimSun"/>
                <a:cs typeface="SimSun"/>
              </a:rPr>
              <a:t>现</a:t>
            </a:r>
            <a:r>
              <a:rPr dirty="0" spc="-170"/>
              <a:t>了从物</a:t>
            </a:r>
            <a:r>
              <a:rPr dirty="0" spc="-170">
                <a:latin typeface="SimSun"/>
                <a:cs typeface="SimSun"/>
              </a:rPr>
              <a:t>理</a:t>
            </a:r>
            <a:r>
              <a:rPr dirty="0" spc="-170"/>
              <a:t>层到应⽤层的完整⽹络</a:t>
            </a:r>
            <a:r>
              <a:rPr dirty="0" spc="-170">
                <a:latin typeface="SimSun"/>
                <a:cs typeface="SimSun"/>
              </a:rPr>
              <a:t>通信</a:t>
            </a:r>
            <a:r>
              <a:rPr dirty="0" spc="-170"/>
              <a:t>协</a:t>
            </a:r>
            <a:r>
              <a:rPr dirty="0" spc="-130">
                <a:latin typeface="SimSun"/>
                <a:cs typeface="SimSun"/>
              </a:rPr>
              <a:t>议栈：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000000"/>
                </a:solidFill>
                <a:latin typeface="Arial"/>
                <a:cs typeface="Arial"/>
              </a:rPr>
              <a:t>Level</a:t>
            </a:r>
            <a:r>
              <a:rPr dirty="0" sz="1500" spc="-1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00000"/>
                </a:solidFill>
                <a:latin typeface="Arial"/>
                <a:cs typeface="Arial"/>
              </a:rPr>
              <a:t>1:</a:t>
            </a:r>
            <a:r>
              <a:rPr dirty="0" sz="1500" spc="-1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700" spc="-210" b="1">
                <a:solidFill>
                  <a:srgbClr val="000000"/>
                </a:solidFill>
                <a:latin typeface="Malgun Gothic"/>
                <a:cs typeface="Malgun Gothic"/>
              </a:rPr>
              <a:t>点</a:t>
            </a:r>
            <a:r>
              <a:rPr dirty="0" sz="1700" spc="-210" b="1">
                <a:solidFill>
                  <a:srgbClr val="000000"/>
                </a:solidFill>
                <a:latin typeface="Microsoft JhengHei"/>
                <a:cs typeface="Microsoft JhengHei"/>
              </a:rPr>
              <a:t>对</a:t>
            </a:r>
            <a:r>
              <a:rPr dirty="0" sz="1700" spc="-210" b="1">
                <a:solidFill>
                  <a:srgbClr val="000000"/>
                </a:solidFill>
                <a:latin typeface="Malgun Gothic"/>
                <a:cs typeface="Malgun Gothic"/>
              </a:rPr>
              <a:t>点</a:t>
            </a:r>
            <a:r>
              <a:rPr dirty="0" sz="1700" spc="-145" b="1">
                <a:solidFill>
                  <a:srgbClr val="000000"/>
                </a:solidFill>
                <a:latin typeface="Microsoft JhengHei"/>
                <a:cs typeface="Microsoft JhengHei"/>
              </a:rPr>
              <a:t>通信 </a:t>
            </a:r>
            <a:r>
              <a:rPr dirty="0" sz="1700" spc="-680" b="1">
                <a:solidFill>
                  <a:srgbClr val="000000"/>
                </a:solidFill>
                <a:latin typeface="Yu Gothic"/>
                <a:cs typeface="Yu Gothic"/>
              </a:rPr>
              <a:t>✓</a:t>
            </a:r>
            <a:endParaRPr sz="1700">
              <a:latin typeface="Yu Gothic"/>
              <a:cs typeface="Yu Gothic"/>
            </a:endParaRPr>
          </a:p>
          <a:p>
            <a:pPr marL="316865">
              <a:lnSpc>
                <a:spcPct val="100000"/>
              </a:lnSpc>
              <a:spcBef>
                <a:spcPts val="1235"/>
              </a:spcBef>
            </a:pPr>
            <a:r>
              <a:rPr dirty="0" spc="-170"/>
              <a:t>字符串</a:t>
            </a:r>
            <a:r>
              <a:rPr dirty="0" sz="1200" spc="-10">
                <a:latin typeface="Arial MT"/>
                <a:cs typeface="Arial MT"/>
              </a:rPr>
              <a:t>/</a:t>
            </a:r>
            <a:r>
              <a:rPr dirty="0" spc="-170"/>
              <a:t>⽐特</a:t>
            </a:r>
            <a:r>
              <a:rPr dirty="0" spc="-170">
                <a:latin typeface="SimSun"/>
                <a:cs typeface="SimSun"/>
              </a:rPr>
              <a:t>转换</a:t>
            </a:r>
            <a:r>
              <a:rPr dirty="0" spc="-110"/>
              <a:t>机制</a:t>
            </a:r>
            <a:endParaRPr sz="120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254"/>
              </a:spcBef>
            </a:pPr>
            <a:r>
              <a:rPr dirty="0" sz="1200" spc="-10">
                <a:latin typeface="Arial MT"/>
                <a:cs typeface="Arial MT"/>
              </a:rPr>
              <a:t>OOK</a:t>
            </a:r>
            <a:r>
              <a:rPr dirty="0" spc="-170">
                <a:latin typeface="SimSun"/>
                <a:cs typeface="SimSun"/>
              </a:rPr>
              <a:t>调</a:t>
            </a:r>
            <a:r>
              <a:rPr dirty="0" spc="-170"/>
              <a:t>制与</a:t>
            </a:r>
            <a:r>
              <a:rPr dirty="0" spc="-110">
                <a:latin typeface="SimSun"/>
                <a:cs typeface="SimSun"/>
              </a:rPr>
              <a:t>解调</a:t>
            </a:r>
            <a:endParaRPr sz="120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pc="-170"/>
              <a:t>物</a:t>
            </a:r>
            <a:r>
              <a:rPr dirty="0" spc="-170">
                <a:latin typeface="SimSun"/>
                <a:cs typeface="SimSun"/>
              </a:rPr>
              <a:t>理信道模拟（</a:t>
            </a:r>
            <a:r>
              <a:rPr dirty="0" spc="-170"/>
              <a:t>衰减</a:t>
            </a:r>
            <a:r>
              <a:rPr dirty="0" spc="-170">
                <a:latin typeface="SimSun"/>
                <a:cs typeface="SimSun"/>
              </a:rPr>
              <a:t>、噪</a:t>
            </a:r>
            <a:r>
              <a:rPr dirty="0" spc="-170"/>
              <a:t>声</a:t>
            </a:r>
            <a:r>
              <a:rPr dirty="0" spc="-50">
                <a:latin typeface="SimSun"/>
                <a:cs typeface="SimSun"/>
              </a:rPr>
              <a:t>）</a:t>
            </a:r>
          </a:p>
          <a:p>
            <a:pPr marL="316865" marR="2595880">
              <a:lnSpc>
                <a:spcPts val="1950"/>
              </a:lnSpc>
              <a:spcBef>
                <a:spcPts val="45"/>
              </a:spcBef>
            </a:pPr>
            <a:r>
              <a:rPr dirty="0" spc="-170"/>
              <a:t>⾃</a:t>
            </a:r>
            <a:r>
              <a:rPr dirty="0" spc="-170">
                <a:latin typeface="SimSun"/>
                <a:cs typeface="SimSun"/>
              </a:rPr>
              <a:t>适</a:t>
            </a:r>
            <a:r>
              <a:rPr dirty="0" spc="-170"/>
              <a:t>应</a:t>
            </a:r>
            <a:r>
              <a:rPr dirty="0" spc="-140">
                <a:latin typeface="SimSun"/>
                <a:cs typeface="SimSun"/>
              </a:rPr>
              <a:t>阈值解调</a:t>
            </a:r>
            <a:r>
              <a:rPr dirty="0" spc="-50">
                <a:latin typeface="SimSun"/>
                <a:cs typeface="SimSun"/>
              </a:rPr>
              <a:t> </a:t>
            </a:r>
            <a:r>
              <a:rPr dirty="0" spc="-170"/>
              <a:t>数</a:t>
            </a:r>
            <a:r>
              <a:rPr dirty="0" spc="-170">
                <a:latin typeface="SimSun"/>
                <a:cs typeface="SimSun"/>
              </a:rPr>
              <a:t>据</a:t>
            </a:r>
            <a:r>
              <a:rPr dirty="0" spc="-170"/>
              <a:t>帧封</a:t>
            </a:r>
            <a:r>
              <a:rPr dirty="0" spc="-170">
                <a:latin typeface="SimSun"/>
                <a:cs typeface="SimSun"/>
              </a:rPr>
              <a:t>装</a:t>
            </a:r>
            <a:r>
              <a:rPr dirty="0" spc="-150"/>
              <a:t>与分⽚</a:t>
            </a:r>
          </a:p>
          <a:p>
            <a:pPr marL="316865">
              <a:lnSpc>
                <a:spcPct val="100000"/>
              </a:lnSpc>
              <a:spcBef>
                <a:spcPts val="210"/>
              </a:spcBef>
            </a:pPr>
            <a:r>
              <a:rPr dirty="0" sz="1200">
                <a:latin typeface="Arial MT"/>
                <a:cs typeface="Arial MT"/>
              </a:rPr>
              <a:t>Shannon</a:t>
            </a:r>
            <a:r>
              <a:rPr dirty="0" spc="-170"/>
              <a:t>容</a:t>
            </a:r>
            <a:r>
              <a:rPr dirty="0" spc="-170">
                <a:latin typeface="SimSun"/>
                <a:cs typeface="SimSun"/>
              </a:rPr>
              <a:t>量</a:t>
            </a:r>
            <a:r>
              <a:rPr dirty="0" spc="-140"/>
              <a:t>对⽐分析</a:t>
            </a:r>
            <a:endParaRPr sz="12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1500" b="1">
                <a:solidFill>
                  <a:srgbClr val="000000"/>
                </a:solidFill>
                <a:latin typeface="Arial"/>
                <a:cs typeface="Arial"/>
              </a:rPr>
              <a:t>Level</a:t>
            </a:r>
            <a:r>
              <a:rPr dirty="0" sz="1500" spc="-1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00000"/>
                </a:solidFill>
                <a:latin typeface="Arial"/>
                <a:cs typeface="Arial"/>
              </a:rPr>
              <a:t>2:</a:t>
            </a:r>
            <a:r>
              <a:rPr dirty="0" sz="1500" spc="-1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700" spc="-180" b="1">
                <a:solidFill>
                  <a:srgbClr val="000000"/>
                </a:solidFill>
                <a:latin typeface="Microsoft JhengHei"/>
                <a:cs typeface="Microsoft JhengHei"/>
              </a:rPr>
              <a:t>多主机通信 </a:t>
            </a:r>
            <a:r>
              <a:rPr dirty="0" sz="1700" spc="-680" b="1">
                <a:solidFill>
                  <a:srgbClr val="000000"/>
                </a:solidFill>
                <a:latin typeface="Yu Gothic"/>
                <a:cs typeface="Yu Gothic"/>
              </a:rPr>
              <a:t>✓</a:t>
            </a:r>
            <a:endParaRPr sz="1700">
              <a:latin typeface="Yu Gothic"/>
              <a:cs typeface="Yu Gothic"/>
            </a:endParaRPr>
          </a:p>
          <a:p>
            <a:pPr marL="316865">
              <a:lnSpc>
                <a:spcPct val="100000"/>
              </a:lnSpc>
              <a:spcBef>
                <a:spcPts val="1235"/>
              </a:spcBef>
            </a:pPr>
            <a:r>
              <a:rPr dirty="0" spc="-170"/>
              <a:t>星</a:t>
            </a:r>
            <a:r>
              <a:rPr dirty="0" spc="-170">
                <a:latin typeface="SimSun"/>
                <a:cs typeface="SimSun"/>
              </a:rPr>
              <a:t>型拓</a:t>
            </a:r>
            <a:r>
              <a:rPr dirty="0" spc="-130"/>
              <a:t>扑⽹络</a:t>
            </a: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latin typeface="Arial MT"/>
                <a:cs typeface="Arial MT"/>
              </a:rPr>
              <a:t>MAC</a:t>
            </a:r>
            <a:r>
              <a:rPr dirty="0" spc="-170">
                <a:latin typeface="SimSun"/>
                <a:cs typeface="SimSun"/>
              </a:rPr>
              <a:t>地址</a:t>
            </a:r>
            <a:r>
              <a:rPr dirty="0" spc="-170"/>
              <a:t>寻</a:t>
            </a:r>
            <a:r>
              <a:rPr dirty="0" spc="-50">
                <a:latin typeface="SimSun"/>
                <a:cs typeface="SimSun"/>
              </a:rPr>
              <a:t>址</a:t>
            </a:r>
            <a:endParaRPr sz="1200">
              <a:latin typeface="SimSun"/>
              <a:cs typeface="SimSun"/>
            </a:endParaRPr>
          </a:p>
          <a:p>
            <a:pPr marL="316865" marR="2409190">
              <a:lnSpc>
                <a:spcPts val="1950"/>
              </a:lnSpc>
              <a:spcBef>
                <a:spcPts val="45"/>
              </a:spcBef>
            </a:pPr>
            <a:r>
              <a:rPr dirty="0" spc="-170"/>
              <a:t>交</a:t>
            </a:r>
            <a:r>
              <a:rPr dirty="0" spc="-170">
                <a:latin typeface="SimSun"/>
                <a:cs typeface="SimSun"/>
              </a:rPr>
              <a:t>换</a:t>
            </a:r>
            <a:r>
              <a:rPr dirty="0" spc="-170"/>
              <a:t>机</a:t>
            </a:r>
            <a:r>
              <a:rPr dirty="0" sz="1200">
                <a:latin typeface="Arial MT"/>
                <a:cs typeface="Arial MT"/>
              </a:rPr>
              <a:t>MAC</a:t>
            </a:r>
            <a:r>
              <a:rPr dirty="0" spc="-170"/>
              <a:t>学习算</a:t>
            </a:r>
            <a:r>
              <a:rPr dirty="0" spc="-114">
                <a:latin typeface="SimSun"/>
                <a:cs typeface="SimSun"/>
              </a:rPr>
              <a:t>法</a:t>
            </a:r>
            <a:r>
              <a:rPr dirty="0" spc="-170"/>
              <a:t>单</a:t>
            </a:r>
            <a:r>
              <a:rPr dirty="0" spc="-170">
                <a:latin typeface="SimSun"/>
                <a:cs typeface="SimSun"/>
              </a:rPr>
              <a:t>播</a:t>
            </a:r>
            <a:r>
              <a:rPr dirty="0" sz="1200" spc="-10">
                <a:latin typeface="Arial MT"/>
                <a:cs typeface="Arial MT"/>
              </a:rPr>
              <a:t>/</a:t>
            </a:r>
            <a:r>
              <a:rPr dirty="0" spc="-170"/>
              <a:t>⼴</a:t>
            </a:r>
            <a:r>
              <a:rPr dirty="0" spc="-170">
                <a:latin typeface="SimSun"/>
                <a:cs typeface="SimSun"/>
              </a:rPr>
              <a:t>播转</a:t>
            </a:r>
            <a:r>
              <a:rPr dirty="0" spc="-50"/>
              <a:t>发</a:t>
            </a:r>
            <a:endParaRPr sz="120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210"/>
              </a:spcBef>
            </a:pPr>
            <a:r>
              <a:rPr dirty="0" spc="-170"/>
              <a:t>⽹络帧</a:t>
            </a:r>
            <a:r>
              <a:rPr dirty="0" spc="-140">
                <a:latin typeface="SimSun"/>
                <a:cs typeface="SimSun"/>
              </a:rPr>
              <a:t>格式设计</a:t>
            </a: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1500" b="1">
                <a:solidFill>
                  <a:srgbClr val="000000"/>
                </a:solidFill>
                <a:latin typeface="Arial"/>
                <a:cs typeface="Arial"/>
              </a:rPr>
              <a:t>Level</a:t>
            </a:r>
            <a:r>
              <a:rPr dirty="0" sz="1500" spc="-2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00000"/>
                </a:solidFill>
                <a:latin typeface="Arial"/>
                <a:cs typeface="Arial"/>
              </a:rPr>
              <a:t>3:</a:t>
            </a:r>
            <a:r>
              <a:rPr dirty="0" sz="1500" spc="-1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700" spc="-210" b="1">
                <a:solidFill>
                  <a:srgbClr val="000000"/>
                </a:solidFill>
                <a:latin typeface="Microsoft JhengHei"/>
                <a:cs typeface="Microsoft JhengHei"/>
              </a:rPr>
              <a:t>扩展功</a:t>
            </a:r>
            <a:r>
              <a:rPr dirty="0" sz="1700" spc="-200" b="1">
                <a:solidFill>
                  <a:srgbClr val="000000"/>
                </a:solidFill>
                <a:latin typeface="Malgun Gothic"/>
                <a:cs typeface="Malgun Gothic"/>
              </a:rPr>
              <a:t>能 </a:t>
            </a:r>
            <a:r>
              <a:rPr dirty="0" sz="1700" spc="-680" b="1">
                <a:solidFill>
                  <a:srgbClr val="000000"/>
                </a:solidFill>
                <a:latin typeface="Yu Gothic"/>
                <a:cs typeface="Yu Gothic"/>
              </a:rPr>
              <a:t>✓</a:t>
            </a:r>
            <a:endParaRPr sz="1700">
              <a:latin typeface="Yu Gothic"/>
              <a:cs typeface="Yu Gothic"/>
            </a:endParaRPr>
          </a:p>
          <a:p>
            <a:pPr marL="316865" marR="2025014">
              <a:lnSpc>
                <a:spcPct val="118100"/>
              </a:lnSpc>
              <a:spcBef>
                <a:spcPts val="944"/>
              </a:spcBef>
            </a:pPr>
            <a:r>
              <a:rPr dirty="0" sz="1200">
                <a:latin typeface="Arial MT"/>
                <a:cs typeface="Arial MT"/>
              </a:rPr>
              <a:t>Stop-and-</a:t>
            </a:r>
            <a:r>
              <a:rPr dirty="0" sz="1200" spc="-20">
                <a:latin typeface="Arial MT"/>
                <a:cs typeface="Arial MT"/>
              </a:rPr>
              <a:t>Wait </a:t>
            </a:r>
            <a:r>
              <a:rPr dirty="0" sz="1200">
                <a:latin typeface="Arial MT"/>
                <a:cs typeface="Arial MT"/>
              </a:rPr>
              <a:t>ARQ</a:t>
            </a:r>
            <a:r>
              <a:rPr dirty="0" spc="-170"/>
              <a:t>传</a:t>
            </a:r>
            <a:r>
              <a:rPr dirty="0" spc="-170">
                <a:latin typeface="SimSun"/>
                <a:cs typeface="SimSun"/>
              </a:rPr>
              <a:t>输</a:t>
            </a:r>
            <a:r>
              <a:rPr dirty="0" spc="-145"/>
              <a:t>层</a:t>
            </a:r>
            <a:r>
              <a:rPr dirty="0"/>
              <a:t> </a:t>
            </a:r>
            <a:r>
              <a:rPr dirty="0" sz="1200">
                <a:latin typeface="Arial MT"/>
                <a:cs typeface="Arial MT"/>
              </a:rPr>
              <a:t>Hamming(7,4)</a:t>
            </a:r>
            <a:r>
              <a:rPr dirty="0" spc="-170">
                <a:latin typeface="SimSun"/>
                <a:cs typeface="SimSun"/>
              </a:rPr>
              <a:t>纠</a:t>
            </a:r>
            <a:r>
              <a:rPr dirty="0" spc="-170"/>
              <a:t>错</a:t>
            </a:r>
            <a:r>
              <a:rPr dirty="0" spc="-50">
                <a:latin typeface="SimSun"/>
                <a:cs typeface="SimSun"/>
              </a:rPr>
              <a:t>码 </a:t>
            </a:r>
            <a:r>
              <a:rPr dirty="0" sz="1200">
                <a:latin typeface="Arial MT"/>
                <a:cs typeface="Arial MT"/>
              </a:rPr>
              <a:t>CRC-8</a:t>
            </a:r>
            <a:r>
              <a:rPr dirty="0" spc="-110">
                <a:latin typeface="SimSun"/>
                <a:cs typeface="SimSun"/>
              </a:rPr>
              <a:t>校验</a:t>
            </a:r>
            <a:endParaRPr sz="1200">
              <a:latin typeface="SimSun"/>
              <a:cs typeface="SimSun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200" spc="-10">
                <a:latin typeface="Arial MT"/>
                <a:cs typeface="Arial MT"/>
              </a:rPr>
              <a:t>HTTP</a:t>
            </a:r>
            <a:r>
              <a:rPr dirty="0" spc="-170"/>
              <a:t>应⽤层协</a:t>
            </a:r>
            <a:r>
              <a:rPr dirty="0" spc="-50">
                <a:latin typeface="SimSun"/>
                <a:cs typeface="SimSun"/>
              </a:rPr>
              <a:t>议</a:t>
            </a:r>
            <a:endParaRPr sz="1200">
              <a:latin typeface="SimSun"/>
              <a:cs typeface="SimSun"/>
            </a:endParaRPr>
          </a:p>
          <a:p>
            <a:pPr marL="316865" marR="1122045">
              <a:lnSpc>
                <a:spcPts val="1950"/>
              </a:lnSpc>
              <a:spcBef>
                <a:spcPts val="25"/>
              </a:spcBef>
            </a:pPr>
            <a:r>
              <a:rPr dirty="0" spc="-170"/>
              <a:t>多</a:t>
            </a:r>
            <a:r>
              <a:rPr dirty="0" spc="-170">
                <a:latin typeface="SimSun"/>
                <a:cs typeface="SimSun"/>
              </a:rPr>
              <a:t>种调</a:t>
            </a:r>
            <a:r>
              <a:rPr dirty="0" spc="-170"/>
              <a:t>制⽅</a:t>
            </a:r>
            <a:r>
              <a:rPr dirty="0" spc="-170">
                <a:latin typeface="SimSun"/>
                <a:cs typeface="SimSun"/>
              </a:rPr>
              <a:t>式</a:t>
            </a:r>
            <a:r>
              <a:rPr dirty="0" spc="-25">
                <a:latin typeface="SimSun"/>
                <a:cs typeface="SimSun"/>
              </a:rPr>
              <a:t>（</a:t>
            </a:r>
            <a:r>
              <a:rPr dirty="0" sz="1200" spc="-25">
                <a:latin typeface="Arial MT"/>
                <a:cs typeface="Arial MT"/>
              </a:rPr>
              <a:t>OOK/ASK/FSK/BPSK</a:t>
            </a:r>
            <a:r>
              <a:rPr dirty="0" spc="-25">
                <a:latin typeface="SimSun"/>
                <a:cs typeface="SimSun"/>
              </a:rPr>
              <a:t>）</a:t>
            </a:r>
            <a:r>
              <a:rPr dirty="0" spc="-170"/>
              <a:t>多线</a:t>
            </a:r>
            <a:r>
              <a:rPr dirty="0" spc="-170">
                <a:latin typeface="SimSun"/>
                <a:cs typeface="SimSun"/>
              </a:rPr>
              <a:t>程</a:t>
            </a:r>
            <a:r>
              <a:rPr dirty="0" spc="-170"/>
              <a:t>并发处</a:t>
            </a:r>
            <a:r>
              <a:rPr dirty="0" spc="-50">
                <a:latin typeface="SimSun"/>
                <a:cs typeface="SimSun"/>
              </a:rPr>
              <a:t>理</a:t>
            </a:r>
            <a:endParaRPr sz="12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28624" y="781007"/>
          <a:ext cx="6991350" cy="29381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2625"/>
                <a:gridCol w="1981200"/>
                <a:gridCol w="2971800"/>
              </a:tblGrid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10" b="1">
                          <a:latin typeface="Microsoft JhengHei"/>
                          <a:cs typeface="Microsoft JhengHei"/>
                        </a:rPr>
                        <a:t>指标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10" b="1">
                          <a:latin typeface="Microsoft JhengHei"/>
                          <a:cs typeface="Microsoft JhengHei"/>
                        </a:rPr>
                        <a:t>数值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10" b="1">
                          <a:latin typeface="Microsoft JhengHei"/>
                          <a:cs typeface="Microsoft JhengHei"/>
                        </a:rPr>
                        <a:t>说明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调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制⽅</a:t>
                      </a:r>
                      <a:r>
                        <a:rPr dirty="0" sz="1350" spc="-5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式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r>
                        <a:rPr dirty="0" sz="1350" spc="-5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种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 spc="-1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OOK,</a:t>
                      </a:r>
                      <a:r>
                        <a:rPr dirty="0" sz="1200" spc="-75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ASK,</a:t>
                      </a:r>
                      <a:r>
                        <a:rPr dirty="0" sz="1200" spc="-25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FSK,</a:t>
                      </a:r>
                      <a:r>
                        <a:rPr dirty="0" sz="1200" spc="-15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BPSK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80645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最佳</a:t>
                      </a:r>
                      <a:r>
                        <a:rPr dirty="0" sz="1200" spc="-25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0.5% @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σ=2.5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80645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BPSK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性</a:t>
                      </a:r>
                      <a:r>
                        <a:rPr dirty="0" sz="1350" spc="-5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能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帧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开</a:t>
                      </a:r>
                      <a:r>
                        <a:rPr dirty="0" sz="1350" spc="-5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销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136 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bits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80645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不含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载荷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的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固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定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开</a:t>
                      </a:r>
                      <a:r>
                        <a:rPr dirty="0" sz="1350" spc="-5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销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4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分⽚⼤⼩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64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bytes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80645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可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配</a:t>
                      </a:r>
                      <a:r>
                        <a:rPr dirty="0" sz="1350" spc="-5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置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ARQ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成功</a:t>
                      </a:r>
                      <a:r>
                        <a:rPr dirty="0" sz="1350" spc="-6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率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 spc="-2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100%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80645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3/3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段</a:t>
                      </a:r>
                      <a:r>
                        <a:rPr dirty="0" sz="1350" spc="-11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确认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4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并发主机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r>
                        <a:rPr dirty="0" sz="1350" spc="-5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个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12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条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消</a:t>
                      </a:r>
                      <a:r>
                        <a:rPr dirty="0" sz="1350" spc="-14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息⽆丢失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Hamming</a:t>
                      </a:r>
                      <a:r>
                        <a:rPr dirty="0" sz="1350" spc="-17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纠</a:t>
                      </a:r>
                      <a:r>
                        <a:rPr dirty="0" sz="1350" spc="-5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错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1-</a:t>
                      </a:r>
                      <a:r>
                        <a:rPr dirty="0" sz="1200" spc="-25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bit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80645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(7,4)</a:t>
                      </a:r>
                      <a:r>
                        <a:rPr dirty="0" sz="1350" spc="-5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码</a:t>
                      </a:r>
                      <a:endParaRPr sz="1350">
                        <a:latin typeface="SimSun"/>
                        <a:cs typeface="SimSu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415925" y="290941"/>
            <a:ext cx="1397000" cy="3359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95" b="1">
                <a:latin typeface="Microsoft JhengHei"/>
                <a:cs typeface="Microsoft JhengHei"/>
              </a:rPr>
              <a:t>关键技术指标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81024" y="64579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81024" y="66960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936"/>
                </a:lnTo>
                <a:lnTo>
                  <a:pt x="30007" y="47034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81024" y="69436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80866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83248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85724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5824" y="90582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5824" y="93058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85824" y="95440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753"/>
                </a:lnTo>
                <a:lnTo>
                  <a:pt x="4741" y="9153"/>
                </a:lnTo>
                <a:lnTo>
                  <a:pt x="6974" y="6991"/>
                </a:lnTo>
                <a:lnTo>
                  <a:pt x="9207" y="4686"/>
                </a:lnTo>
                <a:lnTo>
                  <a:pt x="11782" y="2981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91"/>
                </a:lnTo>
                <a:lnTo>
                  <a:pt x="42883" y="9153"/>
                </a:lnTo>
                <a:lnTo>
                  <a:pt x="44603" y="11753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860"/>
                </a:lnTo>
                <a:lnTo>
                  <a:pt x="26970" y="47548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15925" y="3900916"/>
            <a:ext cx="3810635" cy="57575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200" b="1">
                <a:latin typeface="Microsoft JhengHei"/>
                <a:cs typeface="Microsoft JhengHei"/>
              </a:rPr>
              <a:t>性</a:t>
            </a:r>
            <a:r>
              <a:rPr dirty="0" sz="2000" spc="-200" b="1">
                <a:latin typeface="Malgun Gothic"/>
                <a:cs typeface="Malgun Gothic"/>
              </a:rPr>
              <a:t>能</a:t>
            </a:r>
            <a:r>
              <a:rPr dirty="0" sz="2000" spc="-125" b="1">
                <a:latin typeface="Microsoft JhengHei"/>
                <a:cs typeface="Microsoft JhengHei"/>
              </a:rPr>
              <a:t>对⽐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700" spc="-210" b="1">
                <a:latin typeface="Microsoft JhengHei"/>
                <a:cs typeface="Microsoft JhengHei"/>
              </a:rPr>
              <a:t>调制⽅式抗</a:t>
            </a:r>
            <a:r>
              <a:rPr dirty="0" sz="1700" spc="-210" b="1">
                <a:latin typeface="Malgun Gothic"/>
                <a:cs typeface="Malgun Gothic"/>
              </a:rPr>
              <a:t>噪</a:t>
            </a:r>
            <a:r>
              <a:rPr dirty="0" sz="1700" spc="-160" b="1">
                <a:latin typeface="Microsoft JhengHei"/>
                <a:cs typeface="Microsoft JhengHei"/>
              </a:rPr>
              <a:t>性排名</a:t>
            </a:r>
            <a:endParaRPr sz="170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1235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BPSK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最佳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11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BER=0.5%</a:t>
            </a:r>
            <a:r>
              <a:rPr dirty="0" sz="1350" spc="-1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FSK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良好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11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BER=6.2%</a:t>
            </a:r>
            <a:r>
              <a:rPr dirty="0" sz="1350" spc="-1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OOK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中等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11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BER=34%</a:t>
            </a:r>
            <a:r>
              <a:rPr dirty="0" sz="1350" spc="-1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dirty="0" sz="1200" b="1">
                <a:latin typeface="Arial"/>
                <a:cs typeface="Arial"/>
              </a:rPr>
              <a:t>ASK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最差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110">
                <a:solidFill>
                  <a:srgbClr val="333333"/>
                </a:solidFill>
                <a:latin typeface="Arial MT"/>
                <a:cs typeface="Arial MT"/>
              </a:rPr>
              <a:t>σ=1.0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BER≈50%</a:t>
            </a:r>
            <a:r>
              <a:rPr dirty="0" sz="1350" spc="-1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Arial"/>
                <a:cs typeface="Arial"/>
              </a:rPr>
              <a:t>Shannon</a:t>
            </a:r>
            <a:r>
              <a:rPr dirty="0" sz="1700" spc="-175" b="1">
                <a:latin typeface="Microsoft JhengHei"/>
                <a:cs typeface="Microsoft JhengHei"/>
              </a:rPr>
              <a:t>效率分析</a:t>
            </a:r>
            <a:endParaRPr sz="1700">
              <a:latin typeface="Microsoft JhengHei"/>
              <a:cs typeface="Microsoft JhengHei"/>
            </a:endParaRPr>
          </a:p>
          <a:p>
            <a:pPr marL="316865" marR="372110">
              <a:lnSpc>
                <a:spcPct val="115700"/>
              </a:lnSpc>
              <a:spcBef>
                <a:spcPts val="98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dirty="0" sz="1350" spc="-105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105">
                <a:solidFill>
                  <a:srgbClr val="333333"/>
                </a:solidFill>
                <a:latin typeface="Arial MT"/>
                <a:cs typeface="Arial MT"/>
              </a:rPr>
              <a:t>σ=0.01</a:t>
            </a:r>
            <a:r>
              <a:rPr dirty="0" sz="1350" spc="-105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环境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下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率约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8.4%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简单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频谱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率较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endParaRPr sz="135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理论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上可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复杂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如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QAM</a:t>
            </a:r>
            <a:r>
              <a:rPr dirty="0" sz="1350" spc="-55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接近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100%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000" spc="-200" b="1">
                <a:latin typeface="Microsoft JhengHei"/>
                <a:cs typeface="Microsoft JhengHei"/>
              </a:rPr>
              <a:t>技术亮</a:t>
            </a:r>
            <a:r>
              <a:rPr dirty="0" sz="2000" spc="-50" b="1">
                <a:latin typeface="Malgun Gothic"/>
                <a:cs typeface="Malgun Gothic"/>
              </a:rPr>
              <a:t>点</a:t>
            </a:r>
            <a:endParaRPr sz="200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spcBef>
                <a:spcPts val="125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物</a:t>
            </a:r>
            <a:r>
              <a:rPr dirty="0" sz="1350" spc="-170" b="1">
                <a:latin typeface="Malgun Gothic"/>
                <a:cs typeface="Malgun Gothic"/>
              </a:rPr>
              <a:t>理</a:t>
            </a:r>
            <a:r>
              <a:rPr dirty="0" sz="1350" spc="-170" b="1">
                <a:latin typeface="Microsoft JhengHei"/>
                <a:cs typeface="Microsoft JhengHei"/>
              </a:rPr>
              <a:t>层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bit</a:t>
            </a:r>
            <a:r>
              <a:rPr dirty="0" sz="1200" spc="8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平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均，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有效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降噪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10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倍</a:t>
            </a:r>
            <a:endParaRPr sz="1350">
              <a:latin typeface="SimSun"/>
              <a:cs typeface="SimSun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⾃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适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阈值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算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法，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⽆需⼿动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参</a:t>
            </a:r>
            <a:endParaRPr sz="135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种调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式灵活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切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数据链路层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完整的帧封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装格式</a:t>
            </a:r>
            <a:endParaRPr sz="1350">
              <a:latin typeface="SimSun"/>
              <a:cs typeface="SimSun"/>
            </a:endParaRPr>
          </a:p>
          <a:p>
            <a:pPr marL="621665" marR="2113280">
              <a:lnSpc>
                <a:spcPct val="115700"/>
              </a:lnSpc>
              <a:spcBef>
                <a:spcPts val="7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⾃动分⽚与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dirty="0" sz="1350" spc="-114">
                <a:solidFill>
                  <a:srgbClr val="333333"/>
                </a:solidFill>
                <a:latin typeface="Microsoft JhengHei"/>
                <a:cs typeface="Microsoft JhengHei"/>
              </a:rPr>
              <a:t>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和错</a:t>
            </a:r>
            <a:r>
              <a:rPr dirty="0" sz="1350" spc="-155">
                <a:solidFill>
                  <a:srgbClr val="333333"/>
                </a:solidFill>
                <a:latin typeface="SimSun"/>
                <a:cs typeface="SimSun"/>
              </a:rPr>
              <a:t>误检测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5824" y="7048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85824" y="9429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5824" y="11905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16763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19240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21621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26479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535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28955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5824" y="31432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687"/>
                </a:lnTo>
                <a:lnTo>
                  <a:pt x="4741" y="9153"/>
                </a:lnTo>
                <a:lnTo>
                  <a:pt x="6974" y="6991"/>
                </a:lnTo>
                <a:lnTo>
                  <a:pt x="9207" y="4686"/>
                </a:lnTo>
                <a:lnTo>
                  <a:pt x="11782" y="2981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91"/>
                </a:lnTo>
                <a:lnTo>
                  <a:pt x="42883" y="9153"/>
                </a:lnTo>
                <a:lnTo>
                  <a:pt x="44603" y="11687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48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5824" y="36289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85824" y="38671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85824" y="41147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85824" y="46005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885824" y="484818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885824" y="508630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551209" y="297951"/>
            <a:ext cx="1913889" cy="49022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425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⽹络层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 marR="157480">
              <a:lnSpc>
                <a:spcPct val="115700"/>
              </a:lnSpc>
              <a:spcBef>
                <a:spcPts val="8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⾃学习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表算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法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智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单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播转</a:t>
            </a:r>
            <a:r>
              <a:rPr dirty="0" sz="1350" spc="-105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endParaRPr sz="1350">
              <a:latin typeface="Microsoft JhengHei"/>
              <a:cs typeface="Microsoft JhengHei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播地址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endParaRPr sz="1350">
              <a:latin typeface="SimSun"/>
              <a:cs typeface="SimSun"/>
            </a:endParaRPr>
          </a:p>
          <a:p>
            <a:pPr marL="182245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4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传输层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algn="just" marL="486409" marR="478790">
              <a:lnSpc>
                <a:spcPct val="118100"/>
              </a:lnSpc>
              <a:spcBef>
                <a:spcPts val="3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可靠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ARQ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15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超时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传机制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序列号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防重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复</a:t>
            </a:r>
            <a:endParaRPr sz="1350">
              <a:latin typeface="Microsoft JhengHei"/>
              <a:cs typeface="Microsoft JhengHei"/>
            </a:endParaRPr>
          </a:p>
          <a:p>
            <a:pPr marL="182245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5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应⽤层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 marR="106680">
              <a:lnSpc>
                <a:spcPts val="1950"/>
              </a:lnSpc>
              <a:spcBef>
                <a:spcPts val="4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准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HTTP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150">
                <a:solidFill>
                  <a:srgbClr val="333333"/>
                </a:solidFill>
                <a:latin typeface="SimSun"/>
                <a:cs typeface="SimSun"/>
              </a:rPr>
              <a:t>议格式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路由</a:t>
            </a:r>
            <a:r>
              <a:rPr dirty="0" sz="1350" spc="-150">
                <a:solidFill>
                  <a:srgbClr val="333333"/>
                </a:solidFill>
                <a:latin typeface="SimSun"/>
                <a:cs typeface="SimSun"/>
              </a:rPr>
              <a:t>装饰器模式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RESTful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API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endParaRPr sz="1350">
              <a:latin typeface="SimSun"/>
              <a:cs typeface="SimSun"/>
            </a:endParaRPr>
          </a:p>
          <a:p>
            <a:pPr marL="182245" indent="-169545">
              <a:lnSpc>
                <a:spcPct val="100000"/>
              </a:lnSpc>
              <a:spcBef>
                <a:spcPts val="135"/>
              </a:spcBef>
              <a:buClr>
                <a:srgbClr val="333333"/>
              </a:buClr>
              <a:buSzPct val="88888"/>
              <a:buFont typeface="Arial MT"/>
              <a:buAutoNum type="arabicPeriod" startAt="6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信道编码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 marR="5080">
              <a:lnSpc>
                <a:spcPct val="118100"/>
              </a:lnSpc>
              <a:spcBef>
                <a:spcPts val="3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Hamming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⾃动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纠</a:t>
            </a:r>
            <a:r>
              <a:rPr dirty="0" sz="1350" spc="-120">
                <a:solidFill>
                  <a:srgbClr val="333333"/>
                </a:solidFill>
                <a:latin typeface="Microsoft JhengHei"/>
                <a:cs typeface="Microsoft JhengHei"/>
              </a:rPr>
              <a:t>错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CRC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⾼效错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误检测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码增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益显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著</a:t>
            </a:r>
            <a:endParaRPr sz="1350">
              <a:latin typeface="SimSun"/>
              <a:cs typeface="SimSun"/>
            </a:endParaRPr>
          </a:p>
          <a:p>
            <a:pPr marL="182245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7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并发处</a:t>
            </a:r>
            <a:r>
              <a:rPr dirty="0" sz="1350" spc="-170" b="1">
                <a:latin typeface="Malgun Gothic"/>
                <a:cs typeface="Malgun Gothic"/>
              </a:rPr>
              <a:t>理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 marR="504190">
              <a:lnSpc>
                <a:spcPts val="1950"/>
              </a:lnSpc>
              <a:spcBef>
                <a:spcPts val="4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程架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构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安全</a:t>
            </a:r>
            <a:r>
              <a:rPr dirty="0" sz="1350" spc="-150">
                <a:solidFill>
                  <a:srgbClr val="333333"/>
                </a:solidFill>
                <a:latin typeface="SimSun"/>
                <a:cs typeface="SimSun"/>
              </a:rPr>
              <a:t>设计</a:t>
            </a:r>
            <a:endParaRPr sz="1350">
              <a:latin typeface="SimSun"/>
              <a:cs typeface="SimSun"/>
            </a:endParaRPr>
          </a:p>
          <a:p>
            <a:pPr marL="486409">
              <a:lnSpc>
                <a:spcPct val="100000"/>
              </a:lnSpc>
              <a:spcBef>
                <a:spcPts val="13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⾼吞吐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15925" y="5396341"/>
            <a:ext cx="939800" cy="3359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90" b="1">
                <a:latin typeface="Microsoft JhengHei"/>
                <a:cs typeface="Microsoft JhengHei"/>
              </a:rPr>
              <a:t>实验⼼得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15925" y="5872972"/>
            <a:ext cx="5030470" cy="16040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我们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深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⼊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理解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了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：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1455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分层架构</a:t>
            </a:r>
            <a:r>
              <a:rPr dirty="0" sz="1350" spc="-170" b="1">
                <a:latin typeface="Malgun Gothic"/>
                <a:cs typeface="Malgun Gothic"/>
              </a:rPr>
              <a:t>的重要</a:t>
            </a:r>
            <a:r>
              <a:rPr dirty="0" sz="1350" spc="-170" b="1">
                <a:latin typeface="Microsoft JhengHei"/>
                <a:cs typeface="Microsoft JhengHei"/>
              </a:rPr>
              <a:t>性</a:t>
            </a:r>
            <a:r>
              <a:rPr dirty="0" sz="1200" spc="8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每层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独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⽴实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特定功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能，降</a:t>
            </a:r>
            <a:r>
              <a:rPr dirty="0" sz="1350" spc="-140">
                <a:solidFill>
                  <a:srgbClr val="333333"/>
                </a:solidFill>
                <a:latin typeface="Microsoft JhengHei"/>
                <a:cs typeface="Microsoft JhengHei"/>
              </a:rPr>
              <a:t>低复杂度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协议设计</a:t>
            </a:r>
            <a:r>
              <a:rPr dirty="0" sz="1350" spc="-170" b="1">
                <a:latin typeface="Malgun Gothic"/>
                <a:cs typeface="Malgun Gothic"/>
              </a:rPr>
              <a:t>的</a:t>
            </a:r>
            <a:r>
              <a:rPr dirty="0" sz="1350" spc="-170" b="1">
                <a:latin typeface="Microsoft JhengHei"/>
                <a:cs typeface="Microsoft JhengHei"/>
              </a:rPr>
              <a:t>权衡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25">
                <a:solidFill>
                  <a:srgbClr val="333333"/>
                </a:solidFill>
                <a:latin typeface="Microsoft JhengHei"/>
                <a:cs typeface="Microsoft JhengHei"/>
              </a:rPr>
              <a:t>可靠性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vs</a:t>
            </a:r>
            <a:r>
              <a:rPr dirty="0" sz="1200" spc="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率、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简单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vs</a:t>
            </a:r>
            <a:r>
              <a:rPr dirty="0" sz="1200" spc="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algun Gothic"/>
                <a:cs typeface="Malgun Gothic"/>
              </a:rPr>
              <a:t>理</a:t>
            </a:r>
            <a:r>
              <a:rPr dirty="0" sz="1350" spc="-170" b="1">
                <a:latin typeface="Microsoft JhengHei"/>
                <a:cs typeface="Microsoft JhengHei"/>
              </a:rPr>
              <a:t>论与实践</a:t>
            </a:r>
            <a:r>
              <a:rPr dirty="0" sz="1350" spc="-170" b="1">
                <a:latin typeface="Malgun Gothic"/>
                <a:cs typeface="Malgun Gothic"/>
              </a:rPr>
              <a:t>的</a:t>
            </a:r>
            <a:r>
              <a:rPr dirty="0" sz="1350" spc="-170" b="1">
                <a:latin typeface="Microsoft JhengHei"/>
                <a:cs typeface="Microsoft JhengHei"/>
              </a:rPr>
              <a:t>结合</a:t>
            </a:r>
            <a:r>
              <a:rPr dirty="0" sz="1200" spc="8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Shannon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式、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Hamming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等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理论在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dirty="0" sz="1350" spc="-140">
                <a:solidFill>
                  <a:srgbClr val="333333"/>
                </a:solidFill>
                <a:latin typeface="Microsoft JhengHei"/>
                <a:cs typeface="Microsoft JhengHei"/>
              </a:rPr>
              <a:t>中的应⽤</a:t>
            </a:r>
            <a:endParaRPr sz="135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调制技术</a:t>
            </a:r>
            <a:r>
              <a:rPr dirty="0" sz="1350" spc="-170" b="1">
                <a:latin typeface="Malgun Gothic"/>
                <a:cs typeface="Malgun Gothic"/>
              </a:rPr>
              <a:t>的</a:t>
            </a:r>
            <a:r>
              <a:rPr dirty="0" sz="1350" spc="-170" b="1">
                <a:latin typeface="Microsoft JhengHei"/>
                <a:cs typeface="Microsoft JhengHei"/>
              </a:rPr>
              <a:t>影响</a:t>
            </a:r>
            <a:r>
              <a:rPr dirty="0" sz="1200" spc="8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不同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对抗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的巨⼤差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异</a:t>
            </a:r>
            <a:endParaRPr sz="135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并发编</a:t>
            </a:r>
            <a:r>
              <a:rPr dirty="0" sz="1350" spc="-170" b="1">
                <a:latin typeface="Malgun Gothic"/>
                <a:cs typeface="Malgun Gothic"/>
              </a:rPr>
              <a:t>程的</a:t>
            </a:r>
            <a:r>
              <a:rPr dirty="0" sz="1350" spc="-170" b="1">
                <a:latin typeface="Microsoft JhengHei"/>
                <a:cs typeface="Microsoft JhengHei"/>
              </a:rPr>
              <a:t>挑战</a:t>
            </a:r>
            <a:r>
              <a:rPr dirty="0" sz="1200" spc="7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安全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竞争条件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死锁</a:t>
            </a:r>
            <a:r>
              <a:rPr dirty="0" sz="1350" spc="-114">
                <a:solidFill>
                  <a:srgbClr val="333333"/>
                </a:solidFill>
                <a:latin typeface="SimSun"/>
                <a:cs typeface="SimSun"/>
              </a:rPr>
              <a:t>预防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15925" y="7663291"/>
            <a:ext cx="1625600" cy="3359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200" b="1">
                <a:latin typeface="Microsoft JhengHei"/>
                <a:cs typeface="Microsoft JhengHei"/>
              </a:rPr>
              <a:t>可</a:t>
            </a:r>
            <a:r>
              <a:rPr dirty="0" sz="2000" spc="-200" b="1">
                <a:latin typeface="Malgun Gothic"/>
                <a:cs typeface="Malgun Gothic"/>
              </a:rPr>
              <a:t>能的</a:t>
            </a:r>
            <a:r>
              <a:rPr dirty="0" sz="2000" spc="-190" b="1">
                <a:latin typeface="Microsoft JhengHei"/>
                <a:cs typeface="Microsoft JhengHei"/>
              </a:rPr>
              <a:t>改进⽅向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885824" y="850578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885824" y="874390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885824" y="89915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885824" y="94773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551209" y="8098927"/>
            <a:ext cx="4014470" cy="149225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425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物</a:t>
            </a:r>
            <a:r>
              <a:rPr dirty="0" sz="1350" spc="-170" b="1">
                <a:latin typeface="Malgun Gothic"/>
                <a:cs typeface="Malgun Gothic"/>
              </a:rPr>
              <a:t>理</a:t>
            </a:r>
            <a:r>
              <a:rPr dirty="0" sz="1350" spc="-170" b="1">
                <a:latin typeface="Microsoft JhengHei"/>
                <a:cs typeface="Microsoft JhengHei"/>
              </a:rPr>
              <a:t>层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 marR="1385570">
              <a:lnSpc>
                <a:spcPct val="115700"/>
              </a:lnSpc>
              <a:spcBef>
                <a:spcPts val="8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QAM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16-QAM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等⾼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阶调</a:t>
            </a:r>
            <a:r>
              <a:rPr dirty="0" sz="1350" spc="-75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衡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器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对抗多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径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效应</a:t>
            </a:r>
            <a:endParaRPr sz="1350">
              <a:latin typeface="Microsoft JhengHei"/>
              <a:cs typeface="Microsoft JhengHei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OFDM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多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载波调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endParaRPr sz="1350">
              <a:latin typeface="Microsoft JhengHei"/>
              <a:cs typeface="Microsoft JhengHei"/>
            </a:endParaRPr>
          </a:p>
          <a:p>
            <a:pPr marL="182245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数据链路层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现滑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动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窗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⼝协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Go-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Back-N,</a:t>
            </a:r>
            <a:r>
              <a:rPr dirty="0" sz="1200" spc="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Selective</a:t>
            </a:r>
            <a:r>
              <a:rPr dirty="0" sz="1200" spc="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Repeat</a:t>
            </a:r>
            <a:r>
              <a:rPr dirty="0" sz="1350" spc="-1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5824" y="4571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85824" y="7048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5824" y="11905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5824" y="14287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936"/>
                </a:lnTo>
                <a:lnTo>
                  <a:pt x="30007" y="47034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5824" y="16763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5824" y="21621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753"/>
                </a:lnTo>
                <a:lnTo>
                  <a:pt x="4741" y="9153"/>
                </a:lnTo>
                <a:lnTo>
                  <a:pt x="6974" y="6991"/>
                </a:lnTo>
                <a:lnTo>
                  <a:pt x="9207" y="4686"/>
                </a:lnTo>
                <a:lnTo>
                  <a:pt x="11782" y="2981"/>
                </a:lnTo>
                <a:lnTo>
                  <a:pt x="14699" y="1714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40650" y="6991"/>
                </a:lnTo>
                <a:lnTo>
                  <a:pt x="42883" y="9153"/>
                </a:lnTo>
                <a:lnTo>
                  <a:pt x="44603" y="11753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48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5824" y="240978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5824" y="264790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5824" y="314320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5824" y="33813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85824" y="362898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85824" y="4114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85824" y="436240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860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753"/>
                </a:lnTo>
                <a:lnTo>
                  <a:pt x="4741" y="9153"/>
                </a:lnTo>
                <a:lnTo>
                  <a:pt x="6974" y="6991"/>
                </a:lnTo>
                <a:lnTo>
                  <a:pt x="9207" y="4686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86"/>
                </a:lnTo>
                <a:lnTo>
                  <a:pt x="40650" y="6991"/>
                </a:lnTo>
                <a:lnTo>
                  <a:pt x="42883" y="9153"/>
                </a:lnTo>
                <a:lnTo>
                  <a:pt x="44603" y="11753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860"/>
                </a:lnTo>
                <a:lnTo>
                  <a:pt x="30007" y="47034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885824" y="46005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551209" y="297951"/>
            <a:ext cx="3852545" cy="441642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42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流量控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制机制</a:t>
            </a:r>
            <a:endParaRPr sz="1350">
              <a:latin typeface="Microsoft JhengHei"/>
              <a:cs typeface="Microsoft JhengHei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VLAN</a:t>
            </a:r>
            <a:endParaRPr sz="1200">
              <a:latin typeface="Arial MT"/>
              <a:cs typeface="Arial MT"/>
            </a:endParaRPr>
          </a:p>
          <a:p>
            <a:pPr marL="182245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⽹络层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IP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和路由算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法</a:t>
            </a:r>
            <a:endParaRPr sz="1350">
              <a:latin typeface="SimSun"/>
              <a:cs typeface="SimSun"/>
            </a:endParaRPr>
          </a:p>
          <a:p>
            <a:pPr marL="486409" marR="2138045">
              <a:lnSpc>
                <a:spcPts val="1950"/>
              </a:lnSpc>
              <a:spcBef>
                <a:spcPts val="4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⽹络层的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QoS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加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ARP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endParaRPr sz="1350">
              <a:latin typeface="SimSun"/>
              <a:cs typeface="SimSun"/>
            </a:endParaRPr>
          </a:p>
          <a:p>
            <a:pPr marL="182245" indent="-169545">
              <a:lnSpc>
                <a:spcPct val="100000"/>
              </a:lnSpc>
              <a:spcBef>
                <a:spcPts val="210"/>
              </a:spcBef>
              <a:buClr>
                <a:srgbClr val="333333"/>
              </a:buClr>
              <a:buSzPct val="88888"/>
              <a:buFont typeface="Arial MT"/>
              <a:buAutoNum type="arabicPeriod" startAt="4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传输层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完整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TCP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三次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、四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次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挥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⼿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、拥塞控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dirty="0" sz="1350" spc="-6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UDP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endParaRPr sz="1350">
              <a:latin typeface="SimSun"/>
              <a:cs typeface="SimSun"/>
            </a:endParaRPr>
          </a:p>
          <a:p>
            <a:pPr marL="486409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流量控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制与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拥塞避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免</a:t>
            </a:r>
            <a:endParaRPr sz="1350">
              <a:latin typeface="Microsoft JhengHei"/>
              <a:cs typeface="Microsoft JhengHei"/>
            </a:endParaRPr>
          </a:p>
          <a:p>
            <a:pPr marL="182245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5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应⽤层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DNS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DHCP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等协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endParaRPr sz="1350">
              <a:latin typeface="SimSun"/>
              <a:cs typeface="SimSun"/>
            </a:endParaRPr>
          </a:p>
          <a:p>
            <a:pPr marL="486409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WebSocket</a:t>
            </a:r>
            <a:endParaRPr sz="12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330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⽂件传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dirty="0" sz="1350" spc="-2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FTP</a:t>
            </a:r>
            <a:r>
              <a:rPr dirty="0" sz="1350" spc="-2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  <a:p>
            <a:pPr marL="182245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6"/>
              <a:tabLst>
                <a:tab pos="182245" algn="l"/>
              </a:tabLst>
            </a:pPr>
            <a:r>
              <a:rPr dirty="0" sz="1350" spc="-170" b="1">
                <a:latin typeface="Microsoft JhengHei"/>
                <a:cs typeface="Microsoft JhengHei"/>
              </a:rPr>
              <a:t>性</a:t>
            </a:r>
            <a:r>
              <a:rPr dirty="0" sz="1350" spc="-170" b="1">
                <a:latin typeface="Malgun Gothic"/>
                <a:cs typeface="Malgun Gothic"/>
              </a:rPr>
              <a:t>能</a:t>
            </a:r>
            <a:r>
              <a:rPr dirty="0" sz="1350" spc="-170" b="1">
                <a:latin typeface="Microsoft JhengHei"/>
                <a:cs typeface="Microsoft JhengHei"/>
              </a:rPr>
              <a:t>优化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486409" marR="2596515">
              <a:lnSpc>
                <a:spcPct val="120400"/>
              </a:lnSpc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拷</a:t>
            </a:r>
            <a:r>
              <a:rPr dirty="0" sz="1350" spc="-165">
                <a:solidFill>
                  <a:srgbClr val="333333"/>
                </a:solidFill>
                <a:latin typeface="Microsoft JhengHei"/>
                <a:cs typeface="Microsoft JhengHei"/>
              </a:rPr>
              <a:t>⻉技术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异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步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I/O</a:t>
            </a:r>
            <a:endParaRPr sz="12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254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硬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件加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速（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如使⽤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GPU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进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解调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15925" y="4910566"/>
            <a:ext cx="939800" cy="3359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90" b="1">
                <a:latin typeface="Microsoft JhengHei"/>
                <a:cs typeface="Microsoft JhengHei"/>
              </a:rPr>
              <a:t>项⽬总结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15925" y="5336676"/>
            <a:ext cx="6883400" cy="1558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400"/>
              </a:lnSpc>
              <a:spcBef>
                <a:spcPts val="95"/>
              </a:spcBef>
            </a:pP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⽬成功实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了⼀个功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完整的⽹络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通信系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，涵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盖了从物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层到应⽤层的所有关键技术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。通过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测试，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我们不仅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掌握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了⽹络协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理论知识，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更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获得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了宝贵的⼯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实践经</a:t>
            </a:r>
            <a:r>
              <a:rPr dirty="0" sz="1350" spc="-110">
                <a:solidFill>
                  <a:srgbClr val="333333"/>
                </a:solidFill>
                <a:latin typeface="SimSun"/>
                <a:cs typeface="SimSun"/>
              </a:rPr>
              <a:t>验。</a:t>
            </a:r>
            <a:endParaRPr sz="1350">
              <a:latin typeface="SimSun"/>
              <a:cs typeface="SimSun"/>
            </a:endParaRPr>
          </a:p>
          <a:p>
            <a:pPr marL="12700" marR="5080">
              <a:lnSpc>
                <a:spcPct val="115700"/>
              </a:lnSpc>
              <a:spcBef>
                <a:spcPts val="127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⽬的所有功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能模块都通过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了严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格测试，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能指标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符合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预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特别是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在调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式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对⽐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、信道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码、</a:t>
            </a:r>
            <a:r>
              <a:rPr dirty="0" sz="1350" spc="-110">
                <a:solidFill>
                  <a:srgbClr val="333333"/>
                </a:solidFill>
                <a:latin typeface="Microsoft JhengHei"/>
                <a:cs typeface="Microsoft JhengHei"/>
              </a:rPr>
              <a:t>并发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等⾼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级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上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展⽰了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深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⼊的技术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理解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和实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现能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⼒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这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次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项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⽬为我们未来从事⽹络⼯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程、通信系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开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发打下了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坚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30">
                <a:solidFill>
                  <a:srgbClr val="333333"/>
                </a:solidFill>
                <a:latin typeface="SimSun"/>
                <a:cs typeface="SimSun"/>
              </a:rPr>
              <a:t>基础。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581024" y="885820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7020" y="17564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936"/>
                </a:lnTo>
                <a:lnTo>
                  <a:pt x="26970" y="47548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581024" y="9105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581024" y="934398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604" y="17487"/>
                </a:lnTo>
                <a:lnTo>
                  <a:pt x="3021" y="11687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87"/>
                </a:lnTo>
                <a:lnTo>
                  <a:pt x="47020" y="17487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860"/>
                </a:lnTo>
                <a:lnTo>
                  <a:pt x="26970" y="47548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415925" y="7549372"/>
            <a:ext cx="4260850" cy="19157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报告完成⽇期</a:t>
            </a:r>
            <a:r>
              <a:rPr dirty="0" sz="1200" spc="25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2025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年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12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⽉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14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⽇</a:t>
            </a:r>
            <a:endParaRPr sz="1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350" spc="-170" b="1">
                <a:latin typeface="Microsoft JhengHei"/>
                <a:cs typeface="Microsoft JhengHei"/>
              </a:rPr>
              <a:t>项⽬代码仓库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/home/ouyangzl/network-communication-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project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50" spc="-170" b="1">
                <a:latin typeface="Microsoft JhengHei"/>
                <a:cs typeface="Microsoft JhengHei"/>
              </a:rPr>
              <a:t>主</a:t>
            </a:r>
            <a:r>
              <a:rPr dirty="0" sz="1350" spc="-170" b="1">
                <a:latin typeface="Malgun Gothic"/>
                <a:cs typeface="Malgun Gothic"/>
              </a:rPr>
              <a:t>要</a:t>
            </a:r>
            <a:r>
              <a:rPr dirty="0" sz="1350" spc="-170" b="1">
                <a:latin typeface="Microsoft JhengHei"/>
                <a:cs typeface="Microsoft JhengHei"/>
              </a:rPr>
              <a:t>代码⽂件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362585" marR="1664335">
              <a:lnSpc>
                <a:spcPct val="118100"/>
              </a:lnSpc>
              <a:spcBef>
                <a:spcPts val="1215"/>
              </a:spcBef>
            </a:pPr>
            <a:r>
              <a:rPr dirty="0" sz="1000">
                <a:latin typeface="Consolas"/>
                <a:cs typeface="Consolas"/>
              </a:rPr>
              <a:t>physical_layer.py</a:t>
            </a:r>
            <a:r>
              <a:rPr dirty="0" sz="1000" spc="220">
                <a:latin typeface="Consolas"/>
                <a:cs typeface="Consolas"/>
              </a:rPr>
              <a:t> </a:t>
            </a:r>
            <a:r>
              <a:rPr dirty="0" baseline="2314" sz="1800" spc="30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dirty="0" baseline="2057" sz="2025" spc="-254">
                <a:solidFill>
                  <a:srgbClr val="333333"/>
                </a:solidFill>
                <a:latin typeface="Microsoft JhengHei"/>
                <a:cs typeface="Microsoft JhengHei"/>
              </a:rPr>
              <a:t>物</a:t>
            </a:r>
            <a:r>
              <a:rPr dirty="0" baseline="2057" sz="2025" spc="-254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dirty="0" baseline="2057" sz="2025" spc="-254">
                <a:solidFill>
                  <a:srgbClr val="333333"/>
                </a:solidFill>
                <a:latin typeface="Microsoft JhengHei"/>
                <a:cs typeface="Microsoft JhengHei"/>
              </a:rPr>
              <a:t>层实</a:t>
            </a:r>
            <a:r>
              <a:rPr dirty="0" baseline="2057" sz="2025" spc="-75">
                <a:solidFill>
                  <a:srgbClr val="333333"/>
                </a:solidFill>
                <a:latin typeface="SimSun"/>
                <a:cs typeface="SimSun"/>
              </a:rPr>
              <a:t>现 </a:t>
            </a:r>
            <a:r>
              <a:rPr dirty="0" sz="1000">
                <a:latin typeface="Consolas"/>
                <a:cs typeface="Consolas"/>
              </a:rPr>
              <a:t>data_link_layer.py</a:t>
            </a:r>
            <a:r>
              <a:rPr dirty="0" sz="1000" spc="225">
                <a:latin typeface="Consolas"/>
                <a:cs typeface="Consolas"/>
              </a:rPr>
              <a:t> 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链路层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 </a:t>
            </a:r>
            <a:r>
              <a:rPr dirty="0" sz="1000">
                <a:latin typeface="Consolas"/>
                <a:cs typeface="Consolas"/>
              </a:rPr>
              <a:t>network_layer.py</a:t>
            </a:r>
            <a:r>
              <a:rPr dirty="0" sz="1000" spc="204">
                <a:latin typeface="Consolas"/>
                <a:cs typeface="Consolas"/>
              </a:rPr>
              <a:t> </a:t>
            </a:r>
            <a:r>
              <a:rPr dirty="0" baseline="2314" sz="1800" spc="22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dirty="0" baseline="2057" sz="2025" spc="-195">
                <a:solidFill>
                  <a:srgbClr val="333333"/>
                </a:solidFill>
                <a:latin typeface="Microsoft JhengHei"/>
                <a:cs typeface="Microsoft JhengHei"/>
              </a:rPr>
              <a:t>⽹络层</a:t>
            </a:r>
            <a:endParaRPr baseline="2057" sz="2025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1024" y="4571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66117" y="297951"/>
            <a:ext cx="2605405" cy="14922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297815">
              <a:lnSpc>
                <a:spcPct val="118900"/>
              </a:lnSpc>
              <a:spcBef>
                <a:spcPts val="120"/>
              </a:spcBef>
            </a:pPr>
            <a:r>
              <a:rPr dirty="0" sz="1000">
                <a:latin typeface="Consolas"/>
                <a:cs typeface="Consolas"/>
              </a:rPr>
              <a:t>transport_layer.py</a:t>
            </a:r>
            <a:r>
              <a:rPr dirty="0" sz="1000" spc="210">
                <a:latin typeface="Consolas"/>
                <a:cs typeface="Consolas"/>
              </a:rPr>
              <a:t> 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层 </a:t>
            </a:r>
            <a:r>
              <a:rPr dirty="0" sz="1000">
                <a:latin typeface="Consolas"/>
                <a:cs typeface="Consolas"/>
              </a:rPr>
              <a:t>application_layer.py</a:t>
            </a:r>
            <a:r>
              <a:rPr dirty="0" sz="1000" spc="220">
                <a:latin typeface="Consolas"/>
                <a:cs typeface="Consolas"/>
              </a:rPr>
              <a:t> 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应⽤层</a:t>
            </a:r>
            <a:r>
              <a:rPr dirty="0" sz="1350" spc="-50">
                <a:solidFill>
                  <a:srgbClr val="333333"/>
                </a:solidFill>
                <a:latin typeface="Microsoft JhengHei"/>
                <a:cs typeface="Microsoft JhengHei"/>
              </a:rPr>
              <a:t> </a:t>
            </a:r>
            <a:r>
              <a:rPr dirty="0" sz="1000">
                <a:latin typeface="Consolas"/>
                <a:cs typeface="Consolas"/>
              </a:rPr>
              <a:t>modulation_schemes.py</a:t>
            </a:r>
            <a:r>
              <a:rPr dirty="0" sz="1000" spc="229">
                <a:latin typeface="Consolas"/>
                <a:cs typeface="Consolas"/>
              </a:rPr>
              <a:t> 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式 </a:t>
            </a:r>
            <a:r>
              <a:rPr dirty="0" sz="1000">
                <a:latin typeface="Consolas"/>
                <a:cs typeface="Consolas"/>
              </a:rPr>
              <a:t>channel_coding.py</a:t>
            </a:r>
            <a:r>
              <a:rPr dirty="0" sz="1000" spc="215">
                <a:latin typeface="Consolas"/>
                <a:cs typeface="Consolas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信道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码 </a:t>
            </a:r>
            <a:r>
              <a:rPr dirty="0" sz="1000">
                <a:latin typeface="Consolas"/>
                <a:cs typeface="Consolas"/>
              </a:rPr>
              <a:t>concurrency.py</a:t>
            </a:r>
            <a:r>
              <a:rPr dirty="0" sz="1000" spc="204">
                <a:latin typeface="Consolas"/>
                <a:cs typeface="Consolas"/>
              </a:rPr>
              <a:t> </a:t>
            </a:r>
            <a:r>
              <a:rPr dirty="0" baseline="2314" sz="1800" spc="22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dirty="0" baseline="2057" sz="2025" spc="-254">
                <a:solidFill>
                  <a:srgbClr val="333333"/>
                </a:solidFill>
                <a:latin typeface="Microsoft JhengHei"/>
                <a:cs typeface="Microsoft JhengHei"/>
              </a:rPr>
              <a:t>并发处</a:t>
            </a:r>
            <a:r>
              <a:rPr dirty="0" baseline="2057" sz="2025" spc="-75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endParaRPr baseline="2057" sz="2025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000">
                <a:latin typeface="Consolas"/>
                <a:cs typeface="Consolas"/>
              </a:rPr>
              <a:t>cable.py</a:t>
            </a:r>
            <a:r>
              <a:rPr dirty="0" sz="1000" spc="225">
                <a:latin typeface="Consolas"/>
                <a:cs typeface="Consolas"/>
              </a:rPr>
              <a:t> </a:t>
            </a:r>
            <a:r>
              <a:rPr dirty="0" sz="1200" spc="20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物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理信道模拟（课程提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供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81024" y="70480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81024" y="9429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936"/>
                </a:lnTo>
                <a:lnTo>
                  <a:pt x="0" y="20535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36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81024" y="119058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81024" y="142870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604" y="17487"/>
                </a:lnTo>
                <a:lnTo>
                  <a:pt x="3021" y="11610"/>
                </a:lnTo>
                <a:lnTo>
                  <a:pt x="4741" y="9077"/>
                </a:lnTo>
                <a:lnTo>
                  <a:pt x="6974" y="6924"/>
                </a:lnTo>
                <a:lnTo>
                  <a:pt x="9207" y="4610"/>
                </a:lnTo>
                <a:lnTo>
                  <a:pt x="11782" y="2905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05"/>
                </a:lnTo>
                <a:lnTo>
                  <a:pt x="38417" y="4610"/>
                </a:lnTo>
                <a:lnTo>
                  <a:pt x="40650" y="6924"/>
                </a:lnTo>
                <a:lnTo>
                  <a:pt x="42883" y="9077"/>
                </a:lnTo>
                <a:lnTo>
                  <a:pt x="44603" y="11610"/>
                </a:lnTo>
                <a:lnTo>
                  <a:pt x="47020" y="17487"/>
                </a:lnTo>
                <a:lnTo>
                  <a:pt x="47624" y="20612"/>
                </a:lnTo>
                <a:lnTo>
                  <a:pt x="47625" y="23812"/>
                </a:lnTo>
                <a:lnTo>
                  <a:pt x="47624" y="26936"/>
                </a:lnTo>
                <a:lnTo>
                  <a:pt x="30007" y="47034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81024" y="16763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4"/>
                </a:moveTo>
                <a:lnTo>
                  <a:pt x="0" y="26860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860"/>
                </a:lnTo>
                <a:lnTo>
                  <a:pt x="23812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15925" y="2453497"/>
            <a:ext cx="6824980" cy="870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10" b="1">
                <a:latin typeface="Microsoft JhengHei"/>
                <a:cs typeface="Microsoft JhengHei"/>
              </a:rPr>
              <a:t>致谢</a:t>
            </a:r>
            <a:endParaRPr sz="1350">
              <a:latin typeface="Microsoft JhengHei"/>
              <a:cs typeface="Microsoft JhengHei"/>
            </a:endParaRPr>
          </a:p>
          <a:p>
            <a:pPr marL="12700" marR="5080">
              <a:lnSpc>
                <a:spcPct val="120400"/>
              </a:lnSpc>
              <a:spcBef>
                <a:spcPts val="1125"/>
              </a:spcBef>
            </a:pP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感谢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据通信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与⽹络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课程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的⽼师和助教的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导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，感谢课程提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供的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Cable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类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作为物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层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基础。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本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项</a:t>
            </a:r>
            <a:r>
              <a:rPr dirty="0" sz="1350" spc="-130">
                <a:solidFill>
                  <a:srgbClr val="333333"/>
                </a:solidFill>
                <a:latin typeface="Microsoft JhengHei"/>
                <a:cs typeface="Microsoft JhengHei"/>
              </a:rPr>
              <a:t>⽬所有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代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码均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为原创实</a:t>
            </a:r>
            <a:r>
              <a:rPr dirty="0" sz="1350" spc="-170">
                <a:solidFill>
                  <a:srgbClr val="333333"/>
                </a:solidFill>
                <a:latin typeface="SimSun"/>
                <a:cs typeface="SimSun"/>
              </a:rPr>
              <a:t>现，测试</a:t>
            </a:r>
            <a:r>
              <a:rPr dirty="0" sz="1350" spc="-170">
                <a:solidFill>
                  <a:srgbClr val="333333"/>
                </a:solidFill>
                <a:latin typeface="Microsoft JhengHei"/>
                <a:cs typeface="Microsoft JhengHei"/>
              </a:rPr>
              <a:t>结果真实有效</a:t>
            </a:r>
            <a:r>
              <a:rPr dirty="0" sz="1350" spc="-5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PROJECT_REPORT</dc:title>
  <dcterms:created xsi:type="dcterms:W3CDTF">2025-12-14T06:57:10Z</dcterms:created>
  <dcterms:modified xsi:type="dcterms:W3CDTF">2025-12-14T06:57:10Z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2025-12-14T00:00:00Z</vt:filetime>
  </property>
  <property fmtid="{D5CDD505-2E9C-101B-9397-08002B2CF9AE}" pid="3" name="Creator">
    <vt:lpwstr>Mozilla/5.0 (Windows NT 10.0; Win64; x64) AppleWebKit/537.36 (KHTML, like Gecko) HeadlessChrome/143.0.0.0 Safari/537.36</vt:lpwstr>
  </property>
  <property fmtid="{D5CDD505-2E9C-101B-9397-08002B2CF9AE}" pid="4" name="LastSaved">
    <vt:filetime>2025-12-14T00:00:00Z</vt:filetime>
  </property>
  <property fmtid="{D5CDD505-2E9C-101B-9397-08002B2CF9AE}" pid="5" name="Producer">
    <vt:lpwstr>Skia/PDF m143</vt:lpwstr>
  </property>
</Properties>
</file>