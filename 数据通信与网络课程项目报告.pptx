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sldIdLst>
    <p:sldId id="256" r:id="rId2"/>
    <p:sldId id="260" r:id="rId3"/>
    <p:sldId id="258" r:id="rId4"/>
    <p:sldId id="279" r:id="rId5"/>
    <p:sldId id="285" r:id="rId6"/>
    <p:sldId id="30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35" r:id="rId28"/>
    <p:sldId id="336" r:id="rId29"/>
    <p:sldId id="337" r:id="rId30"/>
    <p:sldId id="338" r:id="rId31"/>
    <p:sldId id="339" r:id="rId32"/>
    <p:sldId id="340" r:id="rId33"/>
    <p:sldId id="342" r:id="rId34"/>
    <p:sldId id="341" r:id="rId35"/>
    <p:sldId id="343" r:id="rId36"/>
    <p:sldId id="344" r:id="rId37"/>
    <p:sldId id="346" r:id="rId38"/>
    <p:sldId id="347" r:id="rId39"/>
    <p:sldId id="348" r:id="rId40"/>
    <p:sldId id="350" r:id="rId41"/>
    <p:sldId id="349" r:id="rId42"/>
    <p:sldId id="351" r:id="rId43"/>
    <p:sldId id="352" r:id="rId44"/>
    <p:sldId id="353" r:id="rId45"/>
    <p:sldId id="354" r:id="rId46"/>
    <p:sldId id="355" r:id="rId47"/>
    <p:sldId id="356" r:id="rId48"/>
    <p:sldId id="357" r:id="rId49"/>
    <p:sldId id="358" r:id="rId50"/>
    <p:sldId id="359" r:id="rId51"/>
    <p:sldId id="360" r:id="rId52"/>
    <p:sldId id="361" r:id="rId53"/>
    <p:sldId id="362" r:id="rId54"/>
    <p:sldId id="303" r:id="rId55"/>
  </p:sldIdLst>
  <p:sldSz cx="12192000" cy="6858000"/>
  <p:notesSz cx="6858000" cy="9144000"/>
  <p:custDataLst>
    <p:tags r:id="rId5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75BC"/>
    <a:srgbClr val="FCF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52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76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gs" Target="tags/tag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81936-0126-4B19-827D-FC14AB6022AE}" type="datetimeFigureOut">
              <a:rPr lang="zh-CN" altLang="en-US" smtClean="0"/>
              <a:t>2025-12-15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4F23A-B445-4766-B800-5CA2484B1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352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4F23A-B445-4766-B800-5CA2484B172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810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4F23A-B445-4766-B800-5CA2484B172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624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4F23A-B445-4766-B800-5CA2484B172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601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4F23A-B445-4766-B800-5CA2484B172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65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4F23A-B445-4766-B800-5CA2484B172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717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4F23A-B445-4766-B800-5CA2484B172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3618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4F23A-B445-4766-B800-5CA2484B172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869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4F23A-B445-4766-B800-5CA2484B1721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794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4F23A-B445-4766-B800-5CA2484B1721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633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591" y="243464"/>
            <a:ext cx="9632817" cy="63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6786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7940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2933701" y="2844802"/>
            <a:ext cx="3141663" cy="3141663"/>
          </a:xfrm>
          <a:custGeom>
            <a:avLst/>
            <a:gdLst>
              <a:gd name="connsiteX0" fmla="*/ 1570832 w 3141663"/>
              <a:gd name="connsiteY0" fmla="*/ 0 h 3141663"/>
              <a:gd name="connsiteX1" fmla="*/ 3141663 w 3141663"/>
              <a:gd name="connsiteY1" fmla="*/ 1570832 h 3141663"/>
              <a:gd name="connsiteX2" fmla="*/ 1570832 w 3141663"/>
              <a:gd name="connsiteY2" fmla="*/ 3141663 h 3141663"/>
              <a:gd name="connsiteX3" fmla="*/ 0 w 3141663"/>
              <a:gd name="connsiteY3" fmla="*/ 1570832 h 314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1663" h="3141663">
                <a:moveTo>
                  <a:pt x="1570832" y="0"/>
                </a:moveTo>
                <a:lnTo>
                  <a:pt x="3141663" y="1570832"/>
                </a:lnTo>
                <a:lnTo>
                  <a:pt x="1570832" y="3141663"/>
                </a:lnTo>
                <a:lnTo>
                  <a:pt x="0" y="157083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5383214" y="2838450"/>
            <a:ext cx="1512887" cy="1512888"/>
          </a:xfrm>
          <a:custGeom>
            <a:avLst/>
            <a:gdLst>
              <a:gd name="connsiteX0" fmla="*/ 756444 w 1512887"/>
              <a:gd name="connsiteY0" fmla="*/ 0 h 1512888"/>
              <a:gd name="connsiteX1" fmla="*/ 1512887 w 1512887"/>
              <a:gd name="connsiteY1" fmla="*/ 756444 h 1512888"/>
              <a:gd name="connsiteX2" fmla="*/ 756444 w 1512887"/>
              <a:gd name="connsiteY2" fmla="*/ 1512888 h 1512888"/>
              <a:gd name="connsiteX3" fmla="*/ 0 w 1512887"/>
              <a:gd name="connsiteY3" fmla="*/ 756444 h 1512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2887" h="1512888">
                <a:moveTo>
                  <a:pt x="756444" y="0"/>
                </a:moveTo>
                <a:lnTo>
                  <a:pt x="1512887" y="756444"/>
                </a:lnTo>
                <a:lnTo>
                  <a:pt x="756444" y="1512888"/>
                </a:lnTo>
                <a:lnTo>
                  <a:pt x="0" y="75644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5383214" y="4487863"/>
            <a:ext cx="1512887" cy="1511300"/>
          </a:xfrm>
          <a:custGeom>
            <a:avLst/>
            <a:gdLst>
              <a:gd name="connsiteX0" fmla="*/ 756444 w 1512887"/>
              <a:gd name="connsiteY0" fmla="*/ 0 h 1511300"/>
              <a:gd name="connsiteX1" fmla="*/ 1512887 w 1512887"/>
              <a:gd name="connsiteY1" fmla="*/ 755650 h 1511300"/>
              <a:gd name="connsiteX2" fmla="*/ 756444 w 1512887"/>
              <a:gd name="connsiteY2" fmla="*/ 1511300 h 1511300"/>
              <a:gd name="connsiteX3" fmla="*/ 0 w 1512887"/>
              <a:gd name="connsiteY3" fmla="*/ 755650 h 151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2887" h="1511300">
                <a:moveTo>
                  <a:pt x="756444" y="0"/>
                </a:moveTo>
                <a:lnTo>
                  <a:pt x="1512887" y="755650"/>
                </a:lnTo>
                <a:lnTo>
                  <a:pt x="756444" y="1511300"/>
                </a:lnTo>
                <a:lnTo>
                  <a:pt x="0" y="7556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6197601" y="2844802"/>
            <a:ext cx="3140075" cy="3141663"/>
          </a:xfrm>
          <a:custGeom>
            <a:avLst/>
            <a:gdLst>
              <a:gd name="connsiteX0" fmla="*/ 1570038 w 3140075"/>
              <a:gd name="connsiteY0" fmla="*/ 0 h 3141663"/>
              <a:gd name="connsiteX1" fmla="*/ 3140075 w 3140075"/>
              <a:gd name="connsiteY1" fmla="*/ 1570832 h 3141663"/>
              <a:gd name="connsiteX2" fmla="*/ 1570038 w 3140075"/>
              <a:gd name="connsiteY2" fmla="*/ 3141663 h 3141663"/>
              <a:gd name="connsiteX3" fmla="*/ 0 w 3140075"/>
              <a:gd name="connsiteY3" fmla="*/ 1570832 h 314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0075" h="3141663">
                <a:moveTo>
                  <a:pt x="1570038" y="0"/>
                </a:moveTo>
                <a:lnTo>
                  <a:pt x="3140075" y="1570832"/>
                </a:lnTo>
                <a:lnTo>
                  <a:pt x="1570038" y="3141663"/>
                </a:lnTo>
                <a:lnTo>
                  <a:pt x="0" y="157083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3427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454137" y="1990105"/>
            <a:ext cx="2191992" cy="2191990"/>
          </a:xfrm>
          <a:custGeom>
            <a:avLst/>
            <a:gdLst>
              <a:gd name="connsiteX0" fmla="*/ 1095996 w 2191992"/>
              <a:gd name="connsiteY0" fmla="*/ 0 h 2191990"/>
              <a:gd name="connsiteX1" fmla="*/ 2191992 w 2191992"/>
              <a:gd name="connsiteY1" fmla="*/ 1095995 h 2191990"/>
              <a:gd name="connsiteX2" fmla="*/ 1095996 w 2191992"/>
              <a:gd name="connsiteY2" fmla="*/ 2191990 h 2191990"/>
              <a:gd name="connsiteX3" fmla="*/ 0 w 2191992"/>
              <a:gd name="connsiteY3" fmla="*/ 1095995 h 2191990"/>
              <a:gd name="connsiteX4" fmla="*/ 1095996 w 2191992"/>
              <a:gd name="connsiteY4" fmla="*/ 0 h 2191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1992" h="2191990">
                <a:moveTo>
                  <a:pt x="1095996" y="0"/>
                </a:moveTo>
                <a:cubicBezTo>
                  <a:pt x="1701298" y="0"/>
                  <a:pt x="2191992" y="490694"/>
                  <a:pt x="2191992" y="1095995"/>
                </a:cubicBezTo>
                <a:cubicBezTo>
                  <a:pt x="2191992" y="1701296"/>
                  <a:pt x="1701298" y="2191990"/>
                  <a:pt x="1095996" y="2191990"/>
                </a:cubicBezTo>
                <a:cubicBezTo>
                  <a:pt x="490694" y="2191990"/>
                  <a:pt x="0" y="1701296"/>
                  <a:pt x="0" y="1095995"/>
                </a:cubicBezTo>
                <a:cubicBezTo>
                  <a:pt x="0" y="490694"/>
                  <a:pt x="490694" y="0"/>
                  <a:pt x="10959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4840978" y="1831079"/>
            <a:ext cx="2510046" cy="2510044"/>
          </a:xfrm>
          <a:custGeom>
            <a:avLst/>
            <a:gdLst>
              <a:gd name="connsiteX0" fmla="*/ 1255023 w 2510046"/>
              <a:gd name="connsiteY0" fmla="*/ 0 h 2510044"/>
              <a:gd name="connsiteX1" fmla="*/ 2510046 w 2510046"/>
              <a:gd name="connsiteY1" fmla="*/ 1255022 h 2510044"/>
              <a:gd name="connsiteX2" fmla="*/ 1255023 w 2510046"/>
              <a:gd name="connsiteY2" fmla="*/ 2510044 h 2510044"/>
              <a:gd name="connsiteX3" fmla="*/ 0 w 2510046"/>
              <a:gd name="connsiteY3" fmla="*/ 1255022 h 2510044"/>
              <a:gd name="connsiteX4" fmla="*/ 1255023 w 2510046"/>
              <a:gd name="connsiteY4" fmla="*/ 0 h 2510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10046" h="2510044">
                <a:moveTo>
                  <a:pt x="1255023" y="0"/>
                </a:moveTo>
                <a:cubicBezTo>
                  <a:pt x="1948153" y="0"/>
                  <a:pt x="2510046" y="561892"/>
                  <a:pt x="2510046" y="1255022"/>
                </a:cubicBezTo>
                <a:cubicBezTo>
                  <a:pt x="2510046" y="1948152"/>
                  <a:pt x="1948153" y="2510044"/>
                  <a:pt x="1255023" y="2510044"/>
                </a:cubicBezTo>
                <a:cubicBezTo>
                  <a:pt x="561893" y="2510044"/>
                  <a:pt x="0" y="1948152"/>
                  <a:pt x="0" y="1255022"/>
                </a:cubicBezTo>
                <a:cubicBezTo>
                  <a:pt x="0" y="561892"/>
                  <a:pt x="561893" y="0"/>
                  <a:pt x="125502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545872" y="1990105"/>
            <a:ext cx="2191992" cy="2191990"/>
          </a:xfrm>
          <a:custGeom>
            <a:avLst/>
            <a:gdLst>
              <a:gd name="connsiteX0" fmla="*/ 1095996 w 2191992"/>
              <a:gd name="connsiteY0" fmla="*/ 0 h 2191990"/>
              <a:gd name="connsiteX1" fmla="*/ 2191992 w 2191992"/>
              <a:gd name="connsiteY1" fmla="*/ 1095995 h 2191990"/>
              <a:gd name="connsiteX2" fmla="*/ 1095996 w 2191992"/>
              <a:gd name="connsiteY2" fmla="*/ 2191990 h 2191990"/>
              <a:gd name="connsiteX3" fmla="*/ 0 w 2191992"/>
              <a:gd name="connsiteY3" fmla="*/ 1095995 h 2191990"/>
              <a:gd name="connsiteX4" fmla="*/ 1095996 w 2191992"/>
              <a:gd name="connsiteY4" fmla="*/ 0 h 2191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1992" h="2191990">
                <a:moveTo>
                  <a:pt x="1095996" y="0"/>
                </a:moveTo>
                <a:cubicBezTo>
                  <a:pt x="1701298" y="0"/>
                  <a:pt x="2191992" y="490694"/>
                  <a:pt x="2191992" y="1095995"/>
                </a:cubicBezTo>
                <a:cubicBezTo>
                  <a:pt x="2191992" y="1701296"/>
                  <a:pt x="1701298" y="2191990"/>
                  <a:pt x="1095996" y="2191990"/>
                </a:cubicBezTo>
                <a:cubicBezTo>
                  <a:pt x="490694" y="2191990"/>
                  <a:pt x="0" y="1701296"/>
                  <a:pt x="0" y="1095995"/>
                </a:cubicBezTo>
                <a:cubicBezTo>
                  <a:pt x="0" y="490694"/>
                  <a:pt x="490694" y="0"/>
                  <a:pt x="10959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6047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266903" y="1554400"/>
            <a:ext cx="3236782" cy="4498744"/>
          </a:xfrm>
          <a:custGeom>
            <a:avLst/>
            <a:gdLst>
              <a:gd name="connsiteX0" fmla="*/ 2873925 w 3236782"/>
              <a:gd name="connsiteY0" fmla="*/ 986969 h 4498744"/>
              <a:gd name="connsiteX1" fmla="*/ 3236782 w 3236782"/>
              <a:gd name="connsiteY1" fmla="*/ 1349826 h 4498744"/>
              <a:gd name="connsiteX2" fmla="*/ 3236782 w 3236782"/>
              <a:gd name="connsiteY2" fmla="*/ 3892666 h 4498744"/>
              <a:gd name="connsiteX3" fmla="*/ 2873925 w 3236782"/>
              <a:gd name="connsiteY3" fmla="*/ 4255523 h 4498744"/>
              <a:gd name="connsiteX4" fmla="*/ 2511068 w 3236782"/>
              <a:gd name="connsiteY4" fmla="*/ 3892666 h 4498744"/>
              <a:gd name="connsiteX5" fmla="*/ 2511068 w 3236782"/>
              <a:gd name="connsiteY5" fmla="*/ 1349826 h 4498744"/>
              <a:gd name="connsiteX6" fmla="*/ 2873925 w 3236782"/>
              <a:gd name="connsiteY6" fmla="*/ 986969 h 4498744"/>
              <a:gd name="connsiteX7" fmla="*/ 1199880 w 3236782"/>
              <a:gd name="connsiteY7" fmla="*/ 907240 h 4498744"/>
              <a:gd name="connsiteX8" fmla="*/ 1562737 w 3236782"/>
              <a:gd name="connsiteY8" fmla="*/ 1270097 h 4498744"/>
              <a:gd name="connsiteX9" fmla="*/ 1562737 w 3236782"/>
              <a:gd name="connsiteY9" fmla="*/ 4135887 h 4498744"/>
              <a:gd name="connsiteX10" fmla="*/ 1199880 w 3236782"/>
              <a:gd name="connsiteY10" fmla="*/ 4498744 h 4498744"/>
              <a:gd name="connsiteX11" fmla="*/ 837023 w 3236782"/>
              <a:gd name="connsiteY11" fmla="*/ 4135887 h 4498744"/>
              <a:gd name="connsiteX12" fmla="*/ 837023 w 3236782"/>
              <a:gd name="connsiteY12" fmla="*/ 1270097 h 4498744"/>
              <a:gd name="connsiteX13" fmla="*/ 1199880 w 3236782"/>
              <a:gd name="connsiteY13" fmla="*/ 907240 h 4498744"/>
              <a:gd name="connsiteX14" fmla="*/ 362857 w 3236782"/>
              <a:gd name="connsiteY14" fmla="*/ 330237 h 4498744"/>
              <a:gd name="connsiteX15" fmla="*/ 725714 w 3236782"/>
              <a:gd name="connsiteY15" fmla="*/ 693094 h 4498744"/>
              <a:gd name="connsiteX16" fmla="*/ 725714 w 3236782"/>
              <a:gd name="connsiteY16" fmla="*/ 3133652 h 4498744"/>
              <a:gd name="connsiteX17" fmla="*/ 362857 w 3236782"/>
              <a:gd name="connsiteY17" fmla="*/ 3496509 h 4498744"/>
              <a:gd name="connsiteX18" fmla="*/ 0 w 3236782"/>
              <a:gd name="connsiteY18" fmla="*/ 3133652 h 4498744"/>
              <a:gd name="connsiteX19" fmla="*/ 0 w 3236782"/>
              <a:gd name="connsiteY19" fmla="*/ 693094 h 4498744"/>
              <a:gd name="connsiteX20" fmla="*/ 362857 w 3236782"/>
              <a:gd name="connsiteY20" fmla="*/ 330237 h 4498744"/>
              <a:gd name="connsiteX21" fmla="*/ 2036903 w 3236782"/>
              <a:gd name="connsiteY21" fmla="*/ 0 h 4498744"/>
              <a:gd name="connsiteX22" fmla="*/ 2399760 w 3236782"/>
              <a:gd name="connsiteY22" fmla="*/ 362857 h 4498744"/>
              <a:gd name="connsiteX23" fmla="*/ 2399760 w 3236782"/>
              <a:gd name="connsiteY23" fmla="*/ 3736754 h 4498744"/>
              <a:gd name="connsiteX24" fmla="*/ 2036903 w 3236782"/>
              <a:gd name="connsiteY24" fmla="*/ 4099611 h 4498744"/>
              <a:gd name="connsiteX25" fmla="*/ 1674046 w 3236782"/>
              <a:gd name="connsiteY25" fmla="*/ 3736754 h 4498744"/>
              <a:gd name="connsiteX26" fmla="*/ 1674046 w 3236782"/>
              <a:gd name="connsiteY26" fmla="*/ 362857 h 4498744"/>
              <a:gd name="connsiteX27" fmla="*/ 2036903 w 3236782"/>
              <a:gd name="connsiteY27" fmla="*/ 0 h 4498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236782" h="4498744">
                <a:moveTo>
                  <a:pt x="2873925" y="986969"/>
                </a:moveTo>
                <a:cubicBezTo>
                  <a:pt x="3074325" y="986969"/>
                  <a:pt x="3236782" y="1149426"/>
                  <a:pt x="3236782" y="1349826"/>
                </a:cubicBezTo>
                <a:lnTo>
                  <a:pt x="3236782" y="3892666"/>
                </a:lnTo>
                <a:cubicBezTo>
                  <a:pt x="3236782" y="4093066"/>
                  <a:pt x="3074325" y="4255523"/>
                  <a:pt x="2873925" y="4255523"/>
                </a:cubicBezTo>
                <a:cubicBezTo>
                  <a:pt x="2673525" y="4255523"/>
                  <a:pt x="2511068" y="4093066"/>
                  <a:pt x="2511068" y="3892666"/>
                </a:cubicBezTo>
                <a:lnTo>
                  <a:pt x="2511068" y="1349826"/>
                </a:lnTo>
                <a:cubicBezTo>
                  <a:pt x="2511068" y="1149426"/>
                  <a:pt x="2673525" y="986969"/>
                  <a:pt x="2873925" y="986969"/>
                </a:cubicBezTo>
                <a:close/>
                <a:moveTo>
                  <a:pt x="1199880" y="907240"/>
                </a:moveTo>
                <a:cubicBezTo>
                  <a:pt x="1400280" y="907240"/>
                  <a:pt x="1562737" y="1069697"/>
                  <a:pt x="1562737" y="1270097"/>
                </a:cubicBezTo>
                <a:lnTo>
                  <a:pt x="1562737" y="4135887"/>
                </a:lnTo>
                <a:cubicBezTo>
                  <a:pt x="1562737" y="4336287"/>
                  <a:pt x="1400280" y="4498744"/>
                  <a:pt x="1199880" y="4498744"/>
                </a:cubicBezTo>
                <a:cubicBezTo>
                  <a:pt x="999480" y="4498744"/>
                  <a:pt x="837023" y="4336287"/>
                  <a:pt x="837023" y="4135887"/>
                </a:cubicBezTo>
                <a:lnTo>
                  <a:pt x="837023" y="1270097"/>
                </a:lnTo>
                <a:cubicBezTo>
                  <a:pt x="837023" y="1069697"/>
                  <a:pt x="999480" y="907240"/>
                  <a:pt x="1199880" y="907240"/>
                </a:cubicBezTo>
                <a:close/>
                <a:moveTo>
                  <a:pt x="362857" y="330237"/>
                </a:moveTo>
                <a:cubicBezTo>
                  <a:pt x="563257" y="330237"/>
                  <a:pt x="725714" y="492694"/>
                  <a:pt x="725714" y="693094"/>
                </a:cubicBezTo>
                <a:lnTo>
                  <a:pt x="725714" y="3133652"/>
                </a:lnTo>
                <a:cubicBezTo>
                  <a:pt x="725714" y="3334052"/>
                  <a:pt x="563257" y="3496509"/>
                  <a:pt x="362857" y="3496509"/>
                </a:cubicBezTo>
                <a:cubicBezTo>
                  <a:pt x="162457" y="3496509"/>
                  <a:pt x="0" y="3334052"/>
                  <a:pt x="0" y="3133652"/>
                </a:cubicBezTo>
                <a:lnTo>
                  <a:pt x="0" y="693094"/>
                </a:lnTo>
                <a:cubicBezTo>
                  <a:pt x="0" y="492694"/>
                  <a:pt x="162457" y="330237"/>
                  <a:pt x="362857" y="330237"/>
                </a:cubicBezTo>
                <a:close/>
                <a:moveTo>
                  <a:pt x="2036903" y="0"/>
                </a:moveTo>
                <a:cubicBezTo>
                  <a:pt x="2237303" y="0"/>
                  <a:pt x="2399760" y="162457"/>
                  <a:pt x="2399760" y="362857"/>
                </a:cubicBezTo>
                <a:lnTo>
                  <a:pt x="2399760" y="3736754"/>
                </a:lnTo>
                <a:cubicBezTo>
                  <a:pt x="2399760" y="3937154"/>
                  <a:pt x="2237303" y="4099611"/>
                  <a:pt x="2036903" y="4099611"/>
                </a:cubicBezTo>
                <a:cubicBezTo>
                  <a:pt x="1836503" y="4099611"/>
                  <a:pt x="1674046" y="3937154"/>
                  <a:pt x="1674046" y="3736754"/>
                </a:cubicBezTo>
                <a:lnTo>
                  <a:pt x="1674046" y="362857"/>
                </a:lnTo>
                <a:cubicBezTo>
                  <a:pt x="1674046" y="162457"/>
                  <a:pt x="1836503" y="0"/>
                  <a:pt x="20369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435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3420323" y="2137796"/>
            <a:ext cx="1335914" cy="1326649"/>
          </a:xfrm>
          <a:custGeom>
            <a:avLst/>
            <a:gdLst>
              <a:gd name="connsiteX0" fmla="*/ 623589 w 1335914"/>
              <a:gd name="connsiteY0" fmla="*/ 1931 h 1326649"/>
              <a:gd name="connsiteX1" fmla="*/ 758729 w 1335914"/>
              <a:gd name="connsiteY1" fmla="*/ 5291 h 1326649"/>
              <a:gd name="connsiteX2" fmla="*/ 1329602 w 1335914"/>
              <a:gd name="connsiteY2" fmla="*/ 746399 h 1326649"/>
              <a:gd name="connsiteX3" fmla="*/ 577187 w 1335914"/>
              <a:gd name="connsiteY3" fmla="*/ 1321359 h 1326649"/>
              <a:gd name="connsiteX4" fmla="*/ 6313 w 1335914"/>
              <a:gd name="connsiteY4" fmla="*/ 580251 h 1326649"/>
              <a:gd name="connsiteX5" fmla="*/ 623589 w 1335914"/>
              <a:gd name="connsiteY5" fmla="*/ 1931 h 132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5914" h="1326649">
                <a:moveTo>
                  <a:pt x="623589" y="1931"/>
                </a:moveTo>
                <a:cubicBezTo>
                  <a:pt x="667855" y="-1438"/>
                  <a:pt x="713070" y="-447"/>
                  <a:pt x="758729" y="5291"/>
                </a:cubicBezTo>
                <a:cubicBezTo>
                  <a:pt x="1124000" y="51201"/>
                  <a:pt x="1379909" y="383497"/>
                  <a:pt x="1329602" y="746399"/>
                </a:cubicBezTo>
                <a:cubicBezTo>
                  <a:pt x="1279295" y="1109301"/>
                  <a:pt x="942458" y="1367268"/>
                  <a:pt x="577187" y="1321359"/>
                </a:cubicBezTo>
                <a:cubicBezTo>
                  <a:pt x="211915" y="1275450"/>
                  <a:pt x="-43994" y="945340"/>
                  <a:pt x="6313" y="580251"/>
                </a:cubicBezTo>
                <a:cubicBezTo>
                  <a:pt x="50332" y="262712"/>
                  <a:pt x="313725" y="25513"/>
                  <a:pt x="623589" y="193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159214" y="2137796"/>
            <a:ext cx="1335914" cy="1326649"/>
          </a:xfrm>
          <a:custGeom>
            <a:avLst/>
            <a:gdLst>
              <a:gd name="connsiteX0" fmla="*/ 623589 w 1335914"/>
              <a:gd name="connsiteY0" fmla="*/ 1931 h 1326649"/>
              <a:gd name="connsiteX1" fmla="*/ 758729 w 1335914"/>
              <a:gd name="connsiteY1" fmla="*/ 5291 h 1326649"/>
              <a:gd name="connsiteX2" fmla="*/ 1329602 w 1335914"/>
              <a:gd name="connsiteY2" fmla="*/ 746399 h 1326649"/>
              <a:gd name="connsiteX3" fmla="*/ 577187 w 1335914"/>
              <a:gd name="connsiteY3" fmla="*/ 1321359 h 1326649"/>
              <a:gd name="connsiteX4" fmla="*/ 6313 w 1335914"/>
              <a:gd name="connsiteY4" fmla="*/ 580251 h 1326649"/>
              <a:gd name="connsiteX5" fmla="*/ 623589 w 1335914"/>
              <a:gd name="connsiteY5" fmla="*/ 1931 h 132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5914" h="1326649">
                <a:moveTo>
                  <a:pt x="623589" y="1931"/>
                </a:moveTo>
                <a:cubicBezTo>
                  <a:pt x="667855" y="-1438"/>
                  <a:pt x="713070" y="-447"/>
                  <a:pt x="758729" y="5291"/>
                </a:cubicBezTo>
                <a:cubicBezTo>
                  <a:pt x="1124000" y="51201"/>
                  <a:pt x="1379909" y="383497"/>
                  <a:pt x="1329602" y="746399"/>
                </a:cubicBezTo>
                <a:cubicBezTo>
                  <a:pt x="1279295" y="1109301"/>
                  <a:pt x="942458" y="1367268"/>
                  <a:pt x="577187" y="1321359"/>
                </a:cubicBezTo>
                <a:cubicBezTo>
                  <a:pt x="211915" y="1275450"/>
                  <a:pt x="-43994" y="945340"/>
                  <a:pt x="6313" y="580251"/>
                </a:cubicBezTo>
                <a:cubicBezTo>
                  <a:pt x="50332" y="262712"/>
                  <a:pt x="313725" y="25513"/>
                  <a:pt x="623589" y="193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4789771" y="4061424"/>
            <a:ext cx="1335913" cy="1326648"/>
          </a:xfrm>
          <a:custGeom>
            <a:avLst/>
            <a:gdLst>
              <a:gd name="connsiteX0" fmla="*/ 623588 w 1335913"/>
              <a:gd name="connsiteY0" fmla="*/ 1931 h 1326648"/>
              <a:gd name="connsiteX1" fmla="*/ 758728 w 1335913"/>
              <a:gd name="connsiteY1" fmla="*/ 5291 h 1326648"/>
              <a:gd name="connsiteX2" fmla="*/ 1329601 w 1335913"/>
              <a:gd name="connsiteY2" fmla="*/ 746399 h 1326648"/>
              <a:gd name="connsiteX3" fmla="*/ 577186 w 1335913"/>
              <a:gd name="connsiteY3" fmla="*/ 1321358 h 1326648"/>
              <a:gd name="connsiteX4" fmla="*/ 6313 w 1335913"/>
              <a:gd name="connsiteY4" fmla="*/ 580251 h 1326648"/>
              <a:gd name="connsiteX5" fmla="*/ 623588 w 1335913"/>
              <a:gd name="connsiteY5" fmla="*/ 1931 h 132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5913" h="1326648">
                <a:moveTo>
                  <a:pt x="623588" y="1931"/>
                </a:moveTo>
                <a:cubicBezTo>
                  <a:pt x="667855" y="-1438"/>
                  <a:pt x="713069" y="-447"/>
                  <a:pt x="758728" y="5291"/>
                </a:cubicBezTo>
                <a:cubicBezTo>
                  <a:pt x="1124000" y="51201"/>
                  <a:pt x="1379908" y="383497"/>
                  <a:pt x="1329601" y="746399"/>
                </a:cubicBezTo>
                <a:cubicBezTo>
                  <a:pt x="1279295" y="1109301"/>
                  <a:pt x="942458" y="1367267"/>
                  <a:pt x="577186" y="1321358"/>
                </a:cubicBezTo>
                <a:cubicBezTo>
                  <a:pt x="211915" y="1275449"/>
                  <a:pt x="-43994" y="945339"/>
                  <a:pt x="6313" y="580251"/>
                </a:cubicBezTo>
                <a:cubicBezTo>
                  <a:pt x="50332" y="262712"/>
                  <a:pt x="313725" y="25513"/>
                  <a:pt x="623588" y="193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7528661" y="4061424"/>
            <a:ext cx="1335913" cy="1326648"/>
          </a:xfrm>
          <a:custGeom>
            <a:avLst/>
            <a:gdLst>
              <a:gd name="connsiteX0" fmla="*/ 623588 w 1335913"/>
              <a:gd name="connsiteY0" fmla="*/ 1931 h 1326648"/>
              <a:gd name="connsiteX1" fmla="*/ 758728 w 1335913"/>
              <a:gd name="connsiteY1" fmla="*/ 5291 h 1326648"/>
              <a:gd name="connsiteX2" fmla="*/ 1329601 w 1335913"/>
              <a:gd name="connsiteY2" fmla="*/ 746399 h 1326648"/>
              <a:gd name="connsiteX3" fmla="*/ 577186 w 1335913"/>
              <a:gd name="connsiteY3" fmla="*/ 1321358 h 1326648"/>
              <a:gd name="connsiteX4" fmla="*/ 6313 w 1335913"/>
              <a:gd name="connsiteY4" fmla="*/ 580251 h 1326648"/>
              <a:gd name="connsiteX5" fmla="*/ 623588 w 1335913"/>
              <a:gd name="connsiteY5" fmla="*/ 1931 h 132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5913" h="1326648">
                <a:moveTo>
                  <a:pt x="623588" y="1931"/>
                </a:moveTo>
                <a:cubicBezTo>
                  <a:pt x="667855" y="-1438"/>
                  <a:pt x="713069" y="-447"/>
                  <a:pt x="758728" y="5291"/>
                </a:cubicBezTo>
                <a:cubicBezTo>
                  <a:pt x="1123999" y="51201"/>
                  <a:pt x="1379908" y="383497"/>
                  <a:pt x="1329601" y="746399"/>
                </a:cubicBezTo>
                <a:cubicBezTo>
                  <a:pt x="1279294" y="1109301"/>
                  <a:pt x="942457" y="1367267"/>
                  <a:pt x="577186" y="1321358"/>
                </a:cubicBezTo>
                <a:cubicBezTo>
                  <a:pt x="211915" y="1275449"/>
                  <a:pt x="-43994" y="945339"/>
                  <a:pt x="6313" y="580251"/>
                </a:cubicBezTo>
                <a:cubicBezTo>
                  <a:pt x="50332" y="262712"/>
                  <a:pt x="313725" y="25513"/>
                  <a:pt x="623588" y="193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6811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4533426" y="1712930"/>
            <a:ext cx="1788845" cy="1592636"/>
          </a:xfrm>
          <a:custGeom>
            <a:avLst/>
            <a:gdLst>
              <a:gd name="connsiteX0" fmla="*/ 1051700 w 1788845"/>
              <a:gd name="connsiteY0" fmla="*/ 0 h 1592636"/>
              <a:gd name="connsiteX1" fmla="*/ 1089295 w 1788845"/>
              <a:gd name="connsiteY1" fmla="*/ 2895 h 1592636"/>
              <a:gd name="connsiteX2" fmla="*/ 1126737 w 1788845"/>
              <a:gd name="connsiteY2" fmla="*/ 7352 h 1592636"/>
              <a:gd name="connsiteX3" fmla="*/ 1162311 w 1788845"/>
              <a:gd name="connsiteY3" fmla="*/ 14781 h 1592636"/>
              <a:gd name="connsiteX4" fmla="*/ 1199371 w 1788845"/>
              <a:gd name="connsiteY4" fmla="*/ 23143 h 1592636"/>
              <a:gd name="connsiteX5" fmla="*/ 1233858 w 1788845"/>
              <a:gd name="connsiteY5" fmla="*/ 33619 h 1592636"/>
              <a:gd name="connsiteX6" fmla="*/ 1269048 w 1788845"/>
              <a:gd name="connsiteY6" fmla="*/ 44955 h 1592636"/>
              <a:gd name="connsiteX7" fmla="*/ 1303152 w 1788845"/>
              <a:gd name="connsiteY7" fmla="*/ 59336 h 1592636"/>
              <a:gd name="connsiteX8" fmla="*/ 1335539 w 1788845"/>
              <a:gd name="connsiteY8" fmla="*/ 75128 h 1592636"/>
              <a:gd name="connsiteX9" fmla="*/ 1368555 w 1788845"/>
              <a:gd name="connsiteY9" fmla="*/ 92559 h 1592636"/>
              <a:gd name="connsiteX10" fmla="*/ 1400559 w 1788845"/>
              <a:gd name="connsiteY10" fmla="*/ 112256 h 1592636"/>
              <a:gd name="connsiteX11" fmla="*/ 1431629 w 1788845"/>
              <a:gd name="connsiteY11" fmla="*/ 133440 h 1592636"/>
              <a:gd name="connsiteX12" fmla="*/ 1461135 w 1788845"/>
              <a:gd name="connsiteY12" fmla="*/ 154470 h 1592636"/>
              <a:gd name="connsiteX13" fmla="*/ 1490337 w 1788845"/>
              <a:gd name="connsiteY13" fmla="*/ 178625 h 1592636"/>
              <a:gd name="connsiteX14" fmla="*/ 1517821 w 1788845"/>
              <a:gd name="connsiteY14" fmla="*/ 204189 h 1592636"/>
              <a:gd name="connsiteX15" fmla="*/ 1545934 w 1788845"/>
              <a:gd name="connsiteY15" fmla="*/ 231392 h 1592636"/>
              <a:gd name="connsiteX16" fmla="*/ 1570767 w 1788845"/>
              <a:gd name="connsiteY16" fmla="*/ 259851 h 1592636"/>
              <a:gd name="connsiteX17" fmla="*/ 1596306 w 1788845"/>
              <a:gd name="connsiteY17" fmla="*/ 289167 h 1592636"/>
              <a:gd name="connsiteX18" fmla="*/ 1619347 w 1788845"/>
              <a:gd name="connsiteY18" fmla="*/ 319817 h 1592636"/>
              <a:gd name="connsiteX19" fmla="*/ 1642234 w 1788845"/>
              <a:gd name="connsiteY19" fmla="*/ 352028 h 1592636"/>
              <a:gd name="connsiteX20" fmla="*/ 1663406 w 1788845"/>
              <a:gd name="connsiteY20" fmla="*/ 385649 h 1592636"/>
              <a:gd name="connsiteX21" fmla="*/ 1683643 w 1788845"/>
              <a:gd name="connsiteY21" fmla="*/ 420756 h 1592636"/>
              <a:gd name="connsiteX22" fmla="*/ 1703098 w 1788845"/>
              <a:gd name="connsiteY22" fmla="*/ 455786 h 1592636"/>
              <a:gd name="connsiteX23" fmla="*/ 1720837 w 1788845"/>
              <a:gd name="connsiteY23" fmla="*/ 492225 h 1592636"/>
              <a:gd name="connsiteX24" fmla="*/ 1736782 w 1788845"/>
              <a:gd name="connsiteY24" fmla="*/ 530854 h 1592636"/>
              <a:gd name="connsiteX25" fmla="*/ 1751870 w 1788845"/>
              <a:gd name="connsiteY25" fmla="*/ 570189 h 1592636"/>
              <a:gd name="connsiteX26" fmla="*/ 1764690 w 1788845"/>
              <a:gd name="connsiteY26" fmla="*/ 608511 h 1592636"/>
              <a:gd name="connsiteX27" fmla="*/ 1773524 w 1788845"/>
              <a:gd name="connsiteY27" fmla="*/ 647233 h 1592636"/>
              <a:gd name="connsiteX28" fmla="*/ 1781577 w 1788845"/>
              <a:gd name="connsiteY28" fmla="*/ 685877 h 1592636"/>
              <a:gd name="connsiteX29" fmla="*/ 1786504 w 1788845"/>
              <a:gd name="connsiteY29" fmla="*/ 724217 h 1592636"/>
              <a:gd name="connsiteX30" fmla="*/ 1788456 w 1788845"/>
              <a:gd name="connsiteY30" fmla="*/ 760686 h 1592636"/>
              <a:gd name="connsiteX31" fmla="*/ 1788845 w 1788845"/>
              <a:gd name="connsiteY31" fmla="*/ 797003 h 1592636"/>
              <a:gd name="connsiteX32" fmla="*/ 1786032 w 1788845"/>
              <a:gd name="connsiteY32" fmla="*/ 833794 h 1592636"/>
              <a:gd name="connsiteX33" fmla="*/ 1782513 w 1788845"/>
              <a:gd name="connsiteY33" fmla="*/ 869728 h 1592636"/>
              <a:gd name="connsiteX34" fmla="*/ 1775867 w 1788845"/>
              <a:gd name="connsiteY34" fmla="*/ 905356 h 1592636"/>
              <a:gd name="connsiteX35" fmla="*/ 1766172 w 1788845"/>
              <a:gd name="connsiteY35" fmla="*/ 939896 h 1592636"/>
              <a:gd name="connsiteX36" fmla="*/ 1755770 w 1788845"/>
              <a:gd name="connsiteY36" fmla="*/ 973578 h 1592636"/>
              <a:gd name="connsiteX37" fmla="*/ 1743103 w 1788845"/>
              <a:gd name="connsiteY37" fmla="*/ 1006249 h 1592636"/>
              <a:gd name="connsiteX38" fmla="*/ 1728088 w 1788845"/>
              <a:gd name="connsiteY38" fmla="*/ 1038691 h 1592636"/>
              <a:gd name="connsiteX39" fmla="*/ 1712292 w 1788845"/>
              <a:gd name="connsiteY39" fmla="*/ 1071055 h 1592636"/>
              <a:gd name="connsiteX40" fmla="*/ 1693446 w 1788845"/>
              <a:gd name="connsiteY40" fmla="*/ 1102333 h 1592636"/>
              <a:gd name="connsiteX41" fmla="*/ 1673114 w 1788845"/>
              <a:gd name="connsiteY41" fmla="*/ 1132676 h 1592636"/>
              <a:gd name="connsiteX42" fmla="*/ 1651294 w 1788845"/>
              <a:gd name="connsiteY42" fmla="*/ 1162084 h 1592636"/>
              <a:gd name="connsiteX43" fmla="*/ 1628769 w 1788845"/>
              <a:gd name="connsiteY43" fmla="*/ 1190635 h 1592636"/>
              <a:gd name="connsiteX44" fmla="*/ 1603119 w 1788845"/>
              <a:gd name="connsiteY44" fmla="*/ 1218881 h 1592636"/>
              <a:gd name="connsiteX45" fmla="*/ 1576839 w 1788845"/>
              <a:gd name="connsiteY45" fmla="*/ 1245486 h 1592636"/>
              <a:gd name="connsiteX46" fmla="*/ 1549072 w 1788845"/>
              <a:gd name="connsiteY46" fmla="*/ 1271158 h 1592636"/>
              <a:gd name="connsiteX47" fmla="*/ 1520523 w 1788845"/>
              <a:gd name="connsiteY47" fmla="*/ 1296753 h 1592636"/>
              <a:gd name="connsiteX48" fmla="*/ 1489783 w 1788845"/>
              <a:gd name="connsiteY48" fmla="*/ 1320556 h 1592636"/>
              <a:gd name="connsiteX49" fmla="*/ 1457403 w 1788845"/>
              <a:gd name="connsiteY49" fmla="*/ 1344987 h 1592636"/>
              <a:gd name="connsiteX50" fmla="*/ 1425328 w 1788845"/>
              <a:gd name="connsiteY50" fmla="*/ 1366293 h 1592636"/>
              <a:gd name="connsiteX51" fmla="*/ 1390910 w 1788845"/>
              <a:gd name="connsiteY51" fmla="*/ 1387369 h 1592636"/>
              <a:gd name="connsiteX52" fmla="*/ 1355786 w 1788845"/>
              <a:gd name="connsiteY52" fmla="*/ 1407587 h 1592636"/>
              <a:gd name="connsiteX53" fmla="*/ 1319955 w 1788845"/>
              <a:gd name="connsiteY53" fmla="*/ 1426948 h 1592636"/>
              <a:gd name="connsiteX54" fmla="*/ 1284202 w 1788845"/>
              <a:gd name="connsiteY54" fmla="*/ 1445528 h 1592636"/>
              <a:gd name="connsiteX55" fmla="*/ 1245553 w 1788845"/>
              <a:gd name="connsiteY55" fmla="*/ 1461458 h 1592636"/>
              <a:gd name="connsiteX56" fmla="*/ 1207761 w 1788845"/>
              <a:gd name="connsiteY56" fmla="*/ 1476683 h 1592636"/>
              <a:gd name="connsiteX57" fmla="*/ 1168405 w 1788845"/>
              <a:gd name="connsiteY57" fmla="*/ 1491756 h 1592636"/>
              <a:gd name="connsiteX58" fmla="*/ 1128345 w 1788845"/>
              <a:gd name="connsiteY58" fmla="*/ 1505971 h 1592636"/>
              <a:gd name="connsiteX59" fmla="*/ 1088515 w 1788845"/>
              <a:gd name="connsiteY59" fmla="*/ 1517841 h 1592636"/>
              <a:gd name="connsiteX60" fmla="*/ 1047044 w 1788845"/>
              <a:gd name="connsiteY60" fmla="*/ 1530340 h 1592636"/>
              <a:gd name="connsiteX61" fmla="*/ 1004869 w 1788845"/>
              <a:gd name="connsiteY61" fmla="*/ 1541981 h 1592636"/>
              <a:gd name="connsiteX62" fmla="*/ 962063 w 1788845"/>
              <a:gd name="connsiteY62" fmla="*/ 1551984 h 1592636"/>
              <a:gd name="connsiteX63" fmla="*/ 920194 w 1788845"/>
              <a:gd name="connsiteY63" fmla="*/ 1560500 h 1592636"/>
              <a:gd name="connsiteX64" fmla="*/ 876684 w 1788845"/>
              <a:gd name="connsiteY64" fmla="*/ 1569644 h 1592636"/>
              <a:gd name="connsiteX65" fmla="*/ 834262 w 1788845"/>
              <a:gd name="connsiteY65" fmla="*/ 1575741 h 1592636"/>
              <a:gd name="connsiteX66" fmla="*/ 790982 w 1788845"/>
              <a:gd name="connsiteY66" fmla="*/ 1582541 h 1592636"/>
              <a:gd name="connsiteX67" fmla="*/ 748008 w 1788845"/>
              <a:gd name="connsiteY67" fmla="*/ 1586218 h 1592636"/>
              <a:gd name="connsiteX68" fmla="*/ 705033 w 1788845"/>
              <a:gd name="connsiteY68" fmla="*/ 1589894 h 1592636"/>
              <a:gd name="connsiteX69" fmla="*/ 662212 w 1788845"/>
              <a:gd name="connsiteY69" fmla="*/ 1592008 h 1592636"/>
              <a:gd name="connsiteX70" fmla="*/ 620326 w 1788845"/>
              <a:gd name="connsiteY70" fmla="*/ 1592636 h 1592636"/>
              <a:gd name="connsiteX71" fmla="*/ 577811 w 1788845"/>
              <a:gd name="connsiteY71" fmla="*/ 1591626 h 1592636"/>
              <a:gd name="connsiteX72" fmla="*/ 537012 w 1788845"/>
              <a:gd name="connsiteY72" fmla="*/ 1589206 h 1592636"/>
              <a:gd name="connsiteX73" fmla="*/ 497148 w 1788845"/>
              <a:gd name="connsiteY73" fmla="*/ 1585301 h 1592636"/>
              <a:gd name="connsiteX74" fmla="*/ 455949 w 1788845"/>
              <a:gd name="connsiteY74" fmla="*/ 1578899 h 1592636"/>
              <a:gd name="connsiteX75" fmla="*/ 418031 w 1788845"/>
              <a:gd name="connsiteY75" fmla="*/ 1571239 h 1592636"/>
              <a:gd name="connsiteX76" fmla="*/ 380190 w 1788845"/>
              <a:gd name="connsiteY76" fmla="*/ 1562800 h 1592636"/>
              <a:gd name="connsiteX77" fmla="*/ 343435 w 1788845"/>
              <a:gd name="connsiteY77" fmla="*/ 1551313 h 1592636"/>
              <a:gd name="connsiteX78" fmla="*/ 308397 w 1788845"/>
              <a:gd name="connsiteY78" fmla="*/ 1538416 h 1592636"/>
              <a:gd name="connsiteX79" fmla="*/ 274369 w 1788845"/>
              <a:gd name="connsiteY79" fmla="*/ 1523252 h 1592636"/>
              <a:gd name="connsiteX80" fmla="*/ 240573 w 1788845"/>
              <a:gd name="connsiteY80" fmla="*/ 1505744 h 1592636"/>
              <a:gd name="connsiteX81" fmla="*/ 209197 w 1788845"/>
              <a:gd name="connsiteY81" fmla="*/ 1487687 h 1592636"/>
              <a:gd name="connsiteX82" fmla="*/ 180548 w 1788845"/>
              <a:gd name="connsiteY82" fmla="*/ 1465952 h 1592636"/>
              <a:gd name="connsiteX83" fmla="*/ 166615 w 1788845"/>
              <a:gd name="connsiteY83" fmla="*/ 1455122 h 1592636"/>
              <a:gd name="connsiteX84" fmla="*/ 152835 w 1788845"/>
              <a:gd name="connsiteY84" fmla="*/ 1442731 h 1592636"/>
              <a:gd name="connsiteX85" fmla="*/ 139912 w 1788845"/>
              <a:gd name="connsiteY85" fmla="*/ 1429635 h 1592636"/>
              <a:gd name="connsiteX86" fmla="*/ 126914 w 1788845"/>
              <a:gd name="connsiteY86" fmla="*/ 1417321 h 1592636"/>
              <a:gd name="connsiteX87" fmla="*/ 114143 w 1788845"/>
              <a:gd name="connsiteY87" fmla="*/ 1402662 h 1592636"/>
              <a:gd name="connsiteX88" fmla="*/ 102080 w 1788845"/>
              <a:gd name="connsiteY88" fmla="*/ 1388862 h 1592636"/>
              <a:gd name="connsiteX89" fmla="*/ 90950 w 1788845"/>
              <a:gd name="connsiteY89" fmla="*/ 1373575 h 1592636"/>
              <a:gd name="connsiteX90" fmla="*/ 80602 w 1788845"/>
              <a:gd name="connsiteY90" fmla="*/ 1358366 h 1592636"/>
              <a:gd name="connsiteX91" fmla="*/ 70407 w 1788845"/>
              <a:gd name="connsiteY91" fmla="*/ 1341593 h 1592636"/>
              <a:gd name="connsiteX92" fmla="*/ 60136 w 1788845"/>
              <a:gd name="connsiteY92" fmla="*/ 1325602 h 1592636"/>
              <a:gd name="connsiteX93" fmla="*/ 51581 w 1788845"/>
              <a:gd name="connsiteY93" fmla="*/ 1308202 h 1592636"/>
              <a:gd name="connsiteX94" fmla="*/ 43884 w 1788845"/>
              <a:gd name="connsiteY94" fmla="*/ 1290097 h 1592636"/>
              <a:gd name="connsiteX95" fmla="*/ 34700 w 1788845"/>
              <a:gd name="connsiteY95" fmla="*/ 1271058 h 1592636"/>
              <a:gd name="connsiteX96" fmla="*/ 28720 w 1788845"/>
              <a:gd name="connsiteY96" fmla="*/ 1251545 h 1592636"/>
              <a:gd name="connsiteX97" fmla="*/ 21176 w 1788845"/>
              <a:gd name="connsiteY97" fmla="*/ 1231877 h 1592636"/>
              <a:gd name="connsiteX98" fmla="*/ 16054 w 1788845"/>
              <a:gd name="connsiteY98" fmla="*/ 1211659 h 1592636"/>
              <a:gd name="connsiteX99" fmla="*/ 10931 w 1788845"/>
              <a:gd name="connsiteY99" fmla="*/ 1191440 h 1592636"/>
              <a:gd name="connsiteX100" fmla="*/ 7449 w 1788845"/>
              <a:gd name="connsiteY100" fmla="*/ 1170595 h 1592636"/>
              <a:gd name="connsiteX101" fmla="*/ 4824 w 1788845"/>
              <a:gd name="connsiteY101" fmla="*/ 1149043 h 1592636"/>
              <a:gd name="connsiteX102" fmla="*/ 2200 w 1788845"/>
              <a:gd name="connsiteY102" fmla="*/ 1127492 h 1592636"/>
              <a:gd name="connsiteX103" fmla="*/ 1920 w 1788845"/>
              <a:gd name="connsiteY103" fmla="*/ 1106170 h 1592636"/>
              <a:gd name="connsiteX104" fmla="*/ 0 w 1788845"/>
              <a:gd name="connsiteY104" fmla="*/ 1085477 h 1592636"/>
              <a:gd name="connsiteX105" fmla="*/ 1437 w 1788845"/>
              <a:gd name="connsiteY105" fmla="*/ 1062746 h 1592636"/>
              <a:gd name="connsiteX106" fmla="*/ 1940 w 1788845"/>
              <a:gd name="connsiteY106" fmla="*/ 1041502 h 1592636"/>
              <a:gd name="connsiteX107" fmla="*/ 4081 w 1788845"/>
              <a:gd name="connsiteY107" fmla="*/ 1019629 h 1592636"/>
              <a:gd name="connsiteX108" fmla="*/ 6376 w 1788845"/>
              <a:gd name="connsiteY108" fmla="*/ 996194 h 1592636"/>
              <a:gd name="connsiteX109" fmla="*/ 14644 w 1788845"/>
              <a:gd name="connsiteY109" fmla="*/ 952051 h 1592636"/>
              <a:gd name="connsiteX110" fmla="*/ 23924 w 1788845"/>
              <a:gd name="connsiteY110" fmla="*/ 905640 h 1592636"/>
              <a:gd name="connsiteX111" fmla="*/ 37741 w 1788845"/>
              <a:gd name="connsiteY111" fmla="*/ 861251 h 1592636"/>
              <a:gd name="connsiteX112" fmla="*/ 52569 w 1788845"/>
              <a:gd name="connsiteY112" fmla="*/ 814595 h 1592636"/>
              <a:gd name="connsiteX113" fmla="*/ 69665 w 1788845"/>
              <a:gd name="connsiteY113" fmla="*/ 768950 h 1592636"/>
              <a:gd name="connsiteX114" fmla="*/ 90669 w 1788845"/>
              <a:gd name="connsiteY114" fmla="*/ 723688 h 1592636"/>
              <a:gd name="connsiteX115" fmla="*/ 113314 w 1788845"/>
              <a:gd name="connsiteY115" fmla="*/ 677799 h 1592636"/>
              <a:gd name="connsiteX116" fmla="*/ 137445 w 1788845"/>
              <a:gd name="connsiteY116" fmla="*/ 632843 h 1592636"/>
              <a:gd name="connsiteX117" fmla="*/ 162986 w 1788845"/>
              <a:gd name="connsiteY117" fmla="*/ 589602 h 1592636"/>
              <a:gd name="connsiteX118" fmla="*/ 191807 w 1788845"/>
              <a:gd name="connsiteY118" fmla="*/ 545107 h 1592636"/>
              <a:gd name="connsiteX119" fmla="*/ 221257 w 1788845"/>
              <a:gd name="connsiteY119" fmla="*/ 502249 h 1592636"/>
              <a:gd name="connsiteX120" fmla="*/ 252193 w 1788845"/>
              <a:gd name="connsiteY120" fmla="*/ 460327 h 1592636"/>
              <a:gd name="connsiteX121" fmla="*/ 285321 w 1788845"/>
              <a:gd name="connsiteY121" fmla="*/ 420195 h 1592636"/>
              <a:gd name="connsiteX122" fmla="*/ 319231 w 1788845"/>
              <a:gd name="connsiteY122" fmla="*/ 380141 h 1592636"/>
              <a:gd name="connsiteX123" fmla="*/ 354629 w 1788845"/>
              <a:gd name="connsiteY123" fmla="*/ 341022 h 1592636"/>
              <a:gd name="connsiteX124" fmla="*/ 391359 w 1788845"/>
              <a:gd name="connsiteY124" fmla="*/ 304399 h 1592636"/>
              <a:gd name="connsiteX125" fmla="*/ 427937 w 1788845"/>
              <a:gd name="connsiteY125" fmla="*/ 269338 h 1592636"/>
              <a:gd name="connsiteX126" fmla="*/ 465219 w 1788845"/>
              <a:gd name="connsiteY126" fmla="*/ 235135 h 1592636"/>
              <a:gd name="connsiteX127" fmla="*/ 503836 w 1788845"/>
              <a:gd name="connsiteY127" fmla="*/ 203427 h 1592636"/>
              <a:gd name="connsiteX128" fmla="*/ 543082 w 1788845"/>
              <a:gd name="connsiteY128" fmla="*/ 173360 h 1592636"/>
              <a:gd name="connsiteX129" fmla="*/ 582879 w 1788845"/>
              <a:gd name="connsiteY129" fmla="*/ 145713 h 1592636"/>
              <a:gd name="connsiteX130" fmla="*/ 622524 w 1788845"/>
              <a:gd name="connsiteY130" fmla="*/ 119628 h 1592636"/>
              <a:gd name="connsiteX131" fmla="*/ 662643 w 1788845"/>
              <a:gd name="connsiteY131" fmla="*/ 96745 h 1592636"/>
              <a:gd name="connsiteX132" fmla="*/ 702458 w 1788845"/>
              <a:gd name="connsiteY132" fmla="*/ 76985 h 1592636"/>
              <a:gd name="connsiteX133" fmla="*/ 742119 w 1788845"/>
              <a:gd name="connsiteY133" fmla="*/ 58788 h 1592636"/>
              <a:gd name="connsiteX134" fmla="*/ 781475 w 1788845"/>
              <a:gd name="connsiteY134" fmla="*/ 43716 h 1592636"/>
              <a:gd name="connsiteX135" fmla="*/ 821535 w 1788845"/>
              <a:gd name="connsiteY135" fmla="*/ 29502 h 1592636"/>
              <a:gd name="connsiteX136" fmla="*/ 860432 w 1788845"/>
              <a:gd name="connsiteY136" fmla="*/ 19117 h 1592636"/>
              <a:gd name="connsiteX137" fmla="*/ 899879 w 1788845"/>
              <a:gd name="connsiteY137" fmla="*/ 11151 h 1592636"/>
              <a:gd name="connsiteX138" fmla="*/ 938317 w 1788845"/>
              <a:gd name="connsiteY138" fmla="*/ 5454 h 1592636"/>
              <a:gd name="connsiteX139" fmla="*/ 976524 w 1788845"/>
              <a:gd name="connsiteY139" fmla="*/ 2099 h 1592636"/>
              <a:gd name="connsiteX140" fmla="*/ 1013797 w 1788845"/>
              <a:gd name="connsiteY140" fmla="*/ 230 h 1592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788845" h="1592636">
                <a:moveTo>
                  <a:pt x="1051700" y="0"/>
                </a:moveTo>
                <a:lnTo>
                  <a:pt x="1089295" y="2895"/>
                </a:lnTo>
                <a:lnTo>
                  <a:pt x="1126737" y="7352"/>
                </a:lnTo>
                <a:lnTo>
                  <a:pt x="1162311" y="14781"/>
                </a:lnTo>
                <a:lnTo>
                  <a:pt x="1199371" y="23143"/>
                </a:lnTo>
                <a:lnTo>
                  <a:pt x="1233858" y="33619"/>
                </a:lnTo>
                <a:lnTo>
                  <a:pt x="1269048" y="44955"/>
                </a:lnTo>
                <a:lnTo>
                  <a:pt x="1303152" y="59336"/>
                </a:lnTo>
                <a:lnTo>
                  <a:pt x="1335539" y="75128"/>
                </a:lnTo>
                <a:lnTo>
                  <a:pt x="1368555" y="92559"/>
                </a:lnTo>
                <a:lnTo>
                  <a:pt x="1400559" y="112256"/>
                </a:lnTo>
                <a:lnTo>
                  <a:pt x="1431629" y="133440"/>
                </a:lnTo>
                <a:lnTo>
                  <a:pt x="1461135" y="154470"/>
                </a:lnTo>
                <a:lnTo>
                  <a:pt x="1490337" y="178625"/>
                </a:lnTo>
                <a:lnTo>
                  <a:pt x="1517821" y="204189"/>
                </a:lnTo>
                <a:lnTo>
                  <a:pt x="1545934" y="231392"/>
                </a:lnTo>
                <a:lnTo>
                  <a:pt x="1570767" y="259851"/>
                </a:lnTo>
                <a:lnTo>
                  <a:pt x="1596306" y="289167"/>
                </a:lnTo>
                <a:lnTo>
                  <a:pt x="1619347" y="319817"/>
                </a:lnTo>
                <a:lnTo>
                  <a:pt x="1642234" y="352028"/>
                </a:lnTo>
                <a:lnTo>
                  <a:pt x="1663406" y="385649"/>
                </a:lnTo>
                <a:lnTo>
                  <a:pt x="1683643" y="420756"/>
                </a:lnTo>
                <a:lnTo>
                  <a:pt x="1703098" y="455786"/>
                </a:lnTo>
                <a:lnTo>
                  <a:pt x="1720837" y="492225"/>
                </a:lnTo>
                <a:lnTo>
                  <a:pt x="1736782" y="530854"/>
                </a:lnTo>
                <a:lnTo>
                  <a:pt x="1751870" y="570189"/>
                </a:lnTo>
                <a:lnTo>
                  <a:pt x="1764690" y="608511"/>
                </a:lnTo>
                <a:lnTo>
                  <a:pt x="1773524" y="647233"/>
                </a:lnTo>
                <a:lnTo>
                  <a:pt x="1781577" y="685877"/>
                </a:lnTo>
                <a:lnTo>
                  <a:pt x="1786504" y="724217"/>
                </a:lnTo>
                <a:lnTo>
                  <a:pt x="1788456" y="760686"/>
                </a:lnTo>
                <a:lnTo>
                  <a:pt x="1788845" y="797003"/>
                </a:lnTo>
                <a:lnTo>
                  <a:pt x="1786032" y="833794"/>
                </a:lnTo>
                <a:lnTo>
                  <a:pt x="1782513" y="869728"/>
                </a:lnTo>
                <a:lnTo>
                  <a:pt x="1775867" y="905356"/>
                </a:lnTo>
                <a:lnTo>
                  <a:pt x="1766172" y="939896"/>
                </a:lnTo>
                <a:lnTo>
                  <a:pt x="1755770" y="973578"/>
                </a:lnTo>
                <a:lnTo>
                  <a:pt x="1743103" y="1006249"/>
                </a:lnTo>
                <a:lnTo>
                  <a:pt x="1728088" y="1038691"/>
                </a:lnTo>
                <a:lnTo>
                  <a:pt x="1712292" y="1071055"/>
                </a:lnTo>
                <a:lnTo>
                  <a:pt x="1693446" y="1102333"/>
                </a:lnTo>
                <a:lnTo>
                  <a:pt x="1673114" y="1132676"/>
                </a:lnTo>
                <a:lnTo>
                  <a:pt x="1651294" y="1162084"/>
                </a:lnTo>
                <a:lnTo>
                  <a:pt x="1628769" y="1190635"/>
                </a:lnTo>
                <a:lnTo>
                  <a:pt x="1603119" y="1218881"/>
                </a:lnTo>
                <a:lnTo>
                  <a:pt x="1576839" y="1245486"/>
                </a:lnTo>
                <a:lnTo>
                  <a:pt x="1549072" y="1271158"/>
                </a:lnTo>
                <a:lnTo>
                  <a:pt x="1520523" y="1296753"/>
                </a:lnTo>
                <a:lnTo>
                  <a:pt x="1489783" y="1320556"/>
                </a:lnTo>
                <a:lnTo>
                  <a:pt x="1457403" y="1344987"/>
                </a:lnTo>
                <a:lnTo>
                  <a:pt x="1425328" y="1366293"/>
                </a:lnTo>
                <a:lnTo>
                  <a:pt x="1390910" y="1387369"/>
                </a:lnTo>
                <a:lnTo>
                  <a:pt x="1355786" y="1407587"/>
                </a:lnTo>
                <a:lnTo>
                  <a:pt x="1319955" y="1426948"/>
                </a:lnTo>
                <a:lnTo>
                  <a:pt x="1284202" y="1445528"/>
                </a:lnTo>
                <a:lnTo>
                  <a:pt x="1245553" y="1461458"/>
                </a:lnTo>
                <a:lnTo>
                  <a:pt x="1207761" y="1476683"/>
                </a:lnTo>
                <a:lnTo>
                  <a:pt x="1168405" y="1491756"/>
                </a:lnTo>
                <a:lnTo>
                  <a:pt x="1128345" y="1505971"/>
                </a:lnTo>
                <a:lnTo>
                  <a:pt x="1088515" y="1517841"/>
                </a:lnTo>
                <a:lnTo>
                  <a:pt x="1047044" y="1530340"/>
                </a:lnTo>
                <a:lnTo>
                  <a:pt x="1004869" y="1541981"/>
                </a:lnTo>
                <a:lnTo>
                  <a:pt x="962063" y="1551984"/>
                </a:lnTo>
                <a:lnTo>
                  <a:pt x="920194" y="1560500"/>
                </a:lnTo>
                <a:lnTo>
                  <a:pt x="876684" y="1569644"/>
                </a:lnTo>
                <a:lnTo>
                  <a:pt x="834262" y="1575741"/>
                </a:lnTo>
                <a:lnTo>
                  <a:pt x="790982" y="1582541"/>
                </a:lnTo>
                <a:lnTo>
                  <a:pt x="748008" y="1586218"/>
                </a:lnTo>
                <a:lnTo>
                  <a:pt x="705033" y="1589894"/>
                </a:lnTo>
                <a:lnTo>
                  <a:pt x="662212" y="1592008"/>
                </a:lnTo>
                <a:lnTo>
                  <a:pt x="620326" y="1592636"/>
                </a:lnTo>
                <a:lnTo>
                  <a:pt x="577811" y="1591626"/>
                </a:lnTo>
                <a:lnTo>
                  <a:pt x="537012" y="1589206"/>
                </a:lnTo>
                <a:lnTo>
                  <a:pt x="497148" y="1585301"/>
                </a:lnTo>
                <a:lnTo>
                  <a:pt x="455949" y="1578899"/>
                </a:lnTo>
                <a:lnTo>
                  <a:pt x="418031" y="1571239"/>
                </a:lnTo>
                <a:lnTo>
                  <a:pt x="380190" y="1562800"/>
                </a:lnTo>
                <a:lnTo>
                  <a:pt x="343435" y="1551313"/>
                </a:lnTo>
                <a:lnTo>
                  <a:pt x="308397" y="1538416"/>
                </a:lnTo>
                <a:lnTo>
                  <a:pt x="274369" y="1523252"/>
                </a:lnTo>
                <a:lnTo>
                  <a:pt x="240573" y="1505744"/>
                </a:lnTo>
                <a:lnTo>
                  <a:pt x="209197" y="1487687"/>
                </a:lnTo>
                <a:lnTo>
                  <a:pt x="180548" y="1465952"/>
                </a:lnTo>
                <a:lnTo>
                  <a:pt x="166615" y="1455122"/>
                </a:lnTo>
                <a:lnTo>
                  <a:pt x="152835" y="1442731"/>
                </a:lnTo>
                <a:lnTo>
                  <a:pt x="139912" y="1429635"/>
                </a:lnTo>
                <a:lnTo>
                  <a:pt x="126914" y="1417321"/>
                </a:lnTo>
                <a:lnTo>
                  <a:pt x="114143" y="1402662"/>
                </a:lnTo>
                <a:lnTo>
                  <a:pt x="102080" y="1388862"/>
                </a:lnTo>
                <a:lnTo>
                  <a:pt x="90950" y="1373575"/>
                </a:lnTo>
                <a:lnTo>
                  <a:pt x="80602" y="1358366"/>
                </a:lnTo>
                <a:lnTo>
                  <a:pt x="70407" y="1341593"/>
                </a:lnTo>
                <a:lnTo>
                  <a:pt x="60136" y="1325602"/>
                </a:lnTo>
                <a:lnTo>
                  <a:pt x="51581" y="1308202"/>
                </a:lnTo>
                <a:lnTo>
                  <a:pt x="43884" y="1290097"/>
                </a:lnTo>
                <a:lnTo>
                  <a:pt x="34700" y="1271058"/>
                </a:lnTo>
                <a:lnTo>
                  <a:pt x="28720" y="1251545"/>
                </a:lnTo>
                <a:lnTo>
                  <a:pt x="21176" y="1231877"/>
                </a:lnTo>
                <a:lnTo>
                  <a:pt x="16054" y="1211659"/>
                </a:lnTo>
                <a:lnTo>
                  <a:pt x="10931" y="1191440"/>
                </a:lnTo>
                <a:lnTo>
                  <a:pt x="7449" y="1170595"/>
                </a:lnTo>
                <a:lnTo>
                  <a:pt x="4824" y="1149043"/>
                </a:lnTo>
                <a:lnTo>
                  <a:pt x="2200" y="1127492"/>
                </a:lnTo>
                <a:lnTo>
                  <a:pt x="1920" y="1106170"/>
                </a:lnTo>
                <a:lnTo>
                  <a:pt x="0" y="1085477"/>
                </a:lnTo>
                <a:lnTo>
                  <a:pt x="1437" y="1062746"/>
                </a:lnTo>
                <a:lnTo>
                  <a:pt x="1940" y="1041502"/>
                </a:lnTo>
                <a:lnTo>
                  <a:pt x="4081" y="1019629"/>
                </a:lnTo>
                <a:lnTo>
                  <a:pt x="6376" y="996194"/>
                </a:lnTo>
                <a:lnTo>
                  <a:pt x="14644" y="952051"/>
                </a:lnTo>
                <a:lnTo>
                  <a:pt x="23924" y="905640"/>
                </a:lnTo>
                <a:lnTo>
                  <a:pt x="37741" y="861251"/>
                </a:lnTo>
                <a:lnTo>
                  <a:pt x="52569" y="814595"/>
                </a:lnTo>
                <a:lnTo>
                  <a:pt x="69665" y="768950"/>
                </a:lnTo>
                <a:lnTo>
                  <a:pt x="90669" y="723688"/>
                </a:lnTo>
                <a:lnTo>
                  <a:pt x="113314" y="677799"/>
                </a:lnTo>
                <a:lnTo>
                  <a:pt x="137445" y="632843"/>
                </a:lnTo>
                <a:lnTo>
                  <a:pt x="162986" y="589602"/>
                </a:lnTo>
                <a:lnTo>
                  <a:pt x="191807" y="545107"/>
                </a:lnTo>
                <a:lnTo>
                  <a:pt x="221257" y="502249"/>
                </a:lnTo>
                <a:lnTo>
                  <a:pt x="252193" y="460327"/>
                </a:lnTo>
                <a:lnTo>
                  <a:pt x="285321" y="420195"/>
                </a:lnTo>
                <a:lnTo>
                  <a:pt x="319231" y="380141"/>
                </a:lnTo>
                <a:lnTo>
                  <a:pt x="354629" y="341022"/>
                </a:lnTo>
                <a:lnTo>
                  <a:pt x="391359" y="304399"/>
                </a:lnTo>
                <a:lnTo>
                  <a:pt x="427937" y="269338"/>
                </a:lnTo>
                <a:lnTo>
                  <a:pt x="465219" y="235135"/>
                </a:lnTo>
                <a:lnTo>
                  <a:pt x="503836" y="203427"/>
                </a:lnTo>
                <a:lnTo>
                  <a:pt x="543082" y="173360"/>
                </a:lnTo>
                <a:lnTo>
                  <a:pt x="582879" y="145713"/>
                </a:lnTo>
                <a:lnTo>
                  <a:pt x="622524" y="119628"/>
                </a:lnTo>
                <a:lnTo>
                  <a:pt x="662643" y="96745"/>
                </a:lnTo>
                <a:lnTo>
                  <a:pt x="702458" y="76985"/>
                </a:lnTo>
                <a:lnTo>
                  <a:pt x="742119" y="58788"/>
                </a:lnTo>
                <a:lnTo>
                  <a:pt x="781475" y="43716"/>
                </a:lnTo>
                <a:lnTo>
                  <a:pt x="821535" y="29502"/>
                </a:lnTo>
                <a:lnTo>
                  <a:pt x="860432" y="19117"/>
                </a:lnTo>
                <a:lnTo>
                  <a:pt x="899879" y="11151"/>
                </a:lnTo>
                <a:lnTo>
                  <a:pt x="938317" y="5454"/>
                </a:lnTo>
                <a:lnTo>
                  <a:pt x="976524" y="2099"/>
                </a:lnTo>
                <a:lnTo>
                  <a:pt x="1013797" y="23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075966" y="2529079"/>
            <a:ext cx="1615596" cy="1623945"/>
          </a:xfrm>
          <a:custGeom>
            <a:avLst/>
            <a:gdLst>
              <a:gd name="connsiteX0" fmla="*/ 881903 w 1615596"/>
              <a:gd name="connsiteY0" fmla="*/ 0 h 1623945"/>
              <a:gd name="connsiteX1" fmla="*/ 922803 w 1615596"/>
              <a:gd name="connsiteY1" fmla="*/ 525 h 1623945"/>
              <a:gd name="connsiteX2" fmla="*/ 962501 w 1615596"/>
              <a:gd name="connsiteY2" fmla="*/ 4421 h 1623945"/>
              <a:gd name="connsiteX3" fmla="*/ 981488 w 1615596"/>
              <a:gd name="connsiteY3" fmla="*/ 6285 h 1623945"/>
              <a:gd name="connsiteX4" fmla="*/ 1001085 w 1615596"/>
              <a:gd name="connsiteY4" fmla="*/ 10824 h 1623945"/>
              <a:gd name="connsiteX5" fmla="*/ 1019987 w 1615596"/>
              <a:gd name="connsiteY5" fmla="*/ 13552 h 1623945"/>
              <a:gd name="connsiteX6" fmla="*/ 1037688 w 1615596"/>
              <a:gd name="connsiteY6" fmla="*/ 19651 h 1623945"/>
              <a:gd name="connsiteX7" fmla="*/ 1074037 w 1615596"/>
              <a:gd name="connsiteY7" fmla="*/ 31069 h 1623945"/>
              <a:gd name="connsiteX8" fmla="*/ 1109186 w 1615596"/>
              <a:gd name="connsiteY8" fmla="*/ 45858 h 1623945"/>
              <a:gd name="connsiteX9" fmla="*/ 1143219 w 1615596"/>
              <a:gd name="connsiteY9" fmla="*/ 63155 h 1623945"/>
              <a:gd name="connsiteX10" fmla="*/ 1176220 w 1615596"/>
              <a:gd name="connsiteY10" fmla="*/ 82094 h 1623945"/>
              <a:gd name="connsiteX11" fmla="*/ 1206209 w 1615596"/>
              <a:gd name="connsiteY11" fmla="*/ 105101 h 1623945"/>
              <a:gd name="connsiteX12" fmla="*/ 1236976 w 1615596"/>
              <a:gd name="connsiteY12" fmla="*/ 129055 h 1623945"/>
              <a:gd name="connsiteX13" fmla="*/ 1266628 w 1615596"/>
              <a:gd name="connsiteY13" fmla="*/ 155517 h 1623945"/>
              <a:gd name="connsiteX14" fmla="*/ 1293521 w 1615596"/>
              <a:gd name="connsiteY14" fmla="*/ 183453 h 1623945"/>
              <a:gd name="connsiteX15" fmla="*/ 1321025 w 1615596"/>
              <a:gd name="connsiteY15" fmla="*/ 214065 h 1623945"/>
              <a:gd name="connsiteX16" fmla="*/ 1345770 w 1615596"/>
              <a:gd name="connsiteY16" fmla="*/ 246153 h 1623945"/>
              <a:gd name="connsiteX17" fmla="*/ 1370346 w 1615596"/>
              <a:gd name="connsiteY17" fmla="*/ 279967 h 1623945"/>
              <a:gd name="connsiteX18" fmla="*/ 1393111 w 1615596"/>
              <a:gd name="connsiteY18" fmla="*/ 314476 h 1623945"/>
              <a:gd name="connsiteX19" fmla="*/ 1415539 w 1615596"/>
              <a:gd name="connsiteY19" fmla="*/ 352442 h 1623945"/>
              <a:gd name="connsiteX20" fmla="*/ 1435463 w 1615596"/>
              <a:gd name="connsiteY20" fmla="*/ 389289 h 1623945"/>
              <a:gd name="connsiteX21" fmla="*/ 1454269 w 1615596"/>
              <a:gd name="connsiteY21" fmla="*/ 428644 h 1623945"/>
              <a:gd name="connsiteX22" fmla="*/ 1472992 w 1615596"/>
              <a:gd name="connsiteY22" fmla="*/ 468862 h 1623945"/>
              <a:gd name="connsiteX23" fmla="*/ 1490765 w 1615596"/>
              <a:gd name="connsiteY23" fmla="*/ 509859 h 1623945"/>
              <a:gd name="connsiteX24" fmla="*/ 1506730 w 1615596"/>
              <a:gd name="connsiteY24" fmla="*/ 551552 h 1623945"/>
              <a:gd name="connsiteX25" fmla="*/ 1521831 w 1615596"/>
              <a:gd name="connsiteY25" fmla="*/ 593160 h 1623945"/>
              <a:gd name="connsiteX26" fmla="*/ 1535900 w 1615596"/>
              <a:gd name="connsiteY26" fmla="*/ 636411 h 1623945"/>
              <a:gd name="connsiteX27" fmla="*/ 1548158 w 1615596"/>
              <a:gd name="connsiteY27" fmla="*/ 680356 h 1623945"/>
              <a:gd name="connsiteX28" fmla="*/ 1559470 w 1615596"/>
              <a:gd name="connsiteY28" fmla="*/ 725081 h 1623945"/>
              <a:gd name="connsiteX29" fmla="*/ 1570865 w 1615596"/>
              <a:gd name="connsiteY29" fmla="*/ 768943 h 1623945"/>
              <a:gd name="connsiteX30" fmla="*/ 1579672 w 1615596"/>
              <a:gd name="connsiteY30" fmla="*/ 812549 h 1623945"/>
              <a:gd name="connsiteX31" fmla="*/ 1588394 w 1615596"/>
              <a:gd name="connsiteY31" fmla="*/ 857020 h 1623945"/>
              <a:gd name="connsiteX32" fmla="*/ 1596337 w 1615596"/>
              <a:gd name="connsiteY32" fmla="*/ 900542 h 1623945"/>
              <a:gd name="connsiteX33" fmla="*/ 1601692 w 1615596"/>
              <a:gd name="connsiteY33" fmla="*/ 943811 h 1623945"/>
              <a:gd name="connsiteX34" fmla="*/ 1607046 w 1615596"/>
              <a:gd name="connsiteY34" fmla="*/ 987079 h 1623945"/>
              <a:gd name="connsiteX35" fmla="*/ 1610759 w 1615596"/>
              <a:gd name="connsiteY35" fmla="*/ 1029313 h 1623945"/>
              <a:gd name="connsiteX36" fmla="*/ 1612746 w 1615596"/>
              <a:gd name="connsiteY36" fmla="*/ 1071379 h 1623945"/>
              <a:gd name="connsiteX37" fmla="*/ 1615596 w 1615596"/>
              <a:gd name="connsiteY37" fmla="*/ 1113528 h 1623945"/>
              <a:gd name="connsiteX38" fmla="*/ 1614552 w 1615596"/>
              <a:gd name="connsiteY38" fmla="*/ 1150935 h 1623945"/>
              <a:gd name="connsiteX39" fmla="*/ 1611699 w 1615596"/>
              <a:gd name="connsiteY39" fmla="*/ 1189036 h 1623945"/>
              <a:gd name="connsiteX40" fmla="*/ 1605646 w 1615596"/>
              <a:gd name="connsiteY40" fmla="*/ 1224206 h 1623945"/>
              <a:gd name="connsiteX41" fmla="*/ 1597174 w 1615596"/>
              <a:gd name="connsiteY41" fmla="*/ 1257395 h 1623945"/>
              <a:gd name="connsiteX42" fmla="*/ 1586113 w 1615596"/>
              <a:gd name="connsiteY42" fmla="*/ 1290328 h 1623945"/>
              <a:gd name="connsiteX43" fmla="*/ 1574357 w 1615596"/>
              <a:gd name="connsiteY43" fmla="*/ 1321450 h 1623945"/>
              <a:gd name="connsiteX44" fmla="*/ 1558371 w 1615596"/>
              <a:gd name="connsiteY44" fmla="*/ 1351285 h 1623945"/>
              <a:gd name="connsiteX45" fmla="*/ 1539880 w 1615596"/>
              <a:gd name="connsiteY45" fmla="*/ 1379999 h 1623945"/>
              <a:gd name="connsiteX46" fmla="*/ 1520695 w 1615596"/>
              <a:gd name="connsiteY46" fmla="*/ 1406904 h 1623945"/>
              <a:gd name="connsiteX47" fmla="*/ 1499953 w 1615596"/>
              <a:gd name="connsiteY47" fmla="*/ 1431909 h 1623945"/>
              <a:gd name="connsiteX48" fmla="*/ 1474980 w 1615596"/>
              <a:gd name="connsiteY48" fmla="*/ 1455627 h 1623945"/>
              <a:gd name="connsiteX49" fmla="*/ 1451040 w 1615596"/>
              <a:gd name="connsiteY49" fmla="*/ 1477701 h 1623945"/>
              <a:gd name="connsiteX50" fmla="*/ 1422869 w 1615596"/>
              <a:gd name="connsiteY50" fmla="*/ 1498489 h 1623945"/>
              <a:gd name="connsiteX51" fmla="*/ 1394782 w 1615596"/>
              <a:gd name="connsiteY51" fmla="*/ 1518413 h 1623945"/>
              <a:gd name="connsiteX52" fmla="*/ 1364443 w 1615596"/>
              <a:gd name="connsiteY52" fmla="*/ 1534625 h 1623945"/>
              <a:gd name="connsiteX53" fmla="*/ 1334105 w 1615596"/>
              <a:gd name="connsiteY53" fmla="*/ 1550840 h 1623945"/>
              <a:gd name="connsiteX54" fmla="*/ 1302209 w 1615596"/>
              <a:gd name="connsiteY54" fmla="*/ 1565155 h 1623945"/>
              <a:gd name="connsiteX55" fmla="*/ 1267810 w 1615596"/>
              <a:gd name="connsiteY55" fmla="*/ 1578353 h 1623945"/>
              <a:gd name="connsiteX56" fmla="*/ 1234442 w 1615596"/>
              <a:gd name="connsiteY56" fmla="*/ 1589908 h 1623945"/>
              <a:gd name="connsiteX57" fmla="*/ 1198654 w 1615596"/>
              <a:gd name="connsiteY57" fmla="*/ 1599479 h 1623945"/>
              <a:gd name="connsiteX58" fmla="*/ 1162171 w 1615596"/>
              <a:gd name="connsiteY58" fmla="*/ 1607239 h 1623945"/>
              <a:gd name="connsiteX59" fmla="*/ 1124911 w 1615596"/>
              <a:gd name="connsiteY59" fmla="*/ 1614050 h 1623945"/>
              <a:gd name="connsiteX60" fmla="*/ 1088682 w 1615596"/>
              <a:gd name="connsiteY60" fmla="*/ 1619217 h 1623945"/>
              <a:gd name="connsiteX61" fmla="*/ 1050033 w 1615596"/>
              <a:gd name="connsiteY61" fmla="*/ 1622403 h 1623945"/>
              <a:gd name="connsiteX62" fmla="*/ 1012416 w 1615596"/>
              <a:gd name="connsiteY62" fmla="*/ 1623945 h 1623945"/>
              <a:gd name="connsiteX63" fmla="*/ 973242 w 1615596"/>
              <a:gd name="connsiteY63" fmla="*/ 1623590 h 1623945"/>
              <a:gd name="connsiteX64" fmla="*/ 934153 w 1615596"/>
              <a:gd name="connsiteY64" fmla="*/ 1622371 h 1623945"/>
              <a:gd name="connsiteX65" fmla="*/ 895148 w 1615596"/>
              <a:gd name="connsiteY65" fmla="*/ 1620287 h 1623945"/>
              <a:gd name="connsiteX66" fmla="*/ 857343 w 1615596"/>
              <a:gd name="connsiteY66" fmla="*/ 1614833 h 1623945"/>
              <a:gd name="connsiteX67" fmla="*/ 818759 w 1615596"/>
              <a:gd name="connsiteY67" fmla="*/ 1608430 h 1623945"/>
              <a:gd name="connsiteX68" fmla="*/ 780431 w 1615596"/>
              <a:gd name="connsiteY68" fmla="*/ 1599435 h 1623945"/>
              <a:gd name="connsiteX69" fmla="*/ 742101 w 1615596"/>
              <a:gd name="connsiteY69" fmla="*/ 1590439 h 1623945"/>
              <a:gd name="connsiteX70" fmla="*/ 665086 w 1615596"/>
              <a:gd name="connsiteY70" fmla="*/ 1567180 h 1623945"/>
              <a:gd name="connsiteX71" fmla="*/ 589102 w 1615596"/>
              <a:gd name="connsiteY71" fmla="*/ 1542277 h 1623945"/>
              <a:gd name="connsiteX72" fmla="*/ 553006 w 1615596"/>
              <a:gd name="connsiteY72" fmla="*/ 1528267 h 1623945"/>
              <a:gd name="connsiteX73" fmla="*/ 516910 w 1615596"/>
              <a:gd name="connsiteY73" fmla="*/ 1514257 h 1623945"/>
              <a:gd name="connsiteX74" fmla="*/ 480119 w 1615596"/>
              <a:gd name="connsiteY74" fmla="*/ 1498434 h 1623945"/>
              <a:gd name="connsiteX75" fmla="*/ 446003 w 1615596"/>
              <a:gd name="connsiteY75" fmla="*/ 1482001 h 1623945"/>
              <a:gd name="connsiteX76" fmla="*/ 411884 w 1615596"/>
              <a:gd name="connsiteY76" fmla="*/ 1465569 h 1623945"/>
              <a:gd name="connsiteX77" fmla="*/ 378716 w 1615596"/>
              <a:gd name="connsiteY77" fmla="*/ 1448356 h 1623945"/>
              <a:gd name="connsiteX78" fmla="*/ 346493 w 1615596"/>
              <a:gd name="connsiteY78" fmla="*/ 1430365 h 1623945"/>
              <a:gd name="connsiteX79" fmla="*/ 314439 w 1615596"/>
              <a:gd name="connsiteY79" fmla="*/ 1410646 h 1623945"/>
              <a:gd name="connsiteX80" fmla="*/ 284976 w 1615596"/>
              <a:gd name="connsiteY80" fmla="*/ 1391180 h 1623945"/>
              <a:gd name="connsiteX81" fmla="*/ 256459 w 1615596"/>
              <a:gd name="connsiteY81" fmla="*/ 1370936 h 1623945"/>
              <a:gd name="connsiteX82" fmla="*/ 228112 w 1615596"/>
              <a:gd name="connsiteY82" fmla="*/ 1348963 h 1623945"/>
              <a:gd name="connsiteX83" fmla="*/ 201574 w 1615596"/>
              <a:gd name="connsiteY83" fmla="*/ 1326296 h 1623945"/>
              <a:gd name="connsiteX84" fmla="*/ 176848 w 1615596"/>
              <a:gd name="connsiteY84" fmla="*/ 1302934 h 1623945"/>
              <a:gd name="connsiteX85" fmla="*/ 152900 w 1615596"/>
              <a:gd name="connsiteY85" fmla="*/ 1280521 h 1623945"/>
              <a:gd name="connsiteX86" fmla="*/ 131016 w 1615596"/>
              <a:gd name="connsiteY86" fmla="*/ 1254822 h 1623945"/>
              <a:gd name="connsiteX87" fmla="*/ 110164 w 1615596"/>
              <a:gd name="connsiteY87" fmla="*/ 1227479 h 1623945"/>
              <a:gd name="connsiteX88" fmla="*/ 90089 w 1615596"/>
              <a:gd name="connsiteY88" fmla="*/ 1201085 h 1623945"/>
              <a:gd name="connsiteX89" fmla="*/ 73637 w 1615596"/>
              <a:gd name="connsiteY89" fmla="*/ 1173300 h 1623945"/>
              <a:gd name="connsiteX90" fmla="*/ 57269 w 1615596"/>
              <a:gd name="connsiteY90" fmla="*/ 1144654 h 1623945"/>
              <a:gd name="connsiteX91" fmla="*/ 42796 w 1615596"/>
              <a:gd name="connsiteY91" fmla="*/ 1114447 h 1623945"/>
              <a:gd name="connsiteX92" fmla="*/ 31943 w 1615596"/>
              <a:gd name="connsiteY92" fmla="*/ 1082852 h 1623945"/>
              <a:gd name="connsiteX93" fmla="*/ 20228 w 1615596"/>
              <a:gd name="connsiteY93" fmla="*/ 1051172 h 1623945"/>
              <a:gd name="connsiteX94" fmla="*/ 13083 w 1615596"/>
              <a:gd name="connsiteY94" fmla="*/ 1017323 h 1623945"/>
              <a:gd name="connsiteX95" fmla="*/ 6019 w 1615596"/>
              <a:gd name="connsiteY95" fmla="*/ 982610 h 1623945"/>
              <a:gd name="connsiteX96" fmla="*/ 3357 w 1615596"/>
              <a:gd name="connsiteY96" fmla="*/ 947457 h 1623945"/>
              <a:gd name="connsiteX97" fmla="*/ 0 w 1615596"/>
              <a:gd name="connsiteY97" fmla="*/ 910492 h 1623945"/>
              <a:gd name="connsiteX98" fmla="*/ 1044 w 1615596"/>
              <a:gd name="connsiteY98" fmla="*/ 873084 h 1623945"/>
              <a:gd name="connsiteX99" fmla="*/ 4150 w 1615596"/>
              <a:gd name="connsiteY99" fmla="*/ 832391 h 1623945"/>
              <a:gd name="connsiteX100" fmla="*/ 9153 w 1615596"/>
              <a:gd name="connsiteY100" fmla="*/ 790140 h 1623945"/>
              <a:gd name="connsiteX101" fmla="*/ 17607 w 1615596"/>
              <a:gd name="connsiteY101" fmla="*/ 748227 h 1623945"/>
              <a:gd name="connsiteX102" fmla="*/ 29512 w 1615596"/>
              <a:gd name="connsiteY102" fmla="*/ 706652 h 1623945"/>
              <a:gd name="connsiteX103" fmla="*/ 42366 w 1615596"/>
              <a:gd name="connsiteY103" fmla="*/ 664298 h 1623945"/>
              <a:gd name="connsiteX104" fmla="*/ 58587 w 1615596"/>
              <a:gd name="connsiteY104" fmla="*/ 623148 h 1623945"/>
              <a:gd name="connsiteX105" fmla="*/ 76450 w 1615596"/>
              <a:gd name="connsiteY105" fmla="*/ 583030 h 1623945"/>
              <a:gd name="connsiteX106" fmla="*/ 97850 w 1615596"/>
              <a:gd name="connsiteY106" fmla="*/ 542388 h 1623945"/>
              <a:gd name="connsiteX107" fmla="*/ 120891 w 1615596"/>
              <a:gd name="connsiteY107" fmla="*/ 502780 h 1623945"/>
              <a:gd name="connsiteX108" fmla="*/ 145658 w 1615596"/>
              <a:gd name="connsiteY108" fmla="*/ 463339 h 1623945"/>
              <a:gd name="connsiteX109" fmla="*/ 172846 w 1615596"/>
              <a:gd name="connsiteY109" fmla="*/ 425882 h 1623945"/>
              <a:gd name="connsiteX110" fmla="*/ 200811 w 1615596"/>
              <a:gd name="connsiteY110" fmla="*/ 389373 h 1623945"/>
              <a:gd name="connsiteX111" fmla="*/ 230503 w 1615596"/>
              <a:gd name="connsiteY111" fmla="*/ 353033 h 1623945"/>
              <a:gd name="connsiteX112" fmla="*/ 262615 w 1615596"/>
              <a:gd name="connsiteY112" fmla="*/ 318675 h 1623945"/>
              <a:gd name="connsiteX113" fmla="*/ 295590 w 1615596"/>
              <a:gd name="connsiteY113" fmla="*/ 284402 h 1623945"/>
              <a:gd name="connsiteX114" fmla="*/ 330122 w 1615596"/>
              <a:gd name="connsiteY114" fmla="*/ 252028 h 1623945"/>
              <a:gd name="connsiteX115" fmla="*/ 366211 w 1615596"/>
              <a:gd name="connsiteY115" fmla="*/ 221550 h 1623945"/>
              <a:gd name="connsiteX116" fmla="*/ 402131 w 1615596"/>
              <a:gd name="connsiteY116" fmla="*/ 192800 h 1623945"/>
              <a:gd name="connsiteX117" fmla="*/ 438830 w 1615596"/>
              <a:gd name="connsiteY117" fmla="*/ 164998 h 1623945"/>
              <a:gd name="connsiteX118" fmla="*/ 477950 w 1615596"/>
              <a:gd name="connsiteY118" fmla="*/ 139179 h 1623945"/>
              <a:gd name="connsiteX119" fmla="*/ 516900 w 1615596"/>
              <a:gd name="connsiteY119" fmla="*/ 115088 h 1623945"/>
              <a:gd name="connsiteX120" fmla="*/ 556460 w 1615596"/>
              <a:gd name="connsiteY120" fmla="*/ 93674 h 1623945"/>
              <a:gd name="connsiteX121" fmla="*/ 597576 w 1615596"/>
              <a:gd name="connsiteY121" fmla="*/ 74157 h 1623945"/>
              <a:gd name="connsiteX122" fmla="*/ 636883 w 1615596"/>
              <a:gd name="connsiteY122" fmla="*/ 55335 h 1623945"/>
              <a:gd name="connsiteX123" fmla="*/ 679303 w 1615596"/>
              <a:gd name="connsiteY123" fmla="*/ 40306 h 1623945"/>
              <a:gd name="connsiteX124" fmla="*/ 719829 w 1615596"/>
              <a:gd name="connsiteY124" fmla="*/ 26839 h 1623945"/>
              <a:gd name="connsiteX125" fmla="*/ 760880 w 1615596"/>
              <a:gd name="connsiteY125" fmla="*/ 16910 h 1623945"/>
              <a:gd name="connsiteX126" fmla="*/ 801677 w 1615596"/>
              <a:gd name="connsiteY126" fmla="*/ 9573 h 1623945"/>
              <a:gd name="connsiteX127" fmla="*/ 842390 w 1615596"/>
              <a:gd name="connsiteY127" fmla="*/ 3102 h 162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1615596" h="1623945">
                <a:moveTo>
                  <a:pt x="881903" y="0"/>
                </a:moveTo>
                <a:lnTo>
                  <a:pt x="922803" y="525"/>
                </a:lnTo>
                <a:lnTo>
                  <a:pt x="962501" y="4421"/>
                </a:lnTo>
                <a:lnTo>
                  <a:pt x="981488" y="6285"/>
                </a:lnTo>
                <a:lnTo>
                  <a:pt x="1001085" y="10824"/>
                </a:lnTo>
                <a:lnTo>
                  <a:pt x="1019987" y="13552"/>
                </a:lnTo>
                <a:lnTo>
                  <a:pt x="1037688" y="19651"/>
                </a:lnTo>
                <a:lnTo>
                  <a:pt x="1074037" y="31069"/>
                </a:lnTo>
                <a:lnTo>
                  <a:pt x="1109186" y="45858"/>
                </a:lnTo>
                <a:lnTo>
                  <a:pt x="1143219" y="63155"/>
                </a:lnTo>
                <a:lnTo>
                  <a:pt x="1176220" y="82094"/>
                </a:lnTo>
                <a:lnTo>
                  <a:pt x="1206209" y="105101"/>
                </a:lnTo>
                <a:lnTo>
                  <a:pt x="1236976" y="129055"/>
                </a:lnTo>
                <a:lnTo>
                  <a:pt x="1266628" y="155517"/>
                </a:lnTo>
                <a:lnTo>
                  <a:pt x="1293521" y="183453"/>
                </a:lnTo>
                <a:lnTo>
                  <a:pt x="1321025" y="214065"/>
                </a:lnTo>
                <a:lnTo>
                  <a:pt x="1345770" y="246153"/>
                </a:lnTo>
                <a:lnTo>
                  <a:pt x="1370346" y="279967"/>
                </a:lnTo>
                <a:lnTo>
                  <a:pt x="1393111" y="314476"/>
                </a:lnTo>
                <a:lnTo>
                  <a:pt x="1415539" y="352442"/>
                </a:lnTo>
                <a:lnTo>
                  <a:pt x="1435463" y="389289"/>
                </a:lnTo>
                <a:lnTo>
                  <a:pt x="1454269" y="428644"/>
                </a:lnTo>
                <a:lnTo>
                  <a:pt x="1472992" y="468862"/>
                </a:lnTo>
                <a:lnTo>
                  <a:pt x="1490765" y="509859"/>
                </a:lnTo>
                <a:lnTo>
                  <a:pt x="1506730" y="551552"/>
                </a:lnTo>
                <a:lnTo>
                  <a:pt x="1521831" y="593160"/>
                </a:lnTo>
                <a:lnTo>
                  <a:pt x="1535900" y="636411"/>
                </a:lnTo>
                <a:lnTo>
                  <a:pt x="1548158" y="680356"/>
                </a:lnTo>
                <a:lnTo>
                  <a:pt x="1559470" y="725081"/>
                </a:lnTo>
                <a:lnTo>
                  <a:pt x="1570865" y="768943"/>
                </a:lnTo>
                <a:lnTo>
                  <a:pt x="1579672" y="812549"/>
                </a:lnTo>
                <a:lnTo>
                  <a:pt x="1588394" y="857020"/>
                </a:lnTo>
                <a:lnTo>
                  <a:pt x="1596337" y="900542"/>
                </a:lnTo>
                <a:lnTo>
                  <a:pt x="1601692" y="943811"/>
                </a:lnTo>
                <a:lnTo>
                  <a:pt x="1607046" y="987079"/>
                </a:lnTo>
                <a:lnTo>
                  <a:pt x="1610759" y="1029313"/>
                </a:lnTo>
                <a:lnTo>
                  <a:pt x="1612746" y="1071379"/>
                </a:lnTo>
                <a:lnTo>
                  <a:pt x="1615596" y="1113528"/>
                </a:lnTo>
                <a:lnTo>
                  <a:pt x="1614552" y="1150935"/>
                </a:lnTo>
                <a:lnTo>
                  <a:pt x="1611699" y="1189036"/>
                </a:lnTo>
                <a:lnTo>
                  <a:pt x="1605646" y="1224206"/>
                </a:lnTo>
                <a:lnTo>
                  <a:pt x="1597174" y="1257395"/>
                </a:lnTo>
                <a:lnTo>
                  <a:pt x="1586113" y="1290328"/>
                </a:lnTo>
                <a:lnTo>
                  <a:pt x="1574357" y="1321450"/>
                </a:lnTo>
                <a:lnTo>
                  <a:pt x="1558371" y="1351285"/>
                </a:lnTo>
                <a:lnTo>
                  <a:pt x="1539880" y="1379999"/>
                </a:lnTo>
                <a:lnTo>
                  <a:pt x="1520695" y="1406904"/>
                </a:lnTo>
                <a:lnTo>
                  <a:pt x="1499953" y="1431909"/>
                </a:lnTo>
                <a:lnTo>
                  <a:pt x="1474980" y="1455627"/>
                </a:lnTo>
                <a:lnTo>
                  <a:pt x="1451040" y="1477701"/>
                </a:lnTo>
                <a:lnTo>
                  <a:pt x="1422869" y="1498489"/>
                </a:lnTo>
                <a:lnTo>
                  <a:pt x="1394782" y="1518413"/>
                </a:lnTo>
                <a:lnTo>
                  <a:pt x="1364443" y="1534625"/>
                </a:lnTo>
                <a:lnTo>
                  <a:pt x="1334105" y="1550840"/>
                </a:lnTo>
                <a:lnTo>
                  <a:pt x="1302209" y="1565155"/>
                </a:lnTo>
                <a:lnTo>
                  <a:pt x="1267810" y="1578353"/>
                </a:lnTo>
                <a:lnTo>
                  <a:pt x="1234442" y="1589908"/>
                </a:lnTo>
                <a:lnTo>
                  <a:pt x="1198654" y="1599479"/>
                </a:lnTo>
                <a:lnTo>
                  <a:pt x="1162171" y="1607239"/>
                </a:lnTo>
                <a:lnTo>
                  <a:pt x="1124911" y="1614050"/>
                </a:lnTo>
                <a:lnTo>
                  <a:pt x="1088682" y="1619217"/>
                </a:lnTo>
                <a:lnTo>
                  <a:pt x="1050033" y="1622403"/>
                </a:lnTo>
                <a:lnTo>
                  <a:pt x="1012416" y="1623945"/>
                </a:lnTo>
                <a:lnTo>
                  <a:pt x="973242" y="1623590"/>
                </a:lnTo>
                <a:lnTo>
                  <a:pt x="934153" y="1622371"/>
                </a:lnTo>
                <a:lnTo>
                  <a:pt x="895148" y="1620287"/>
                </a:lnTo>
                <a:lnTo>
                  <a:pt x="857343" y="1614833"/>
                </a:lnTo>
                <a:lnTo>
                  <a:pt x="818759" y="1608430"/>
                </a:lnTo>
                <a:lnTo>
                  <a:pt x="780431" y="1599435"/>
                </a:lnTo>
                <a:lnTo>
                  <a:pt x="742101" y="1590439"/>
                </a:lnTo>
                <a:lnTo>
                  <a:pt x="665086" y="1567180"/>
                </a:lnTo>
                <a:lnTo>
                  <a:pt x="589102" y="1542277"/>
                </a:lnTo>
                <a:lnTo>
                  <a:pt x="553006" y="1528267"/>
                </a:lnTo>
                <a:lnTo>
                  <a:pt x="516910" y="1514257"/>
                </a:lnTo>
                <a:lnTo>
                  <a:pt x="480119" y="1498434"/>
                </a:lnTo>
                <a:lnTo>
                  <a:pt x="446003" y="1482001"/>
                </a:lnTo>
                <a:lnTo>
                  <a:pt x="411884" y="1465569"/>
                </a:lnTo>
                <a:lnTo>
                  <a:pt x="378716" y="1448356"/>
                </a:lnTo>
                <a:lnTo>
                  <a:pt x="346493" y="1430365"/>
                </a:lnTo>
                <a:lnTo>
                  <a:pt x="314439" y="1410646"/>
                </a:lnTo>
                <a:lnTo>
                  <a:pt x="284976" y="1391180"/>
                </a:lnTo>
                <a:lnTo>
                  <a:pt x="256459" y="1370936"/>
                </a:lnTo>
                <a:lnTo>
                  <a:pt x="228112" y="1348963"/>
                </a:lnTo>
                <a:lnTo>
                  <a:pt x="201574" y="1326296"/>
                </a:lnTo>
                <a:lnTo>
                  <a:pt x="176848" y="1302934"/>
                </a:lnTo>
                <a:lnTo>
                  <a:pt x="152900" y="1280521"/>
                </a:lnTo>
                <a:lnTo>
                  <a:pt x="131016" y="1254822"/>
                </a:lnTo>
                <a:lnTo>
                  <a:pt x="110164" y="1227479"/>
                </a:lnTo>
                <a:lnTo>
                  <a:pt x="90089" y="1201085"/>
                </a:lnTo>
                <a:lnTo>
                  <a:pt x="73637" y="1173300"/>
                </a:lnTo>
                <a:lnTo>
                  <a:pt x="57269" y="1144654"/>
                </a:lnTo>
                <a:lnTo>
                  <a:pt x="42796" y="1114447"/>
                </a:lnTo>
                <a:lnTo>
                  <a:pt x="31943" y="1082852"/>
                </a:lnTo>
                <a:lnTo>
                  <a:pt x="20228" y="1051172"/>
                </a:lnTo>
                <a:lnTo>
                  <a:pt x="13083" y="1017323"/>
                </a:lnTo>
                <a:lnTo>
                  <a:pt x="6019" y="982610"/>
                </a:lnTo>
                <a:lnTo>
                  <a:pt x="3357" y="947457"/>
                </a:lnTo>
                <a:lnTo>
                  <a:pt x="0" y="910492"/>
                </a:lnTo>
                <a:lnTo>
                  <a:pt x="1044" y="873084"/>
                </a:lnTo>
                <a:lnTo>
                  <a:pt x="4150" y="832391"/>
                </a:lnTo>
                <a:lnTo>
                  <a:pt x="9153" y="790140"/>
                </a:lnTo>
                <a:lnTo>
                  <a:pt x="17607" y="748227"/>
                </a:lnTo>
                <a:lnTo>
                  <a:pt x="29512" y="706652"/>
                </a:lnTo>
                <a:lnTo>
                  <a:pt x="42366" y="664298"/>
                </a:lnTo>
                <a:lnTo>
                  <a:pt x="58587" y="623148"/>
                </a:lnTo>
                <a:lnTo>
                  <a:pt x="76450" y="583030"/>
                </a:lnTo>
                <a:lnTo>
                  <a:pt x="97850" y="542388"/>
                </a:lnTo>
                <a:lnTo>
                  <a:pt x="120891" y="502780"/>
                </a:lnTo>
                <a:lnTo>
                  <a:pt x="145658" y="463339"/>
                </a:lnTo>
                <a:lnTo>
                  <a:pt x="172846" y="425882"/>
                </a:lnTo>
                <a:lnTo>
                  <a:pt x="200811" y="389373"/>
                </a:lnTo>
                <a:lnTo>
                  <a:pt x="230503" y="353033"/>
                </a:lnTo>
                <a:lnTo>
                  <a:pt x="262615" y="318675"/>
                </a:lnTo>
                <a:lnTo>
                  <a:pt x="295590" y="284402"/>
                </a:lnTo>
                <a:lnTo>
                  <a:pt x="330122" y="252028"/>
                </a:lnTo>
                <a:lnTo>
                  <a:pt x="366211" y="221550"/>
                </a:lnTo>
                <a:lnTo>
                  <a:pt x="402131" y="192800"/>
                </a:lnTo>
                <a:lnTo>
                  <a:pt x="438830" y="164998"/>
                </a:lnTo>
                <a:lnTo>
                  <a:pt x="477950" y="139179"/>
                </a:lnTo>
                <a:lnTo>
                  <a:pt x="516900" y="115088"/>
                </a:lnTo>
                <a:lnTo>
                  <a:pt x="556460" y="93674"/>
                </a:lnTo>
                <a:lnTo>
                  <a:pt x="597576" y="74157"/>
                </a:lnTo>
                <a:lnTo>
                  <a:pt x="636883" y="55335"/>
                </a:lnTo>
                <a:lnTo>
                  <a:pt x="679303" y="40306"/>
                </a:lnTo>
                <a:lnTo>
                  <a:pt x="719829" y="26839"/>
                </a:lnTo>
                <a:lnTo>
                  <a:pt x="760880" y="16910"/>
                </a:lnTo>
                <a:lnTo>
                  <a:pt x="801677" y="9573"/>
                </a:lnTo>
                <a:lnTo>
                  <a:pt x="842390" y="31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4295471" y="3405757"/>
            <a:ext cx="1784671" cy="1626032"/>
          </a:xfrm>
          <a:custGeom>
            <a:avLst/>
            <a:gdLst>
              <a:gd name="connsiteX0" fmla="*/ 984013 w 1784671"/>
              <a:gd name="connsiteY0" fmla="*/ 0 h 1626032"/>
              <a:gd name="connsiteX1" fmla="*/ 1025356 w 1784671"/>
              <a:gd name="connsiteY1" fmla="*/ 896 h 1626032"/>
              <a:gd name="connsiteX2" fmla="*/ 1065055 w 1784671"/>
              <a:gd name="connsiteY2" fmla="*/ 121 h 1626032"/>
              <a:gd name="connsiteX3" fmla="*/ 1143055 w 1784671"/>
              <a:gd name="connsiteY3" fmla="*/ 3127 h 1626032"/>
              <a:gd name="connsiteX4" fmla="*/ 1181036 w 1784671"/>
              <a:gd name="connsiteY4" fmla="*/ 5879 h 1626032"/>
              <a:gd name="connsiteX5" fmla="*/ 1217350 w 1784671"/>
              <a:gd name="connsiteY5" fmla="*/ 8694 h 1626032"/>
              <a:gd name="connsiteX6" fmla="*/ 1253320 w 1784671"/>
              <a:gd name="connsiteY6" fmla="*/ 12214 h 1626032"/>
              <a:gd name="connsiteX7" fmla="*/ 1289609 w 1784671"/>
              <a:gd name="connsiteY7" fmla="*/ 16762 h 1626032"/>
              <a:gd name="connsiteX8" fmla="*/ 1324550 w 1784671"/>
              <a:gd name="connsiteY8" fmla="*/ 22398 h 1626032"/>
              <a:gd name="connsiteX9" fmla="*/ 1358141 w 1784671"/>
              <a:gd name="connsiteY9" fmla="*/ 29124 h 1626032"/>
              <a:gd name="connsiteX10" fmla="*/ 1391389 w 1784671"/>
              <a:gd name="connsiteY10" fmla="*/ 36556 h 1626032"/>
              <a:gd name="connsiteX11" fmla="*/ 1422969 w 1784671"/>
              <a:gd name="connsiteY11" fmla="*/ 44049 h 1626032"/>
              <a:gd name="connsiteX12" fmla="*/ 1453519 w 1784671"/>
              <a:gd name="connsiteY12" fmla="*/ 53658 h 1626032"/>
              <a:gd name="connsiteX13" fmla="*/ 1484387 w 1784671"/>
              <a:gd name="connsiteY13" fmla="*/ 64295 h 1626032"/>
              <a:gd name="connsiteX14" fmla="*/ 1512583 w 1784671"/>
              <a:gd name="connsiteY14" fmla="*/ 75378 h 1626032"/>
              <a:gd name="connsiteX15" fmla="*/ 1540091 w 1784671"/>
              <a:gd name="connsiteY15" fmla="*/ 87871 h 1626032"/>
              <a:gd name="connsiteX16" fmla="*/ 1566593 w 1784671"/>
              <a:gd name="connsiteY16" fmla="*/ 100749 h 1626032"/>
              <a:gd name="connsiteX17" fmla="*/ 1592066 w 1784671"/>
              <a:gd name="connsiteY17" fmla="*/ 115743 h 1626032"/>
              <a:gd name="connsiteX18" fmla="*/ 1615846 w 1784671"/>
              <a:gd name="connsiteY18" fmla="*/ 132531 h 1626032"/>
              <a:gd name="connsiteX19" fmla="*/ 1638620 w 1784671"/>
              <a:gd name="connsiteY19" fmla="*/ 149704 h 1626032"/>
              <a:gd name="connsiteX20" fmla="*/ 1660046 w 1784671"/>
              <a:gd name="connsiteY20" fmla="*/ 167965 h 1626032"/>
              <a:gd name="connsiteX21" fmla="*/ 1679092 w 1784671"/>
              <a:gd name="connsiteY21" fmla="*/ 189432 h 1626032"/>
              <a:gd name="connsiteX22" fmla="*/ 1697156 w 1784671"/>
              <a:gd name="connsiteY22" fmla="*/ 209549 h 1626032"/>
              <a:gd name="connsiteX23" fmla="*/ 1714167 w 1784671"/>
              <a:gd name="connsiteY23" fmla="*/ 233517 h 1626032"/>
              <a:gd name="connsiteX24" fmla="*/ 1728846 w 1784671"/>
              <a:gd name="connsiteY24" fmla="*/ 257224 h 1626032"/>
              <a:gd name="connsiteX25" fmla="*/ 1742153 w 1784671"/>
              <a:gd name="connsiteY25" fmla="*/ 283753 h 1626032"/>
              <a:gd name="connsiteX26" fmla="*/ 1753448 w 1784671"/>
              <a:gd name="connsiteY26" fmla="*/ 311050 h 1626032"/>
              <a:gd name="connsiteX27" fmla="*/ 1763369 w 1784671"/>
              <a:gd name="connsiteY27" fmla="*/ 341168 h 1626032"/>
              <a:gd name="connsiteX28" fmla="*/ 1771279 w 1784671"/>
              <a:gd name="connsiteY28" fmla="*/ 372054 h 1626032"/>
              <a:gd name="connsiteX29" fmla="*/ 1777497 w 1784671"/>
              <a:gd name="connsiteY29" fmla="*/ 404734 h 1626032"/>
              <a:gd name="connsiteX30" fmla="*/ 1781703 w 1784671"/>
              <a:gd name="connsiteY30" fmla="*/ 438183 h 1626032"/>
              <a:gd name="connsiteX31" fmla="*/ 1783530 w 1784671"/>
              <a:gd name="connsiteY31" fmla="*/ 474835 h 1626032"/>
              <a:gd name="connsiteX32" fmla="*/ 1784671 w 1784671"/>
              <a:gd name="connsiteY32" fmla="*/ 512900 h 1626032"/>
              <a:gd name="connsiteX33" fmla="*/ 1782106 w 1784671"/>
              <a:gd name="connsiteY33" fmla="*/ 553527 h 1626032"/>
              <a:gd name="connsiteX34" fmla="*/ 1779200 w 1784671"/>
              <a:gd name="connsiteY34" fmla="*/ 594860 h 1626032"/>
              <a:gd name="connsiteX35" fmla="*/ 1773276 w 1784671"/>
              <a:gd name="connsiteY35" fmla="*/ 637341 h 1626032"/>
              <a:gd name="connsiteX36" fmla="*/ 1766665 w 1784671"/>
              <a:gd name="connsiteY36" fmla="*/ 681237 h 1626032"/>
              <a:gd name="connsiteX37" fmla="*/ 1757723 w 1784671"/>
              <a:gd name="connsiteY37" fmla="*/ 724871 h 1626032"/>
              <a:gd name="connsiteX38" fmla="*/ 1746770 w 1784671"/>
              <a:gd name="connsiteY38" fmla="*/ 769271 h 1626032"/>
              <a:gd name="connsiteX39" fmla="*/ 1734466 w 1784671"/>
              <a:gd name="connsiteY39" fmla="*/ 814761 h 1626032"/>
              <a:gd name="connsiteX40" fmla="*/ 1721501 w 1784671"/>
              <a:gd name="connsiteY40" fmla="*/ 859929 h 1626032"/>
              <a:gd name="connsiteX41" fmla="*/ 1706181 w 1784671"/>
              <a:gd name="connsiteY41" fmla="*/ 906570 h 1626032"/>
              <a:gd name="connsiteX42" fmla="*/ 1689878 w 1784671"/>
              <a:gd name="connsiteY42" fmla="*/ 951862 h 1626032"/>
              <a:gd name="connsiteX43" fmla="*/ 1670902 w 1784671"/>
              <a:gd name="connsiteY43" fmla="*/ 997599 h 1626032"/>
              <a:gd name="connsiteX44" fmla="*/ 1651606 w 1784671"/>
              <a:gd name="connsiteY44" fmla="*/ 1042309 h 1626032"/>
              <a:gd name="connsiteX45" fmla="*/ 1631305 w 1784671"/>
              <a:gd name="connsiteY45" fmla="*/ 1087401 h 1626032"/>
              <a:gd name="connsiteX46" fmla="*/ 1608353 w 1784671"/>
              <a:gd name="connsiteY46" fmla="*/ 1131207 h 1626032"/>
              <a:gd name="connsiteX47" fmla="*/ 1585426 w 1784671"/>
              <a:gd name="connsiteY47" fmla="*/ 1173279 h 1626032"/>
              <a:gd name="connsiteX48" fmla="*/ 1561149 w 1784671"/>
              <a:gd name="connsiteY48" fmla="*/ 1216440 h 1626032"/>
              <a:gd name="connsiteX49" fmla="*/ 1535570 w 1784671"/>
              <a:gd name="connsiteY49" fmla="*/ 1257226 h 1626032"/>
              <a:gd name="connsiteX50" fmla="*/ 1507686 w 1784671"/>
              <a:gd name="connsiteY50" fmla="*/ 1296016 h 1626032"/>
              <a:gd name="connsiteX51" fmla="*/ 1480463 w 1784671"/>
              <a:gd name="connsiteY51" fmla="*/ 1335130 h 1626032"/>
              <a:gd name="connsiteX52" fmla="*/ 1450615 w 1784671"/>
              <a:gd name="connsiteY52" fmla="*/ 1371223 h 1626032"/>
              <a:gd name="connsiteX53" fmla="*/ 1419785 w 1784671"/>
              <a:gd name="connsiteY53" fmla="*/ 1405966 h 1626032"/>
              <a:gd name="connsiteX54" fmla="*/ 1389664 w 1784671"/>
              <a:gd name="connsiteY54" fmla="*/ 1437564 h 1626032"/>
              <a:gd name="connsiteX55" fmla="*/ 1357213 w 1784671"/>
              <a:gd name="connsiteY55" fmla="*/ 1468903 h 1626032"/>
              <a:gd name="connsiteX56" fmla="*/ 1325130 w 1784671"/>
              <a:gd name="connsiteY56" fmla="*/ 1497804 h 1626032"/>
              <a:gd name="connsiteX57" fmla="*/ 1290763 w 1784671"/>
              <a:gd name="connsiteY57" fmla="*/ 1522977 h 1626032"/>
              <a:gd name="connsiteX58" fmla="*/ 1256420 w 1784671"/>
              <a:gd name="connsiteY58" fmla="*/ 1546418 h 1626032"/>
              <a:gd name="connsiteX59" fmla="*/ 1238586 w 1784671"/>
              <a:gd name="connsiteY59" fmla="*/ 1557817 h 1626032"/>
              <a:gd name="connsiteX60" fmla="*/ 1221440 w 1784671"/>
              <a:gd name="connsiteY60" fmla="*/ 1567804 h 1626032"/>
              <a:gd name="connsiteX61" fmla="*/ 1203310 w 1784671"/>
              <a:gd name="connsiteY61" fmla="*/ 1576443 h 1626032"/>
              <a:gd name="connsiteX62" fmla="*/ 1184176 w 1784671"/>
              <a:gd name="connsiteY62" fmla="*/ 1585464 h 1626032"/>
              <a:gd name="connsiteX63" fmla="*/ 1166732 w 1784671"/>
              <a:gd name="connsiteY63" fmla="*/ 1592691 h 1626032"/>
              <a:gd name="connsiteX64" fmla="*/ 1147941 w 1784671"/>
              <a:gd name="connsiteY64" fmla="*/ 1601007 h 1626032"/>
              <a:gd name="connsiteX65" fmla="*/ 1129197 w 1784671"/>
              <a:gd name="connsiteY65" fmla="*/ 1605857 h 1626032"/>
              <a:gd name="connsiteX66" fmla="*/ 1110430 w 1784671"/>
              <a:gd name="connsiteY66" fmla="*/ 1612440 h 1626032"/>
              <a:gd name="connsiteX67" fmla="*/ 1092029 w 1784671"/>
              <a:gd name="connsiteY67" fmla="*/ 1616585 h 1626032"/>
              <a:gd name="connsiteX68" fmla="*/ 1072304 w 1784671"/>
              <a:gd name="connsiteY68" fmla="*/ 1620086 h 1626032"/>
              <a:gd name="connsiteX69" fmla="*/ 1053928 w 1784671"/>
              <a:gd name="connsiteY69" fmla="*/ 1622497 h 1626032"/>
              <a:gd name="connsiteX70" fmla="*/ 1034545 w 1784671"/>
              <a:gd name="connsiteY70" fmla="*/ 1625293 h 1626032"/>
              <a:gd name="connsiteX71" fmla="*/ 1014524 w 1784671"/>
              <a:gd name="connsiteY71" fmla="*/ 1626032 h 1626032"/>
              <a:gd name="connsiteX72" fmla="*/ 995190 w 1784671"/>
              <a:gd name="connsiteY72" fmla="*/ 1625362 h 1626032"/>
              <a:gd name="connsiteX73" fmla="*/ 975513 w 1784671"/>
              <a:gd name="connsiteY73" fmla="*/ 1625396 h 1626032"/>
              <a:gd name="connsiteX74" fmla="*/ 955859 w 1784671"/>
              <a:gd name="connsiteY74" fmla="*/ 1623698 h 1626032"/>
              <a:gd name="connsiteX75" fmla="*/ 934881 w 1784671"/>
              <a:gd name="connsiteY75" fmla="*/ 1621355 h 1626032"/>
              <a:gd name="connsiteX76" fmla="*/ 914588 w 1784671"/>
              <a:gd name="connsiteY76" fmla="*/ 1617602 h 1626032"/>
              <a:gd name="connsiteX77" fmla="*/ 893314 w 1784671"/>
              <a:gd name="connsiteY77" fmla="*/ 1612500 h 1626032"/>
              <a:gd name="connsiteX78" fmla="*/ 872703 w 1784671"/>
              <a:gd name="connsiteY78" fmla="*/ 1607719 h 1626032"/>
              <a:gd name="connsiteX79" fmla="*/ 852435 w 1784671"/>
              <a:gd name="connsiteY79" fmla="*/ 1602233 h 1626032"/>
              <a:gd name="connsiteX80" fmla="*/ 831185 w 1784671"/>
              <a:gd name="connsiteY80" fmla="*/ 1595398 h 1626032"/>
              <a:gd name="connsiteX81" fmla="*/ 788046 w 1784671"/>
              <a:gd name="connsiteY81" fmla="*/ 1579671 h 1626032"/>
              <a:gd name="connsiteX82" fmla="*/ 744613 w 1784671"/>
              <a:gd name="connsiteY82" fmla="*/ 1561184 h 1626032"/>
              <a:gd name="connsiteX83" fmla="*/ 701227 w 1784671"/>
              <a:gd name="connsiteY83" fmla="*/ 1539231 h 1626032"/>
              <a:gd name="connsiteX84" fmla="*/ 659190 w 1784671"/>
              <a:gd name="connsiteY84" fmla="*/ 1516189 h 1626032"/>
              <a:gd name="connsiteX85" fmla="*/ 615533 w 1784671"/>
              <a:gd name="connsiteY85" fmla="*/ 1489743 h 1626032"/>
              <a:gd name="connsiteX86" fmla="*/ 572243 w 1784671"/>
              <a:gd name="connsiteY86" fmla="*/ 1460858 h 1626032"/>
              <a:gd name="connsiteX87" fmla="*/ 529984 w 1784671"/>
              <a:gd name="connsiteY87" fmla="*/ 1429856 h 1626032"/>
              <a:gd name="connsiteX88" fmla="*/ 488091 w 1784671"/>
              <a:gd name="connsiteY88" fmla="*/ 1396416 h 1626032"/>
              <a:gd name="connsiteX89" fmla="*/ 447548 w 1784671"/>
              <a:gd name="connsiteY89" fmla="*/ 1361886 h 1626032"/>
              <a:gd name="connsiteX90" fmla="*/ 406365 w 1784671"/>
              <a:gd name="connsiteY90" fmla="*/ 1325302 h 1626032"/>
              <a:gd name="connsiteX91" fmla="*/ 367881 w 1784671"/>
              <a:gd name="connsiteY91" fmla="*/ 1286540 h 1626032"/>
              <a:gd name="connsiteX92" fmla="*/ 329398 w 1784671"/>
              <a:gd name="connsiteY92" fmla="*/ 1247778 h 1626032"/>
              <a:gd name="connsiteX93" fmla="*/ 292607 w 1784671"/>
              <a:gd name="connsiteY93" fmla="*/ 1207221 h 1626032"/>
              <a:gd name="connsiteX94" fmla="*/ 257827 w 1784671"/>
              <a:gd name="connsiteY94" fmla="*/ 1165896 h 1626032"/>
              <a:gd name="connsiteX95" fmla="*/ 224420 w 1784671"/>
              <a:gd name="connsiteY95" fmla="*/ 1121749 h 1626032"/>
              <a:gd name="connsiteX96" fmla="*/ 192658 w 1784671"/>
              <a:gd name="connsiteY96" fmla="*/ 1079273 h 1626032"/>
              <a:gd name="connsiteX97" fmla="*/ 162588 w 1784671"/>
              <a:gd name="connsiteY97" fmla="*/ 1035004 h 1626032"/>
              <a:gd name="connsiteX98" fmla="*/ 134530 w 1784671"/>
              <a:gd name="connsiteY98" fmla="*/ 989967 h 1626032"/>
              <a:gd name="connsiteX99" fmla="*/ 108483 w 1784671"/>
              <a:gd name="connsiteY99" fmla="*/ 944162 h 1626032"/>
              <a:gd name="connsiteX100" fmla="*/ 85087 w 1784671"/>
              <a:gd name="connsiteY100" fmla="*/ 899646 h 1626032"/>
              <a:gd name="connsiteX101" fmla="*/ 64709 w 1784671"/>
              <a:gd name="connsiteY101" fmla="*/ 853978 h 1626032"/>
              <a:gd name="connsiteX102" fmla="*/ 45999 w 1784671"/>
              <a:gd name="connsiteY102" fmla="*/ 808249 h 1626032"/>
              <a:gd name="connsiteX103" fmla="*/ 30281 w 1784671"/>
              <a:gd name="connsiteY103" fmla="*/ 763101 h 1626032"/>
              <a:gd name="connsiteX104" fmla="*/ 23577 w 1784671"/>
              <a:gd name="connsiteY104" fmla="*/ 741523 h 1626032"/>
              <a:gd name="connsiteX105" fmla="*/ 18540 w 1784671"/>
              <a:gd name="connsiteY105" fmla="*/ 719885 h 1626032"/>
              <a:gd name="connsiteX106" fmla="*/ 13185 w 1784671"/>
              <a:gd name="connsiteY106" fmla="*/ 697220 h 1626032"/>
              <a:gd name="connsiteX107" fmla="*/ 8148 w 1784671"/>
              <a:gd name="connsiteY107" fmla="*/ 675581 h 1626032"/>
              <a:gd name="connsiteX108" fmla="*/ 5786 w 1784671"/>
              <a:gd name="connsiteY108" fmla="*/ 653496 h 1626032"/>
              <a:gd name="connsiteX109" fmla="*/ 2075 w 1784671"/>
              <a:gd name="connsiteY109" fmla="*/ 632502 h 1626032"/>
              <a:gd name="connsiteX110" fmla="*/ 375 w 1784671"/>
              <a:gd name="connsiteY110" fmla="*/ 610740 h 1626032"/>
              <a:gd name="connsiteX111" fmla="*/ 0 w 1784671"/>
              <a:gd name="connsiteY111" fmla="*/ 589622 h 1626032"/>
              <a:gd name="connsiteX112" fmla="*/ 288 w 1784671"/>
              <a:gd name="connsiteY112" fmla="*/ 568826 h 1626032"/>
              <a:gd name="connsiteX113" fmla="*/ 576 w 1784671"/>
              <a:gd name="connsiteY113" fmla="*/ 548029 h 1626032"/>
              <a:gd name="connsiteX114" fmla="*/ 2852 w 1784671"/>
              <a:gd name="connsiteY114" fmla="*/ 528199 h 1626032"/>
              <a:gd name="connsiteX115" fmla="*/ 5470 w 1784671"/>
              <a:gd name="connsiteY115" fmla="*/ 507663 h 1626032"/>
              <a:gd name="connsiteX116" fmla="*/ 8409 w 1784671"/>
              <a:gd name="connsiteY116" fmla="*/ 488155 h 1626032"/>
              <a:gd name="connsiteX117" fmla="*/ 12672 w 1784671"/>
              <a:gd name="connsiteY117" fmla="*/ 469290 h 1626032"/>
              <a:gd name="connsiteX118" fmla="*/ 18260 w 1784671"/>
              <a:gd name="connsiteY118" fmla="*/ 451069 h 1626032"/>
              <a:gd name="connsiteX119" fmla="*/ 24511 w 1784671"/>
              <a:gd name="connsiteY119" fmla="*/ 433171 h 1626032"/>
              <a:gd name="connsiteX120" fmla="*/ 30762 w 1784671"/>
              <a:gd name="connsiteY120" fmla="*/ 415271 h 1626032"/>
              <a:gd name="connsiteX121" fmla="*/ 37652 w 1784671"/>
              <a:gd name="connsiteY121" fmla="*/ 399428 h 1626032"/>
              <a:gd name="connsiteX122" fmla="*/ 45891 w 1784671"/>
              <a:gd name="connsiteY122" fmla="*/ 382495 h 1626032"/>
              <a:gd name="connsiteX123" fmla="*/ 54792 w 1784671"/>
              <a:gd name="connsiteY123" fmla="*/ 365883 h 1626032"/>
              <a:gd name="connsiteX124" fmla="*/ 64356 w 1784671"/>
              <a:gd name="connsiteY124" fmla="*/ 349594 h 1626032"/>
              <a:gd name="connsiteX125" fmla="*/ 73233 w 1784671"/>
              <a:gd name="connsiteY125" fmla="*/ 334717 h 1626032"/>
              <a:gd name="connsiteX126" fmla="*/ 84785 w 1784671"/>
              <a:gd name="connsiteY126" fmla="*/ 319393 h 1626032"/>
              <a:gd name="connsiteX127" fmla="*/ 96656 w 1784671"/>
              <a:gd name="connsiteY127" fmla="*/ 305097 h 1626032"/>
              <a:gd name="connsiteX128" fmla="*/ 108184 w 1784671"/>
              <a:gd name="connsiteY128" fmla="*/ 291507 h 1626032"/>
              <a:gd name="connsiteX129" fmla="*/ 120398 w 1784671"/>
              <a:gd name="connsiteY129" fmla="*/ 276506 h 1626032"/>
              <a:gd name="connsiteX130" fmla="*/ 134256 w 1784671"/>
              <a:gd name="connsiteY130" fmla="*/ 263175 h 1626032"/>
              <a:gd name="connsiteX131" fmla="*/ 147771 w 1784671"/>
              <a:gd name="connsiteY131" fmla="*/ 250550 h 1626032"/>
              <a:gd name="connsiteX132" fmla="*/ 177132 w 1784671"/>
              <a:gd name="connsiteY132" fmla="*/ 225562 h 1626032"/>
              <a:gd name="connsiteX133" fmla="*/ 207795 w 1784671"/>
              <a:gd name="connsiteY133" fmla="*/ 202950 h 1626032"/>
              <a:gd name="connsiteX134" fmla="*/ 240446 w 1784671"/>
              <a:gd name="connsiteY134" fmla="*/ 181303 h 1626032"/>
              <a:gd name="connsiteX135" fmla="*/ 274764 w 1784671"/>
              <a:gd name="connsiteY135" fmla="*/ 159595 h 1626032"/>
              <a:gd name="connsiteX136" fmla="*/ 311046 w 1784671"/>
              <a:gd name="connsiteY136" fmla="*/ 140587 h 1626032"/>
              <a:gd name="connsiteX137" fmla="*/ 347966 w 1784671"/>
              <a:gd name="connsiteY137" fmla="*/ 123632 h 1626032"/>
              <a:gd name="connsiteX138" fmla="*/ 386212 w 1784671"/>
              <a:gd name="connsiteY138" fmla="*/ 107322 h 1626032"/>
              <a:gd name="connsiteX139" fmla="*/ 426789 w 1784671"/>
              <a:gd name="connsiteY139" fmla="*/ 91272 h 1626032"/>
              <a:gd name="connsiteX140" fmla="*/ 467319 w 1784671"/>
              <a:gd name="connsiteY140" fmla="*/ 78688 h 1626032"/>
              <a:gd name="connsiteX141" fmla="*/ 508510 w 1784671"/>
              <a:gd name="connsiteY141" fmla="*/ 66426 h 1626032"/>
              <a:gd name="connsiteX142" fmla="*/ 552695 w 1784671"/>
              <a:gd name="connsiteY142" fmla="*/ 54746 h 1626032"/>
              <a:gd name="connsiteX143" fmla="*/ 595530 w 1784671"/>
              <a:gd name="connsiteY143" fmla="*/ 44156 h 1626032"/>
              <a:gd name="connsiteX144" fmla="*/ 639005 w 1784671"/>
              <a:gd name="connsiteY144" fmla="*/ 35619 h 1626032"/>
              <a:gd name="connsiteX145" fmla="*/ 682136 w 1784671"/>
              <a:gd name="connsiteY145" fmla="*/ 27789 h 1626032"/>
              <a:gd name="connsiteX146" fmla="*/ 725929 w 1784671"/>
              <a:gd name="connsiteY146" fmla="*/ 20280 h 1626032"/>
              <a:gd name="connsiteX147" fmla="*/ 770362 w 1784671"/>
              <a:gd name="connsiteY147" fmla="*/ 14827 h 1626032"/>
              <a:gd name="connsiteX148" fmla="*/ 814451 w 1784671"/>
              <a:gd name="connsiteY148" fmla="*/ 10079 h 1626032"/>
              <a:gd name="connsiteX149" fmla="*/ 857191 w 1784671"/>
              <a:gd name="connsiteY149" fmla="*/ 6420 h 1626032"/>
              <a:gd name="connsiteX150" fmla="*/ 900250 w 1784671"/>
              <a:gd name="connsiteY150" fmla="*/ 3789 h 1626032"/>
              <a:gd name="connsiteX151" fmla="*/ 942965 w 1784671"/>
              <a:gd name="connsiteY151" fmla="*/ 1863 h 162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</a:cxnLst>
            <a:rect l="l" t="t" r="r" b="b"/>
            <a:pathLst>
              <a:path w="1784671" h="1626032">
                <a:moveTo>
                  <a:pt x="984013" y="0"/>
                </a:moveTo>
                <a:lnTo>
                  <a:pt x="1025356" y="896"/>
                </a:lnTo>
                <a:lnTo>
                  <a:pt x="1065055" y="121"/>
                </a:lnTo>
                <a:lnTo>
                  <a:pt x="1143055" y="3127"/>
                </a:lnTo>
                <a:lnTo>
                  <a:pt x="1181036" y="5879"/>
                </a:lnTo>
                <a:lnTo>
                  <a:pt x="1217350" y="8694"/>
                </a:lnTo>
                <a:lnTo>
                  <a:pt x="1253320" y="12214"/>
                </a:lnTo>
                <a:lnTo>
                  <a:pt x="1289609" y="16762"/>
                </a:lnTo>
                <a:lnTo>
                  <a:pt x="1324550" y="22398"/>
                </a:lnTo>
                <a:lnTo>
                  <a:pt x="1358141" y="29124"/>
                </a:lnTo>
                <a:lnTo>
                  <a:pt x="1391389" y="36556"/>
                </a:lnTo>
                <a:lnTo>
                  <a:pt x="1422969" y="44049"/>
                </a:lnTo>
                <a:lnTo>
                  <a:pt x="1453519" y="53658"/>
                </a:lnTo>
                <a:lnTo>
                  <a:pt x="1484387" y="64295"/>
                </a:lnTo>
                <a:lnTo>
                  <a:pt x="1512583" y="75378"/>
                </a:lnTo>
                <a:lnTo>
                  <a:pt x="1540091" y="87871"/>
                </a:lnTo>
                <a:lnTo>
                  <a:pt x="1566593" y="100749"/>
                </a:lnTo>
                <a:lnTo>
                  <a:pt x="1592066" y="115743"/>
                </a:lnTo>
                <a:lnTo>
                  <a:pt x="1615846" y="132531"/>
                </a:lnTo>
                <a:lnTo>
                  <a:pt x="1638620" y="149704"/>
                </a:lnTo>
                <a:lnTo>
                  <a:pt x="1660046" y="167965"/>
                </a:lnTo>
                <a:lnTo>
                  <a:pt x="1679092" y="189432"/>
                </a:lnTo>
                <a:lnTo>
                  <a:pt x="1697156" y="209549"/>
                </a:lnTo>
                <a:lnTo>
                  <a:pt x="1714167" y="233517"/>
                </a:lnTo>
                <a:lnTo>
                  <a:pt x="1728846" y="257224"/>
                </a:lnTo>
                <a:lnTo>
                  <a:pt x="1742153" y="283753"/>
                </a:lnTo>
                <a:lnTo>
                  <a:pt x="1753448" y="311050"/>
                </a:lnTo>
                <a:lnTo>
                  <a:pt x="1763369" y="341168"/>
                </a:lnTo>
                <a:lnTo>
                  <a:pt x="1771279" y="372054"/>
                </a:lnTo>
                <a:lnTo>
                  <a:pt x="1777497" y="404734"/>
                </a:lnTo>
                <a:lnTo>
                  <a:pt x="1781703" y="438183"/>
                </a:lnTo>
                <a:lnTo>
                  <a:pt x="1783530" y="474835"/>
                </a:lnTo>
                <a:lnTo>
                  <a:pt x="1784671" y="512900"/>
                </a:lnTo>
                <a:lnTo>
                  <a:pt x="1782106" y="553527"/>
                </a:lnTo>
                <a:lnTo>
                  <a:pt x="1779200" y="594860"/>
                </a:lnTo>
                <a:lnTo>
                  <a:pt x="1773276" y="637341"/>
                </a:lnTo>
                <a:lnTo>
                  <a:pt x="1766665" y="681237"/>
                </a:lnTo>
                <a:lnTo>
                  <a:pt x="1757723" y="724871"/>
                </a:lnTo>
                <a:lnTo>
                  <a:pt x="1746770" y="769271"/>
                </a:lnTo>
                <a:lnTo>
                  <a:pt x="1734466" y="814761"/>
                </a:lnTo>
                <a:lnTo>
                  <a:pt x="1721501" y="859929"/>
                </a:lnTo>
                <a:lnTo>
                  <a:pt x="1706181" y="906570"/>
                </a:lnTo>
                <a:lnTo>
                  <a:pt x="1689878" y="951862"/>
                </a:lnTo>
                <a:lnTo>
                  <a:pt x="1670902" y="997599"/>
                </a:lnTo>
                <a:lnTo>
                  <a:pt x="1651606" y="1042309"/>
                </a:lnTo>
                <a:lnTo>
                  <a:pt x="1631305" y="1087401"/>
                </a:lnTo>
                <a:lnTo>
                  <a:pt x="1608353" y="1131207"/>
                </a:lnTo>
                <a:lnTo>
                  <a:pt x="1585426" y="1173279"/>
                </a:lnTo>
                <a:lnTo>
                  <a:pt x="1561149" y="1216440"/>
                </a:lnTo>
                <a:lnTo>
                  <a:pt x="1535570" y="1257226"/>
                </a:lnTo>
                <a:lnTo>
                  <a:pt x="1507686" y="1296016"/>
                </a:lnTo>
                <a:lnTo>
                  <a:pt x="1480463" y="1335130"/>
                </a:lnTo>
                <a:lnTo>
                  <a:pt x="1450615" y="1371223"/>
                </a:lnTo>
                <a:lnTo>
                  <a:pt x="1419785" y="1405966"/>
                </a:lnTo>
                <a:lnTo>
                  <a:pt x="1389664" y="1437564"/>
                </a:lnTo>
                <a:lnTo>
                  <a:pt x="1357213" y="1468903"/>
                </a:lnTo>
                <a:lnTo>
                  <a:pt x="1325130" y="1497804"/>
                </a:lnTo>
                <a:lnTo>
                  <a:pt x="1290763" y="1522977"/>
                </a:lnTo>
                <a:lnTo>
                  <a:pt x="1256420" y="1546418"/>
                </a:lnTo>
                <a:lnTo>
                  <a:pt x="1238586" y="1557817"/>
                </a:lnTo>
                <a:lnTo>
                  <a:pt x="1221440" y="1567804"/>
                </a:lnTo>
                <a:lnTo>
                  <a:pt x="1203310" y="1576443"/>
                </a:lnTo>
                <a:lnTo>
                  <a:pt x="1184176" y="1585464"/>
                </a:lnTo>
                <a:lnTo>
                  <a:pt x="1166732" y="1592691"/>
                </a:lnTo>
                <a:lnTo>
                  <a:pt x="1147941" y="1601007"/>
                </a:lnTo>
                <a:lnTo>
                  <a:pt x="1129197" y="1605857"/>
                </a:lnTo>
                <a:lnTo>
                  <a:pt x="1110430" y="1612440"/>
                </a:lnTo>
                <a:lnTo>
                  <a:pt x="1092029" y="1616585"/>
                </a:lnTo>
                <a:lnTo>
                  <a:pt x="1072304" y="1620086"/>
                </a:lnTo>
                <a:lnTo>
                  <a:pt x="1053928" y="1622497"/>
                </a:lnTo>
                <a:lnTo>
                  <a:pt x="1034545" y="1625293"/>
                </a:lnTo>
                <a:lnTo>
                  <a:pt x="1014524" y="1626032"/>
                </a:lnTo>
                <a:lnTo>
                  <a:pt x="995190" y="1625362"/>
                </a:lnTo>
                <a:lnTo>
                  <a:pt x="975513" y="1625396"/>
                </a:lnTo>
                <a:lnTo>
                  <a:pt x="955859" y="1623698"/>
                </a:lnTo>
                <a:lnTo>
                  <a:pt x="934881" y="1621355"/>
                </a:lnTo>
                <a:lnTo>
                  <a:pt x="914588" y="1617602"/>
                </a:lnTo>
                <a:lnTo>
                  <a:pt x="893314" y="1612500"/>
                </a:lnTo>
                <a:lnTo>
                  <a:pt x="872703" y="1607719"/>
                </a:lnTo>
                <a:lnTo>
                  <a:pt x="852435" y="1602233"/>
                </a:lnTo>
                <a:lnTo>
                  <a:pt x="831185" y="1595398"/>
                </a:lnTo>
                <a:lnTo>
                  <a:pt x="788046" y="1579671"/>
                </a:lnTo>
                <a:lnTo>
                  <a:pt x="744613" y="1561184"/>
                </a:lnTo>
                <a:lnTo>
                  <a:pt x="701227" y="1539231"/>
                </a:lnTo>
                <a:lnTo>
                  <a:pt x="659190" y="1516189"/>
                </a:lnTo>
                <a:lnTo>
                  <a:pt x="615533" y="1489743"/>
                </a:lnTo>
                <a:lnTo>
                  <a:pt x="572243" y="1460858"/>
                </a:lnTo>
                <a:lnTo>
                  <a:pt x="529984" y="1429856"/>
                </a:lnTo>
                <a:lnTo>
                  <a:pt x="488091" y="1396416"/>
                </a:lnTo>
                <a:lnTo>
                  <a:pt x="447548" y="1361886"/>
                </a:lnTo>
                <a:lnTo>
                  <a:pt x="406365" y="1325302"/>
                </a:lnTo>
                <a:lnTo>
                  <a:pt x="367881" y="1286540"/>
                </a:lnTo>
                <a:lnTo>
                  <a:pt x="329398" y="1247778"/>
                </a:lnTo>
                <a:lnTo>
                  <a:pt x="292607" y="1207221"/>
                </a:lnTo>
                <a:lnTo>
                  <a:pt x="257827" y="1165896"/>
                </a:lnTo>
                <a:lnTo>
                  <a:pt x="224420" y="1121749"/>
                </a:lnTo>
                <a:lnTo>
                  <a:pt x="192658" y="1079273"/>
                </a:lnTo>
                <a:lnTo>
                  <a:pt x="162588" y="1035004"/>
                </a:lnTo>
                <a:lnTo>
                  <a:pt x="134530" y="989967"/>
                </a:lnTo>
                <a:lnTo>
                  <a:pt x="108483" y="944162"/>
                </a:lnTo>
                <a:lnTo>
                  <a:pt x="85087" y="899646"/>
                </a:lnTo>
                <a:lnTo>
                  <a:pt x="64709" y="853978"/>
                </a:lnTo>
                <a:lnTo>
                  <a:pt x="45999" y="808249"/>
                </a:lnTo>
                <a:lnTo>
                  <a:pt x="30281" y="763101"/>
                </a:lnTo>
                <a:lnTo>
                  <a:pt x="23577" y="741523"/>
                </a:lnTo>
                <a:lnTo>
                  <a:pt x="18540" y="719885"/>
                </a:lnTo>
                <a:lnTo>
                  <a:pt x="13185" y="697220"/>
                </a:lnTo>
                <a:lnTo>
                  <a:pt x="8148" y="675581"/>
                </a:lnTo>
                <a:lnTo>
                  <a:pt x="5786" y="653496"/>
                </a:lnTo>
                <a:lnTo>
                  <a:pt x="2075" y="632502"/>
                </a:lnTo>
                <a:lnTo>
                  <a:pt x="375" y="610740"/>
                </a:lnTo>
                <a:lnTo>
                  <a:pt x="0" y="589622"/>
                </a:lnTo>
                <a:lnTo>
                  <a:pt x="288" y="568826"/>
                </a:lnTo>
                <a:lnTo>
                  <a:pt x="576" y="548029"/>
                </a:lnTo>
                <a:lnTo>
                  <a:pt x="2852" y="528199"/>
                </a:lnTo>
                <a:lnTo>
                  <a:pt x="5470" y="507663"/>
                </a:lnTo>
                <a:lnTo>
                  <a:pt x="8409" y="488155"/>
                </a:lnTo>
                <a:lnTo>
                  <a:pt x="12672" y="469290"/>
                </a:lnTo>
                <a:lnTo>
                  <a:pt x="18260" y="451069"/>
                </a:lnTo>
                <a:lnTo>
                  <a:pt x="24511" y="433171"/>
                </a:lnTo>
                <a:lnTo>
                  <a:pt x="30762" y="415271"/>
                </a:lnTo>
                <a:lnTo>
                  <a:pt x="37652" y="399428"/>
                </a:lnTo>
                <a:lnTo>
                  <a:pt x="45891" y="382495"/>
                </a:lnTo>
                <a:lnTo>
                  <a:pt x="54792" y="365883"/>
                </a:lnTo>
                <a:lnTo>
                  <a:pt x="64356" y="349594"/>
                </a:lnTo>
                <a:lnTo>
                  <a:pt x="73233" y="334717"/>
                </a:lnTo>
                <a:lnTo>
                  <a:pt x="84785" y="319393"/>
                </a:lnTo>
                <a:lnTo>
                  <a:pt x="96656" y="305097"/>
                </a:lnTo>
                <a:lnTo>
                  <a:pt x="108184" y="291507"/>
                </a:lnTo>
                <a:lnTo>
                  <a:pt x="120398" y="276506"/>
                </a:lnTo>
                <a:lnTo>
                  <a:pt x="134256" y="263175"/>
                </a:lnTo>
                <a:lnTo>
                  <a:pt x="147771" y="250550"/>
                </a:lnTo>
                <a:lnTo>
                  <a:pt x="177132" y="225562"/>
                </a:lnTo>
                <a:lnTo>
                  <a:pt x="207795" y="202950"/>
                </a:lnTo>
                <a:lnTo>
                  <a:pt x="240446" y="181303"/>
                </a:lnTo>
                <a:lnTo>
                  <a:pt x="274764" y="159595"/>
                </a:lnTo>
                <a:lnTo>
                  <a:pt x="311046" y="140587"/>
                </a:lnTo>
                <a:lnTo>
                  <a:pt x="347966" y="123632"/>
                </a:lnTo>
                <a:lnTo>
                  <a:pt x="386212" y="107322"/>
                </a:lnTo>
                <a:lnTo>
                  <a:pt x="426789" y="91272"/>
                </a:lnTo>
                <a:lnTo>
                  <a:pt x="467319" y="78688"/>
                </a:lnTo>
                <a:lnTo>
                  <a:pt x="508510" y="66426"/>
                </a:lnTo>
                <a:lnTo>
                  <a:pt x="552695" y="54746"/>
                </a:lnTo>
                <a:lnTo>
                  <a:pt x="595530" y="44156"/>
                </a:lnTo>
                <a:lnTo>
                  <a:pt x="639005" y="35619"/>
                </a:lnTo>
                <a:lnTo>
                  <a:pt x="682136" y="27789"/>
                </a:lnTo>
                <a:lnTo>
                  <a:pt x="725929" y="20280"/>
                </a:lnTo>
                <a:lnTo>
                  <a:pt x="770362" y="14827"/>
                </a:lnTo>
                <a:lnTo>
                  <a:pt x="814451" y="10079"/>
                </a:lnTo>
                <a:lnTo>
                  <a:pt x="857191" y="6420"/>
                </a:lnTo>
                <a:lnTo>
                  <a:pt x="900250" y="3789"/>
                </a:lnTo>
                <a:lnTo>
                  <a:pt x="942965" y="1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5693983" y="4232341"/>
            <a:ext cx="1788845" cy="1592634"/>
          </a:xfrm>
          <a:custGeom>
            <a:avLst/>
            <a:gdLst>
              <a:gd name="connsiteX0" fmla="*/ 1051700 w 1788845"/>
              <a:gd name="connsiteY0" fmla="*/ 0 h 1592634"/>
              <a:gd name="connsiteX1" fmla="*/ 1089295 w 1788845"/>
              <a:gd name="connsiteY1" fmla="*/ 2895 h 1592634"/>
              <a:gd name="connsiteX2" fmla="*/ 1126737 w 1788845"/>
              <a:gd name="connsiteY2" fmla="*/ 7352 h 1592634"/>
              <a:gd name="connsiteX3" fmla="*/ 1162311 w 1788845"/>
              <a:gd name="connsiteY3" fmla="*/ 14781 h 1592634"/>
              <a:gd name="connsiteX4" fmla="*/ 1199371 w 1788845"/>
              <a:gd name="connsiteY4" fmla="*/ 23143 h 1592634"/>
              <a:gd name="connsiteX5" fmla="*/ 1233858 w 1788845"/>
              <a:gd name="connsiteY5" fmla="*/ 33620 h 1592634"/>
              <a:gd name="connsiteX6" fmla="*/ 1269048 w 1788845"/>
              <a:gd name="connsiteY6" fmla="*/ 44955 h 1592634"/>
              <a:gd name="connsiteX7" fmla="*/ 1303152 w 1788845"/>
              <a:gd name="connsiteY7" fmla="*/ 59337 h 1592634"/>
              <a:gd name="connsiteX8" fmla="*/ 1335539 w 1788845"/>
              <a:gd name="connsiteY8" fmla="*/ 75128 h 1592634"/>
              <a:gd name="connsiteX9" fmla="*/ 1368555 w 1788845"/>
              <a:gd name="connsiteY9" fmla="*/ 92559 h 1592634"/>
              <a:gd name="connsiteX10" fmla="*/ 1400559 w 1788845"/>
              <a:gd name="connsiteY10" fmla="*/ 112256 h 1592634"/>
              <a:gd name="connsiteX11" fmla="*/ 1431629 w 1788845"/>
              <a:gd name="connsiteY11" fmla="*/ 133440 h 1592634"/>
              <a:gd name="connsiteX12" fmla="*/ 1461135 w 1788845"/>
              <a:gd name="connsiteY12" fmla="*/ 154470 h 1592634"/>
              <a:gd name="connsiteX13" fmla="*/ 1490337 w 1788845"/>
              <a:gd name="connsiteY13" fmla="*/ 178624 h 1592634"/>
              <a:gd name="connsiteX14" fmla="*/ 1517821 w 1788845"/>
              <a:gd name="connsiteY14" fmla="*/ 204189 h 1592634"/>
              <a:gd name="connsiteX15" fmla="*/ 1545934 w 1788845"/>
              <a:gd name="connsiteY15" fmla="*/ 231392 h 1592634"/>
              <a:gd name="connsiteX16" fmla="*/ 1570767 w 1788845"/>
              <a:gd name="connsiteY16" fmla="*/ 259851 h 1592634"/>
              <a:gd name="connsiteX17" fmla="*/ 1596306 w 1788845"/>
              <a:gd name="connsiteY17" fmla="*/ 289167 h 1592634"/>
              <a:gd name="connsiteX18" fmla="*/ 1619347 w 1788845"/>
              <a:gd name="connsiteY18" fmla="*/ 319817 h 1592634"/>
              <a:gd name="connsiteX19" fmla="*/ 1642234 w 1788845"/>
              <a:gd name="connsiteY19" fmla="*/ 352028 h 1592634"/>
              <a:gd name="connsiteX20" fmla="*/ 1663406 w 1788845"/>
              <a:gd name="connsiteY20" fmla="*/ 385648 h 1592634"/>
              <a:gd name="connsiteX21" fmla="*/ 1683643 w 1788845"/>
              <a:gd name="connsiteY21" fmla="*/ 420755 h 1592634"/>
              <a:gd name="connsiteX22" fmla="*/ 1703098 w 1788845"/>
              <a:gd name="connsiteY22" fmla="*/ 455786 h 1592634"/>
              <a:gd name="connsiteX23" fmla="*/ 1720837 w 1788845"/>
              <a:gd name="connsiteY23" fmla="*/ 492225 h 1592634"/>
              <a:gd name="connsiteX24" fmla="*/ 1736782 w 1788845"/>
              <a:gd name="connsiteY24" fmla="*/ 530853 h 1592634"/>
              <a:gd name="connsiteX25" fmla="*/ 1751870 w 1788845"/>
              <a:gd name="connsiteY25" fmla="*/ 570188 h 1592634"/>
              <a:gd name="connsiteX26" fmla="*/ 1764690 w 1788845"/>
              <a:gd name="connsiteY26" fmla="*/ 608510 h 1592634"/>
              <a:gd name="connsiteX27" fmla="*/ 1773524 w 1788845"/>
              <a:gd name="connsiteY27" fmla="*/ 647232 h 1592634"/>
              <a:gd name="connsiteX28" fmla="*/ 1781577 w 1788845"/>
              <a:gd name="connsiteY28" fmla="*/ 685877 h 1592634"/>
              <a:gd name="connsiteX29" fmla="*/ 1786504 w 1788845"/>
              <a:gd name="connsiteY29" fmla="*/ 724216 h 1592634"/>
              <a:gd name="connsiteX30" fmla="*/ 1788456 w 1788845"/>
              <a:gd name="connsiteY30" fmla="*/ 760685 h 1592634"/>
              <a:gd name="connsiteX31" fmla="*/ 1788845 w 1788845"/>
              <a:gd name="connsiteY31" fmla="*/ 797002 h 1592634"/>
              <a:gd name="connsiteX32" fmla="*/ 1786032 w 1788845"/>
              <a:gd name="connsiteY32" fmla="*/ 833793 h 1592634"/>
              <a:gd name="connsiteX33" fmla="*/ 1782513 w 1788845"/>
              <a:gd name="connsiteY33" fmla="*/ 869727 h 1592634"/>
              <a:gd name="connsiteX34" fmla="*/ 1775867 w 1788845"/>
              <a:gd name="connsiteY34" fmla="*/ 905355 h 1592634"/>
              <a:gd name="connsiteX35" fmla="*/ 1766172 w 1788845"/>
              <a:gd name="connsiteY35" fmla="*/ 939895 h 1592634"/>
              <a:gd name="connsiteX36" fmla="*/ 1755770 w 1788845"/>
              <a:gd name="connsiteY36" fmla="*/ 973577 h 1592634"/>
              <a:gd name="connsiteX37" fmla="*/ 1743103 w 1788845"/>
              <a:gd name="connsiteY37" fmla="*/ 1006248 h 1592634"/>
              <a:gd name="connsiteX38" fmla="*/ 1728088 w 1788845"/>
              <a:gd name="connsiteY38" fmla="*/ 1038689 h 1592634"/>
              <a:gd name="connsiteX39" fmla="*/ 1712292 w 1788845"/>
              <a:gd name="connsiteY39" fmla="*/ 1071054 h 1592634"/>
              <a:gd name="connsiteX40" fmla="*/ 1693446 w 1788845"/>
              <a:gd name="connsiteY40" fmla="*/ 1102331 h 1592634"/>
              <a:gd name="connsiteX41" fmla="*/ 1673114 w 1788845"/>
              <a:gd name="connsiteY41" fmla="*/ 1132675 h 1592634"/>
              <a:gd name="connsiteX42" fmla="*/ 1651294 w 1788845"/>
              <a:gd name="connsiteY42" fmla="*/ 1162083 h 1592634"/>
              <a:gd name="connsiteX43" fmla="*/ 1628769 w 1788845"/>
              <a:gd name="connsiteY43" fmla="*/ 1190634 h 1592634"/>
              <a:gd name="connsiteX44" fmla="*/ 1603119 w 1788845"/>
              <a:gd name="connsiteY44" fmla="*/ 1218880 h 1592634"/>
              <a:gd name="connsiteX45" fmla="*/ 1576839 w 1788845"/>
              <a:gd name="connsiteY45" fmla="*/ 1245484 h 1592634"/>
              <a:gd name="connsiteX46" fmla="*/ 1549072 w 1788845"/>
              <a:gd name="connsiteY46" fmla="*/ 1271157 h 1592634"/>
              <a:gd name="connsiteX47" fmla="*/ 1520523 w 1788845"/>
              <a:gd name="connsiteY47" fmla="*/ 1296751 h 1592634"/>
              <a:gd name="connsiteX48" fmla="*/ 1489783 w 1788845"/>
              <a:gd name="connsiteY48" fmla="*/ 1320555 h 1592634"/>
              <a:gd name="connsiteX49" fmla="*/ 1457403 w 1788845"/>
              <a:gd name="connsiteY49" fmla="*/ 1344985 h 1592634"/>
              <a:gd name="connsiteX50" fmla="*/ 1425328 w 1788845"/>
              <a:gd name="connsiteY50" fmla="*/ 1366291 h 1592634"/>
              <a:gd name="connsiteX51" fmla="*/ 1390910 w 1788845"/>
              <a:gd name="connsiteY51" fmla="*/ 1387367 h 1592634"/>
              <a:gd name="connsiteX52" fmla="*/ 1355786 w 1788845"/>
              <a:gd name="connsiteY52" fmla="*/ 1407586 h 1592634"/>
              <a:gd name="connsiteX53" fmla="*/ 1319955 w 1788845"/>
              <a:gd name="connsiteY53" fmla="*/ 1426947 h 1592634"/>
              <a:gd name="connsiteX54" fmla="*/ 1284202 w 1788845"/>
              <a:gd name="connsiteY54" fmla="*/ 1445526 h 1592634"/>
              <a:gd name="connsiteX55" fmla="*/ 1245553 w 1788845"/>
              <a:gd name="connsiteY55" fmla="*/ 1461456 h 1592634"/>
              <a:gd name="connsiteX56" fmla="*/ 1207761 w 1788845"/>
              <a:gd name="connsiteY56" fmla="*/ 1476681 h 1592634"/>
              <a:gd name="connsiteX57" fmla="*/ 1168405 w 1788845"/>
              <a:gd name="connsiteY57" fmla="*/ 1491754 h 1592634"/>
              <a:gd name="connsiteX58" fmla="*/ 1128345 w 1788845"/>
              <a:gd name="connsiteY58" fmla="*/ 1505969 h 1592634"/>
              <a:gd name="connsiteX59" fmla="*/ 1088515 w 1788845"/>
              <a:gd name="connsiteY59" fmla="*/ 1517839 h 1592634"/>
              <a:gd name="connsiteX60" fmla="*/ 1047044 w 1788845"/>
              <a:gd name="connsiteY60" fmla="*/ 1530338 h 1592634"/>
              <a:gd name="connsiteX61" fmla="*/ 1004869 w 1788845"/>
              <a:gd name="connsiteY61" fmla="*/ 1541979 h 1592634"/>
              <a:gd name="connsiteX62" fmla="*/ 962063 w 1788845"/>
              <a:gd name="connsiteY62" fmla="*/ 1551982 h 1592634"/>
              <a:gd name="connsiteX63" fmla="*/ 920194 w 1788845"/>
              <a:gd name="connsiteY63" fmla="*/ 1560498 h 1592634"/>
              <a:gd name="connsiteX64" fmla="*/ 876684 w 1788845"/>
              <a:gd name="connsiteY64" fmla="*/ 1569642 h 1592634"/>
              <a:gd name="connsiteX65" fmla="*/ 834262 w 1788845"/>
              <a:gd name="connsiteY65" fmla="*/ 1575739 h 1592634"/>
              <a:gd name="connsiteX66" fmla="*/ 790982 w 1788845"/>
              <a:gd name="connsiteY66" fmla="*/ 1582539 h 1592634"/>
              <a:gd name="connsiteX67" fmla="*/ 748008 w 1788845"/>
              <a:gd name="connsiteY67" fmla="*/ 1586216 h 1592634"/>
              <a:gd name="connsiteX68" fmla="*/ 705033 w 1788845"/>
              <a:gd name="connsiteY68" fmla="*/ 1589892 h 1592634"/>
              <a:gd name="connsiteX69" fmla="*/ 662212 w 1788845"/>
              <a:gd name="connsiteY69" fmla="*/ 1592006 h 1592634"/>
              <a:gd name="connsiteX70" fmla="*/ 620326 w 1788845"/>
              <a:gd name="connsiteY70" fmla="*/ 1592634 h 1592634"/>
              <a:gd name="connsiteX71" fmla="*/ 577811 w 1788845"/>
              <a:gd name="connsiteY71" fmla="*/ 1591624 h 1592634"/>
              <a:gd name="connsiteX72" fmla="*/ 537012 w 1788845"/>
              <a:gd name="connsiteY72" fmla="*/ 1589204 h 1592634"/>
              <a:gd name="connsiteX73" fmla="*/ 497148 w 1788845"/>
              <a:gd name="connsiteY73" fmla="*/ 1585299 h 1592634"/>
              <a:gd name="connsiteX74" fmla="*/ 455949 w 1788845"/>
              <a:gd name="connsiteY74" fmla="*/ 1578897 h 1592634"/>
              <a:gd name="connsiteX75" fmla="*/ 418031 w 1788845"/>
              <a:gd name="connsiteY75" fmla="*/ 1571237 h 1592634"/>
              <a:gd name="connsiteX76" fmla="*/ 380190 w 1788845"/>
              <a:gd name="connsiteY76" fmla="*/ 1562798 h 1592634"/>
              <a:gd name="connsiteX77" fmla="*/ 343435 w 1788845"/>
              <a:gd name="connsiteY77" fmla="*/ 1551311 h 1592634"/>
              <a:gd name="connsiteX78" fmla="*/ 308397 w 1788845"/>
              <a:gd name="connsiteY78" fmla="*/ 1538414 h 1592634"/>
              <a:gd name="connsiteX79" fmla="*/ 274369 w 1788845"/>
              <a:gd name="connsiteY79" fmla="*/ 1523251 h 1592634"/>
              <a:gd name="connsiteX80" fmla="*/ 240573 w 1788845"/>
              <a:gd name="connsiteY80" fmla="*/ 1505743 h 1592634"/>
              <a:gd name="connsiteX81" fmla="*/ 209197 w 1788845"/>
              <a:gd name="connsiteY81" fmla="*/ 1487685 h 1592634"/>
              <a:gd name="connsiteX82" fmla="*/ 180548 w 1788845"/>
              <a:gd name="connsiteY82" fmla="*/ 1465950 h 1592634"/>
              <a:gd name="connsiteX83" fmla="*/ 166615 w 1788845"/>
              <a:gd name="connsiteY83" fmla="*/ 1455120 h 1592634"/>
              <a:gd name="connsiteX84" fmla="*/ 152835 w 1788845"/>
              <a:gd name="connsiteY84" fmla="*/ 1442729 h 1592634"/>
              <a:gd name="connsiteX85" fmla="*/ 139912 w 1788845"/>
              <a:gd name="connsiteY85" fmla="*/ 1429633 h 1592634"/>
              <a:gd name="connsiteX86" fmla="*/ 126914 w 1788845"/>
              <a:gd name="connsiteY86" fmla="*/ 1417319 h 1592634"/>
              <a:gd name="connsiteX87" fmla="*/ 114143 w 1788845"/>
              <a:gd name="connsiteY87" fmla="*/ 1402661 h 1592634"/>
              <a:gd name="connsiteX88" fmla="*/ 102080 w 1788845"/>
              <a:gd name="connsiteY88" fmla="*/ 1388860 h 1592634"/>
              <a:gd name="connsiteX89" fmla="*/ 90950 w 1788845"/>
              <a:gd name="connsiteY89" fmla="*/ 1373573 h 1592634"/>
              <a:gd name="connsiteX90" fmla="*/ 80602 w 1788845"/>
              <a:gd name="connsiteY90" fmla="*/ 1358364 h 1592634"/>
              <a:gd name="connsiteX91" fmla="*/ 70407 w 1788845"/>
              <a:gd name="connsiteY91" fmla="*/ 1341591 h 1592634"/>
              <a:gd name="connsiteX92" fmla="*/ 60136 w 1788845"/>
              <a:gd name="connsiteY92" fmla="*/ 1325601 h 1592634"/>
              <a:gd name="connsiteX93" fmla="*/ 51581 w 1788845"/>
              <a:gd name="connsiteY93" fmla="*/ 1308200 h 1592634"/>
              <a:gd name="connsiteX94" fmla="*/ 43884 w 1788845"/>
              <a:gd name="connsiteY94" fmla="*/ 1290095 h 1592634"/>
              <a:gd name="connsiteX95" fmla="*/ 34700 w 1788845"/>
              <a:gd name="connsiteY95" fmla="*/ 1271057 h 1592634"/>
              <a:gd name="connsiteX96" fmla="*/ 28720 w 1788845"/>
              <a:gd name="connsiteY96" fmla="*/ 1251543 h 1592634"/>
              <a:gd name="connsiteX97" fmla="*/ 21176 w 1788845"/>
              <a:gd name="connsiteY97" fmla="*/ 1231876 h 1592634"/>
              <a:gd name="connsiteX98" fmla="*/ 16054 w 1788845"/>
              <a:gd name="connsiteY98" fmla="*/ 1211657 h 1592634"/>
              <a:gd name="connsiteX99" fmla="*/ 10931 w 1788845"/>
              <a:gd name="connsiteY99" fmla="*/ 1191439 h 1592634"/>
              <a:gd name="connsiteX100" fmla="*/ 7449 w 1788845"/>
              <a:gd name="connsiteY100" fmla="*/ 1170593 h 1592634"/>
              <a:gd name="connsiteX101" fmla="*/ 4824 w 1788845"/>
              <a:gd name="connsiteY101" fmla="*/ 1149041 h 1592634"/>
              <a:gd name="connsiteX102" fmla="*/ 2200 w 1788845"/>
              <a:gd name="connsiteY102" fmla="*/ 1127490 h 1592634"/>
              <a:gd name="connsiteX103" fmla="*/ 1920 w 1788845"/>
              <a:gd name="connsiteY103" fmla="*/ 1106169 h 1592634"/>
              <a:gd name="connsiteX104" fmla="*/ 0 w 1788845"/>
              <a:gd name="connsiteY104" fmla="*/ 1085475 h 1592634"/>
              <a:gd name="connsiteX105" fmla="*/ 1437 w 1788845"/>
              <a:gd name="connsiteY105" fmla="*/ 1062745 h 1592634"/>
              <a:gd name="connsiteX106" fmla="*/ 1940 w 1788845"/>
              <a:gd name="connsiteY106" fmla="*/ 1041501 h 1592634"/>
              <a:gd name="connsiteX107" fmla="*/ 4081 w 1788845"/>
              <a:gd name="connsiteY107" fmla="*/ 1019628 h 1592634"/>
              <a:gd name="connsiteX108" fmla="*/ 6376 w 1788845"/>
              <a:gd name="connsiteY108" fmla="*/ 996193 h 1592634"/>
              <a:gd name="connsiteX109" fmla="*/ 14644 w 1788845"/>
              <a:gd name="connsiteY109" fmla="*/ 952050 h 1592634"/>
              <a:gd name="connsiteX110" fmla="*/ 23924 w 1788845"/>
              <a:gd name="connsiteY110" fmla="*/ 905639 h 1592634"/>
              <a:gd name="connsiteX111" fmla="*/ 37741 w 1788845"/>
              <a:gd name="connsiteY111" fmla="*/ 861250 h 1592634"/>
              <a:gd name="connsiteX112" fmla="*/ 52569 w 1788845"/>
              <a:gd name="connsiteY112" fmla="*/ 814594 h 1592634"/>
              <a:gd name="connsiteX113" fmla="*/ 69665 w 1788845"/>
              <a:gd name="connsiteY113" fmla="*/ 768949 h 1592634"/>
              <a:gd name="connsiteX114" fmla="*/ 90669 w 1788845"/>
              <a:gd name="connsiteY114" fmla="*/ 723687 h 1592634"/>
              <a:gd name="connsiteX115" fmla="*/ 113314 w 1788845"/>
              <a:gd name="connsiteY115" fmla="*/ 677798 h 1592634"/>
              <a:gd name="connsiteX116" fmla="*/ 137445 w 1788845"/>
              <a:gd name="connsiteY116" fmla="*/ 632842 h 1592634"/>
              <a:gd name="connsiteX117" fmla="*/ 162986 w 1788845"/>
              <a:gd name="connsiteY117" fmla="*/ 589602 h 1592634"/>
              <a:gd name="connsiteX118" fmla="*/ 191807 w 1788845"/>
              <a:gd name="connsiteY118" fmla="*/ 545106 h 1592634"/>
              <a:gd name="connsiteX119" fmla="*/ 221257 w 1788845"/>
              <a:gd name="connsiteY119" fmla="*/ 502248 h 1592634"/>
              <a:gd name="connsiteX120" fmla="*/ 252193 w 1788845"/>
              <a:gd name="connsiteY120" fmla="*/ 460327 h 1592634"/>
              <a:gd name="connsiteX121" fmla="*/ 285321 w 1788845"/>
              <a:gd name="connsiteY121" fmla="*/ 420195 h 1592634"/>
              <a:gd name="connsiteX122" fmla="*/ 319231 w 1788845"/>
              <a:gd name="connsiteY122" fmla="*/ 380141 h 1592634"/>
              <a:gd name="connsiteX123" fmla="*/ 354629 w 1788845"/>
              <a:gd name="connsiteY123" fmla="*/ 341022 h 1592634"/>
              <a:gd name="connsiteX124" fmla="*/ 391359 w 1788845"/>
              <a:gd name="connsiteY124" fmla="*/ 304399 h 1592634"/>
              <a:gd name="connsiteX125" fmla="*/ 427937 w 1788845"/>
              <a:gd name="connsiteY125" fmla="*/ 269338 h 1592634"/>
              <a:gd name="connsiteX126" fmla="*/ 465219 w 1788845"/>
              <a:gd name="connsiteY126" fmla="*/ 235135 h 1592634"/>
              <a:gd name="connsiteX127" fmla="*/ 503836 w 1788845"/>
              <a:gd name="connsiteY127" fmla="*/ 203427 h 1592634"/>
              <a:gd name="connsiteX128" fmla="*/ 543082 w 1788845"/>
              <a:gd name="connsiteY128" fmla="*/ 173360 h 1592634"/>
              <a:gd name="connsiteX129" fmla="*/ 582879 w 1788845"/>
              <a:gd name="connsiteY129" fmla="*/ 145713 h 1592634"/>
              <a:gd name="connsiteX130" fmla="*/ 622524 w 1788845"/>
              <a:gd name="connsiteY130" fmla="*/ 119628 h 1592634"/>
              <a:gd name="connsiteX131" fmla="*/ 662643 w 1788845"/>
              <a:gd name="connsiteY131" fmla="*/ 96745 h 1592634"/>
              <a:gd name="connsiteX132" fmla="*/ 702458 w 1788845"/>
              <a:gd name="connsiteY132" fmla="*/ 76985 h 1592634"/>
              <a:gd name="connsiteX133" fmla="*/ 742119 w 1788845"/>
              <a:gd name="connsiteY133" fmla="*/ 58788 h 1592634"/>
              <a:gd name="connsiteX134" fmla="*/ 781475 w 1788845"/>
              <a:gd name="connsiteY134" fmla="*/ 43716 h 1592634"/>
              <a:gd name="connsiteX135" fmla="*/ 821535 w 1788845"/>
              <a:gd name="connsiteY135" fmla="*/ 29502 h 1592634"/>
              <a:gd name="connsiteX136" fmla="*/ 860432 w 1788845"/>
              <a:gd name="connsiteY136" fmla="*/ 19117 h 1592634"/>
              <a:gd name="connsiteX137" fmla="*/ 899879 w 1788845"/>
              <a:gd name="connsiteY137" fmla="*/ 11151 h 1592634"/>
              <a:gd name="connsiteX138" fmla="*/ 938317 w 1788845"/>
              <a:gd name="connsiteY138" fmla="*/ 5454 h 1592634"/>
              <a:gd name="connsiteX139" fmla="*/ 976524 w 1788845"/>
              <a:gd name="connsiteY139" fmla="*/ 2099 h 1592634"/>
              <a:gd name="connsiteX140" fmla="*/ 1013797 w 1788845"/>
              <a:gd name="connsiteY140" fmla="*/ 230 h 1592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788845" h="1592634">
                <a:moveTo>
                  <a:pt x="1051700" y="0"/>
                </a:moveTo>
                <a:lnTo>
                  <a:pt x="1089295" y="2895"/>
                </a:lnTo>
                <a:lnTo>
                  <a:pt x="1126737" y="7352"/>
                </a:lnTo>
                <a:lnTo>
                  <a:pt x="1162311" y="14781"/>
                </a:lnTo>
                <a:lnTo>
                  <a:pt x="1199371" y="23143"/>
                </a:lnTo>
                <a:lnTo>
                  <a:pt x="1233858" y="33620"/>
                </a:lnTo>
                <a:lnTo>
                  <a:pt x="1269048" y="44955"/>
                </a:lnTo>
                <a:lnTo>
                  <a:pt x="1303152" y="59337"/>
                </a:lnTo>
                <a:lnTo>
                  <a:pt x="1335539" y="75128"/>
                </a:lnTo>
                <a:lnTo>
                  <a:pt x="1368555" y="92559"/>
                </a:lnTo>
                <a:lnTo>
                  <a:pt x="1400559" y="112256"/>
                </a:lnTo>
                <a:lnTo>
                  <a:pt x="1431629" y="133440"/>
                </a:lnTo>
                <a:lnTo>
                  <a:pt x="1461135" y="154470"/>
                </a:lnTo>
                <a:lnTo>
                  <a:pt x="1490337" y="178624"/>
                </a:lnTo>
                <a:lnTo>
                  <a:pt x="1517821" y="204189"/>
                </a:lnTo>
                <a:lnTo>
                  <a:pt x="1545934" y="231392"/>
                </a:lnTo>
                <a:lnTo>
                  <a:pt x="1570767" y="259851"/>
                </a:lnTo>
                <a:lnTo>
                  <a:pt x="1596306" y="289167"/>
                </a:lnTo>
                <a:lnTo>
                  <a:pt x="1619347" y="319817"/>
                </a:lnTo>
                <a:lnTo>
                  <a:pt x="1642234" y="352028"/>
                </a:lnTo>
                <a:lnTo>
                  <a:pt x="1663406" y="385648"/>
                </a:lnTo>
                <a:lnTo>
                  <a:pt x="1683643" y="420755"/>
                </a:lnTo>
                <a:lnTo>
                  <a:pt x="1703098" y="455786"/>
                </a:lnTo>
                <a:lnTo>
                  <a:pt x="1720837" y="492225"/>
                </a:lnTo>
                <a:lnTo>
                  <a:pt x="1736782" y="530853"/>
                </a:lnTo>
                <a:lnTo>
                  <a:pt x="1751870" y="570188"/>
                </a:lnTo>
                <a:lnTo>
                  <a:pt x="1764690" y="608510"/>
                </a:lnTo>
                <a:lnTo>
                  <a:pt x="1773524" y="647232"/>
                </a:lnTo>
                <a:lnTo>
                  <a:pt x="1781577" y="685877"/>
                </a:lnTo>
                <a:lnTo>
                  <a:pt x="1786504" y="724216"/>
                </a:lnTo>
                <a:lnTo>
                  <a:pt x="1788456" y="760685"/>
                </a:lnTo>
                <a:lnTo>
                  <a:pt x="1788845" y="797002"/>
                </a:lnTo>
                <a:lnTo>
                  <a:pt x="1786032" y="833793"/>
                </a:lnTo>
                <a:lnTo>
                  <a:pt x="1782513" y="869727"/>
                </a:lnTo>
                <a:lnTo>
                  <a:pt x="1775867" y="905355"/>
                </a:lnTo>
                <a:lnTo>
                  <a:pt x="1766172" y="939895"/>
                </a:lnTo>
                <a:lnTo>
                  <a:pt x="1755770" y="973577"/>
                </a:lnTo>
                <a:lnTo>
                  <a:pt x="1743103" y="1006248"/>
                </a:lnTo>
                <a:lnTo>
                  <a:pt x="1728088" y="1038689"/>
                </a:lnTo>
                <a:lnTo>
                  <a:pt x="1712292" y="1071054"/>
                </a:lnTo>
                <a:lnTo>
                  <a:pt x="1693446" y="1102331"/>
                </a:lnTo>
                <a:lnTo>
                  <a:pt x="1673114" y="1132675"/>
                </a:lnTo>
                <a:lnTo>
                  <a:pt x="1651294" y="1162083"/>
                </a:lnTo>
                <a:lnTo>
                  <a:pt x="1628769" y="1190634"/>
                </a:lnTo>
                <a:lnTo>
                  <a:pt x="1603119" y="1218880"/>
                </a:lnTo>
                <a:lnTo>
                  <a:pt x="1576839" y="1245484"/>
                </a:lnTo>
                <a:lnTo>
                  <a:pt x="1549072" y="1271157"/>
                </a:lnTo>
                <a:lnTo>
                  <a:pt x="1520523" y="1296751"/>
                </a:lnTo>
                <a:lnTo>
                  <a:pt x="1489783" y="1320555"/>
                </a:lnTo>
                <a:lnTo>
                  <a:pt x="1457403" y="1344985"/>
                </a:lnTo>
                <a:lnTo>
                  <a:pt x="1425328" y="1366291"/>
                </a:lnTo>
                <a:lnTo>
                  <a:pt x="1390910" y="1387367"/>
                </a:lnTo>
                <a:lnTo>
                  <a:pt x="1355786" y="1407586"/>
                </a:lnTo>
                <a:lnTo>
                  <a:pt x="1319955" y="1426947"/>
                </a:lnTo>
                <a:lnTo>
                  <a:pt x="1284202" y="1445526"/>
                </a:lnTo>
                <a:lnTo>
                  <a:pt x="1245553" y="1461456"/>
                </a:lnTo>
                <a:lnTo>
                  <a:pt x="1207761" y="1476681"/>
                </a:lnTo>
                <a:lnTo>
                  <a:pt x="1168405" y="1491754"/>
                </a:lnTo>
                <a:lnTo>
                  <a:pt x="1128345" y="1505969"/>
                </a:lnTo>
                <a:lnTo>
                  <a:pt x="1088515" y="1517839"/>
                </a:lnTo>
                <a:lnTo>
                  <a:pt x="1047044" y="1530338"/>
                </a:lnTo>
                <a:lnTo>
                  <a:pt x="1004869" y="1541979"/>
                </a:lnTo>
                <a:lnTo>
                  <a:pt x="962063" y="1551982"/>
                </a:lnTo>
                <a:lnTo>
                  <a:pt x="920194" y="1560498"/>
                </a:lnTo>
                <a:lnTo>
                  <a:pt x="876684" y="1569642"/>
                </a:lnTo>
                <a:lnTo>
                  <a:pt x="834262" y="1575739"/>
                </a:lnTo>
                <a:lnTo>
                  <a:pt x="790982" y="1582539"/>
                </a:lnTo>
                <a:lnTo>
                  <a:pt x="748008" y="1586216"/>
                </a:lnTo>
                <a:lnTo>
                  <a:pt x="705033" y="1589892"/>
                </a:lnTo>
                <a:lnTo>
                  <a:pt x="662212" y="1592006"/>
                </a:lnTo>
                <a:lnTo>
                  <a:pt x="620326" y="1592634"/>
                </a:lnTo>
                <a:lnTo>
                  <a:pt x="577811" y="1591624"/>
                </a:lnTo>
                <a:lnTo>
                  <a:pt x="537012" y="1589204"/>
                </a:lnTo>
                <a:lnTo>
                  <a:pt x="497148" y="1585299"/>
                </a:lnTo>
                <a:lnTo>
                  <a:pt x="455949" y="1578897"/>
                </a:lnTo>
                <a:lnTo>
                  <a:pt x="418031" y="1571237"/>
                </a:lnTo>
                <a:lnTo>
                  <a:pt x="380190" y="1562798"/>
                </a:lnTo>
                <a:lnTo>
                  <a:pt x="343435" y="1551311"/>
                </a:lnTo>
                <a:lnTo>
                  <a:pt x="308397" y="1538414"/>
                </a:lnTo>
                <a:lnTo>
                  <a:pt x="274369" y="1523251"/>
                </a:lnTo>
                <a:lnTo>
                  <a:pt x="240573" y="1505743"/>
                </a:lnTo>
                <a:lnTo>
                  <a:pt x="209197" y="1487685"/>
                </a:lnTo>
                <a:lnTo>
                  <a:pt x="180548" y="1465950"/>
                </a:lnTo>
                <a:lnTo>
                  <a:pt x="166615" y="1455120"/>
                </a:lnTo>
                <a:lnTo>
                  <a:pt x="152835" y="1442729"/>
                </a:lnTo>
                <a:lnTo>
                  <a:pt x="139912" y="1429633"/>
                </a:lnTo>
                <a:lnTo>
                  <a:pt x="126914" y="1417319"/>
                </a:lnTo>
                <a:lnTo>
                  <a:pt x="114143" y="1402661"/>
                </a:lnTo>
                <a:lnTo>
                  <a:pt x="102080" y="1388860"/>
                </a:lnTo>
                <a:lnTo>
                  <a:pt x="90950" y="1373573"/>
                </a:lnTo>
                <a:lnTo>
                  <a:pt x="80602" y="1358364"/>
                </a:lnTo>
                <a:lnTo>
                  <a:pt x="70407" y="1341591"/>
                </a:lnTo>
                <a:lnTo>
                  <a:pt x="60136" y="1325601"/>
                </a:lnTo>
                <a:lnTo>
                  <a:pt x="51581" y="1308200"/>
                </a:lnTo>
                <a:lnTo>
                  <a:pt x="43884" y="1290095"/>
                </a:lnTo>
                <a:lnTo>
                  <a:pt x="34700" y="1271057"/>
                </a:lnTo>
                <a:lnTo>
                  <a:pt x="28720" y="1251543"/>
                </a:lnTo>
                <a:lnTo>
                  <a:pt x="21176" y="1231876"/>
                </a:lnTo>
                <a:lnTo>
                  <a:pt x="16054" y="1211657"/>
                </a:lnTo>
                <a:lnTo>
                  <a:pt x="10931" y="1191439"/>
                </a:lnTo>
                <a:lnTo>
                  <a:pt x="7449" y="1170593"/>
                </a:lnTo>
                <a:lnTo>
                  <a:pt x="4824" y="1149041"/>
                </a:lnTo>
                <a:lnTo>
                  <a:pt x="2200" y="1127490"/>
                </a:lnTo>
                <a:lnTo>
                  <a:pt x="1920" y="1106169"/>
                </a:lnTo>
                <a:lnTo>
                  <a:pt x="0" y="1085475"/>
                </a:lnTo>
                <a:lnTo>
                  <a:pt x="1437" y="1062745"/>
                </a:lnTo>
                <a:lnTo>
                  <a:pt x="1940" y="1041501"/>
                </a:lnTo>
                <a:lnTo>
                  <a:pt x="4081" y="1019628"/>
                </a:lnTo>
                <a:lnTo>
                  <a:pt x="6376" y="996193"/>
                </a:lnTo>
                <a:lnTo>
                  <a:pt x="14644" y="952050"/>
                </a:lnTo>
                <a:lnTo>
                  <a:pt x="23924" y="905639"/>
                </a:lnTo>
                <a:lnTo>
                  <a:pt x="37741" y="861250"/>
                </a:lnTo>
                <a:lnTo>
                  <a:pt x="52569" y="814594"/>
                </a:lnTo>
                <a:lnTo>
                  <a:pt x="69665" y="768949"/>
                </a:lnTo>
                <a:lnTo>
                  <a:pt x="90669" y="723687"/>
                </a:lnTo>
                <a:lnTo>
                  <a:pt x="113314" y="677798"/>
                </a:lnTo>
                <a:lnTo>
                  <a:pt x="137445" y="632842"/>
                </a:lnTo>
                <a:lnTo>
                  <a:pt x="162986" y="589602"/>
                </a:lnTo>
                <a:lnTo>
                  <a:pt x="191807" y="545106"/>
                </a:lnTo>
                <a:lnTo>
                  <a:pt x="221257" y="502248"/>
                </a:lnTo>
                <a:lnTo>
                  <a:pt x="252193" y="460327"/>
                </a:lnTo>
                <a:lnTo>
                  <a:pt x="285321" y="420195"/>
                </a:lnTo>
                <a:lnTo>
                  <a:pt x="319231" y="380141"/>
                </a:lnTo>
                <a:lnTo>
                  <a:pt x="354629" y="341022"/>
                </a:lnTo>
                <a:lnTo>
                  <a:pt x="391359" y="304399"/>
                </a:lnTo>
                <a:lnTo>
                  <a:pt x="427937" y="269338"/>
                </a:lnTo>
                <a:lnTo>
                  <a:pt x="465219" y="235135"/>
                </a:lnTo>
                <a:lnTo>
                  <a:pt x="503836" y="203427"/>
                </a:lnTo>
                <a:lnTo>
                  <a:pt x="543082" y="173360"/>
                </a:lnTo>
                <a:lnTo>
                  <a:pt x="582879" y="145713"/>
                </a:lnTo>
                <a:lnTo>
                  <a:pt x="622524" y="119628"/>
                </a:lnTo>
                <a:lnTo>
                  <a:pt x="662643" y="96745"/>
                </a:lnTo>
                <a:lnTo>
                  <a:pt x="702458" y="76985"/>
                </a:lnTo>
                <a:lnTo>
                  <a:pt x="742119" y="58788"/>
                </a:lnTo>
                <a:lnTo>
                  <a:pt x="781475" y="43716"/>
                </a:lnTo>
                <a:lnTo>
                  <a:pt x="821535" y="29502"/>
                </a:lnTo>
                <a:lnTo>
                  <a:pt x="860432" y="19117"/>
                </a:lnTo>
                <a:lnTo>
                  <a:pt x="899879" y="11151"/>
                </a:lnTo>
                <a:lnTo>
                  <a:pt x="938317" y="5454"/>
                </a:lnTo>
                <a:lnTo>
                  <a:pt x="976524" y="2099"/>
                </a:lnTo>
                <a:lnTo>
                  <a:pt x="1013797" y="23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7398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524003" y="1836500"/>
            <a:ext cx="2467016" cy="2464846"/>
          </a:xfrm>
          <a:custGeom>
            <a:avLst/>
            <a:gdLst>
              <a:gd name="connsiteX0" fmla="*/ 1233508 w 2467016"/>
              <a:gd name="connsiteY0" fmla="*/ 0 h 2464846"/>
              <a:gd name="connsiteX1" fmla="*/ 2467016 w 2467016"/>
              <a:gd name="connsiteY1" fmla="*/ 1232423 h 2464846"/>
              <a:gd name="connsiteX2" fmla="*/ 1233508 w 2467016"/>
              <a:gd name="connsiteY2" fmla="*/ 2464846 h 2464846"/>
              <a:gd name="connsiteX3" fmla="*/ 0 w 2467016"/>
              <a:gd name="connsiteY3" fmla="*/ 1232423 h 2464846"/>
              <a:gd name="connsiteX4" fmla="*/ 1233508 w 2467016"/>
              <a:gd name="connsiteY4" fmla="*/ 0 h 2464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7016" h="2464846">
                <a:moveTo>
                  <a:pt x="1233508" y="0"/>
                </a:moveTo>
                <a:cubicBezTo>
                  <a:pt x="1914756" y="0"/>
                  <a:pt x="2467016" y="551775"/>
                  <a:pt x="2467016" y="1232423"/>
                </a:cubicBezTo>
                <a:cubicBezTo>
                  <a:pt x="2467016" y="1913071"/>
                  <a:pt x="1914756" y="2464846"/>
                  <a:pt x="1233508" y="2464846"/>
                </a:cubicBezTo>
                <a:cubicBezTo>
                  <a:pt x="552260" y="2464846"/>
                  <a:pt x="0" y="1913071"/>
                  <a:pt x="0" y="1232423"/>
                </a:cubicBezTo>
                <a:cubicBezTo>
                  <a:pt x="0" y="551775"/>
                  <a:pt x="552260" y="0"/>
                  <a:pt x="123350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4862494" y="1836500"/>
            <a:ext cx="2467016" cy="2464846"/>
          </a:xfrm>
          <a:custGeom>
            <a:avLst/>
            <a:gdLst>
              <a:gd name="connsiteX0" fmla="*/ 1233508 w 2467016"/>
              <a:gd name="connsiteY0" fmla="*/ 0 h 2464846"/>
              <a:gd name="connsiteX1" fmla="*/ 2467016 w 2467016"/>
              <a:gd name="connsiteY1" fmla="*/ 1232423 h 2464846"/>
              <a:gd name="connsiteX2" fmla="*/ 1233508 w 2467016"/>
              <a:gd name="connsiteY2" fmla="*/ 2464846 h 2464846"/>
              <a:gd name="connsiteX3" fmla="*/ 0 w 2467016"/>
              <a:gd name="connsiteY3" fmla="*/ 1232423 h 2464846"/>
              <a:gd name="connsiteX4" fmla="*/ 1233508 w 2467016"/>
              <a:gd name="connsiteY4" fmla="*/ 0 h 2464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7016" h="2464846">
                <a:moveTo>
                  <a:pt x="1233508" y="0"/>
                </a:moveTo>
                <a:cubicBezTo>
                  <a:pt x="1914756" y="0"/>
                  <a:pt x="2467016" y="551775"/>
                  <a:pt x="2467016" y="1232423"/>
                </a:cubicBezTo>
                <a:cubicBezTo>
                  <a:pt x="2467016" y="1913071"/>
                  <a:pt x="1914756" y="2464846"/>
                  <a:pt x="1233508" y="2464846"/>
                </a:cubicBezTo>
                <a:cubicBezTo>
                  <a:pt x="552260" y="2464846"/>
                  <a:pt x="0" y="1913071"/>
                  <a:pt x="0" y="1232423"/>
                </a:cubicBezTo>
                <a:cubicBezTo>
                  <a:pt x="0" y="551775"/>
                  <a:pt x="552260" y="0"/>
                  <a:pt x="123350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200986" y="1836500"/>
            <a:ext cx="2467016" cy="2464846"/>
          </a:xfrm>
          <a:custGeom>
            <a:avLst/>
            <a:gdLst>
              <a:gd name="connsiteX0" fmla="*/ 1233508 w 2467016"/>
              <a:gd name="connsiteY0" fmla="*/ 0 h 2464846"/>
              <a:gd name="connsiteX1" fmla="*/ 2467016 w 2467016"/>
              <a:gd name="connsiteY1" fmla="*/ 1232423 h 2464846"/>
              <a:gd name="connsiteX2" fmla="*/ 1233508 w 2467016"/>
              <a:gd name="connsiteY2" fmla="*/ 2464846 h 2464846"/>
              <a:gd name="connsiteX3" fmla="*/ 0 w 2467016"/>
              <a:gd name="connsiteY3" fmla="*/ 1232423 h 2464846"/>
              <a:gd name="connsiteX4" fmla="*/ 1233508 w 2467016"/>
              <a:gd name="connsiteY4" fmla="*/ 0 h 2464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7016" h="2464846">
                <a:moveTo>
                  <a:pt x="1233508" y="0"/>
                </a:moveTo>
                <a:cubicBezTo>
                  <a:pt x="1914756" y="0"/>
                  <a:pt x="2467016" y="551775"/>
                  <a:pt x="2467016" y="1232423"/>
                </a:cubicBezTo>
                <a:cubicBezTo>
                  <a:pt x="2467016" y="1913071"/>
                  <a:pt x="1914756" y="2464846"/>
                  <a:pt x="1233508" y="2464846"/>
                </a:cubicBezTo>
                <a:cubicBezTo>
                  <a:pt x="552260" y="2464846"/>
                  <a:pt x="0" y="1913071"/>
                  <a:pt x="0" y="1232423"/>
                </a:cubicBezTo>
                <a:cubicBezTo>
                  <a:pt x="0" y="551775"/>
                  <a:pt x="552260" y="0"/>
                  <a:pt x="123350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9976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6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7" r:id="rId4"/>
    <p:sldLayoutId id="2147483666" r:id="rId5"/>
    <p:sldLayoutId id="2147483665" r:id="rId6"/>
    <p:sldLayoutId id="2147483664" r:id="rId7"/>
    <p:sldLayoutId id="2147483663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041193" y="3296217"/>
            <a:ext cx="6186309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rPr>
              <a:t>数据通信与网络课程项目报告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362118" y="4161770"/>
            <a:ext cx="5544458" cy="7673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14000"/>
              </a:lnSpc>
            </a:pP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答辩人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：</a:t>
            </a: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欧阳倬历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12310703</a:t>
            </a:r>
          </a:p>
          <a:p>
            <a:pPr algn="ctr">
              <a:lnSpc>
                <a:spcPct val="114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              </a:t>
            </a: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徐浚丞   </a:t>
            </a: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12312423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7673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541729" y="345691"/>
            <a:ext cx="3108543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6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汉仪趣黑W" panose="00020600040101010101" pitchFamily="18" charset="-122"/>
                <a:ea typeface="汉仪趣黑W" panose="00020600040101010101" pitchFamily="18" charset="-122"/>
              </a:rPr>
              <a:t>目   录</a:t>
            </a:r>
            <a:endParaRPr lang="zh-CN" altLang="en-US" sz="6000" dirty="0">
              <a:solidFill>
                <a:schemeClr val="tx1">
                  <a:lumMod val="65000"/>
                  <a:lumOff val="35000"/>
                </a:schemeClr>
              </a:solidFill>
              <a:latin typeface="汉仪趣黑W" panose="00020600040101010101" pitchFamily="18" charset="-122"/>
              <a:ea typeface="汉仪趣黑W" panose="00020600040101010101" pitchFamily="18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5610225" y="1695743"/>
            <a:ext cx="4794684" cy="904863"/>
            <a:chOff x="5610225" y="1750228"/>
            <a:chExt cx="4367423" cy="904863"/>
          </a:xfrm>
        </p:grpSpPr>
        <p:grpSp>
          <p:nvGrpSpPr>
            <p:cNvPr id="5" name="组合 4"/>
            <p:cNvGrpSpPr/>
            <p:nvPr/>
          </p:nvGrpSpPr>
          <p:grpSpPr>
            <a:xfrm>
              <a:off x="5610225" y="1750228"/>
              <a:ext cx="4027421" cy="904863"/>
              <a:chOff x="34279" y="2179064"/>
              <a:chExt cx="5265673" cy="1183070"/>
            </a:xfrm>
          </p:grpSpPr>
          <p:sp>
            <p:nvSpPr>
              <p:cNvPr id="3" name="文本框 2"/>
              <p:cNvSpPr txBox="1"/>
              <p:nvPr/>
            </p:nvSpPr>
            <p:spPr>
              <a:xfrm>
                <a:off x="1347426" y="2419785"/>
                <a:ext cx="3952526" cy="70018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2400" b="1">
                    <a:solidFill>
                      <a:srgbClr val="1C75BC"/>
                    </a:solidFill>
                    <a:latin typeface="迷你简准圆" panose="03000509000000000000" pitchFamily="65" charset="-122"/>
                    <a:ea typeface="迷你简准圆" panose="03000509000000000000" pitchFamily="65" charset="-122"/>
                  </a:defRPr>
                </a:lvl1pPr>
              </a:lstStyle>
              <a:p>
                <a:pPr algn="l"/>
                <a:r>
                  <a:rPr lang="zh-CN" altLang="en-US" b="0" dirty="0" smtClean="0">
                    <a:latin typeface="汉仪趣黑W" panose="00020600040101010101" pitchFamily="18" charset="-122"/>
                    <a:ea typeface="汉仪趣黑W" panose="00020600040101010101" pitchFamily="18" charset="-122"/>
                  </a:rPr>
                  <a:t>项目概述</a:t>
                </a:r>
                <a:endParaRPr lang="zh-CN" altLang="en-US" b="0" dirty="0">
                  <a:latin typeface="汉仪趣黑W" panose="00020600040101010101" pitchFamily="18" charset="-122"/>
                  <a:ea typeface="汉仪趣黑W" panose="00020600040101010101" pitchFamily="18" charset="-122"/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34279" y="2179064"/>
                <a:ext cx="1323316" cy="1183070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2400" b="1">
                    <a:solidFill>
                      <a:srgbClr val="1C75BC"/>
                    </a:solidFill>
                    <a:latin typeface="迷你简准圆" panose="03000509000000000000" pitchFamily="65" charset="-122"/>
                    <a:ea typeface="迷你简准圆" panose="03000509000000000000" pitchFamily="65" charset="-122"/>
                  </a:defRPr>
                </a:lvl1pPr>
              </a:lstStyle>
              <a:p>
                <a:pPr algn="r"/>
                <a:r>
                  <a:rPr lang="en-US" altLang="zh-CN" sz="4400" b="0" dirty="0" smtClean="0">
                    <a:latin typeface="汉仪趣黑W" panose="00020600040101010101" pitchFamily="18" charset="-122"/>
                    <a:ea typeface="汉仪趣黑W" panose="00020600040101010101" pitchFamily="18" charset="-122"/>
                  </a:rPr>
                  <a:t>01.</a:t>
                </a:r>
                <a:endParaRPr lang="zh-CN" altLang="en-US" sz="4400" b="0" dirty="0">
                  <a:latin typeface="汉仪趣黑W" panose="00020600040101010101" pitchFamily="18" charset="-122"/>
                  <a:ea typeface="汉仪趣黑W" panose="00020600040101010101" pitchFamily="18" charset="-122"/>
                </a:endParaRPr>
              </a:p>
            </p:txBody>
          </p:sp>
        </p:grpSp>
        <p:sp>
          <p:nvSpPr>
            <p:cNvPr id="11" name="任意多边形 10"/>
            <p:cNvSpPr/>
            <p:nvPr/>
          </p:nvSpPr>
          <p:spPr>
            <a:xfrm>
              <a:off x="5682778" y="1941072"/>
              <a:ext cx="4294870" cy="578221"/>
            </a:xfrm>
            <a:custGeom>
              <a:avLst/>
              <a:gdLst>
                <a:gd name="connsiteX0" fmla="*/ 128954 w 6722970"/>
                <a:gd name="connsiteY0" fmla="*/ 13620 h 837912"/>
                <a:gd name="connsiteX1" fmla="*/ 820616 w 6722970"/>
                <a:gd name="connsiteY1" fmla="*/ 1897 h 837912"/>
                <a:gd name="connsiteX2" fmla="*/ 2121877 w 6722970"/>
                <a:gd name="connsiteY2" fmla="*/ 48789 h 837912"/>
                <a:gd name="connsiteX3" fmla="*/ 3692769 w 6722970"/>
                <a:gd name="connsiteY3" fmla="*/ 13620 h 837912"/>
                <a:gd name="connsiteX4" fmla="*/ 4794739 w 6722970"/>
                <a:gd name="connsiteY4" fmla="*/ 25343 h 837912"/>
                <a:gd name="connsiteX5" fmla="*/ 6260123 w 6722970"/>
                <a:gd name="connsiteY5" fmla="*/ 25343 h 837912"/>
                <a:gd name="connsiteX6" fmla="*/ 6658708 w 6722970"/>
                <a:gd name="connsiteY6" fmla="*/ 60512 h 837912"/>
                <a:gd name="connsiteX7" fmla="*/ 6717323 w 6722970"/>
                <a:gd name="connsiteY7" fmla="*/ 423928 h 837912"/>
                <a:gd name="connsiteX8" fmla="*/ 6682154 w 6722970"/>
                <a:gd name="connsiteY8" fmla="*/ 775620 h 837912"/>
                <a:gd name="connsiteX9" fmla="*/ 6377354 w 6722970"/>
                <a:gd name="connsiteY9" fmla="*/ 787343 h 837912"/>
                <a:gd name="connsiteX10" fmla="*/ 5638800 w 6722970"/>
                <a:gd name="connsiteY10" fmla="*/ 822512 h 837912"/>
                <a:gd name="connsiteX11" fmla="*/ 4806462 w 6722970"/>
                <a:gd name="connsiteY11" fmla="*/ 810789 h 837912"/>
                <a:gd name="connsiteX12" fmla="*/ 3528646 w 6722970"/>
                <a:gd name="connsiteY12" fmla="*/ 810789 h 837912"/>
                <a:gd name="connsiteX13" fmla="*/ 2602523 w 6722970"/>
                <a:gd name="connsiteY13" fmla="*/ 799066 h 837912"/>
                <a:gd name="connsiteX14" fmla="*/ 1559169 w 6722970"/>
                <a:gd name="connsiteY14" fmla="*/ 822512 h 837912"/>
                <a:gd name="connsiteX15" fmla="*/ 269631 w 6722970"/>
                <a:gd name="connsiteY15" fmla="*/ 834235 h 837912"/>
                <a:gd name="connsiteX16" fmla="*/ 46893 w 6722970"/>
                <a:gd name="connsiteY16" fmla="*/ 822512 h 837912"/>
                <a:gd name="connsiteX17" fmla="*/ 11723 w 6722970"/>
                <a:gd name="connsiteY17" fmla="*/ 681835 h 837912"/>
                <a:gd name="connsiteX18" fmla="*/ 0 w 6722970"/>
                <a:gd name="connsiteY18" fmla="*/ 365312 h 837912"/>
                <a:gd name="connsiteX19" fmla="*/ 11723 w 6722970"/>
                <a:gd name="connsiteY19" fmla="*/ 83959 h 837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722970" h="837912">
                  <a:moveTo>
                    <a:pt x="128954" y="13620"/>
                  </a:moveTo>
                  <a:cubicBezTo>
                    <a:pt x="308708" y="4828"/>
                    <a:pt x="488462" y="-3964"/>
                    <a:pt x="820616" y="1897"/>
                  </a:cubicBezTo>
                  <a:cubicBezTo>
                    <a:pt x="1152770" y="7758"/>
                    <a:pt x="1643185" y="46835"/>
                    <a:pt x="2121877" y="48789"/>
                  </a:cubicBezTo>
                  <a:cubicBezTo>
                    <a:pt x="2600569" y="50743"/>
                    <a:pt x="3692769" y="13620"/>
                    <a:pt x="3692769" y="13620"/>
                  </a:cubicBezTo>
                  <a:lnTo>
                    <a:pt x="4794739" y="25343"/>
                  </a:lnTo>
                  <a:lnTo>
                    <a:pt x="6260123" y="25343"/>
                  </a:lnTo>
                  <a:cubicBezTo>
                    <a:pt x="6570785" y="31205"/>
                    <a:pt x="6582508" y="-5919"/>
                    <a:pt x="6658708" y="60512"/>
                  </a:cubicBezTo>
                  <a:cubicBezTo>
                    <a:pt x="6734908" y="126943"/>
                    <a:pt x="6713415" y="304743"/>
                    <a:pt x="6717323" y="423928"/>
                  </a:cubicBezTo>
                  <a:cubicBezTo>
                    <a:pt x="6721231" y="543113"/>
                    <a:pt x="6738815" y="715051"/>
                    <a:pt x="6682154" y="775620"/>
                  </a:cubicBezTo>
                  <a:cubicBezTo>
                    <a:pt x="6625493" y="836189"/>
                    <a:pt x="6377354" y="787343"/>
                    <a:pt x="6377354" y="787343"/>
                  </a:cubicBezTo>
                  <a:lnTo>
                    <a:pt x="5638800" y="822512"/>
                  </a:lnTo>
                  <a:lnTo>
                    <a:pt x="4806462" y="810789"/>
                  </a:lnTo>
                  <a:lnTo>
                    <a:pt x="3528646" y="810789"/>
                  </a:lnTo>
                  <a:cubicBezTo>
                    <a:pt x="3161323" y="808835"/>
                    <a:pt x="2930769" y="797112"/>
                    <a:pt x="2602523" y="799066"/>
                  </a:cubicBezTo>
                  <a:cubicBezTo>
                    <a:pt x="2274277" y="801020"/>
                    <a:pt x="1559169" y="822512"/>
                    <a:pt x="1559169" y="822512"/>
                  </a:cubicBezTo>
                  <a:lnTo>
                    <a:pt x="269631" y="834235"/>
                  </a:lnTo>
                  <a:cubicBezTo>
                    <a:pt x="17585" y="834235"/>
                    <a:pt x="89878" y="847912"/>
                    <a:pt x="46893" y="822512"/>
                  </a:cubicBezTo>
                  <a:cubicBezTo>
                    <a:pt x="3908" y="797112"/>
                    <a:pt x="19538" y="758035"/>
                    <a:pt x="11723" y="681835"/>
                  </a:cubicBezTo>
                  <a:cubicBezTo>
                    <a:pt x="3907" y="605635"/>
                    <a:pt x="0" y="464958"/>
                    <a:pt x="0" y="365312"/>
                  </a:cubicBezTo>
                  <a:cubicBezTo>
                    <a:pt x="0" y="265666"/>
                    <a:pt x="5861" y="174812"/>
                    <a:pt x="11723" y="83959"/>
                  </a:cubicBezTo>
                </a:path>
              </a:pathLst>
            </a:custGeom>
            <a:noFill/>
            <a:ln w="25400">
              <a:solidFill>
                <a:srgbClr val="1C75BC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91" y="2291050"/>
            <a:ext cx="3473110" cy="3278131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5610225" y="2674512"/>
            <a:ext cx="4794684" cy="859018"/>
            <a:chOff x="5610225" y="1750227"/>
            <a:chExt cx="4367423" cy="859018"/>
          </a:xfrm>
        </p:grpSpPr>
        <p:grpSp>
          <p:nvGrpSpPr>
            <p:cNvPr id="36" name="组合 35"/>
            <p:cNvGrpSpPr/>
            <p:nvPr/>
          </p:nvGrpSpPr>
          <p:grpSpPr>
            <a:xfrm>
              <a:off x="5610225" y="1750227"/>
              <a:ext cx="4027421" cy="859018"/>
              <a:chOff x="34279" y="2179064"/>
              <a:chExt cx="5265673" cy="1123130"/>
            </a:xfrm>
          </p:grpSpPr>
          <p:sp>
            <p:nvSpPr>
              <p:cNvPr id="38" name="文本框 37"/>
              <p:cNvSpPr txBox="1"/>
              <p:nvPr/>
            </p:nvSpPr>
            <p:spPr>
              <a:xfrm>
                <a:off x="1347426" y="2419785"/>
                <a:ext cx="3952526" cy="70018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2400" b="1">
                    <a:solidFill>
                      <a:srgbClr val="1C75BC"/>
                    </a:solidFill>
                    <a:latin typeface="迷你简准圆" panose="03000509000000000000" pitchFamily="65" charset="-122"/>
                    <a:ea typeface="迷你简准圆" panose="03000509000000000000" pitchFamily="65" charset="-122"/>
                  </a:defRPr>
                </a:lvl1pPr>
              </a:lstStyle>
              <a:p>
                <a:pPr algn="l"/>
                <a:r>
                  <a:rPr lang="en-US" altLang="zh-CN" b="0" dirty="0" smtClean="0">
                    <a:latin typeface="汉仪趣黑W" panose="00020600040101010101" pitchFamily="18" charset="-122"/>
                    <a:ea typeface="汉仪趣黑W" panose="00020600040101010101" pitchFamily="18" charset="-122"/>
                  </a:rPr>
                  <a:t>Level 1 </a:t>
                </a:r>
                <a:r>
                  <a:rPr lang="zh-CN" altLang="en-US" b="0" dirty="0" smtClean="0">
                    <a:latin typeface="汉仪趣黑W" panose="00020600040101010101" pitchFamily="18" charset="-122"/>
                    <a:ea typeface="汉仪趣黑W" panose="00020600040101010101" pitchFamily="18" charset="-122"/>
                  </a:rPr>
                  <a:t>点对点通信</a:t>
                </a:r>
                <a:endParaRPr lang="zh-CN" altLang="en-US" b="0" dirty="0">
                  <a:latin typeface="汉仪趣黑W" panose="00020600040101010101" pitchFamily="18" charset="-122"/>
                  <a:ea typeface="汉仪趣黑W" panose="00020600040101010101" pitchFamily="18" charset="-122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34279" y="2179064"/>
                <a:ext cx="1323316" cy="1123130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2400" b="1">
                    <a:solidFill>
                      <a:srgbClr val="1C75BC"/>
                    </a:solidFill>
                    <a:latin typeface="迷你简准圆" panose="03000509000000000000" pitchFamily="65" charset="-122"/>
                    <a:ea typeface="迷你简准圆" panose="03000509000000000000" pitchFamily="65" charset="-122"/>
                  </a:defRPr>
                </a:lvl1pPr>
              </a:lstStyle>
              <a:p>
                <a:pPr algn="r"/>
                <a:r>
                  <a:rPr lang="en-US" altLang="zh-CN" sz="4400" b="0" dirty="0" smtClean="0">
                    <a:latin typeface="汉仪趣黑W" panose="00020600040101010101" pitchFamily="18" charset="-122"/>
                    <a:ea typeface="汉仪趣黑W" panose="00020600040101010101" pitchFamily="18" charset="-122"/>
                  </a:rPr>
                  <a:t>02.</a:t>
                </a:r>
                <a:endParaRPr lang="zh-CN" altLang="en-US" sz="4400" b="0" dirty="0">
                  <a:latin typeface="汉仪趣黑W" panose="00020600040101010101" pitchFamily="18" charset="-122"/>
                  <a:ea typeface="汉仪趣黑W" panose="00020600040101010101" pitchFamily="18" charset="-122"/>
                </a:endParaRPr>
              </a:p>
            </p:txBody>
          </p:sp>
        </p:grpSp>
        <p:sp>
          <p:nvSpPr>
            <p:cNvPr id="37" name="任意多边形 36"/>
            <p:cNvSpPr/>
            <p:nvPr/>
          </p:nvSpPr>
          <p:spPr>
            <a:xfrm>
              <a:off x="5682778" y="1941072"/>
              <a:ext cx="4294870" cy="578221"/>
            </a:xfrm>
            <a:custGeom>
              <a:avLst/>
              <a:gdLst>
                <a:gd name="connsiteX0" fmla="*/ 128954 w 6722970"/>
                <a:gd name="connsiteY0" fmla="*/ 13620 h 837912"/>
                <a:gd name="connsiteX1" fmla="*/ 820616 w 6722970"/>
                <a:gd name="connsiteY1" fmla="*/ 1897 h 837912"/>
                <a:gd name="connsiteX2" fmla="*/ 2121877 w 6722970"/>
                <a:gd name="connsiteY2" fmla="*/ 48789 h 837912"/>
                <a:gd name="connsiteX3" fmla="*/ 3692769 w 6722970"/>
                <a:gd name="connsiteY3" fmla="*/ 13620 h 837912"/>
                <a:gd name="connsiteX4" fmla="*/ 4794739 w 6722970"/>
                <a:gd name="connsiteY4" fmla="*/ 25343 h 837912"/>
                <a:gd name="connsiteX5" fmla="*/ 6260123 w 6722970"/>
                <a:gd name="connsiteY5" fmla="*/ 25343 h 837912"/>
                <a:gd name="connsiteX6" fmla="*/ 6658708 w 6722970"/>
                <a:gd name="connsiteY6" fmla="*/ 60512 h 837912"/>
                <a:gd name="connsiteX7" fmla="*/ 6717323 w 6722970"/>
                <a:gd name="connsiteY7" fmla="*/ 423928 h 837912"/>
                <a:gd name="connsiteX8" fmla="*/ 6682154 w 6722970"/>
                <a:gd name="connsiteY8" fmla="*/ 775620 h 837912"/>
                <a:gd name="connsiteX9" fmla="*/ 6377354 w 6722970"/>
                <a:gd name="connsiteY9" fmla="*/ 787343 h 837912"/>
                <a:gd name="connsiteX10" fmla="*/ 5638800 w 6722970"/>
                <a:gd name="connsiteY10" fmla="*/ 822512 h 837912"/>
                <a:gd name="connsiteX11" fmla="*/ 4806462 w 6722970"/>
                <a:gd name="connsiteY11" fmla="*/ 810789 h 837912"/>
                <a:gd name="connsiteX12" fmla="*/ 3528646 w 6722970"/>
                <a:gd name="connsiteY12" fmla="*/ 810789 h 837912"/>
                <a:gd name="connsiteX13" fmla="*/ 2602523 w 6722970"/>
                <a:gd name="connsiteY13" fmla="*/ 799066 h 837912"/>
                <a:gd name="connsiteX14" fmla="*/ 1559169 w 6722970"/>
                <a:gd name="connsiteY14" fmla="*/ 822512 h 837912"/>
                <a:gd name="connsiteX15" fmla="*/ 269631 w 6722970"/>
                <a:gd name="connsiteY15" fmla="*/ 834235 h 837912"/>
                <a:gd name="connsiteX16" fmla="*/ 46893 w 6722970"/>
                <a:gd name="connsiteY16" fmla="*/ 822512 h 837912"/>
                <a:gd name="connsiteX17" fmla="*/ 11723 w 6722970"/>
                <a:gd name="connsiteY17" fmla="*/ 681835 h 837912"/>
                <a:gd name="connsiteX18" fmla="*/ 0 w 6722970"/>
                <a:gd name="connsiteY18" fmla="*/ 365312 h 837912"/>
                <a:gd name="connsiteX19" fmla="*/ 11723 w 6722970"/>
                <a:gd name="connsiteY19" fmla="*/ 83959 h 837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722970" h="837912">
                  <a:moveTo>
                    <a:pt x="128954" y="13620"/>
                  </a:moveTo>
                  <a:cubicBezTo>
                    <a:pt x="308708" y="4828"/>
                    <a:pt x="488462" y="-3964"/>
                    <a:pt x="820616" y="1897"/>
                  </a:cubicBezTo>
                  <a:cubicBezTo>
                    <a:pt x="1152770" y="7758"/>
                    <a:pt x="1643185" y="46835"/>
                    <a:pt x="2121877" y="48789"/>
                  </a:cubicBezTo>
                  <a:cubicBezTo>
                    <a:pt x="2600569" y="50743"/>
                    <a:pt x="3692769" y="13620"/>
                    <a:pt x="3692769" y="13620"/>
                  </a:cubicBezTo>
                  <a:lnTo>
                    <a:pt x="4794739" y="25343"/>
                  </a:lnTo>
                  <a:lnTo>
                    <a:pt x="6260123" y="25343"/>
                  </a:lnTo>
                  <a:cubicBezTo>
                    <a:pt x="6570785" y="31205"/>
                    <a:pt x="6582508" y="-5919"/>
                    <a:pt x="6658708" y="60512"/>
                  </a:cubicBezTo>
                  <a:cubicBezTo>
                    <a:pt x="6734908" y="126943"/>
                    <a:pt x="6713415" y="304743"/>
                    <a:pt x="6717323" y="423928"/>
                  </a:cubicBezTo>
                  <a:cubicBezTo>
                    <a:pt x="6721231" y="543113"/>
                    <a:pt x="6738815" y="715051"/>
                    <a:pt x="6682154" y="775620"/>
                  </a:cubicBezTo>
                  <a:cubicBezTo>
                    <a:pt x="6625493" y="836189"/>
                    <a:pt x="6377354" y="787343"/>
                    <a:pt x="6377354" y="787343"/>
                  </a:cubicBezTo>
                  <a:lnTo>
                    <a:pt x="5638800" y="822512"/>
                  </a:lnTo>
                  <a:lnTo>
                    <a:pt x="4806462" y="810789"/>
                  </a:lnTo>
                  <a:lnTo>
                    <a:pt x="3528646" y="810789"/>
                  </a:lnTo>
                  <a:cubicBezTo>
                    <a:pt x="3161323" y="808835"/>
                    <a:pt x="2930769" y="797112"/>
                    <a:pt x="2602523" y="799066"/>
                  </a:cubicBezTo>
                  <a:cubicBezTo>
                    <a:pt x="2274277" y="801020"/>
                    <a:pt x="1559169" y="822512"/>
                    <a:pt x="1559169" y="822512"/>
                  </a:cubicBezTo>
                  <a:lnTo>
                    <a:pt x="269631" y="834235"/>
                  </a:lnTo>
                  <a:cubicBezTo>
                    <a:pt x="17585" y="834235"/>
                    <a:pt x="89878" y="847912"/>
                    <a:pt x="46893" y="822512"/>
                  </a:cubicBezTo>
                  <a:cubicBezTo>
                    <a:pt x="3908" y="797112"/>
                    <a:pt x="19538" y="758035"/>
                    <a:pt x="11723" y="681835"/>
                  </a:cubicBezTo>
                  <a:cubicBezTo>
                    <a:pt x="3907" y="605635"/>
                    <a:pt x="0" y="464958"/>
                    <a:pt x="0" y="365312"/>
                  </a:cubicBezTo>
                  <a:cubicBezTo>
                    <a:pt x="0" y="265666"/>
                    <a:pt x="5861" y="174812"/>
                    <a:pt x="11723" y="83959"/>
                  </a:cubicBezTo>
                </a:path>
              </a:pathLst>
            </a:custGeom>
            <a:noFill/>
            <a:ln w="25400">
              <a:solidFill>
                <a:srgbClr val="1C75BC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5610225" y="3653282"/>
            <a:ext cx="4794684" cy="859018"/>
            <a:chOff x="5610225" y="1750227"/>
            <a:chExt cx="4367423" cy="859018"/>
          </a:xfrm>
        </p:grpSpPr>
        <p:grpSp>
          <p:nvGrpSpPr>
            <p:cNvPr id="42" name="组合 41"/>
            <p:cNvGrpSpPr/>
            <p:nvPr/>
          </p:nvGrpSpPr>
          <p:grpSpPr>
            <a:xfrm>
              <a:off x="5610225" y="1750227"/>
              <a:ext cx="4027421" cy="859018"/>
              <a:chOff x="34279" y="2179064"/>
              <a:chExt cx="5265673" cy="1123130"/>
            </a:xfrm>
          </p:grpSpPr>
          <p:sp>
            <p:nvSpPr>
              <p:cNvPr id="44" name="文本框 43"/>
              <p:cNvSpPr txBox="1"/>
              <p:nvPr/>
            </p:nvSpPr>
            <p:spPr>
              <a:xfrm>
                <a:off x="1347426" y="2419785"/>
                <a:ext cx="3952526" cy="70018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2400" b="1">
                    <a:solidFill>
                      <a:srgbClr val="1C75BC"/>
                    </a:solidFill>
                    <a:latin typeface="迷你简准圆" panose="03000509000000000000" pitchFamily="65" charset="-122"/>
                    <a:ea typeface="迷你简准圆" panose="03000509000000000000" pitchFamily="65" charset="-122"/>
                  </a:defRPr>
                </a:lvl1pPr>
              </a:lstStyle>
              <a:p>
                <a:pPr algn="l"/>
                <a:r>
                  <a:rPr lang="en-US" altLang="zh-CN" b="0" dirty="0" smtClean="0">
                    <a:latin typeface="汉仪趣黑W" panose="00020600040101010101" pitchFamily="18" charset="-122"/>
                    <a:ea typeface="汉仪趣黑W" panose="00020600040101010101" pitchFamily="18" charset="-122"/>
                  </a:rPr>
                  <a:t>Level 2 </a:t>
                </a:r>
                <a:r>
                  <a:rPr lang="zh-CN" altLang="en-US" b="0" dirty="0" smtClean="0">
                    <a:latin typeface="汉仪趣黑W" panose="00020600040101010101" pitchFamily="18" charset="-122"/>
                    <a:ea typeface="汉仪趣黑W" panose="00020600040101010101" pitchFamily="18" charset="-122"/>
                  </a:rPr>
                  <a:t>多主机通信</a:t>
                </a:r>
                <a:endParaRPr lang="zh-CN" altLang="en-US" b="0" dirty="0">
                  <a:latin typeface="汉仪趣黑W" panose="00020600040101010101" pitchFamily="18" charset="-122"/>
                  <a:ea typeface="汉仪趣黑W" panose="00020600040101010101" pitchFamily="18" charset="-122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34279" y="2179064"/>
                <a:ext cx="1323316" cy="1123130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2400" b="1">
                    <a:solidFill>
                      <a:srgbClr val="1C75BC"/>
                    </a:solidFill>
                    <a:latin typeface="迷你简准圆" panose="03000509000000000000" pitchFamily="65" charset="-122"/>
                    <a:ea typeface="迷你简准圆" panose="03000509000000000000" pitchFamily="65" charset="-122"/>
                  </a:defRPr>
                </a:lvl1pPr>
              </a:lstStyle>
              <a:p>
                <a:pPr algn="r"/>
                <a:r>
                  <a:rPr lang="en-US" altLang="zh-CN" sz="4400" b="0" dirty="0" smtClean="0">
                    <a:latin typeface="汉仪趣黑W" panose="00020600040101010101" pitchFamily="18" charset="-122"/>
                    <a:ea typeface="汉仪趣黑W" panose="00020600040101010101" pitchFamily="18" charset="-122"/>
                  </a:rPr>
                  <a:t>03.</a:t>
                </a:r>
                <a:endParaRPr lang="zh-CN" altLang="en-US" sz="4400" b="0" dirty="0">
                  <a:latin typeface="汉仪趣黑W" panose="00020600040101010101" pitchFamily="18" charset="-122"/>
                  <a:ea typeface="汉仪趣黑W" panose="00020600040101010101" pitchFamily="18" charset="-122"/>
                </a:endParaRPr>
              </a:p>
            </p:txBody>
          </p:sp>
        </p:grpSp>
        <p:sp>
          <p:nvSpPr>
            <p:cNvPr id="43" name="任意多边形 42"/>
            <p:cNvSpPr/>
            <p:nvPr/>
          </p:nvSpPr>
          <p:spPr>
            <a:xfrm>
              <a:off x="5682778" y="1941072"/>
              <a:ext cx="4294870" cy="578221"/>
            </a:xfrm>
            <a:custGeom>
              <a:avLst/>
              <a:gdLst>
                <a:gd name="connsiteX0" fmla="*/ 128954 w 6722970"/>
                <a:gd name="connsiteY0" fmla="*/ 13620 h 837912"/>
                <a:gd name="connsiteX1" fmla="*/ 820616 w 6722970"/>
                <a:gd name="connsiteY1" fmla="*/ 1897 h 837912"/>
                <a:gd name="connsiteX2" fmla="*/ 2121877 w 6722970"/>
                <a:gd name="connsiteY2" fmla="*/ 48789 h 837912"/>
                <a:gd name="connsiteX3" fmla="*/ 3692769 w 6722970"/>
                <a:gd name="connsiteY3" fmla="*/ 13620 h 837912"/>
                <a:gd name="connsiteX4" fmla="*/ 4794739 w 6722970"/>
                <a:gd name="connsiteY4" fmla="*/ 25343 h 837912"/>
                <a:gd name="connsiteX5" fmla="*/ 6260123 w 6722970"/>
                <a:gd name="connsiteY5" fmla="*/ 25343 h 837912"/>
                <a:gd name="connsiteX6" fmla="*/ 6658708 w 6722970"/>
                <a:gd name="connsiteY6" fmla="*/ 60512 h 837912"/>
                <a:gd name="connsiteX7" fmla="*/ 6717323 w 6722970"/>
                <a:gd name="connsiteY7" fmla="*/ 423928 h 837912"/>
                <a:gd name="connsiteX8" fmla="*/ 6682154 w 6722970"/>
                <a:gd name="connsiteY8" fmla="*/ 775620 h 837912"/>
                <a:gd name="connsiteX9" fmla="*/ 6377354 w 6722970"/>
                <a:gd name="connsiteY9" fmla="*/ 787343 h 837912"/>
                <a:gd name="connsiteX10" fmla="*/ 5638800 w 6722970"/>
                <a:gd name="connsiteY10" fmla="*/ 822512 h 837912"/>
                <a:gd name="connsiteX11" fmla="*/ 4806462 w 6722970"/>
                <a:gd name="connsiteY11" fmla="*/ 810789 h 837912"/>
                <a:gd name="connsiteX12" fmla="*/ 3528646 w 6722970"/>
                <a:gd name="connsiteY12" fmla="*/ 810789 h 837912"/>
                <a:gd name="connsiteX13" fmla="*/ 2602523 w 6722970"/>
                <a:gd name="connsiteY13" fmla="*/ 799066 h 837912"/>
                <a:gd name="connsiteX14" fmla="*/ 1559169 w 6722970"/>
                <a:gd name="connsiteY14" fmla="*/ 822512 h 837912"/>
                <a:gd name="connsiteX15" fmla="*/ 269631 w 6722970"/>
                <a:gd name="connsiteY15" fmla="*/ 834235 h 837912"/>
                <a:gd name="connsiteX16" fmla="*/ 46893 w 6722970"/>
                <a:gd name="connsiteY16" fmla="*/ 822512 h 837912"/>
                <a:gd name="connsiteX17" fmla="*/ 11723 w 6722970"/>
                <a:gd name="connsiteY17" fmla="*/ 681835 h 837912"/>
                <a:gd name="connsiteX18" fmla="*/ 0 w 6722970"/>
                <a:gd name="connsiteY18" fmla="*/ 365312 h 837912"/>
                <a:gd name="connsiteX19" fmla="*/ 11723 w 6722970"/>
                <a:gd name="connsiteY19" fmla="*/ 83959 h 837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722970" h="837912">
                  <a:moveTo>
                    <a:pt x="128954" y="13620"/>
                  </a:moveTo>
                  <a:cubicBezTo>
                    <a:pt x="308708" y="4828"/>
                    <a:pt x="488462" y="-3964"/>
                    <a:pt x="820616" y="1897"/>
                  </a:cubicBezTo>
                  <a:cubicBezTo>
                    <a:pt x="1152770" y="7758"/>
                    <a:pt x="1643185" y="46835"/>
                    <a:pt x="2121877" y="48789"/>
                  </a:cubicBezTo>
                  <a:cubicBezTo>
                    <a:pt x="2600569" y="50743"/>
                    <a:pt x="3692769" y="13620"/>
                    <a:pt x="3692769" y="13620"/>
                  </a:cubicBezTo>
                  <a:lnTo>
                    <a:pt x="4794739" y="25343"/>
                  </a:lnTo>
                  <a:lnTo>
                    <a:pt x="6260123" y="25343"/>
                  </a:lnTo>
                  <a:cubicBezTo>
                    <a:pt x="6570785" y="31205"/>
                    <a:pt x="6582508" y="-5919"/>
                    <a:pt x="6658708" y="60512"/>
                  </a:cubicBezTo>
                  <a:cubicBezTo>
                    <a:pt x="6734908" y="126943"/>
                    <a:pt x="6713415" y="304743"/>
                    <a:pt x="6717323" y="423928"/>
                  </a:cubicBezTo>
                  <a:cubicBezTo>
                    <a:pt x="6721231" y="543113"/>
                    <a:pt x="6738815" y="715051"/>
                    <a:pt x="6682154" y="775620"/>
                  </a:cubicBezTo>
                  <a:cubicBezTo>
                    <a:pt x="6625493" y="836189"/>
                    <a:pt x="6377354" y="787343"/>
                    <a:pt x="6377354" y="787343"/>
                  </a:cubicBezTo>
                  <a:lnTo>
                    <a:pt x="5638800" y="822512"/>
                  </a:lnTo>
                  <a:lnTo>
                    <a:pt x="4806462" y="810789"/>
                  </a:lnTo>
                  <a:lnTo>
                    <a:pt x="3528646" y="810789"/>
                  </a:lnTo>
                  <a:cubicBezTo>
                    <a:pt x="3161323" y="808835"/>
                    <a:pt x="2930769" y="797112"/>
                    <a:pt x="2602523" y="799066"/>
                  </a:cubicBezTo>
                  <a:cubicBezTo>
                    <a:pt x="2274277" y="801020"/>
                    <a:pt x="1559169" y="822512"/>
                    <a:pt x="1559169" y="822512"/>
                  </a:cubicBezTo>
                  <a:lnTo>
                    <a:pt x="269631" y="834235"/>
                  </a:lnTo>
                  <a:cubicBezTo>
                    <a:pt x="17585" y="834235"/>
                    <a:pt x="89878" y="847912"/>
                    <a:pt x="46893" y="822512"/>
                  </a:cubicBezTo>
                  <a:cubicBezTo>
                    <a:pt x="3908" y="797112"/>
                    <a:pt x="19538" y="758035"/>
                    <a:pt x="11723" y="681835"/>
                  </a:cubicBezTo>
                  <a:cubicBezTo>
                    <a:pt x="3907" y="605635"/>
                    <a:pt x="0" y="464958"/>
                    <a:pt x="0" y="365312"/>
                  </a:cubicBezTo>
                  <a:cubicBezTo>
                    <a:pt x="0" y="265666"/>
                    <a:pt x="5861" y="174812"/>
                    <a:pt x="11723" y="83959"/>
                  </a:cubicBezTo>
                </a:path>
              </a:pathLst>
            </a:custGeom>
            <a:noFill/>
            <a:ln w="25400">
              <a:solidFill>
                <a:srgbClr val="1C75BC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610225" y="4632051"/>
            <a:ext cx="4794684" cy="859018"/>
            <a:chOff x="5610225" y="1750227"/>
            <a:chExt cx="4367423" cy="859018"/>
          </a:xfrm>
        </p:grpSpPr>
        <p:grpSp>
          <p:nvGrpSpPr>
            <p:cNvPr id="48" name="组合 47"/>
            <p:cNvGrpSpPr/>
            <p:nvPr/>
          </p:nvGrpSpPr>
          <p:grpSpPr>
            <a:xfrm>
              <a:off x="5610225" y="1750227"/>
              <a:ext cx="4027421" cy="859018"/>
              <a:chOff x="34279" y="2179064"/>
              <a:chExt cx="5265673" cy="1123130"/>
            </a:xfrm>
          </p:grpSpPr>
          <p:sp>
            <p:nvSpPr>
              <p:cNvPr id="50" name="文本框 49"/>
              <p:cNvSpPr txBox="1"/>
              <p:nvPr/>
            </p:nvSpPr>
            <p:spPr>
              <a:xfrm>
                <a:off x="1347426" y="2419785"/>
                <a:ext cx="3952526" cy="70018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2400" b="1">
                    <a:solidFill>
                      <a:srgbClr val="1C75BC"/>
                    </a:solidFill>
                    <a:latin typeface="迷你简准圆" panose="03000509000000000000" pitchFamily="65" charset="-122"/>
                    <a:ea typeface="迷你简准圆" panose="03000509000000000000" pitchFamily="65" charset="-122"/>
                  </a:defRPr>
                </a:lvl1pPr>
              </a:lstStyle>
              <a:p>
                <a:pPr algn="l"/>
                <a:r>
                  <a:rPr lang="en-US" altLang="zh-CN" b="0" dirty="0" smtClean="0">
                    <a:latin typeface="汉仪趣黑W" panose="00020600040101010101" pitchFamily="18" charset="-122"/>
                    <a:ea typeface="汉仪趣黑W" panose="00020600040101010101" pitchFamily="18" charset="-122"/>
                  </a:rPr>
                  <a:t>Level 3 </a:t>
                </a:r>
                <a:r>
                  <a:rPr lang="zh-CN" altLang="en-US" b="0" dirty="0" smtClean="0">
                    <a:latin typeface="汉仪趣黑W" panose="00020600040101010101" pitchFamily="18" charset="-122"/>
                    <a:ea typeface="汉仪趣黑W" panose="00020600040101010101" pitchFamily="18" charset="-122"/>
                  </a:rPr>
                  <a:t>扩展功能</a:t>
                </a:r>
                <a:endParaRPr lang="zh-CN" altLang="en-US" b="0" dirty="0">
                  <a:latin typeface="汉仪趣黑W" panose="00020600040101010101" pitchFamily="18" charset="-122"/>
                  <a:ea typeface="汉仪趣黑W" panose="00020600040101010101" pitchFamily="18" charset="-122"/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34279" y="2179064"/>
                <a:ext cx="1323316" cy="1123130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2400" b="1">
                    <a:solidFill>
                      <a:srgbClr val="1C75BC"/>
                    </a:solidFill>
                    <a:latin typeface="迷你简准圆" panose="03000509000000000000" pitchFamily="65" charset="-122"/>
                    <a:ea typeface="迷你简准圆" panose="03000509000000000000" pitchFamily="65" charset="-122"/>
                  </a:defRPr>
                </a:lvl1pPr>
              </a:lstStyle>
              <a:p>
                <a:pPr algn="r"/>
                <a:r>
                  <a:rPr lang="en-US" altLang="zh-CN" sz="4400" b="0" dirty="0" smtClean="0">
                    <a:latin typeface="汉仪趣黑W" panose="00020600040101010101" pitchFamily="18" charset="-122"/>
                    <a:ea typeface="汉仪趣黑W" panose="00020600040101010101" pitchFamily="18" charset="-122"/>
                  </a:rPr>
                  <a:t>04.</a:t>
                </a:r>
                <a:endParaRPr lang="zh-CN" altLang="en-US" sz="4400" b="0" dirty="0">
                  <a:latin typeface="汉仪趣黑W" panose="00020600040101010101" pitchFamily="18" charset="-122"/>
                  <a:ea typeface="汉仪趣黑W" panose="00020600040101010101" pitchFamily="18" charset="-122"/>
                </a:endParaRPr>
              </a:p>
            </p:txBody>
          </p:sp>
        </p:grpSp>
        <p:sp>
          <p:nvSpPr>
            <p:cNvPr id="49" name="任意多边形 48"/>
            <p:cNvSpPr/>
            <p:nvPr/>
          </p:nvSpPr>
          <p:spPr>
            <a:xfrm>
              <a:off x="5682778" y="1941072"/>
              <a:ext cx="4294870" cy="578221"/>
            </a:xfrm>
            <a:custGeom>
              <a:avLst/>
              <a:gdLst>
                <a:gd name="connsiteX0" fmla="*/ 128954 w 6722970"/>
                <a:gd name="connsiteY0" fmla="*/ 13620 h 837912"/>
                <a:gd name="connsiteX1" fmla="*/ 820616 w 6722970"/>
                <a:gd name="connsiteY1" fmla="*/ 1897 h 837912"/>
                <a:gd name="connsiteX2" fmla="*/ 2121877 w 6722970"/>
                <a:gd name="connsiteY2" fmla="*/ 48789 h 837912"/>
                <a:gd name="connsiteX3" fmla="*/ 3692769 w 6722970"/>
                <a:gd name="connsiteY3" fmla="*/ 13620 h 837912"/>
                <a:gd name="connsiteX4" fmla="*/ 4794739 w 6722970"/>
                <a:gd name="connsiteY4" fmla="*/ 25343 h 837912"/>
                <a:gd name="connsiteX5" fmla="*/ 6260123 w 6722970"/>
                <a:gd name="connsiteY5" fmla="*/ 25343 h 837912"/>
                <a:gd name="connsiteX6" fmla="*/ 6658708 w 6722970"/>
                <a:gd name="connsiteY6" fmla="*/ 60512 h 837912"/>
                <a:gd name="connsiteX7" fmla="*/ 6717323 w 6722970"/>
                <a:gd name="connsiteY7" fmla="*/ 423928 h 837912"/>
                <a:gd name="connsiteX8" fmla="*/ 6682154 w 6722970"/>
                <a:gd name="connsiteY8" fmla="*/ 775620 h 837912"/>
                <a:gd name="connsiteX9" fmla="*/ 6377354 w 6722970"/>
                <a:gd name="connsiteY9" fmla="*/ 787343 h 837912"/>
                <a:gd name="connsiteX10" fmla="*/ 5638800 w 6722970"/>
                <a:gd name="connsiteY10" fmla="*/ 822512 h 837912"/>
                <a:gd name="connsiteX11" fmla="*/ 4806462 w 6722970"/>
                <a:gd name="connsiteY11" fmla="*/ 810789 h 837912"/>
                <a:gd name="connsiteX12" fmla="*/ 3528646 w 6722970"/>
                <a:gd name="connsiteY12" fmla="*/ 810789 h 837912"/>
                <a:gd name="connsiteX13" fmla="*/ 2602523 w 6722970"/>
                <a:gd name="connsiteY13" fmla="*/ 799066 h 837912"/>
                <a:gd name="connsiteX14" fmla="*/ 1559169 w 6722970"/>
                <a:gd name="connsiteY14" fmla="*/ 822512 h 837912"/>
                <a:gd name="connsiteX15" fmla="*/ 269631 w 6722970"/>
                <a:gd name="connsiteY15" fmla="*/ 834235 h 837912"/>
                <a:gd name="connsiteX16" fmla="*/ 46893 w 6722970"/>
                <a:gd name="connsiteY16" fmla="*/ 822512 h 837912"/>
                <a:gd name="connsiteX17" fmla="*/ 11723 w 6722970"/>
                <a:gd name="connsiteY17" fmla="*/ 681835 h 837912"/>
                <a:gd name="connsiteX18" fmla="*/ 0 w 6722970"/>
                <a:gd name="connsiteY18" fmla="*/ 365312 h 837912"/>
                <a:gd name="connsiteX19" fmla="*/ 11723 w 6722970"/>
                <a:gd name="connsiteY19" fmla="*/ 83959 h 837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722970" h="837912">
                  <a:moveTo>
                    <a:pt x="128954" y="13620"/>
                  </a:moveTo>
                  <a:cubicBezTo>
                    <a:pt x="308708" y="4828"/>
                    <a:pt x="488462" y="-3964"/>
                    <a:pt x="820616" y="1897"/>
                  </a:cubicBezTo>
                  <a:cubicBezTo>
                    <a:pt x="1152770" y="7758"/>
                    <a:pt x="1643185" y="46835"/>
                    <a:pt x="2121877" y="48789"/>
                  </a:cubicBezTo>
                  <a:cubicBezTo>
                    <a:pt x="2600569" y="50743"/>
                    <a:pt x="3692769" y="13620"/>
                    <a:pt x="3692769" y="13620"/>
                  </a:cubicBezTo>
                  <a:lnTo>
                    <a:pt x="4794739" y="25343"/>
                  </a:lnTo>
                  <a:lnTo>
                    <a:pt x="6260123" y="25343"/>
                  </a:lnTo>
                  <a:cubicBezTo>
                    <a:pt x="6570785" y="31205"/>
                    <a:pt x="6582508" y="-5919"/>
                    <a:pt x="6658708" y="60512"/>
                  </a:cubicBezTo>
                  <a:cubicBezTo>
                    <a:pt x="6734908" y="126943"/>
                    <a:pt x="6713415" y="304743"/>
                    <a:pt x="6717323" y="423928"/>
                  </a:cubicBezTo>
                  <a:cubicBezTo>
                    <a:pt x="6721231" y="543113"/>
                    <a:pt x="6738815" y="715051"/>
                    <a:pt x="6682154" y="775620"/>
                  </a:cubicBezTo>
                  <a:cubicBezTo>
                    <a:pt x="6625493" y="836189"/>
                    <a:pt x="6377354" y="787343"/>
                    <a:pt x="6377354" y="787343"/>
                  </a:cubicBezTo>
                  <a:lnTo>
                    <a:pt x="5638800" y="822512"/>
                  </a:lnTo>
                  <a:lnTo>
                    <a:pt x="4806462" y="810789"/>
                  </a:lnTo>
                  <a:lnTo>
                    <a:pt x="3528646" y="810789"/>
                  </a:lnTo>
                  <a:cubicBezTo>
                    <a:pt x="3161323" y="808835"/>
                    <a:pt x="2930769" y="797112"/>
                    <a:pt x="2602523" y="799066"/>
                  </a:cubicBezTo>
                  <a:cubicBezTo>
                    <a:pt x="2274277" y="801020"/>
                    <a:pt x="1559169" y="822512"/>
                    <a:pt x="1559169" y="822512"/>
                  </a:cubicBezTo>
                  <a:lnTo>
                    <a:pt x="269631" y="834235"/>
                  </a:lnTo>
                  <a:cubicBezTo>
                    <a:pt x="17585" y="834235"/>
                    <a:pt x="89878" y="847912"/>
                    <a:pt x="46893" y="822512"/>
                  </a:cubicBezTo>
                  <a:cubicBezTo>
                    <a:pt x="3908" y="797112"/>
                    <a:pt x="19538" y="758035"/>
                    <a:pt x="11723" y="681835"/>
                  </a:cubicBezTo>
                  <a:cubicBezTo>
                    <a:pt x="3907" y="605635"/>
                    <a:pt x="0" y="464958"/>
                    <a:pt x="0" y="365312"/>
                  </a:cubicBezTo>
                  <a:cubicBezTo>
                    <a:pt x="0" y="265666"/>
                    <a:pt x="5861" y="174812"/>
                    <a:pt x="11723" y="83959"/>
                  </a:cubicBezTo>
                </a:path>
              </a:pathLst>
            </a:custGeom>
            <a:noFill/>
            <a:ln w="25400">
              <a:solidFill>
                <a:srgbClr val="1C75BC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610225" y="5535811"/>
            <a:ext cx="4794684" cy="871008"/>
            <a:chOff x="5610225" y="1750228"/>
            <a:chExt cx="4367423" cy="871008"/>
          </a:xfrm>
        </p:grpSpPr>
        <p:grpSp>
          <p:nvGrpSpPr>
            <p:cNvPr id="29" name="组合 28"/>
            <p:cNvGrpSpPr/>
            <p:nvPr/>
          </p:nvGrpSpPr>
          <p:grpSpPr>
            <a:xfrm>
              <a:off x="5610225" y="1750228"/>
              <a:ext cx="4027421" cy="871008"/>
              <a:chOff x="34279" y="2179064"/>
              <a:chExt cx="5265673" cy="1138806"/>
            </a:xfrm>
          </p:grpSpPr>
          <p:sp>
            <p:nvSpPr>
              <p:cNvPr id="31" name="文本框 30"/>
              <p:cNvSpPr txBox="1"/>
              <p:nvPr/>
            </p:nvSpPr>
            <p:spPr>
              <a:xfrm>
                <a:off x="1347426" y="2419785"/>
                <a:ext cx="3952526" cy="700184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2400" b="1">
                    <a:solidFill>
                      <a:srgbClr val="1C75BC"/>
                    </a:solidFill>
                    <a:latin typeface="迷你简准圆" panose="03000509000000000000" pitchFamily="65" charset="-122"/>
                    <a:ea typeface="迷你简准圆" panose="03000509000000000000" pitchFamily="65" charset="-122"/>
                  </a:defRPr>
                </a:lvl1pPr>
              </a:lstStyle>
              <a:p>
                <a:pPr algn="l"/>
                <a:r>
                  <a:rPr lang="zh-CN" altLang="en-US" b="0" dirty="0" smtClean="0">
                    <a:latin typeface="汉仪趣黑W" panose="00020600040101010101" pitchFamily="18" charset="-122"/>
                    <a:ea typeface="汉仪趣黑W" panose="00020600040101010101" pitchFamily="18" charset="-122"/>
                  </a:rPr>
                  <a:t>总结与展望</a:t>
                </a:r>
                <a:endParaRPr lang="zh-CN" altLang="en-US" b="0" dirty="0">
                  <a:latin typeface="汉仪趣黑W" panose="00020600040101010101" pitchFamily="18" charset="-122"/>
                  <a:ea typeface="汉仪趣黑W" panose="00020600040101010101" pitchFamily="18" charset="-122"/>
                </a:endParaRPr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34279" y="2179064"/>
                <a:ext cx="1323316" cy="1138806"/>
              </a:xfrm>
              <a:prstGeom prst="rect">
                <a:avLst/>
              </a:prstGeom>
            </p:spPr>
            <p:txBody>
              <a:bodyPr wrap="square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zh-CN"/>
                </a:defPPr>
                <a:lvl1pPr algn="just">
                  <a:lnSpc>
                    <a:spcPct val="120000"/>
                  </a:lnSpc>
                  <a:defRPr sz="2400" b="1">
                    <a:solidFill>
                      <a:srgbClr val="1C75BC"/>
                    </a:solidFill>
                    <a:latin typeface="迷你简准圆" panose="03000509000000000000" pitchFamily="65" charset="-122"/>
                    <a:ea typeface="迷你简准圆" panose="03000509000000000000" pitchFamily="65" charset="-122"/>
                  </a:defRPr>
                </a:lvl1pPr>
              </a:lstStyle>
              <a:p>
                <a:pPr algn="r"/>
                <a:r>
                  <a:rPr lang="en-US" altLang="zh-CN" sz="4400" b="0" smtClean="0">
                    <a:latin typeface="汉仪趣黑W" panose="00020600040101010101" pitchFamily="18" charset="-122"/>
                    <a:ea typeface="汉仪趣黑W" panose="00020600040101010101" pitchFamily="18" charset="-122"/>
                  </a:rPr>
                  <a:t>05.</a:t>
                </a:r>
                <a:endParaRPr lang="zh-CN" altLang="en-US" sz="4400" b="0" dirty="0">
                  <a:latin typeface="汉仪趣黑W" panose="00020600040101010101" pitchFamily="18" charset="-122"/>
                  <a:ea typeface="汉仪趣黑W" panose="00020600040101010101" pitchFamily="18" charset="-122"/>
                </a:endParaRPr>
              </a:p>
            </p:txBody>
          </p:sp>
        </p:grpSp>
        <p:sp>
          <p:nvSpPr>
            <p:cNvPr id="30" name="任意多边形 29"/>
            <p:cNvSpPr/>
            <p:nvPr/>
          </p:nvSpPr>
          <p:spPr>
            <a:xfrm>
              <a:off x="5682778" y="1941072"/>
              <a:ext cx="4294870" cy="578221"/>
            </a:xfrm>
            <a:custGeom>
              <a:avLst/>
              <a:gdLst>
                <a:gd name="connsiteX0" fmla="*/ 128954 w 6722970"/>
                <a:gd name="connsiteY0" fmla="*/ 13620 h 837912"/>
                <a:gd name="connsiteX1" fmla="*/ 820616 w 6722970"/>
                <a:gd name="connsiteY1" fmla="*/ 1897 h 837912"/>
                <a:gd name="connsiteX2" fmla="*/ 2121877 w 6722970"/>
                <a:gd name="connsiteY2" fmla="*/ 48789 h 837912"/>
                <a:gd name="connsiteX3" fmla="*/ 3692769 w 6722970"/>
                <a:gd name="connsiteY3" fmla="*/ 13620 h 837912"/>
                <a:gd name="connsiteX4" fmla="*/ 4794739 w 6722970"/>
                <a:gd name="connsiteY4" fmla="*/ 25343 h 837912"/>
                <a:gd name="connsiteX5" fmla="*/ 6260123 w 6722970"/>
                <a:gd name="connsiteY5" fmla="*/ 25343 h 837912"/>
                <a:gd name="connsiteX6" fmla="*/ 6658708 w 6722970"/>
                <a:gd name="connsiteY6" fmla="*/ 60512 h 837912"/>
                <a:gd name="connsiteX7" fmla="*/ 6717323 w 6722970"/>
                <a:gd name="connsiteY7" fmla="*/ 423928 h 837912"/>
                <a:gd name="connsiteX8" fmla="*/ 6682154 w 6722970"/>
                <a:gd name="connsiteY8" fmla="*/ 775620 h 837912"/>
                <a:gd name="connsiteX9" fmla="*/ 6377354 w 6722970"/>
                <a:gd name="connsiteY9" fmla="*/ 787343 h 837912"/>
                <a:gd name="connsiteX10" fmla="*/ 5638800 w 6722970"/>
                <a:gd name="connsiteY10" fmla="*/ 822512 h 837912"/>
                <a:gd name="connsiteX11" fmla="*/ 4806462 w 6722970"/>
                <a:gd name="connsiteY11" fmla="*/ 810789 h 837912"/>
                <a:gd name="connsiteX12" fmla="*/ 3528646 w 6722970"/>
                <a:gd name="connsiteY12" fmla="*/ 810789 h 837912"/>
                <a:gd name="connsiteX13" fmla="*/ 2602523 w 6722970"/>
                <a:gd name="connsiteY13" fmla="*/ 799066 h 837912"/>
                <a:gd name="connsiteX14" fmla="*/ 1559169 w 6722970"/>
                <a:gd name="connsiteY14" fmla="*/ 822512 h 837912"/>
                <a:gd name="connsiteX15" fmla="*/ 269631 w 6722970"/>
                <a:gd name="connsiteY15" fmla="*/ 834235 h 837912"/>
                <a:gd name="connsiteX16" fmla="*/ 46893 w 6722970"/>
                <a:gd name="connsiteY16" fmla="*/ 822512 h 837912"/>
                <a:gd name="connsiteX17" fmla="*/ 11723 w 6722970"/>
                <a:gd name="connsiteY17" fmla="*/ 681835 h 837912"/>
                <a:gd name="connsiteX18" fmla="*/ 0 w 6722970"/>
                <a:gd name="connsiteY18" fmla="*/ 365312 h 837912"/>
                <a:gd name="connsiteX19" fmla="*/ 11723 w 6722970"/>
                <a:gd name="connsiteY19" fmla="*/ 83959 h 837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722970" h="837912">
                  <a:moveTo>
                    <a:pt x="128954" y="13620"/>
                  </a:moveTo>
                  <a:cubicBezTo>
                    <a:pt x="308708" y="4828"/>
                    <a:pt x="488462" y="-3964"/>
                    <a:pt x="820616" y="1897"/>
                  </a:cubicBezTo>
                  <a:cubicBezTo>
                    <a:pt x="1152770" y="7758"/>
                    <a:pt x="1643185" y="46835"/>
                    <a:pt x="2121877" y="48789"/>
                  </a:cubicBezTo>
                  <a:cubicBezTo>
                    <a:pt x="2600569" y="50743"/>
                    <a:pt x="3692769" y="13620"/>
                    <a:pt x="3692769" y="13620"/>
                  </a:cubicBezTo>
                  <a:lnTo>
                    <a:pt x="4794739" y="25343"/>
                  </a:lnTo>
                  <a:lnTo>
                    <a:pt x="6260123" y="25343"/>
                  </a:lnTo>
                  <a:cubicBezTo>
                    <a:pt x="6570785" y="31205"/>
                    <a:pt x="6582508" y="-5919"/>
                    <a:pt x="6658708" y="60512"/>
                  </a:cubicBezTo>
                  <a:cubicBezTo>
                    <a:pt x="6734908" y="126943"/>
                    <a:pt x="6713415" y="304743"/>
                    <a:pt x="6717323" y="423928"/>
                  </a:cubicBezTo>
                  <a:cubicBezTo>
                    <a:pt x="6721231" y="543113"/>
                    <a:pt x="6738815" y="715051"/>
                    <a:pt x="6682154" y="775620"/>
                  </a:cubicBezTo>
                  <a:cubicBezTo>
                    <a:pt x="6625493" y="836189"/>
                    <a:pt x="6377354" y="787343"/>
                    <a:pt x="6377354" y="787343"/>
                  </a:cubicBezTo>
                  <a:lnTo>
                    <a:pt x="5638800" y="822512"/>
                  </a:lnTo>
                  <a:lnTo>
                    <a:pt x="4806462" y="810789"/>
                  </a:lnTo>
                  <a:lnTo>
                    <a:pt x="3528646" y="810789"/>
                  </a:lnTo>
                  <a:cubicBezTo>
                    <a:pt x="3161323" y="808835"/>
                    <a:pt x="2930769" y="797112"/>
                    <a:pt x="2602523" y="799066"/>
                  </a:cubicBezTo>
                  <a:cubicBezTo>
                    <a:pt x="2274277" y="801020"/>
                    <a:pt x="1559169" y="822512"/>
                    <a:pt x="1559169" y="822512"/>
                  </a:cubicBezTo>
                  <a:lnTo>
                    <a:pt x="269631" y="834235"/>
                  </a:lnTo>
                  <a:cubicBezTo>
                    <a:pt x="17585" y="834235"/>
                    <a:pt x="89878" y="847912"/>
                    <a:pt x="46893" y="822512"/>
                  </a:cubicBezTo>
                  <a:cubicBezTo>
                    <a:pt x="3908" y="797112"/>
                    <a:pt x="19538" y="758035"/>
                    <a:pt x="11723" y="681835"/>
                  </a:cubicBezTo>
                  <a:cubicBezTo>
                    <a:pt x="3907" y="605635"/>
                    <a:pt x="0" y="464958"/>
                    <a:pt x="0" y="365312"/>
                  </a:cubicBezTo>
                  <a:cubicBezTo>
                    <a:pt x="0" y="265666"/>
                    <a:pt x="5861" y="174812"/>
                    <a:pt x="11723" y="83959"/>
                  </a:cubicBezTo>
                </a:path>
              </a:pathLst>
            </a:custGeom>
            <a:noFill/>
            <a:ln w="25400">
              <a:solidFill>
                <a:srgbClr val="1C75BC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258270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750"/>
                            </p:stCondLst>
                            <p:childTnLst>
                              <p:par>
                                <p:cTn id="3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250"/>
                            </p:stCondLst>
                            <p:childTnLst>
                              <p:par>
                                <p:cTn id="3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26383" t="38431"/>
          <a:stretch/>
        </p:blipFill>
        <p:spPr>
          <a:xfrm>
            <a:off x="0" y="401638"/>
            <a:ext cx="11027090" cy="54741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166257" y="1952303"/>
            <a:ext cx="5617091" cy="87004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r>
              <a:rPr lang="zh-CN" altLang="en-US" sz="4400" dirty="0" smtClean="0"/>
              <a:t>项 目 概 述</a:t>
            </a:r>
            <a:endParaRPr lang="zh-CN" altLang="en-US" sz="4400" dirty="0"/>
          </a:p>
        </p:txBody>
      </p:sp>
      <p:sp>
        <p:nvSpPr>
          <p:cNvPr id="9" name="文本框 8"/>
          <p:cNvSpPr txBox="1"/>
          <p:nvPr/>
        </p:nvSpPr>
        <p:spPr>
          <a:xfrm>
            <a:off x="7416800" y="3684293"/>
            <a:ext cx="1127232" cy="110799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66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汉仪趣黑W" panose="00020600040101010101" pitchFamily="18" charset="-122"/>
              </a:rPr>
              <a:t>01</a:t>
            </a:r>
            <a:endParaRPr lang="zh-CN" altLang="en-US" sz="6600" b="1" dirty="0">
              <a:solidFill>
                <a:schemeClr val="tx1">
                  <a:lumMod val="65000"/>
                  <a:lumOff val="35000"/>
                </a:schemeClr>
              </a:solidFill>
              <a:ea typeface="汉仪趣黑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277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3118566" y="332266"/>
            <a:ext cx="5954868" cy="870046"/>
            <a:chOff x="3118566" y="332266"/>
            <a:chExt cx="5954868" cy="870046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18566" y="606614"/>
              <a:ext cx="656733" cy="406749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3301968" y="332266"/>
              <a:ext cx="5617091" cy="87004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defRPr sz="3600" b="0">
                  <a:solidFill>
                    <a:srgbClr val="1C75BC"/>
                  </a:solidFill>
                  <a:latin typeface="汉仪趣黑W" panose="00020600040101010101" pitchFamily="18" charset="-122"/>
                  <a:ea typeface="汉仪趣黑W" panose="00020600040101010101" pitchFamily="18" charset="-122"/>
                </a:defRPr>
              </a:lvl1pPr>
            </a:lstStyle>
            <a:p>
              <a:pPr algn="ctr"/>
              <a:r>
                <a:rPr lang="zh-CN" altLang="en-US" sz="4400" dirty="0" smtClean="0"/>
                <a:t>项 目 概 述</a:t>
              </a:r>
              <a:endParaRPr lang="zh-CN" altLang="en-US" sz="4400" dirty="0"/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8416701" y="606614"/>
              <a:ext cx="656733" cy="406749"/>
            </a:xfrm>
            <a:prstGeom prst="rect">
              <a:avLst/>
            </a:prstGeom>
          </p:spPr>
        </p:pic>
      </p:grpSp>
      <p:sp>
        <p:nvSpPr>
          <p:cNvPr id="4" name="矩形 3"/>
          <p:cNvSpPr/>
          <p:nvPr/>
        </p:nvSpPr>
        <p:spPr>
          <a:xfrm>
            <a:off x="945758" y="1303814"/>
            <a:ext cx="863706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本</a:t>
            </a:r>
            <a:r>
              <a:rPr lang="zh-CN" altLang="en-US" dirty="0" smtClean="0"/>
              <a:t>项目实现了一个</a:t>
            </a:r>
            <a:r>
              <a:rPr lang="zh-CN" altLang="en-US" dirty="0"/>
              <a:t>从物理层到</a:t>
            </a:r>
            <a:r>
              <a:rPr lang="zh-CN" altLang="en-US" dirty="0" smtClean="0"/>
              <a:t>应用层</a:t>
            </a:r>
            <a:r>
              <a:rPr lang="zh-CN" altLang="en-US" dirty="0"/>
              <a:t>的</a:t>
            </a:r>
            <a:r>
              <a:rPr lang="zh-CN" altLang="en-US" dirty="0" smtClean="0"/>
              <a:t>完整网络</a:t>
            </a:r>
            <a:r>
              <a:rPr lang="zh-CN" altLang="en-US" dirty="0"/>
              <a:t>通信系统，包含三个层级：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2"/>
                </a:solidFill>
              </a:rPr>
              <a:t>Level 1: </a:t>
            </a:r>
            <a:r>
              <a:rPr lang="zh-CN" altLang="en-US" dirty="0"/>
              <a:t>点对点通信（调制/解调</a:t>
            </a:r>
            <a:r>
              <a:rPr lang="zh-CN" altLang="en-US" dirty="0" smtClean="0"/>
              <a:t>、比特</a:t>
            </a:r>
            <a:r>
              <a:rPr lang="zh-CN" altLang="en-US" dirty="0"/>
              <a:t>流传输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2"/>
                </a:solidFill>
              </a:rPr>
              <a:t>Level 2:</a:t>
            </a:r>
            <a:r>
              <a:rPr lang="en-US" altLang="zh-CN" dirty="0"/>
              <a:t> </a:t>
            </a:r>
            <a:r>
              <a:rPr lang="zh-CN" altLang="en-US" dirty="0"/>
              <a:t>多主机通信（星型拓扑、地址寻址、交换机转发）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2"/>
                </a:solidFill>
              </a:rPr>
              <a:t>Level 3: </a:t>
            </a:r>
            <a:r>
              <a:rPr lang="zh-CN" altLang="en-US" dirty="0"/>
              <a:t>扩展功能（传输层、信道编码、应用层协议、多种调制模式、并发处理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2" name="object 6"/>
          <p:cNvSpPr txBox="1"/>
          <p:nvPr/>
        </p:nvSpPr>
        <p:spPr>
          <a:xfrm>
            <a:off x="1622200" y="3808369"/>
            <a:ext cx="2984365" cy="2742417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200" spc="55" dirty="0">
                <a:latin typeface="NSimSun"/>
                <a:cs typeface="NSimSun"/>
              </a:rPr>
              <a:t>应用层 </a:t>
            </a:r>
            <a:r>
              <a:rPr sz="1200" dirty="0">
                <a:latin typeface="Consolas"/>
                <a:cs typeface="Consolas"/>
              </a:rPr>
              <a:t>(Application</a:t>
            </a:r>
            <a:r>
              <a:rPr sz="1200" spc="55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Layer)</a:t>
            </a:r>
            <a:endParaRPr sz="1200" dirty="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sz="1200" spc="-50" dirty="0">
                <a:latin typeface="Consolas"/>
                <a:cs typeface="Consolas"/>
              </a:rPr>
              <a:t>↓</a:t>
            </a: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00" spc="50" dirty="0">
                <a:latin typeface="NSimSun"/>
                <a:cs typeface="NSimSun"/>
              </a:rPr>
              <a:t>传输层 </a:t>
            </a:r>
            <a:r>
              <a:rPr sz="1200" dirty="0">
                <a:latin typeface="Consolas"/>
                <a:cs typeface="Consolas"/>
              </a:rPr>
              <a:t>(Transport</a:t>
            </a:r>
            <a:r>
              <a:rPr sz="1200" spc="5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Layer)</a:t>
            </a:r>
            <a:endParaRPr sz="1200" dirty="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sz="1200" spc="-50" dirty="0">
                <a:latin typeface="Consolas"/>
                <a:cs typeface="Consolas"/>
              </a:rPr>
              <a:t>↓</a:t>
            </a: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200" spc="50" dirty="0">
                <a:latin typeface="NSimSun"/>
                <a:cs typeface="NSimSun"/>
              </a:rPr>
              <a:t>网络层 </a:t>
            </a:r>
            <a:r>
              <a:rPr sz="1200" dirty="0">
                <a:latin typeface="Consolas"/>
                <a:cs typeface="Consolas"/>
              </a:rPr>
              <a:t>(Network</a:t>
            </a:r>
            <a:r>
              <a:rPr sz="1200" spc="4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Layer)</a:t>
            </a:r>
            <a:endParaRPr sz="1200" dirty="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25"/>
              </a:spcBef>
            </a:pPr>
            <a:r>
              <a:rPr sz="1200" spc="-50" dirty="0">
                <a:latin typeface="Consolas"/>
                <a:cs typeface="Consolas"/>
              </a:rPr>
              <a:t>↓</a:t>
            </a: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200" spc="50" dirty="0">
                <a:latin typeface="NSimSun"/>
                <a:cs typeface="NSimSun"/>
              </a:rPr>
              <a:t>数据链路层 </a:t>
            </a:r>
            <a:r>
              <a:rPr sz="1200" dirty="0">
                <a:latin typeface="Consolas"/>
                <a:cs typeface="Consolas"/>
              </a:rPr>
              <a:t>(Data</a:t>
            </a:r>
            <a:r>
              <a:rPr sz="1200" spc="3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Link</a:t>
            </a:r>
            <a:r>
              <a:rPr sz="1200" spc="3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Layer)</a:t>
            </a:r>
            <a:endParaRPr sz="1200" dirty="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525"/>
              </a:spcBef>
            </a:pPr>
            <a:r>
              <a:rPr sz="1200" spc="-50" dirty="0">
                <a:latin typeface="Consolas"/>
                <a:cs typeface="Consolas"/>
              </a:rPr>
              <a:t>↓</a:t>
            </a: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200" spc="50" dirty="0">
                <a:latin typeface="NSimSun"/>
                <a:cs typeface="NSimSun"/>
              </a:rPr>
              <a:t>物理层 </a:t>
            </a:r>
            <a:r>
              <a:rPr sz="1200" dirty="0">
                <a:latin typeface="Consolas"/>
                <a:cs typeface="Consolas"/>
              </a:rPr>
              <a:t>(Physical</a:t>
            </a:r>
            <a:r>
              <a:rPr sz="1200" spc="4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Layer)</a:t>
            </a:r>
            <a:endParaRPr sz="1200" dirty="0">
              <a:latin typeface="Consolas"/>
              <a:cs typeface="Consolas"/>
            </a:endParaRPr>
          </a:p>
          <a:p>
            <a:pPr marL="297180">
              <a:lnSpc>
                <a:spcPct val="100000"/>
              </a:lnSpc>
              <a:spcBef>
                <a:spcPts val="450"/>
              </a:spcBef>
            </a:pPr>
            <a:r>
              <a:rPr sz="1200" spc="-50" dirty="0">
                <a:latin typeface="Consolas"/>
                <a:cs typeface="Consolas"/>
              </a:rPr>
              <a:t>↓</a:t>
            </a: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00" dirty="0">
                <a:latin typeface="Consolas"/>
                <a:cs typeface="Consolas"/>
              </a:rPr>
              <a:t>Cable</a:t>
            </a:r>
            <a:r>
              <a:rPr sz="1200" spc="20" dirty="0">
                <a:latin typeface="Consolas"/>
                <a:cs typeface="Consolas"/>
              </a:rPr>
              <a:t> (</a:t>
            </a:r>
            <a:r>
              <a:rPr sz="1200" spc="50" dirty="0">
                <a:latin typeface="NSimSun"/>
                <a:cs typeface="NSimSun"/>
              </a:rPr>
              <a:t>物理信道模拟</a:t>
            </a:r>
            <a:r>
              <a:rPr sz="1200" spc="-50" dirty="0">
                <a:latin typeface="Consolas"/>
                <a:cs typeface="Consolas"/>
              </a:rPr>
              <a:t>)</a:t>
            </a:r>
            <a:endParaRPr sz="1200" dirty="0">
              <a:latin typeface="Consolas"/>
              <a:cs typeface="Consolas"/>
            </a:endParaRPr>
          </a:p>
        </p:txBody>
      </p:sp>
      <p:sp>
        <p:nvSpPr>
          <p:cNvPr id="15" name="object 5"/>
          <p:cNvSpPr txBox="1"/>
          <p:nvPr/>
        </p:nvSpPr>
        <p:spPr>
          <a:xfrm>
            <a:off x="1622200" y="3441879"/>
            <a:ext cx="939800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defPPr>
              <a:defRPr lang="zh-CN"/>
            </a:defPPr>
            <a:lvl1pPr marL="12700">
              <a:lnSpc>
                <a:spcPct val="100000"/>
              </a:lnSpc>
              <a:spcBef>
                <a:spcPts val="130"/>
              </a:spcBef>
            </a:lvl1pPr>
          </a:lstStyle>
          <a:p>
            <a:r>
              <a:rPr dirty="0"/>
              <a:t>技术架构</a:t>
            </a:r>
          </a:p>
        </p:txBody>
      </p:sp>
      <p:sp>
        <p:nvSpPr>
          <p:cNvPr id="17" name="object 7"/>
          <p:cNvSpPr txBox="1"/>
          <p:nvPr/>
        </p:nvSpPr>
        <p:spPr>
          <a:xfrm>
            <a:off x="5645368" y="3399028"/>
            <a:ext cx="1397000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err="1"/>
              <a:t>核⼼实现特性</a:t>
            </a:r>
            <a:endParaRPr dirty="0"/>
          </a:p>
        </p:txBody>
      </p:sp>
      <p:sp>
        <p:nvSpPr>
          <p:cNvPr id="18" name="object 9"/>
          <p:cNvSpPr txBox="1"/>
          <p:nvPr/>
        </p:nvSpPr>
        <p:spPr>
          <a:xfrm>
            <a:off x="5679286" y="3808369"/>
            <a:ext cx="5717025" cy="22967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300">
              <a:lnSpc>
                <a:spcPct val="150000"/>
              </a:lnSpc>
              <a:spcBef>
                <a:spcPts val="100"/>
              </a:spcBef>
            </a:pPr>
            <a:r>
              <a:rPr sz="1350" b="1" dirty="0">
                <a:latin typeface="Microsoft JhengHei"/>
                <a:cs typeface="Microsoft JhengHei"/>
              </a:rPr>
              <a:t>物</a:t>
            </a:r>
            <a:r>
              <a:rPr sz="1350" b="1" dirty="0">
                <a:latin typeface="Malgun Gothic"/>
                <a:cs typeface="Malgun Gothic"/>
              </a:rPr>
              <a:t>理</a:t>
            </a:r>
            <a:r>
              <a:rPr sz="1350" b="1" dirty="0">
                <a:latin typeface="Microsoft JhengHei"/>
                <a:cs typeface="Microsoft JhengHei"/>
              </a:rPr>
              <a:t>层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OOK/ASK/FSK/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BPSK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多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种调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制⽅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式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12700" marR="114300">
              <a:lnSpc>
                <a:spcPct val="150000"/>
              </a:lnSpc>
              <a:spcBef>
                <a:spcPts val="100"/>
              </a:spcBef>
            </a:pPr>
            <a:r>
              <a:rPr sz="1350" b="1" dirty="0" err="1" smtClean="0">
                <a:latin typeface="Microsoft JhengHei"/>
                <a:cs typeface="Microsoft JhengHei"/>
              </a:rPr>
              <a:t>数据链路层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帧封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装、校验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和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分⽚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组</a:t>
            </a:r>
            <a:endParaRPr sz="1350" dirty="0">
              <a:latin typeface="Microsoft JhengHei"/>
              <a:cs typeface="Microsoft JhengHei"/>
            </a:endParaRPr>
          </a:p>
          <a:p>
            <a:pPr marL="12700" marR="140335">
              <a:lnSpc>
                <a:spcPct val="150000"/>
              </a:lnSpc>
              <a:spcBef>
                <a:spcPts val="75"/>
              </a:spcBef>
            </a:pPr>
            <a:r>
              <a:rPr sz="1350" b="1" dirty="0">
                <a:latin typeface="Microsoft JhengHei"/>
                <a:cs typeface="Microsoft JhengHei"/>
              </a:rPr>
              <a:t>⽹络层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MAC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地址、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交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机学习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⼴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单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12700" marR="140335">
              <a:lnSpc>
                <a:spcPct val="150000"/>
              </a:lnSpc>
              <a:spcBef>
                <a:spcPts val="75"/>
              </a:spcBef>
            </a:pPr>
            <a:r>
              <a:rPr sz="1350" b="1" dirty="0" err="1" smtClean="0">
                <a:latin typeface="Microsoft JhengHei"/>
                <a:cs typeface="Microsoft JhengHei"/>
              </a:rPr>
              <a:t>传输层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Stop-and-Wait ARQ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可靠传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endParaRPr sz="1350" dirty="0">
              <a:latin typeface="SimSun"/>
              <a:cs typeface="SimSun"/>
            </a:endParaRPr>
          </a:p>
          <a:p>
            <a:pPr marL="12700">
              <a:lnSpc>
                <a:spcPct val="150000"/>
              </a:lnSpc>
              <a:spcBef>
                <a:spcPts val="330"/>
              </a:spcBef>
            </a:pPr>
            <a:r>
              <a:rPr sz="1350" b="1" dirty="0">
                <a:latin typeface="Microsoft JhengHei"/>
                <a:cs typeface="Microsoft JhengHei"/>
              </a:rPr>
              <a:t>应⽤层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HTTP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endParaRPr sz="1350" dirty="0">
              <a:latin typeface="SimSun"/>
              <a:cs typeface="SimSun"/>
            </a:endParaRPr>
          </a:p>
          <a:p>
            <a:pPr marL="12700" marR="5080">
              <a:lnSpc>
                <a:spcPct val="150000"/>
              </a:lnSpc>
              <a:spcBef>
                <a:spcPts val="75"/>
              </a:spcBef>
            </a:pPr>
            <a:r>
              <a:rPr sz="1350" b="1" dirty="0">
                <a:latin typeface="Microsoft JhengHei"/>
                <a:cs typeface="Microsoft JhengHei"/>
              </a:rPr>
              <a:t>信道编码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Hamming(7,4)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纠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码、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CRC-8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校验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12700" marR="5080">
              <a:lnSpc>
                <a:spcPct val="150000"/>
              </a:lnSpc>
              <a:spcBef>
                <a:spcPts val="75"/>
              </a:spcBef>
            </a:pPr>
            <a:r>
              <a:rPr sz="1350" b="1" dirty="0" err="1" smtClean="0">
                <a:latin typeface="Microsoft JhengHei"/>
                <a:cs typeface="Microsoft JhengHei"/>
              </a:rPr>
              <a:t>并发处</a:t>
            </a:r>
            <a:r>
              <a:rPr sz="1350" b="1" dirty="0" err="1" smtClean="0">
                <a:latin typeface="Malgun Gothic"/>
                <a:cs typeface="Malgun Gothic"/>
              </a:rPr>
              <a:t>理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多线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⽹络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通信</a:t>
            </a:r>
            <a:endParaRPr sz="1350" dirty="0">
              <a:latin typeface="SimSun"/>
              <a:cs typeface="SimSun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305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26383" t="38431"/>
          <a:stretch/>
        </p:blipFill>
        <p:spPr>
          <a:xfrm>
            <a:off x="-29497" y="401638"/>
            <a:ext cx="11027090" cy="54741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166257" y="1952303"/>
            <a:ext cx="5617091" cy="90486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r>
              <a:rPr lang="en-US" altLang="zh-CN" sz="4400" dirty="0" smtClean="0">
                <a:latin typeface="+mn-lt"/>
                <a:cs typeface="Times New Roman" panose="02020603050405020304" pitchFamily="18" charset="0"/>
              </a:rPr>
              <a:t>Level 1</a:t>
            </a:r>
            <a:r>
              <a:rPr lang="zh-CN" altLang="en-US" sz="4400" dirty="0" smtClean="0"/>
              <a:t>：点对点通信</a:t>
            </a:r>
            <a:endParaRPr lang="zh-CN" altLang="en-US" sz="4400" dirty="0"/>
          </a:p>
        </p:txBody>
      </p:sp>
      <p:sp>
        <p:nvSpPr>
          <p:cNvPr id="9" name="文本框 8"/>
          <p:cNvSpPr txBox="1"/>
          <p:nvPr/>
        </p:nvSpPr>
        <p:spPr>
          <a:xfrm>
            <a:off x="7416800" y="3684293"/>
            <a:ext cx="1127232" cy="110799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66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汉仪趣黑W" panose="00020600040101010101" pitchFamily="18" charset="-122"/>
              </a:rPr>
              <a:t>02</a:t>
            </a:r>
            <a:endParaRPr lang="zh-CN" altLang="en-US" sz="6600" b="1" dirty="0">
              <a:solidFill>
                <a:schemeClr val="tx1">
                  <a:lumMod val="65000"/>
                  <a:lumOff val="35000"/>
                </a:schemeClr>
              </a:solidFill>
              <a:ea typeface="汉仪趣黑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5289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000" b="1" dirty="0">
                <a:latin typeface="Arial"/>
                <a:cs typeface="Arial"/>
              </a:rPr>
              <a:t>1.1: </a:t>
            </a:r>
            <a:r>
              <a:rPr lang="zh-CN" altLang="en-US" sz="4400" b="1" spc="-200" dirty="0">
                <a:latin typeface="Microsoft JhengHei"/>
                <a:cs typeface="Microsoft JhengHei"/>
              </a:rPr>
              <a:t>⽐特流传输过</a:t>
            </a:r>
            <a:r>
              <a:rPr lang="zh-CN" altLang="en-US" sz="4400" b="1" spc="-145" dirty="0">
                <a:latin typeface="Malgun Gothic"/>
                <a:cs typeface="Malgun Gothic"/>
              </a:rPr>
              <a:t>程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9" name="object 17"/>
          <p:cNvSpPr txBox="1"/>
          <p:nvPr/>
        </p:nvSpPr>
        <p:spPr>
          <a:xfrm>
            <a:off x="743185" y="1227243"/>
            <a:ext cx="6137275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0070C0"/>
                </a:solidFill>
                <a:latin typeface="SimSun"/>
                <a:cs typeface="SimSun"/>
              </a:rPr>
              <a:t>演</a:t>
            </a:r>
            <a:r>
              <a:rPr sz="1350" b="1" dirty="0">
                <a:solidFill>
                  <a:srgbClr val="0070C0"/>
                </a:solidFill>
                <a:latin typeface="Microsoft JhengHei"/>
                <a:cs typeface="Microsoft JhengHei"/>
              </a:rPr>
              <a:t>⽰完整的⽐特</a:t>
            </a:r>
            <a:r>
              <a:rPr sz="1350" b="1" dirty="0">
                <a:solidFill>
                  <a:srgbClr val="0070C0"/>
                </a:solidFill>
                <a:latin typeface="SimSun"/>
                <a:cs typeface="SimSun"/>
              </a:rPr>
              <a:t>流</a:t>
            </a:r>
            <a:r>
              <a:rPr sz="1350" b="1" dirty="0">
                <a:solidFill>
                  <a:srgbClr val="0070C0"/>
                </a:solidFill>
                <a:latin typeface="Microsoft JhengHei"/>
                <a:cs typeface="Microsoft JhengHei"/>
              </a:rPr>
              <a:t>传</a:t>
            </a:r>
            <a:r>
              <a:rPr sz="1350" b="1" dirty="0">
                <a:solidFill>
                  <a:srgbClr val="0070C0"/>
                </a:solidFill>
                <a:latin typeface="SimSun"/>
                <a:cs typeface="SimSun"/>
              </a:rPr>
              <a:t>输流程：</a:t>
            </a:r>
            <a:r>
              <a:rPr sz="1350" b="1" dirty="0">
                <a:solidFill>
                  <a:srgbClr val="0070C0"/>
                </a:solidFill>
                <a:latin typeface="Microsoft JhengHei"/>
                <a:cs typeface="Microsoft JhengHei"/>
              </a:rPr>
              <a:t>字符串 </a:t>
            </a:r>
            <a:r>
              <a:rPr sz="1200" b="1" dirty="0">
                <a:solidFill>
                  <a:srgbClr val="0070C0"/>
                </a:solidFill>
                <a:latin typeface="Arial MT"/>
                <a:cs typeface="Arial MT"/>
              </a:rPr>
              <a:t>→ </a:t>
            </a:r>
            <a:r>
              <a:rPr sz="1350" b="1" dirty="0">
                <a:solidFill>
                  <a:srgbClr val="0070C0"/>
                </a:solidFill>
                <a:latin typeface="Microsoft JhengHei"/>
                <a:cs typeface="Microsoft JhengHei"/>
              </a:rPr>
              <a:t>⽐特 </a:t>
            </a:r>
            <a:r>
              <a:rPr sz="1200" b="1" dirty="0">
                <a:solidFill>
                  <a:srgbClr val="0070C0"/>
                </a:solidFill>
                <a:latin typeface="Arial MT"/>
                <a:cs typeface="Arial MT"/>
              </a:rPr>
              <a:t>→ </a:t>
            </a:r>
            <a:r>
              <a:rPr sz="1350" b="1" dirty="0">
                <a:solidFill>
                  <a:srgbClr val="0070C0"/>
                </a:solidFill>
                <a:latin typeface="SimSun"/>
                <a:cs typeface="SimSun"/>
              </a:rPr>
              <a:t>调</a:t>
            </a:r>
            <a:r>
              <a:rPr sz="1350" b="1" dirty="0">
                <a:solidFill>
                  <a:srgbClr val="0070C0"/>
                </a:solidFill>
                <a:latin typeface="Microsoft JhengHei"/>
                <a:cs typeface="Microsoft JhengHei"/>
              </a:rPr>
              <a:t>制 </a:t>
            </a:r>
            <a:r>
              <a:rPr sz="1200" b="1" dirty="0">
                <a:solidFill>
                  <a:srgbClr val="0070C0"/>
                </a:solidFill>
                <a:latin typeface="Arial MT"/>
                <a:cs typeface="Arial MT"/>
              </a:rPr>
              <a:t>→ </a:t>
            </a:r>
            <a:r>
              <a:rPr sz="1350" b="1" dirty="0">
                <a:solidFill>
                  <a:srgbClr val="0070C0"/>
                </a:solidFill>
                <a:latin typeface="Microsoft JhengHei"/>
                <a:cs typeface="Microsoft JhengHei"/>
              </a:rPr>
              <a:t>传</a:t>
            </a:r>
            <a:r>
              <a:rPr sz="1350" b="1" dirty="0">
                <a:solidFill>
                  <a:srgbClr val="0070C0"/>
                </a:solidFill>
                <a:latin typeface="SimSun"/>
                <a:cs typeface="SimSun"/>
              </a:rPr>
              <a:t>输 </a:t>
            </a:r>
            <a:r>
              <a:rPr sz="1200" b="1" dirty="0">
                <a:solidFill>
                  <a:srgbClr val="0070C0"/>
                </a:solidFill>
                <a:latin typeface="Arial MT"/>
                <a:cs typeface="Arial MT"/>
              </a:rPr>
              <a:t>→ </a:t>
            </a:r>
            <a:r>
              <a:rPr sz="1350" b="1" dirty="0">
                <a:solidFill>
                  <a:srgbClr val="0070C0"/>
                </a:solidFill>
                <a:latin typeface="SimSun"/>
                <a:cs typeface="SimSun"/>
              </a:rPr>
              <a:t>解调 </a:t>
            </a:r>
            <a:r>
              <a:rPr sz="1200" b="1" dirty="0">
                <a:solidFill>
                  <a:srgbClr val="0070C0"/>
                </a:solidFill>
                <a:latin typeface="Arial MT"/>
                <a:cs typeface="Arial MT"/>
              </a:rPr>
              <a:t>→ </a:t>
            </a:r>
            <a:r>
              <a:rPr sz="1350" b="1" dirty="0">
                <a:solidFill>
                  <a:srgbClr val="0070C0"/>
                </a:solidFill>
                <a:latin typeface="Microsoft JhengHei"/>
                <a:cs typeface="Microsoft JhengHei"/>
              </a:rPr>
              <a:t>恢复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97" y="1958837"/>
            <a:ext cx="3116858" cy="4326459"/>
          </a:xfrm>
          <a:prstGeom prst="rect">
            <a:avLst/>
          </a:prstGeom>
        </p:spPr>
      </p:pic>
      <p:sp>
        <p:nvSpPr>
          <p:cNvPr id="10" name="object 3"/>
          <p:cNvSpPr txBox="1"/>
          <p:nvPr/>
        </p:nvSpPr>
        <p:spPr>
          <a:xfrm>
            <a:off x="3811822" y="1958837"/>
            <a:ext cx="8073992" cy="40908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5" dirty="0">
                <a:latin typeface="Consolas"/>
                <a:cs typeface="Consolas"/>
              </a:rPr>
              <a:t>=== </a:t>
            </a:r>
            <a:r>
              <a:rPr sz="1200" spc="45" dirty="0">
                <a:latin typeface="NSimSun"/>
                <a:cs typeface="NSimSun"/>
              </a:rPr>
              <a:t>比特流传输演示 </a:t>
            </a:r>
            <a:r>
              <a:rPr sz="1200" spc="-25" dirty="0">
                <a:latin typeface="Consolas"/>
                <a:cs typeface="Consolas"/>
              </a:rPr>
              <a:t>===</a:t>
            </a:r>
            <a:endParaRPr sz="1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50" dirty="0">
                <a:latin typeface="NSimSun"/>
                <a:cs typeface="NSimSun"/>
              </a:rPr>
              <a:t>原始消息</a:t>
            </a:r>
            <a:r>
              <a:rPr sz="1200" spc="5" dirty="0">
                <a:latin typeface="Consolas"/>
                <a:cs typeface="Consolas"/>
              </a:rPr>
              <a:t>: </a:t>
            </a:r>
            <a:r>
              <a:rPr sz="1200" spc="-10" dirty="0">
                <a:latin typeface="Consolas"/>
                <a:cs typeface="Consolas"/>
              </a:rPr>
              <a:t>"Hello"</a:t>
            </a: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200" spc="50" dirty="0">
                <a:latin typeface="NSimSun"/>
                <a:cs typeface="NSimSun"/>
              </a:rPr>
              <a:t>比特流</a:t>
            </a:r>
            <a:r>
              <a:rPr sz="1200" spc="10" dirty="0">
                <a:latin typeface="Consolas"/>
                <a:cs typeface="Consolas"/>
              </a:rPr>
              <a:t>: </a:t>
            </a:r>
            <a:r>
              <a:rPr sz="1200" dirty="0">
                <a:latin typeface="Consolas"/>
                <a:cs typeface="Consolas"/>
              </a:rPr>
              <a:t>[0,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spc="-25" dirty="0">
                <a:latin typeface="Consolas"/>
                <a:cs typeface="Consolas"/>
              </a:rPr>
              <a:t>1,</a:t>
            </a: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200" spc="50" dirty="0">
                <a:latin typeface="NSimSun"/>
                <a:cs typeface="NSimSun"/>
              </a:rPr>
              <a:t>比特数</a:t>
            </a:r>
            <a:r>
              <a:rPr sz="1200" spc="10" dirty="0">
                <a:latin typeface="Consolas"/>
                <a:cs typeface="Consolas"/>
              </a:rPr>
              <a:t>: </a:t>
            </a:r>
            <a:r>
              <a:rPr sz="1200" dirty="0">
                <a:latin typeface="Consolas"/>
                <a:cs typeface="Consolas"/>
              </a:rPr>
              <a:t>40</a:t>
            </a:r>
            <a:r>
              <a:rPr sz="1200" spc="2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bits</a:t>
            </a:r>
            <a:r>
              <a:rPr sz="1200" spc="10" dirty="0">
                <a:latin typeface="Consolas"/>
                <a:cs typeface="Consolas"/>
              </a:rPr>
              <a:t> (</a:t>
            </a:r>
            <a:r>
              <a:rPr sz="1200" spc="50" dirty="0">
                <a:latin typeface="NSimSun"/>
                <a:cs typeface="NSimSun"/>
              </a:rPr>
              <a:t>每字符</a:t>
            </a:r>
            <a:r>
              <a:rPr sz="1200" dirty="0">
                <a:latin typeface="Consolas"/>
                <a:cs typeface="Consolas"/>
              </a:rPr>
              <a:t>8</a:t>
            </a:r>
            <a:r>
              <a:rPr sz="1200" spc="50" dirty="0">
                <a:latin typeface="NSimSun"/>
                <a:cs typeface="NSimSun"/>
              </a:rPr>
              <a:t>位</a:t>
            </a:r>
            <a:r>
              <a:rPr sz="1200" spc="-50" dirty="0">
                <a:latin typeface="Consolas"/>
                <a:cs typeface="Consolas"/>
              </a:rPr>
              <a:t>)</a:t>
            </a:r>
            <a:endParaRPr sz="1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Consolas"/>
                <a:cs typeface="Consolas"/>
              </a:rPr>
              <a:t>OOK</a:t>
            </a:r>
            <a:r>
              <a:rPr sz="1200" spc="50" dirty="0">
                <a:latin typeface="NSimSun"/>
                <a:cs typeface="NSimSun"/>
              </a:rPr>
              <a:t>调制后</a:t>
            </a:r>
            <a:r>
              <a:rPr sz="1200" spc="15" dirty="0">
                <a:latin typeface="Consolas"/>
                <a:cs typeface="Consolas"/>
              </a:rPr>
              <a:t>: </a:t>
            </a:r>
            <a:r>
              <a:rPr sz="1200" dirty="0">
                <a:latin typeface="Consolas"/>
                <a:cs typeface="Consolas"/>
              </a:rPr>
              <a:t>4000</a:t>
            </a:r>
            <a:r>
              <a:rPr sz="1200" spc="35" dirty="0">
                <a:latin typeface="Consolas"/>
                <a:cs typeface="Consolas"/>
              </a:rPr>
              <a:t> </a:t>
            </a:r>
            <a:r>
              <a:rPr sz="1200" spc="50" dirty="0">
                <a:latin typeface="NSimSun"/>
                <a:cs typeface="NSimSun"/>
              </a:rPr>
              <a:t>个采样点 </a:t>
            </a:r>
            <a:r>
              <a:rPr sz="1200" dirty="0">
                <a:latin typeface="Consolas"/>
                <a:cs typeface="Consolas"/>
              </a:rPr>
              <a:t>(</a:t>
            </a:r>
            <a:r>
              <a:rPr sz="1200" spc="50" dirty="0">
                <a:latin typeface="NSimSun"/>
                <a:cs typeface="NSimSun"/>
              </a:rPr>
              <a:t>每</a:t>
            </a:r>
            <a:r>
              <a:rPr sz="1200" dirty="0">
                <a:latin typeface="Consolas"/>
                <a:cs typeface="Consolas"/>
              </a:rPr>
              <a:t>bit</a:t>
            </a:r>
            <a:r>
              <a:rPr sz="1200" spc="3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100</a:t>
            </a:r>
            <a:r>
              <a:rPr sz="1200" spc="50" dirty="0">
                <a:latin typeface="NSimSun"/>
                <a:cs typeface="NSimSun"/>
              </a:rPr>
              <a:t>个采样</a:t>
            </a:r>
            <a:r>
              <a:rPr sz="1200" spc="-50" dirty="0">
                <a:latin typeface="Consolas"/>
                <a:cs typeface="Consolas"/>
              </a:rPr>
              <a:t>)</a:t>
            </a: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00" spc="50" dirty="0">
                <a:latin typeface="NSimSun"/>
                <a:cs typeface="NSimSun"/>
              </a:rPr>
              <a:t>信号范围</a:t>
            </a:r>
            <a:r>
              <a:rPr sz="1200" spc="10" dirty="0">
                <a:latin typeface="Consolas"/>
                <a:cs typeface="Consolas"/>
              </a:rPr>
              <a:t>: </a:t>
            </a:r>
            <a:r>
              <a:rPr sz="1200" dirty="0">
                <a:latin typeface="Consolas"/>
                <a:cs typeface="Consolas"/>
              </a:rPr>
              <a:t>[0.0,</a:t>
            </a:r>
            <a:r>
              <a:rPr sz="1200" spc="25" dirty="0">
                <a:latin typeface="Consolas"/>
                <a:cs typeface="Consolas"/>
              </a:rPr>
              <a:t> </a:t>
            </a:r>
            <a:r>
              <a:rPr sz="1200" spc="-20" dirty="0">
                <a:latin typeface="Consolas"/>
                <a:cs typeface="Consolas"/>
              </a:rPr>
              <a:t>1.0]</a:t>
            </a:r>
            <a:endParaRPr sz="1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200" spc="50" dirty="0">
                <a:latin typeface="NSimSun"/>
                <a:cs typeface="NSimSun"/>
              </a:rPr>
              <a:t>通过</a:t>
            </a:r>
            <a:r>
              <a:rPr sz="1200" dirty="0">
                <a:latin typeface="Consolas"/>
                <a:cs typeface="Consolas"/>
              </a:rPr>
              <a:t>Cable</a:t>
            </a:r>
            <a:r>
              <a:rPr sz="1200" spc="60" dirty="0">
                <a:latin typeface="NSimSun"/>
                <a:cs typeface="NSimSun"/>
              </a:rPr>
              <a:t>传输 </a:t>
            </a:r>
            <a:r>
              <a:rPr sz="1200" dirty="0">
                <a:latin typeface="Consolas"/>
                <a:cs typeface="Consolas"/>
              </a:rPr>
              <a:t>(</a:t>
            </a:r>
            <a:r>
              <a:rPr sz="1200" spc="50" dirty="0">
                <a:latin typeface="NSimSun"/>
                <a:cs typeface="NSimSun"/>
              </a:rPr>
              <a:t>噪声</a:t>
            </a:r>
            <a:r>
              <a:rPr sz="1200" spc="-10" dirty="0">
                <a:latin typeface="Consolas"/>
                <a:cs typeface="Consolas"/>
              </a:rPr>
              <a:t>=0.01)</a:t>
            </a: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00" spc="50" dirty="0">
                <a:latin typeface="NSimSun"/>
                <a:cs typeface="NSimSun"/>
              </a:rPr>
              <a:t>接收信号范围</a:t>
            </a:r>
            <a:r>
              <a:rPr sz="1200" dirty="0">
                <a:latin typeface="Consolas"/>
                <a:cs typeface="Consolas"/>
              </a:rPr>
              <a:t>: [-0.03,</a:t>
            </a:r>
            <a:r>
              <a:rPr sz="1200" spc="3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0.94]</a:t>
            </a:r>
            <a:endParaRPr sz="1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200" spc="50" dirty="0">
                <a:latin typeface="NSimSun"/>
                <a:cs typeface="NSimSun"/>
              </a:rPr>
              <a:t>解调后比特</a:t>
            </a:r>
            <a:r>
              <a:rPr sz="1200" spc="10" dirty="0">
                <a:latin typeface="Consolas"/>
                <a:cs typeface="Consolas"/>
              </a:rPr>
              <a:t>: </a:t>
            </a:r>
            <a:r>
              <a:rPr sz="1200" dirty="0">
                <a:latin typeface="Consolas"/>
                <a:cs typeface="Consolas"/>
              </a:rPr>
              <a:t>[0,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0,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1,</a:t>
            </a:r>
            <a:r>
              <a:rPr sz="1200" spc="20" dirty="0">
                <a:latin typeface="Consolas"/>
                <a:cs typeface="Consolas"/>
              </a:rPr>
              <a:t> </a:t>
            </a:r>
            <a:r>
              <a:rPr sz="1200" spc="-25" dirty="0">
                <a:latin typeface="Consolas"/>
                <a:cs typeface="Consolas"/>
              </a:rPr>
              <a:t>0,</a:t>
            </a:r>
            <a:endParaRPr sz="1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200" spc="50" dirty="0">
                <a:latin typeface="NSimSun"/>
                <a:cs typeface="NSimSun"/>
              </a:rPr>
              <a:t>恢复消息</a:t>
            </a:r>
            <a:r>
              <a:rPr sz="1200" spc="5" dirty="0">
                <a:latin typeface="Consolas"/>
                <a:cs typeface="Consolas"/>
              </a:rPr>
              <a:t>: </a:t>
            </a:r>
            <a:r>
              <a:rPr sz="1200" spc="-10" dirty="0">
                <a:latin typeface="Consolas"/>
                <a:cs typeface="Consolas"/>
              </a:rPr>
              <a:t>"Hello"</a:t>
            </a: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200" spc="50" dirty="0">
                <a:latin typeface="NSimSun"/>
                <a:cs typeface="NSimSun"/>
              </a:rPr>
              <a:t>传输成功</a:t>
            </a:r>
            <a:r>
              <a:rPr sz="1200" spc="5" dirty="0">
                <a:latin typeface="Consolas"/>
                <a:cs typeface="Consolas"/>
              </a:rPr>
              <a:t>: </a:t>
            </a:r>
            <a:r>
              <a:rPr sz="1200" spc="-20" dirty="0">
                <a:latin typeface="Consolas"/>
                <a:cs typeface="Consolas"/>
              </a:rPr>
              <a:t>True</a:t>
            </a:r>
            <a:endParaRPr sz="1200" dirty="0">
              <a:latin typeface="Consolas"/>
              <a:cs typeface="Consolas"/>
            </a:endParaRPr>
          </a:p>
        </p:txBody>
      </p:sp>
      <p:sp>
        <p:nvSpPr>
          <p:cNvPr id="11" name="object 2"/>
          <p:cNvSpPr txBox="1"/>
          <p:nvPr/>
        </p:nvSpPr>
        <p:spPr>
          <a:xfrm>
            <a:off x="3811822" y="1612086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95" dirty="0">
                <a:latin typeface="Microsoft JhengHei"/>
                <a:cs typeface="Microsoft JhengHei"/>
              </a:rPr>
              <a:t>运⾏结果</a:t>
            </a:r>
            <a:endParaRPr sz="1700" dirty="0">
              <a:latin typeface="Microsoft JhengHei"/>
              <a:cs typeface="Microsoft JhengHei"/>
            </a:endParaRPr>
          </a:p>
        </p:txBody>
      </p:sp>
      <p:sp>
        <p:nvSpPr>
          <p:cNvPr id="12" name="object 2"/>
          <p:cNvSpPr txBox="1"/>
          <p:nvPr/>
        </p:nvSpPr>
        <p:spPr>
          <a:xfrm>
            <a:off x="533697" y="1612085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700" b="1" spc="-195" dirty="0" smtClean="0">
                <a:latin typeface="Microsoft JhengHei"/>
                <a:cs typeface="Microsoft JhengHei"/>
              </a:rPr>
              <a:t>代码实现</a:t>
            </a:r>
            <a:endParaRPr sz="1700" dirty="0">
              <a:latin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002772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000" b="1" dirty="0">
                <a:latin typeface="Arial"/>
                <a:cs typeface="Arial"/>
              </a:rPr>
              <a:t>1.1: </a:t>
            </a:r>
            <a:r>
              <a:rPr lang="zh-CN" altLang="en-US" sz="4400" b="1" spc="-200" dirty="0">
                <a:latin typeface="Microsoft JhengHei"/>
                <a:cs typeface="Microsoft JhengHei"/>
              </a:rPr>
              <a:t>⽐特流传输过</a:t>
            </a:r>
            <a:r>
              <a:rPr lang="zh-CN" altLang="en-US" sz="4400" b="1" spc="-145" dirty="0">
                <a:latin typeface="Malgun Gothic"/>
                <a:cs typeface="Malgun Gothic"/>
              </a:rPr>
              <a:t>程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1298458" y="1473700"/>
            <a:ext cx="7835917" cy="3851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sz="2000" b="1" dirty="0">
                <a:latin typeface="Microsoft JhengHei"/>
                <a:cs typeface="Microsoft JhengHei"/>
              </a:rPr>
              <a:t>技术</a:t>
            </a:r>
            <a:r>
              <a:rPr sz="2000" b="1" dirty="0">
                <a:latin typeface="Malgun Gothic"/>
                <a:cs typeface="Malgun Gothic"/>
              </a:rPr>
              <a:t>要点</a:t>
            </a:r>
            <a:endParaRPr sz="2000" dirty="0">
              <a:latin typeface="Malgun Gothic"/>
              <a:cs typeface="Malgun Gothic"/>
            </a:endParaRPr>
          </a:p>
          <a:p>
            <a:pPr marL="317500" indent="-169545">
              <a:lnSpc>
                <a:spcPct val="150000"/>
              </a:lnSpc>
              <a:spcBef>
                <a:spcPts val="1235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sz="1600" b="1" dirty="0">
                <a:latin typeface="Microsoft JhengHei"/>
                <a:cs typeface="Microsoft JhengHei"/>
              </a:rPr>
              <a:t>字符串编码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使⽤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ASCII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码，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每个字符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转换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为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8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位⼆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进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MSB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优先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600" dirty="0">
              <a:latin typeface="SimSun"/>
              <a:cs typeface="SimSun"/>
            </a:endParaRPr>
          </a:p>
          <a:p>
            <a:pPr marL="317500" indent="-169545">
              <a:lnSpc>
                <a:spcPct val="150000"/>
              </a:lnSpc>
              <a:spcBef>
                <a:spcPts val="254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sz="1600" b="1" dirty="0" err="1">
                <a:latin typeface="Arial"/>
                <a:cs typeface="Arial"/>
              </a:rPr>
              <a:t>OOK</a:t>
            </a:r>
            <a:r>
              <a:rPr sz="1600" b="1" dirty="0" err="1">
                <a:latin typeface="Microsoft JhengHei"/>
                <a:cs typeface="Microsoft JhengHei"/>
              </a:rPr>
              <a:t>调制</a:t>
            </a:r>
            <a:r>
              <a:rPr sz="16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6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890905" lvl="1" indent="-285750">
              <a:lnSpc>
                <a:spcPct val="150000"/>
              </a:lnSpc>
              <a:spcBef>
                <a:spcPts val="254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600" dirty="0" smtClean="0">
                <a:solidFill>
                  <a:srgbClr val="333333"/>
                </a:solidFill>
                <a:latin typeface="Arial MT"/>
                <a:cs typeface="Arial MT"/>
              </a:rPr>
              <a:t>Bit 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1 → 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⾼电平 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(</a:t>
            </a:r>
            <a:r>
              <a:rPr sz="1600" dirty="0" smtClean="0">
                <a:solidFill>
                  <a:srgbClr val="333333"/>
                </a:solidFill>
                <a:latin typeface="Arial MT"/>
                <a:cs typeface="Arial MT"/>
              </a:rPr>
              <a:t>1.0)</a:t>
            </a:r>
            <a:endParaRPr lang="en-US" sz="16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890905" lvl="1" indent="-285750">
              <a:lnSpc>
                <a:spcPct val="150000"/>
              </a:lnSpc>
              <a:spcBef>
                <a:spcPts val="254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600" dirty="0" smtClean="0">
                <a:solidFill>
                  <a:srgbClr val="333333"/>
                </a:solidFill>
                <a:latin typeface="Arial MT"/>
                <a:cs typeface="Arial MT"/>
              </a:rPr>
              <a:t>Bit 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0 → 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零电平 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(0.0</a:t>
            </a:r>
            <a:r>
              <a:rPr sz="1600" dirty="0" smtClean="0">
                <a:solidFill>
                  <a:srgbClr val="333333"/>
                </a:solidFill>
                <a:latin typeface="Arial MT"/>
                <a:cs typeface="Arial MT"/>
              </a:rPr>
              <a:t>)</a:t>
            </a:r>
            <a:endParaRPr lang="en-US" sz="16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890905" lvl="1" indent="-285750">
              <a:lnSpc>
                <a:spcPct val="150000"/>
              </a:lnSpc>
              <a:spcBef>
                <a:spcPts val="254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每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bit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使⽤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100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个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采样点</a:t>
            </a:r>
            <a:endParaRPr sz="1600" dirty="0">
              <a:latin typeface="SimSun"/>
              <a:cs typeface="SimSun"/>
            </a:endParaRPr>
          </a:p>
          <a:p>
            <a:pPr marL="317500" indent="-169545">
              <a:lnSpc>
                <a:spcPct val="150000"/>
              </a:lnSpc>
              <a:spcBef>
                <a:spcPts val="330"/>
              </a:spcBef>
              <a:buClr>
                <a:srgbClr val="333333"/>
              </a:buClr>
              <a:buFont typeface="Arial MT"/>
              <a:buAutoNum type="arabicPeriod" startAt="3"/>
              <a:tabLst>
                <a:tab pos="317500" algn="l"/>
              </a:tabLst>
            </a:pPr>
            <a:r>
              <a:rPr sz="1600" b="1" dirty="0">
                <a:latin typeface="Arial"/>
                <a:cs typeface="Arial"/>
              </a:rPr>
              <a:t>Cable</a:t>
            </a:r>
            <a:r>
              <a:rPr sz="1600" b="1" dirty="0">
                <a:latin typeface="Microsoft JhengHei"/>
                <a:cs typeface="Microsoft JhengHei"/>
              </a:rPr>
              <a:t>传输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模拟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衰减和⾼斯⽩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endParaRPr sz="1600" dirty="0">
              <a:latin typeface="Microsoft JhengHei"/>
              <a:cs typeface="Microsoft JhengHei"/>
            </a:endParaRPr>
          </a:p>
          <a:p>
            <a:pPr marL="317500" indent="-169545">
              <a:lnSpc>
                <a:spcPct val="15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sz="1600" b="1" dirty="0">
                <a:latin typeface="Microsoft JhengHei"/>
                <a:cs typeface="Microsoft JhengHei"/>
              </a:rPr>
              <a:t>⾃适应解调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使⽤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信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号统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计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特性⾃动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计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算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阈值</a:t>
            </a:r>
            <a:endParaRPr sz="1600" dirty="0">
              <a:latin typeface="SimSun"/>
              <a:cs typeface="SimSun"/>
            </a:endParaRPr>
          </a:p>
          <a:p>
            <a:pPr marL="317500" indent="-169545">
              <a:lnSpc>
                <a:spcPct val="15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sz="1600" b="1" dirty="0">
                <a:latin typeface="Microsoft JhengHei"/>
                <a:cs typeface="Microsoft JhengHei"/>
              </a:rPr>
              <a:t>完整性验证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前后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息完全⼀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致</a:t>
            </a:r>
            <a:endParaRPr sz="1600" dirty="0">
              <a:latin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727466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4402" y="1442521"/>
            <a:ext cx="4844245" cy="317448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84402" y="4765455"/>
            <a:ext cx="48442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图</a:t>
            </a:r>
            <a:r>
              <a:rPr lang="en-US" altLang="zh-CN" sz="1200" i="1" dirty="0">
                <a:solidFill>
                  <a:srgbClr val="333333"/>
                </a:solidFill>
                <a:cs typeface="Arial"/>
              </a:rPr>
              <a:t>1.1:</a:t>
            </a:r>
            <a:r>
              <a:rPr lang="zh-CN" altLang="en-US" sz="1200" i="1" dirty="0">
                <a:solidFill>
                  <a:srgbClr val="333333"/>
                </a:solidFill>
                <a:cs typeface="Arial"/>
              </a:rPr>
              <a:t> </a:t>
            </a:r>
            <a:r>
              <a:rPr lang="en-US" altLang="zh-CN" sz="1200" i="1" dirty="0">
                <a:solidFill>
                  <a:srgbClr val="333333"/>
                </a:solidFill>
                <a:cs typeface="Arial"/>
              </a:rPr>
              <a:t>OOK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调制过程 </a:t>
            </a:r>
            <a:r>
              <a:rPr lang="en-US" altLang="zh-CN" sz="1200" i="1" dirty="0">
                <a:solidFill>
                  <a:srgbClr val="333333"/>
                </a:solidFill>
                <a:cs typeface="Arial"/>
              </a:rPr>
              <a:t>- 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上：原始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⽐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特；中：调制信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号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；下：接收信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号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含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噪声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和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衰减）</a:t>
            </a:r>
            <a:endParaRPr lang="zh-CN" altLang="en-US" sz="1400" dirty="0">
              <a:latin typeface="SimSun"/>
              <a:cs typeface="SimSun"/>
            </a:endParaRPr>
          </a:p>
        </p:txBody>
      </p:sp>
      <p:pic>
        <p:nvPicPr>
          <p:cNvPr id="7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8131" y="1442521"/>
            <a:ext cx="5676189" cy="321103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028131" y="4817055"/>
            <a:ext cx="57724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spcBef>
                <a:spcPts val="95"/>
              </a:spcBef>
            </a:pP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图</a:t>
            </a:r>
            <a:r>
              <a:rPr lang="en-US" altLang="zh-CN" sz="1400" dirty="0">
                <a:solidFill>
                  <a:srgbClr val="333333"/>
                </a:solidFill>
                <a:latin typeface="SimSun"/>
                <a:cs typeface="SimSun"/>
              </a:rPr>
              <a:t>1.2: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 波形细节 </a:t>
            </a:r>
            <a:r>
              <a:rPr lang="en-US" altLang="zh-CN" sz="1400" dirty="0">
                <a:solidFill>
                  <a:srgbClr val="333333"/>
                </a:solidFill>
                <a:latin typeface="SimSun"/>
                <a:cs typeface="SimSun"/>
              </a:rPr>
              <a:t>- 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上：发送</a:t>
            </a:r>
            <a:r>
              <a:rPr lang="en-US" altLang="zh-CN" sz="1400" dirty="0">
                <a:solidFill>
                  <a:srgbClr val="333333"/>
                </a:solidFill>
                <a:latin typeface="SimSun"/>
                <a:cs typeface="SimSun"/>
              </a:rPr>
              <a:t>"Hi"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带⽐特标注和边界；下：接收信号带⾃适应阈值（绿线），</a:t>
            </a:r>
            <a:r>
              <a:rPr lang="en-US" altLang="zh-CN" sz="1400" dirty="0">
                <a:solidFill>
                  <a:srgbClr val="333333"/>
                </a:solidFill>
                <a:latin typeface="SimSun"/>
                <a:cs typeface="SimSun"/>
              </a:rPr>
              <a:t>SNR=14dB</a:t>
            </a:r>
            <a:endParaRPr lang="zh-CN" altLang="en-US" sz="1400" dirty="0">
              <a:solidFill>
                <a:srgbClr val="333333"/>
              </a:solidFill>
              <a:latin typeface="SimSun"/>
              <a:cs typeface="SimSun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000" b="1" dirty="0">
                <a:latin typeface="Arial"/>
                <a:cs typeface="Arial"/>
              </a:rPr>
              <a:t>1.1: </a:t>
            </a:r>
            <a:r>
              <a:rPr lang="zh-CN" altLang="en-US" sz="4400" b="1" spc="-200" dirty="0">
                <a:latin typeface="Microsoft JhengHei"/>
                <a:cs typeface="Microsoft JhengHei"/>
              </a:rPr>
              <a:t>⽐特流传输过</a:t>
            </a:r>
            <a:r>
              <a:rPr lang="zh-CN" altLang="en-US" sz="4400" b="1" spc="-145" dirty="0">
                <a:latin typeface="Malgun Gothic"/>
                <a:cs typeface="Malgun Gothic"/>
              </a:rPr>
              <a:t>程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559374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000" b="1" dirty="0" smtClean="0">
                <a:latin typeface="Arial"/>
                <a:cs typeface="Arial"/>
              </a:rPr>
              <a:t>1.2: </a:t>
            </a:r>
            <a:r>
              <a:rPr lang="zh-CN" altLang="en-US" sz="4000" b="1" dirty="0" smtClean="0">
                <a:latin typeface="Arial"/>
                <a:cs typeface="Arial"/>
              </a:rPr>
              <a:t>消息</a:t>
            </a:r>
            <a:r>
              <a:rPr lang="zh-CN" altLang="en-US" sz="4000" b="1" dirty="0">
                <a:latin typeface="Arial"/>
                <a:cs typeface="Arial"/>
              </a:rPr>
              <a:t>分片传输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9" name="object 17"/>
          <p:cNvSpPr txBox="1"/>
          <p:nvPr/>
        </p:nvSpPr>
        <p:spPr>
          <a:xfrm>
            <a:off x="820187" y="1217617"/>
            <a:ext cx="613727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SimSun"/>
                <a:cs typeface="SimSun"/>
              </a:rPr>
              <a:t>演⽰⼤数据分⽚传输和重组</a:t>
            </a:r>
            <a:r>
              <a:rPr lang="zh-CN" altLang="en-US" sz="1600" b="1" dirty="0" smtClean="0">
                <a:solidFill>
                  <a:srgbClr val="0070C0"/>
                </a:solidFill>
                <a:latin typeface="SimSun"/>
                <a:cs typeface="SimSun"/>
              </a:rPr>
              <a:t>机制</a:t>
            </a:r>
            <a:endParaRPr lang="zh-CN" altLang="en-US" sz="1600" b="1" dirty="0">
              <a:solidFill>
                <a:srgbClr val="0070C0"/>
              </a:solidFill>
              <a:latin typeface="SimSun"/>
              <a:cs typeface="SimSun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32" y="1905801"/>
            <a:ext cx="2521506" cy="4692373"/>
          </a:xfrm>
          <a:prstGeom prst="rect">
            <a:avLst/>
          </a:prstGeom>
        </p:spPr>
      </p:pic>
      <p:sp>
        <p:nvSpPr>
          <p:cNvPr id="7" name="object 3"/>
          <p:cNvSpPr txBox="1"/>
          <p:nvPr/>
        </p:nvSpPr>
        <p:spPr>
          <a:xfrm>
            <a:off x="4994311" y="1975723"/>
            <a:ext cx="6430876" cy="45525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5" dirty="0">
                <a:latin typeface="Consolas"/>
                <a:cs typeface="Consolas"/>
              </a:rPr>
              <a:t>=== </a:t>
            </a:r>
            <a:r>
              <a:rPr sz="1100" spc="45" dirty="0">
                <a:latin typeface="NSimSun"/>
                <a:cs typeface="NSimSun"/>
              </a:rPr>
              <a:t>消息分片传输演示 </a:t>
            </a:r>
            <a:r>
              <a:rPr sz="1100" spc="-25" dirty="0">
                <a:latin typeface="Consolas"/>
                <a:cs typeface="Consolas"/>
              </a:rPr>
              <a:t>===</a:t>
            </a:r>
            <a:endParaRPr sz="11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1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50" dirty="0">
                <a:latin typeface="NSimSun"/>
                <a:cs typeface="NSimSun"/>
              </a:rPr>
              <a:t>原始消息长度</a:t>
            </a:r>
            <a:r>
              <a:rPr sz="1100" spc="10" dirty="0">
                <a:latin typeface="Consolas"/>
                <a:cs typeface="Consolas"/>
              </a:rPr>
              <a:t>: </a:t>
            </a:r>
            <a:r>
              <a:rPr sz="1100" dirty="0">
                <a:latin typeface="Consolas"/>
                <a:cs typeface="Consolas"/>
              </a:rPr>
              <a:t>300</a:t>
            </a:r>
            <a:r>
              <a:rPr sz="1100" spc="20" dirty="0">
                <a:latin typeface="Consolas"/>
                <a:cs typeface="Consolas"/>
              </a:rPr>
              <a:t> </a:t>
            </a:r>
            <a:r>
              <a:rPr sz="1100" dirty="0">
                <a:latin typeface="NSimSun"/>
                <a:cs typeface="NSimSun"/>
              </a:rPr>
              <a:t>字节</a:t>
            </a: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100" dirty="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</a:pPr>
            <a:r>
              <a:rPr sz="1100" spc="50" dirty="0">
                <a:latin typeface="NSimSun"/>
                <a:cs typeface="NSimSun"/>
              </a:rPr>
              <a:t>分片数量</a:t>
            </a:r>
            <a:r>
              <a:rPr sz="1100" spc="5" dirty="0">
                <a:latin typeface="Consolas"/>
                <a:cs typeface="Consolas"/>
              </a:rPr>
              <a:t>: </a:t>
            </a:r>
            <a:r>
              <a:rPr sz="1100" spc="-50" dirty="0">
                <a:latin typeface="Consolas"/>
                <a:cs typeface="Consolas"/>
              </a:rPr>
              <a:t>5</a:t>
            </a:r>
            <a:endParaRPr sz="1100" dirty="0">
              <a:latin typeface="Consolas"/>
              <a:cs typeface="Consolas"/>
            </a:endParaRPr>
          </a:p>
          <a:p>
            <a:pPr marL="154940">
              <a:lnSpc>
                <a:spcPct val="100000"/>
              </a:lnSpc>
              <a:spcBef>
                <a:spcPts val="525"/>
              </a:spcBef>
            </a:pPr>
            <a:r>
              <a:rPr sz="1100" spc="50" dirty="0">
                <a:latin typeface="NSimSun"/>
                <a:cs typeface="NSimSun"/>
              </a:rPr>
              <a:t>分片 </a:t>
            </a:r>
            <a:r>
              <a:rPr sz="1100" dirty="0">
                <a:latin typeface="Consolas"/>
                <a:cs typeface="Consolas"/>
              </a:rPr>
              <a:t>0:</a:t>
            </a:r>
            <a:r>
              <a:rPr sz="1100" spc="25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64</a:t>
            </a:r>
            <a:r>
              <a:rPr sz="1100" spc="25" dirty="0">
                <a:latin typeface="Consolas"/>
                <a:cs typeface="Consolas"/>
              </a:rPr>
              <a:t> </a:t>
            </a:r>
            <a:r>
              <a:rPr sz="1100" dirty="0">
                <a:latin typeface="NSimSun"/>
                <a:cs typeface="NSimSun"/>
              </a:rPr>
              <a:t>字节</a:t>
            </a:r>
          </a:p>
          <a:p>
            <a:pPr marL="154940">
              <a:lnSpc>
                <a:spcPct val="100000"/>
              </a:lnSpc>
              <a:spcBef>
                <a:spcPts val="450"/>
              </a:spcBef>
            </a:pPr>
            <a:r>
              <a:rPr sz="1100" spc="50" dirty="0">
                <a:latin typeface="NSimSun"/>
                <a:cs typeface="NSimSun"/>
              </a:rPr>
              <a:t>分片 </a:t>
            </a:r>
            <a:r>
              <a:rPr sz="1100" dirty="0">
                <a:latin typeface="Consolas"/>
                <a:cs typeface="Consolas"/>
              </a:rPr>
              <a:t>1:</a:t>
            </a:r>
            <a:r>
              <a:rPr sz="1100" spc="25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64</a:t>
            </a:r>
            <a:r>
              <a:rPr sz="1100" spc="25" dirty="0">
                <a:latin typeface="Consolas"/>
                <a:cs typeface="Consolas"/>
              </a:rPr>
              <a:t> </a:t>
            </a:r>
            <a:r>
              <a:rPr sz="1100" dirty="0">
                <a:latin typeface="NSimSun"/>
                <a:cs typeface="NSimSun"/>
              </a:rPr>
              <a:t>字节</a:t>
            </a:r>
          </a:p>
          <a:p>
            <a:pPr marL="154940">
              <a:lnSpc>
                <a:spcPct val="100000"/>
              </a:lnSpc>
              <a:spcBef>
                <a:spcPts val="525"/>
              </a:spcBef>
            </a:pPr>
            <a:r>
              <a:rPr sz="1100" spc="50" dirty="0">
                <a:latin typeface="NSimSun"/>
                <a:cs typeface="NSimSun"/>
              </a:rPr>
              <a:t>分片 </a:t>
            </a:r>
            <a:r>
              <a:rPr sz="1100" dirty="0">
                <a:latin typeface="Consolas"/>
                <a:cs typeface="Consolas"/>
              </a:rPr>
              <a:t>2:</a:t>
            </a:r>
            <a:r>
              <a:rPr sz="1100" spc="25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64</a:t>
            </a:r>
            <a:r>
              <a:rPr sz="1100" spc="25" dirty="0">
                <a:latin typeface="Consolas"/>
                <a:cs typeface="Consolas"/>
              </a:rPr>
              <a:t> </a:t>
            </a:r>
            <a:r>
              <a:rPr sz="1100" dirty="0">
                <a:latin typeface="NSimSun"/>
                <a:cs typeface="NSimSun"/>
              </a:rPr>
              <a:t>字节</a:t>
            </a:r>
          </a:p>
          <a:p>
            <a:pPr marL="154940">
              <a:lnSpc>
                <a:spcPct val="100000"/>
              </a:lnSpc>
              <a:spcBef>
                <a:spcPts val="450"/>
              </a:spcBef>
            </a:pPr>
            <a:r>
              <a:rPr sz="1100" spc="50" dirty="0">
                <a:latin typeface="NSimSun"/>
                <a:cs typeface="NSimSun"/>
              </a:rPr>
              <a:t>分片 </a:t>
            </a:r>
            <a:r>
              <a:rPr sz="1100" dirty="0">
                <a:latin typeface="Consolas"/>
                <a:cs typeface="Consolas"/>
              </a:rPr>
              <a:t>3:</a:t>
            </a:r>
            <a:r>
              <a:rPr sz="1100" spc="25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64</a:t>
            </a:r>
            <a:r>
              <a:rPr sz="1100" spc="25" dirty="0">
                <a:latin typeface="Consolas"/>
                <a:cs typeface="Consolas"/>
              </a:rPr>
              <a:t> </a:t>
            </a:r>
            <a:r>
              <a:rPr sz="1100" dirty="0">
                <a:latin typeface="NSimSun"/>
                <a:cs typeface="NSimSun"/>
              </a:rPr>
              <a:t>字节</a:t>
            </a:r>
          </a:p>
          <a:p>
            <a:pPr marL="154940">
              <a:lnSpc>
                <a:spcPct val="100000"/>
              </a:lnSpc>
              <a:spcBef>
                <a:spcPts val="450"/>
              </a:spcBef>
            </a:pPr>
            <a:r>
              <a:rPr sz="1100" spc="50" dirty="0">
                <a:latin typeface="NSimSun"/>
                <a:cs typeface="NSimSun"/>
              </a:rPr>
              <a:t>分片 </a:t>
            </a:r>
            <a:r>
              <a:rPr sz="1100" dirty="0">
                <a:latin typeface="Consolas"/>
                <a:cs typeface="Consolas"/>
              </a:rPr>
              <a:t>4:</a:t>
            </a:r>
            <a:r>
              <a:rPr sz="1100" spc="25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64</a:t>
            </a:r>
            <a:r>
              <a:rPr sz="1100" spc="25" dirty="0">
                <a:latin typeface="Consolas"/>
                <a:cs typeface="Consolas"/>
              </a:rPr>
              <a:t> </a:t>
            </a:r>
            <a:r>
              <a:rPr sz="1100" dirty="0">
                <a:latin typeface="NSimSun"/>
                <a:cs typeface="NSimSun"/>
              </a:rPr>
              <a:t>字节</a:t>
            </a: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100" dirty="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</a:pPr>
            <a:r>
              <a:rPr sz="1100" spc="50" dirty="0">
                <a:latin typeface="NSimSun"/>
                <a:cs typeface="NSimSun"/>
              </a:rPr>
              <a:t>传输分片</a:t>
            </a:r>
            <a:r>
              <a:rPr sz="1100" spc="-25" dirty="0">
                <a:latin typeface="Consolas"/>
                <a:cs typeface="Consolas"/>
              </a:rPr>
              <a:t>...</a:t>
            </a:r>
            <a:endParaRPr sz="1100" dirty="0">
              <a:latin typeface="Consolas"/>
              <a:cs typeface="Consolas"/>
            </a:endParaRPr>
          </a:p>
          <a:p>
            <a:pPr marL="12700" marR="2626995">
              <a:lnSpc>
                <a:spcPts val="1730"/>
              </a:lnSpc>
              <a:spcBef>
                <a:spcPts val="65"/>
              </a:spcBef>
            </a:pPr>
            <a:r>
              <a:rPr sz="1100" spc="50" dirty="0">
                <a:latin typeface="NSimSun"/>
                <a:cs typeface="NSimSun"/>
              </a:rPr>
              <a:t>接收长度</a:t>
            </a:r>
            <a:r>
              <a:rPr sz="1100" spc="-15" dirty="0">
                <a:latin typeface="Consolas"/>
                <a:cs typeface="Consolas"/>
              </a:rPr>
              <a:t>: </a:t>
            </a:r>
            <a:r>
              <a:rPr sz="1100" dirty="0">
                <a:latin typeface="Consolas"/>
                <a:cs typeface="Consolas"/>
              </a:rPr>
              <a:t>300</a:t>
            </a:r>
            <a:r>
              <a:rPr sz="1100" spc="-30" dirty="0">
                <a:latin typeface="Consolas"/>
                <a:cs typeface="Consolas"/>
              </a:rPr>
              <a:t> </a:t>
            </a:r>
            <a:r>
              <a:rPr sz="1100" dirty="0">
                <a:latin typeface="NSimSun"/>
                <a:cs typeface="NSimSun"/>
              </a:rPr>
              <a:t>字节</a:t>
            </a:r>
            <a:r>
              <a:rPr sz="1100" spc="50" dirty="0">
                <a:latin typeface="NSimSun"/>
                <a:cs typeface="NSimSun"/>
              </a:rPr>
              <a:t>传输成功</a:t>
            </a:r>
            <a:r>
              <a:rPr sz="1100" spc="5" dirty="0">
                <a:latin typeface="Consolas"/>
                <a:cs typeface="Consolas"/>
              </a:rPr>
              <a:t>: </a:t>
            </a:r>
            <a:r>
              <a:rPr sz="1100" spc="-20" dirty="0">
                <a:latin typeface="Consolas"/>
                <a:cs typeface="Consolas"/>
              </a:rPr>
              <a:t>True</a:t>
            </a:r>
            <a:endParaRPr sz="11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100" spc="50" dirty="0">
                <a:latin typeface="NSimSun"/>
                <a:cs typeface="NSimSun"/>
              </a:rPr>
              <a:t>数据匹配</a:t>
            </a:r>
            <a:r>
              <a:rPr sz="1100" spc="5" dirty="0">
                <a:latin typeface="Consolas"/>
                <a:cs typeface="Consolas"/>
              </a:rPr>
              <a:t>: </a:t>
            </a:r>
            <a:r>
              <a:rPr sz="1100" spc="-20" dirty="0">
                <a:latin typeface="Consolas"/>
                <a:cs typeface="Consolas"/>
              </a:rPr>
              <a:t>True</a:t>
            </a:r>
            <a:endParaRPr sz="11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1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100" spc="50" dirty="0">
                <a:latin typeface="NSimSun"/>
                <a:cs typeface="NSimSun"/>
              </a:rPr>
              <a:t>帧格式</a:t>
            </a:r>
            <a:r>
              <a:rPr sz="1100" spc="-50" dirty="0">
                <a:latin typeface="Consolas"/>
                <a:cs typeface="Consolas"/>
              </a:rPr>
              <a:t>:</a:t>
            </a:r>
            <a:endParaRPr sz="11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100" spc="-10" dirty="0">
                <a:latin typeface="Consolas"/>
                <a:cs typeface="Consolas"/>
              </a:rPr>
              <a:t>┌──────────┬────────┬──────────┬──────────┬──────────┐</a:t>
            </a:r>
            <a:endParaRPr sz="11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  <a:tabLst>
                <a:tab pos="2219960" algn="l"/>
              </a:tabLst>
            </a:pPr>
            <a:r>
              <a:rPr sz="1100" dirty="0">
                <a:latin typeface="Consolas"/>
                <a:cs typeface="Consolas"/>
              </a:rPr>
              <a:t>│</a:t>
            </a:r>
            <a:r>
              <a:rPr sz="1100" spc="25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Preamble</a:t>
            </a:r>
            <a:r>
              <a:rPr sz="1100" spc="30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│</a:t>
            </a:r>
            <a:r>
              <a:rPr sz="1100" spc="30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Length</a:t>
            </a:r>
            <a:r>
              <a:rPr sz="1100" spc="25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│</a:t>
            </a:r>
            <a:r>
              <a:rPr sz="1100" spc="30" dirty="0">
                <a:latin typeface="Consolas"/>
                <a:cs typeface="Consolas"/>
              </a:rPr>
              <a:t> </a:t>
            </a:r>
            <a:r>
              <a:rPr sz="1100" spc="-10" dirty="0">
                <a:latin typeface="Consolas"/>
                <a:cs typeface="Consolas"/>
              </a:rPr>
              <a:t>Payload</a:t>
            </a:r>
            <a:r>
              <a:rPr sz="1100" dirty="0">
                <a:latin typeface="Consolas"/>
                <a:cs typeface="Consolas"/>
              </a:rPr>
              <a:t>	│</a:t>
            </a:r>
            <a:r>
              <a:rPr sz="1100" spc="15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Checksum</a:t>
            </a:r>
            <a:r>
              <a:rPr sz="1100" spc="30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│</a:t>
            </a:r>
            <a:r>
              <a:rPr sz="1100" spc="30" dirty="0">
                <a:latin typeface="Consolas"/>
                <a:cs typeface="Consolas"/>
              </a:rPr>
              <a:t> </a:t>
            </a:r>
            <a:r>
              <a:rPr sz="1100" spc="-10" dirty="0">
                <a:latin typeface="Consolas"/>
                <a:cs typeface="Consolas"/>
              </a:rPr>
              <a:t>Postamble│</a:t>
            </a:r>
            <a:endParaRPr sz="11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  <a:tabLst>
                <a:tab pos="226060" algn="l"/>
                <a:tab pos="795655" algn="l"/>
                <a:tab pos="2433955" algn="l"/>
                <a:tab pos="3003550" algn="l"/>
                <a:tab pos="3217545" algn="l"/>
                <a:tab pos="3787140" algn="l"/>
              </a:tabLst>
            </a:pPr>
            <a:r>
              <a:rPr sz="1100" spc="-50" dirty="0">
                <a:latin typeface="Consolas"/>
                <a:cs typeface="Consolas"/>
              </a:rPr>
              <a:t>│</a:t>
            </a:r>
            <a:r>
              <a:rPr sz="1100" dirty="0">
                <a:latin typeface="Consolas"/>
                <a:cs typeface="Consolas"/>
              </a:rPr>
              <a:t>	8</a:t>
            </a:r>
            <a:r>
              <a:rPr sz="1100" spc="15" dirty="0">
                <a:latin typeface="Consolas"/>
                <a:cs typeface="Consolas"/>
              </a:rPr>
              <a:t> </a:t>
            </a:r>
            <a:r>
              <a:rPr sz="1100" spc="-20" dirty="0">
                <a:latin typeface="Consolas"/>
                <a:cs typeface="Consolas"/>
              </a:rPr>
              <a:t>bits</a:t>
            </a:r>
            <a:r>
              <a:rPr sz="1100" dirty="0">
                <a:latin typeface="Consolas"/>
                <a:cs typeface="Consolas"/>
              </a:rPr>
              <a:t>	│</a:t>
            </a:r>
            <a:r>
              <a:rPr sz="1100" spc="30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16</a:t>
            </a:r>
            <a:r>
              <a:rPr sz="1100" spc="30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bits│</a:t>
            </a:r>
            <a:r>
              <a:rPr sz="1100" spc="35" dirty="0">
                <a:latin typeface="Consolas"/>
                <a:cs typeface="Consolas"/>
              </a:rPr>
              <a:t> </a:t>
            </a:r>
            <a:r>
              <a:rPr sz="1100" dirty="0">
                <a:latin typeface="Consolas"/>
                <a:cs typeface="Consolas"/>
              </a:rPr>
              <a:t>variable</a:t>
            </a:r>
            <a:r>
              <a:rPr sz="1100" spc="30" dirty="0">
                <a:latin typeface="Consolas"/>
                <a:cs typeface="Consolas"/>
              </a:rPr>
              <a:t> </a:t>
            </a:r>
            <a:r>
              <a:rPr sz="1100" spc="-50" dirty="0">
                <a:latin typeface="Consolas"/>
                <a:cs typeface="Consolas"/>
              </a:rPr>
              <a:t>│</a:t>
            </a:r>
            <a:r>
              <a:rPr sz="1100" dirty="0">
                <a:latin typeface="Consolas"/>
                <a:cs typeface="Consolas"/>
              </a:rPr>
              <a:t>	8</a:t>
            </a:r>
            <a:r>
              <a:rPr sz="1100" spc="15" dirty="0">
                <a:latin typeface="Consolas"/>
                <a:cs typeface="Consolas"/>
              </a:rPr>
              <a:t> </a:t>
            </a:r>
            <a:r>
              <a:rPr sz="1100" spc="-20" dirty="0">
                <a:latin typeface="Consolas"/>
                <a:cs typeface="Consolas"/>
              </a:rPr>
              <a:t>bits</a:t>
            </a:r>
            <a:r>
              <a:rPr sz="1100" dirty="0">
                <a:latin typeface="Consolas"/>
                <a:cs typeface="Consolas"/>
              </a:rPr>
              <a:t>	</a:t>
            </a:r>
            <a:r>
              <a:rPr sz="1100" spc="-50" dirty="0">
                <a:latin typeface="Consolas"/>
                <a:cs typeface="Consolas"/>
              </a:rPr>
              <a:t>│</a:t>
            </a:r>
            <a:r>
              <a:rPr sz="1100" dirty="0">
                <a:latin typeface="Consolas"/>
                <a:cs typeface="Consolas"/>
              </a:rPr>
              <a:t>	8</a:t>
            </a:r>
            <a:r>
              <a:rPr sz="1100" spc="15" dirty="0">
                <a:latin typeface="Consolas"/>
                <a:cs typeface="Consolas"/>
              </a:rPr>
              <a:t> </a:t>
            </a:r>
            <a:r>
              <a:rPr sz="1100" spc="-20" dirty="0">
                <a:latin typeface="Consolas"/>
                <a:cs typeface="Consolas"/>
              </a:rPr>
              <a:t>bits</a:t>
            </a:r>
            <a:r>
              <a:rPr sz="1100" dirty="0">
                <a:latin typeface="Consolas"/>
                <a:cs typeface="Consolas"/>
              </a:rPr>
              <a:t>	</a:t>
            </a:r>
            <a:r>
              <a:rPr sz="1100" spc="-50" dirty="0">
                <a:latin typeface="Consolas"/>
                <a:cs typeface="Consolas"/>
              </a:rPr>
              <a:t>│</a:t>
            </a:r>
            <a:endParaRPr sz="11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spc="-10" dirty="0">
                <a:latin typeface="Consolas"/>
                <a:cs typeface="Consolas"/>
              </a:rPr>
              <a:t>└──────────┴────────┴──────────┴──────────┴──────────┘</a:t>
            </a:r>
            <a:endParaRPr sz="1100" dirty="0">
              <a:latin typeface="Consolas"/>
              <a:cs typeface="Consolas"/>
            </a:endParaRPr>
          </a:p>
        </p:txBody>
      </p:sp>
      <p:sp>
        <p:nvSpPr>
          <p:cNvPr id="8" name="object 2"/>
          <p:cNvSpPr txBox="1"/>
          <p:nvPr/>
        </p:nvSpPr>
        <p:spPr>
          <a:xfrm>
            <a:off x="4994311" y="1621956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95" dirty="0">
                <a:latin typeface="Microsoft JhengHei"/>
                <a:cs typeface="Microsoft JhengHei"/>
              </a:rPr>
              <a:t>运⾏结果</a:t>
            </a:r>
            <a:endParaRPr sz="1700" dirty="0">
              <a:latin typeface="Microsoft JhengHei"/>
              <a:cs typeface="Microsoft JhengHei"/>
            </a:endParaRPr>
          </a:p>
        </p:txBody>
      </p:sp>
      <p:sp>
        <p:nvSpPr>
          <p:cNvPr id="11" name="object 2"/>
          <p:cNvSpPr txBox="1"/>
          <p:nvPr/>
        </p:nvSpPr>
        <p:spPr>
          <a:xfrm>
            <a:off x="616832" y="1602839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700" b="1" spc="-195" dirty="0" smtClean="0">
                <a:latin typeface="Microsoft JhengHei"/>
                <a:cs typeface="Microsoft JhengHei"/>
              </a:rPr>
              <a:t>代码实现</a:t>
            </a:r>
            <a:endParaRPr sz="1700" dirty="0">
              <a:latin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845302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01968" y="332266"/>
            <a:ext cx="6314472" cy="83099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8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dirty="0">
                <a:latin typeface="Arial"/>
                <a:cs typeface="Arial"/>
              </a:rPr>
              <a:t>1.2</a:t>
            </a:r>
            <a:r>
              <a:rPr lang="en-US" altLang="zh-CN" sz="4400" b="1" dirty="0" smtClean="0">
                <a:latin typeface="Arial"/>
                <a:cs typeface="Arial"/>
              </a:rPr>
              <a:t>: </a:t>
            </a:r>
            <a:r>
              <a:rPr lang="zh-CN" altLang="en-US" sz="4400" b="1" dirty="0" smtClean="0">
                <a:latin typeface="Arial"/>
                <a:cs typeface="Arial"/>
              </a:rPr>
              <a:t>消息</a:t>
            </a:r>
            <a:r>
              <a:rPr lang="zh-CN" altLang="en-US" sz="4400" b="1" dirty="0">
                <a:latin typeface="Arial"/>
                <a:cs typeface="Arial"/>
              </a:rPr>
              <a:t>分片传输</a:t>
            </a:r>
            <a:endParaRPr lang="zh-CN" altLang="en-US" sz="4800" dirty="0">
              <a:latin typeface="Malgun Gothic"/>
              <a:cs typeface="Malgun Gothic"/>
            </a:endParaRPr>
          </a:p>
        </p:txBody>
      </p:sp>
      <p:sp>
        <p:nvSpPr>
          <p:cNvPr id="5" name="object 9"/>
          <p:cNvSpPr txBox="1"/>
          <p:nvPr/>
        </p:nvSpPr>
        <p:spPr>
          <a:xfrm>
            <a:off x="259883" y="1616476"/>
            <a:ext cx="4432768" cy="421333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600"/>
              </a:spcBef>
            </a:pPr>
            <a:r>
              <a:rPr sz="1700" b="1" dirty="0" err="1" smtClean="0">
                <a:latin typeface="Microsoft JhengHei"/>
                <a:cs typeface="Microsoft JhengHei"/>
              </a:rPr>
              <a:t>技术</a:t>
            </a:r>
            <a:r>
              <a:rPr sz="1700" b="1" dirty="0" err="1" smtClean="0">
                <a:latin typeface="Malgun Gothic"/>
                <a:cs typeface="Malgun Gothic"/>
              </a:rPr>
              <a:t>要点</a:t>
            </a:r>
            <a:endParaRPr lang="en-US" sz="1700" b="1" dirty="0" smtClean="0">
              <a:latin typeface="Malgun Gothic"/>
              <a:cs typeface="Malgun Gothic"/>
            </a:endParaRPr>
          </a:p>
          <a:p>
            <a:pPr marL="3556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sz="1350" b="1" dirty="0" err="1" smtClean="0">
                <a:latin typeface="Microsoft JhengHei"/>
                <a:cs typeface="Microsoft JhengHei"/>
              </a:rPr>
              <a:t>分</a:t>
            </a:r>
            <a:r>
              <a:rPr sz="1350" b="1" dirty="0" err="1">
                <a:latin typeface="Microsoft JhengHei"/>
                <a:cs typeface="Microsoft JhengHei"/>
              </a:rPr>
              <a:t>⽚策略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每个分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⽚最⼤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64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字节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300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字节数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据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需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要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5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个分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⽚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3556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sz="1350" b="1" dirty="0" err="1" smtClean="0">
                <a:latin typeface="Microsoft JhengHei"/>
                <a:cs typeface="Microsoft JhengHei"/>
              </a:rPr>
              <a:t>帧结构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2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319405" indent="-171450">
              <a:lnSpc>
                <a:spcPct val="15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Preamble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(0xAA): 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帧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开始标识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319405" indent="-171450">
              <a:lnSpc>
                <a:spcPct val="15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Length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载荷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⻓度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16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） 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319405" indent="-171450">
              <a:lnSpc>
                <a:spcPct val="15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Payload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际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数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据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319405" indent="-171450">
              <a:lnSpc>
                <a:spcPct val="15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Checksum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简单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校验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和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 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319405" indent="-171450">
              <a:lnSpc>
                <a:spcPct val="15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200" dirty="0" err="1" smtClean="0">
                <a:solidFill>
                  <a:srgbClr val="333333"/>
                </a:solidFill>
                <a:latin typeface="Arial MT"/>
                <a:cs typeface="Arial MT"/>
              </a:rPr>
              <a:t>Postamble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(0x55): 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帧结束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标识</a:t>
            </a:r>
            <a:endParaRPr sz="1350" dirty="0">
              <a:latin typeface="SimSun"/>
              <a:cs typeface="SimSun"/>
            </a:endParaRPr>
          </a:p>
          <a:p>
            <a:pPr marL="355600" indent="-342900">
              <a:lnSpc>
                <a:spcPct val="15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+mj-lt"/>
              <a:buAutoNum type="arabicPeriod" startAt="3"/>
              <a:tabLst>
                <a:tab pos="317500" algn="l"/>
              </a:tabLst>
            </a:pPr>
            <a:r>
              <a:rPr sz="1350" b="1" dirty="0">
                <a:latin typeface="Microsoft JhengHei"/>
                <a:cs typeface="Microsoft JhengHei"/>
              </a:rPr>
              <a:t>重组机制: </a:t>
            </a:r>
            <a:r>
              <a:rPr sz="1350" dirty="0">
                <a:latin typeface="Microsoft JhengHei"/>
                <a:cs typeface="Microsoft JhengHei"/>
              </a:rPr>
              <a:t>按序列号⾃动重组分⽚</a:t>
            </a:r>
          </a:p>
          <a:p>
            <a:pPr marL="355600" indent="-342900">
              <a:lnSpc>
                <a:spcPct val="15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+mj-lt"/>
              <a:buAutoNum type="arabicPeriod" startAt="3"/>
              <a:tabLst>
                <a:tab pos="317500" algn="l"/>
              </a:tabLst>
            </a:pPr>
            <a:r>
              <a:rPr sz="1350" b="1" dirty="0">
                <a:latin typeface="Microsoft JhengHei"/>
                <a:cs typeface="Microsoft JhengHei"/>
              </a:rPr>
              <a:t>错误检测: </a:t>
            </a:r>
            <a:r>
              <a:rPr sz="1350" dirty="0" err="1">
                <a:latin typeface="Microsoft JhengHei"/>
                <a:cs typeface="Microsoft JhengHei"/>
              </a:rPr>
              <a:t>通过校验和验证每个帧的完整性</a:t>
            </a:r>
            <a:endParaRPr sz="1350" dirty="0">
              <a:latin typeface="Microsoft JhengHei"/>
              <a:cs typeface="Microsoft JhengHei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244" y="1746352"/>
            <a:ext cx="3386210" cy="29227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048" y="1687746"/>
            <a:ext cx="2612460" cy="49795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矩形 6"/>
          <p:cNvSpPr/>
          <p:nvPr/>
        </p:nvSpPr>
        <p:spPr>
          <a:xfrm>
            <a:off x="8746048" y="1379969"/>
            <a:ext cx="30618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2. 数据链路层帧 (data_link_layer.py)</a:t>
            </a:r>
          </a:p>
        </p:txBody>
      </p:sp>
      <p:sp>
        <p:nvSpPr>
          <p:cNvPr id="8" name="矩形 7"/>
          <p:cNvSpPr/>
          <p:nvPr/>
        </p:nvSpPr>
        <p:spPr>
          <a:xfrm>
            <a:off x="4910699" y="1412401"/>
            <a:ext cx="25231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1. 分片器 (data_link_layer.py)</a:t>
            </a:r>
          </a:p>
        </p:txBody>
      </p:sp>
    </p:spTree>
    <p:extLst>
      <p:ext uri="{BB962C8B-B14F-4D97-AF65-F5344CB8AC3E}">
        <p14:creationId xmlns:p14="http://schemas.microsoft.com/office/powerpoint/2010/main" val="3390041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000" b="1" dirty="0" smtClean="0">
                <a:latin typeface="Arial"/>
                <a:cs typeface="Arial"/>
              </a:rPr>
              <a:t>1.3: </a:t>
            </a:r>
            <a:r>
              <a:rPr lang="zh-CN" altLang="en-US" sz="4000" b="1" dirty="0" smtClean="0">
                <a:latin typeface="Arial"/>
                <a:cs typeface="Arial"/>
              </a:rPr>
              <a:t>噪声</a:t>
            </a:r>
            <a:r>
              <a:rPr lang="zh-CN" altLang="en-US" sz="4000" b="1" dirty="0">
                <a:latin typeface="Arial"/>
                <a:cs typeface="Arial"/>
              </a:rPr>
              <a:t>环境测试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9" name="object 17"/>
          <p:cNvSpPr txBox="1"/>
          <p:nvPr/>
        </p:nvSpPr>
        <p:spPr>
          <a:xfrm>
            <a:off x="1330326" y="1236868"/>
            <a:ext cx="613727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zh-CN" altLang="en-US" sz="1600" b="1" dirty="0" smtClean="0">
                <a:solidFill>
                  <a:srgbClr val="0070C0"/>
                </a:solidFill>
                <a:latin typeface="SimSun"/>
                <a:cs typeface="SimSun"/>
              </a:rPr>
              <a:t>测试</a:t>
            </a:r>
            <a:r>
              <a:rPr lang="zh-CN" altLang="en-US" sz="1600" b="1" dirty="0">
                <a:solidFill>
                  <a:srgbClr val="0070C0"/>
                </a:solidFill>
                <a:latin typeface="SimSun"/>
                <a:cs typeface="SimSun"/>
              </a:rPr>
              <a:t>不同噪声水平对传输质量的影响</a:t>
            </a:r>
          </a:p>
        </p:txBody>
      </p:sp>
      <p:sp>
        <p:nvSpPr>
          <p:cNvPr id="8" name="object 2"/>
          <p:cNvSpPr txBox="1"/>
          <p:nvPr/>
        </p:nvSpPr>
        <p:spPr>
          <a:xfrm>
            <a:off x="5504450" y="1641207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95" dirty="0">
                <a:latin typeface="Microsoft JhengHei"/>
                <a:cs typeface="Microsoft JhengHei"/>
              </a:rPr>
              <a:t>运⾏结果</a:t>
            </a:r>
            <a:endParaRPr sz="1700" dirty="0">
              <a:latin typeface="Microsoft JhengHei"/>
              <a:cs typeface="Microsoft JhengHei"/>
            </a:endParaRPr>
          </a:p>
        </p:txBody>
      </p:sp>
      <p:sp>
        <p:nvSpPr>
          <p:cNvPr id="11" name="object 2"/>
          <p:cNvSpPr txBox="1"/>
          <p:nvPr/>
        </p:nvSpPr>
        <p:spPr>
          <a:xfrm>
            <a:off x="1126971" y="1622090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700" b="1" spc="-195" dirty="0" smtClean="0">
                <a:latin typeface="Microsoft JhengHei"/>
                <a:cs typeface="Microsoft JhengHei"/>
              </a:rPr>
              <a:t>代码实现</a:t>
            </a:r>
            <a:endParaRPr sz="1700" dirty="0">
              <a:latin typeface="Microsoft JhengHei"/>
              <a:cs typeface="Microsoft JhengHei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971" y="1925052"/>
            <a:ext cx="3252228" cy="471637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588" y="2069705"/>
            <a:ext cx="5139698" cy="363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28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244" y="1746352"/>
            <a:ext cx="3386210" cy="29227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048" y="1687746"/>
            <a:ext cx="2612460" cy="49795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矩形 6"/>
          <p:cNvSpPr/>
          <p:nvPr/>
        </p:nvSpPr>
        <p:spPr>
          <a:xfrm>
            <a:off x="8746048" y="1379969"/>
            <a:ext cx="30618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2. 数据链路层帧 (data_link_layer.py)</a:t>
            </a:r>
          </a:p>
        </p:txBody>
      </p:sp>
      <p:sp>
        <p:nvSpPr>
          <p:cNvPr id="8" name="矩形 7"/>
          <p:cNvSpPr/>
          <p:nvPr/>
        </p:nvSpPr>
        <p:spPr>
          <a:xfrm>
            <a:off x="4910699" y="1412401"/>
            <a:ext cx="25231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1. 分片器 (data_link_layer.py)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000" b="1" dirty="0" smtClean="0">
                <a:latin typeface="Arial"/>
                <a:cs typeface="Arial"/>
              </a:rPr>
              <a:t>1.3: </a:t>
            </a:r>
            <a:r>
              <a:rPr lang="zh-CN" altLang="en-US" sz="4000" b="1" dirty="0" smtClean="0">
                <a:latin typeface="Arial"/>
                <a:cs typeface="Arial"/>
              </a:rPr>
              <a:t>噪声</a:t>
            </a:r>
            <a:r>
              <a:rPr lang="zh-CN" altLang="en-US" sz="4000" b="1" dirty="0">
                <a:latin typeface="Arial"/>
                <a:cs typeface="Arial"/>
              </a:rPr>
              <a:t>环境测试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10" name="object 14"/>
          <p:cNvSpPr txBox="1"/>
          <p:nvPr/>
        </p:nvSpPr>
        <p:spPr>
          <a:xfrm>
            <a:off x="146417" y="1533857"/>
            <a:ext cx="4430487" cy="42261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sz="1700" b="1" dirty="0" err="1" smtClean="0">
                <a:latin typeface="Microsoft JhengHei"/>
                <a:cs typeface="Microsoft JhengHei"/>
              </a:rPr>
              <a:t>技术</a:t>
            </a:r>
            <a:r>
              <a:rPr sz="1700" b="1" dirty="0" err="1" smtClean="0">
                <a:latin typeface="Malgun Gothic"/>
                <a:cs typeface="Malgun Gothic"/>
              </a:rPr>
              <a:t>要点</a:t>
            </a:r>
            <a:endParaRPr lang="en-US" sz="1700" b="1" dirty="0" smtClean="0">
              <a:latin typeface="Malgun Gothic"/>
              <a:cs typeface="Malgun Gothic"/>
            </a:endParaRPr>
          </a:p>
          <a:p>
            <a:pPr marL="355600" indent="-342900">
              <a:lnSpc>
                <a:spcPct val="150000"/>
              </a:lnSpc>
              <a:spcBef>
                <a:spcPts val="95"/>
              </a:spcBef>
              <a:buFont typeface="+mj-lt"/>
              <a:buAutoNum type="arabicPeriod"/>
            </a:pPr>
            <a:r>
              <a:rPr sz="1350" b="1" dirty="0" err="1" smtClean="0">
                <a:latin typeface="Malgun Gothic"/>
                <a:cs typeface="Malgun Gothic"/>
              </a:rPr>
              <a:t>采</a:t>
            </a:r>
            <a:r>
              <a:rPr sz="1350" b="1" dirty="0" err="1" smtClean="0">
                <a:latin typeface="Microsoft JhengHei"/>
                <a:cs typeface="Microsoft JhengHei"/>
              </a:rPr>
              <a:t>样平均效应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2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lnSpc>
                <a:spcPct val="150000"/>
              </a:lnSpc>
              <a:spcBef>
                <a:spcPts val="1235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每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bit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 100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个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采样点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取平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均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lnSpc>
                <a:spcPct val="150000"/>
              </a:lnSpc>
              <a:spcBef>
                <a:spcPts val="1235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标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准差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降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低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约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√100 = 10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倍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lnSpc>
                <a:spcPct val="150000"/>
              </a:lnSpc>
              <a:spcBef>
                <a:spcPts val="1235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有效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= 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际噪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/10</a:t>
            </a:r>
            <a:endParaRPr sz="1200" dirty="0">
              <a:latin typeface="Arial MT"/>
              <a:cs typeface="Arial MT"/>
            </a:endParaRPr>
          </a:p>
          <a:p>
            <a:pPr marL="355600" indent="-342900">
              <a:lnSpc>
                <a:spcPct val="150000"/>
              </a:lnSpc>
              <a:spcBef>
                <a:spcPts val="95"/>
              </a:spcBef>
              <a:buClr>
                <a:srgbClr val="333333"/>
              </a:buClr>
              <a:buSzPct val="88888"/>
              <a:buFont typeface="+mj-lt"/>
              <a:buAutoNum type="arabicPeriod" startAt="2"/>
              <a:tabLst>
                <a:tab pos="317500" algn="l"/>
              </a:tabLst>
            </a:pPr>
            <a:r>
              <a:rPr sz="1350" b="1" dirty="0">
                <a:latin typeface="Malgun Gothic"/>
                <a:cs typeface="Malgun Gothic"/>
              </a:rPr>
              <a:t>⾃适应阈值: </a:t>
            </a:r>
            <a:r>
              <a:rPr sz="1350" dirty="0">
                <a:latin typeface="Malgun Gothic"/>
                <a:cs typeface="Malgun Gothic"/>
              </a:rPr>
              <a:t>根据信号统计特性动态调整判决阈值</a:t>
            </a:r>
          </a:p>
          <a:p>
            <a:pPr marL="355600" indent="-342900">
              <a:lnSpc>
                <a:spcPct val="150000"/>
              </a:lnSpc>
              <a:spcBef>
                <a:spcPts val="95"/>
              </a:spcBef>
              <a:buClr>
                <a:srgbClr val="333333"/>
              </a:buClr>
              <a:buSzPct val="88888"/>
              <a:buFont typeface="+mj-lt"/>
              <a:buAutoNum type="arabicPeriod" startAt="2"/>
              <a:tabLst>
                <a:tab pos="317500" algn="l"/>
              </a:tabLst>
            </a:pPr>
            <a:r>
              <a:rPr sz="1350" b="1" dirty="0" err="1">
                <a:latin typeface="Malgun Gothic"/>
                <a:cs typeface="Malgun Gothic"/>
              </a:rPr>
              <a:t>噪声容忍度</a:t>
            </a:r>
            <a:r>
              <a:rPr sz="1350" b="1" dirty="0">
                <a:latin typeface="Malgun Gothic"/>
                <a:cs typeface="Malgun Gothic"/>
              </a:rPr>
              <a:t>:</a:t>
            </a:r>
            <a:endParaRPr lang="en-US" sz="1350" b="1" dirty="0">
              <a:latin typeface="Malgun Gothic"/>
              <a:cs typeface="Malgun Gothic"/>
            </a:endParaRPr>
          </a:p>
          <a:p>
            <a:pPr marL="319405" indent="-171450">
              <a:lnSpc>
                <a:spcPct val="15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σ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≤ 1.2: 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⼏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乎⽆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误码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319405" indent="-171450">
              <a:lnSpc>
                <a:spcPct val="15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σ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= 1.5: 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开始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出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现误码（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0.11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%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319405" indent="-171450">
              <a:lnSpc>
                <a:spcPct val="15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σ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= 2.0: 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误码率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1.36%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但仍可成功传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endParaRPr sz="1350" dirty="0">
              <a:latin typeface="SimSun"/>
              <a:cs typeface="SimSun"/>
            </a:endParaRPr>
          </a:p>
          <a:p>
            <a:pPr marL="355600" indent="-342900">
              <a:lnSpc>
                <a:spcPct val="150000"/>
              </a:lnSpc>
              <a:spcBef>
                <a:spcPts val="95"/>
              </a:spcBef>
              <a:buClr>
                <a:srgbClr val="333333"/>
              </a:buClr>
              <a:buSzPct val="88888"/>
              <a:buFont typeface="+mj-lt"/>
              <a:buAutoNum type="arabicPeriod" startAt="4"/>
              <a:tabLst>
                <a:tab pos="317500" algn="l"/>
              </a:tabLst>
            </a:pPr>
            <a:r>
              <a:rPr sz="1350" b="1" dirty="0">
                <a:latin typeface="Malgun Gothic"/>
                <a:cs typeface="Malgun Gothic"/>
              </a:rPr>
              <a:t>误码率计算: </a:t>
            </a:r>
            <a:r>
              <a:rPr sz="1350" dirty="0">
                <a:latin typeface="Malgun Gothic"/>
                <a:cs typeface="Malgun Gothic"/>
              </a:rPr>
              <a:t>BER = 错误⽐特数 / 总⽐特数</a:t>
            </a:r>
          </a:p>
        </p:txBody>
      </p:sp>
    </p:spTree>
    <p:extLst>
      <p:ext uri="{BB962C8B-B14F-4D97-AF65-F5344CB8AC3E}">
        <p14:creationId xmlns:p14="http://schemas.microsoft.com/office/powerpoint/2010/main" val="1020947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73702" y="332266"/>
            <a:ext cx="7141443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000" b="1" dirty="0" smtClean="0">
                <a:latin typeface="Arial"/>
                <a:cs typeface="Arial"/>
              </a:rPr>
              <a:t>1.4</a:t>
            </a:r>
            <a:r>
              <a:rPr lang="en-US" altLang="zh-CN" sz="4000" b="1" dirty="0">
                <a:latin typeface="Arial"/>
                <a:cs typeface="Arial"/>
              </a:rPr>
              <a:t>: Shannon</a:t>
            </a:r>
            <a:r>
              <a:rPr lang="zh-CN" altLang="en-US" sz="4000" b="1" dirty="0">
                <a:latin typeface="Arial"/>
                <a:cs typeface="Arial"/>
              </a:rPr>
              <a:t>公式比较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9" name="object 17"/>
          <p:cNvSpPr txBox="1"/>
          <p:nvPr/>
        </p:nvSpPr>
        <p:spPr>
          <a:xfrm>
            <a:off x="743185" y="1227243"/>
            <a:ext cx="613727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SimSun"/>
                <a:cs typeface="SimSun"/>
              </a:rPr>
              <a:t>将实际传输性能与</a:t>
            </a:r>
            <a:r>
              <a:rPr lang="en-US" altLang="zh-CN" sz="1600" b="1" dirty="0">
                <a:solidFill>
                  <a:srgbClr val="0070C0"/>
                </a:solidFill>
                <a:latin typeface="SimSun"/>
                <a:cs typeface="SimSun"/>
              </a:rPr>
              <a:t>Shannon</a:t>
            </a:r>
            <a:r>
              <a:rPr lang="zh-CN" altLang="en-US" sz="1600" b="1" dirty="0">
                <a:solidFill>
                  <a:srgbClr val="0070C0"/>
                </a:solidFill>
                <a:latin typeface="SimSun"/>
                <a:cs typeface="SimSun"/>
              </a:rPr>
              <a:t>理论容量对比</a:t>
            </a:r>
          </a:p>
        </p:txBody>
      </p:sp>
      <p:sp>
        <p:nvSpPr>
          <p:cNvPr id="8" name="object 2"/>
          <p:cNvSpPr txBox="1"/>
          <p:nvPr/>
        </p:nvSpPr>
        <p:spPr>
          <a:xfrm>
            <a:off x="4917309" y="1631582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95" dirty="0">
                <a:latin typeface="Microsoft JhengHei"/>
                <a:cs typeface="Microsoft JhengHei"/>
              </a:rPr>
              <a:t>运⾏结果</a:t>
            </a:r>
            <a:endParaRPr sz="1700" dirty="0">
              <a:latin typeface="Microsoft JhengHei"/>
              <a:cs typeface="Microsoft JhengHei"/>
            </a:endParaRPr>
          </a:p>
        </p:txBody>
      </p:sp>
      <p:sp>
        <p:nvSpPr>
          <p:cNvPr id="11" name="object 2"/>
          <p:cNvSpPr txBox="1"/>
          <p:nvPr/>
        </p:nvSpPr>
        <p:spPr>
          <a:xfrm>
            <a:off x="539830" y="1612465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700" b="1" spc="-195" dirty="0" smtClean="0">
                <a:latin typeface="Microsoft JhengHei"/>
                <a:cs typeface="Microsoft JhengHei"/>
              </a:rPr>
              <a:t>代码实现</a:t>
            </a:r>
            <a:endParaRPr sz="1700" dirty="0">
              <a:latin typeface="Microsoft JhengHei"/>
              <a:cs typeface="Microsoft JhengHei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29" y="2021846"/>
            <a:ext cx="3570157" cy="47379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027" y="2021845"/>
            <a:ext cx="6610043" cy="319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76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73702" y="332266"/>
            <a:ext cx="7141443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000" b="1" dirty="0" smtClean="0">
                <a:latin typeface="Arial"/>
                <a:cs typeface="Arial"/>
              </a:rPr>
              <a:t>1.4</a:t>
            </a:r>
            <a:r>
              <a:rPr lang="en-US" altLang="zh-CN" sz="4000" b="1" dirty="0">
                <a:latin typeface="Arial"/>
                <a:cs typeface="Arial"/>
              </a:rPr>
              <a:t>: Shannon</a:t>
            </a:r>
            <a:r>
              <a:rPr lang="zh-CN" altLang="en-US" sz="4000" b="1" dirty="0">
                <a:latin typeface="Arial"/>
                <a:cs typeface="Arial"/>
              </a:rPr>
              <a:t>公式比较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pic>
        <p:nvPicPr>
          <p:cNvPr id="10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2826" y="1216409"/>
            <a:ext cx="5284270" cy="436945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599441" y="5700564"/>
            <a:ext cx="5909292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95"/>
              </a:spcBef>
            </a:pP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图</a:t>
            </a:r>
            <a:r>
              <a:rPr lang="en-US" altLang="zh-CN" sz="1400" i="1" dirty="0">
                <a:solidFill>
                  <a:srgbClr val="333333"/>
                </a:solidFill>
                <a:cs typeface="Arial"/>
              </a:rPr>
              <a:t>1.4:</a:t>
            </a:r>
            <a:r>
              <a:rPr lang="zh-CN" altLang="en-US" sz="1400" i="1" dirty="0">
                <a:solidFill>
                  <a:srgbClr val="333333"/>
                </a:solidFill>
                <a:cs typeface="Arial"/>
              </a:rPr>
              <a:t> </a:t>
            </a:r>
            <a:r>
              <a:rPr lang="en-US" altLang="zh-CN" sz="1400" i="1" dirty="0">
                <a:solidFill>
                  <a:srgbClr val="333333"/>
                </a:solidFill>
                <a:cs typeface="Arial"/>
              </a:rPr>
              <a:t>Level 1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能四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维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分析 </a:t>
            </a:r>
            <a:endParaRPr lang="en-US" altLang="zh-CN" sz="16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12700" algn="ctr">
              <a:lnSpc>
                <a:spcPct val="100000"/>
              </a:lnSpc>
              <a:spcBef>
                <a:spcPts val="295"/>
              </a:spcBef>
            </a:pP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左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上：</a:t>
            </a:r>
            <a:r>
              <a:rPr lang="en-US" altLang="zh-CN" sz="1400" i="1" dirty="0">
                <a:solidFill>
                  <a:srgbClr val="333333"/>
                </a:solidFill>
                <a:cs typeface="Arial"/>
              </a:rPr>
              <a:t>SNR vs 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噪声；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右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上：</a:t>
            </a:r>
            <a:r>
              <a:rPr lang="en-US" altLang="zh-CN" sz="1400" i="1" dirty="0">
                <a:solidFill>
                  <a:srgbClr val="333333"/>
                </a:solidFill>
                <a:cs typeface="Arial"/>
              </a:rPr>
              <a:t>BER vs 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噪声（对数）</a:t>
            </a: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；</a:t>
            </a:r>
            <a:endParaRPr lang="en-US" altLang="zh-CN" sz="16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12700" algn="ctr">
              <a:lnSpc>
                <a:spcPct val="100000"/>
              </a:lnSpc>
              <a:spcBef>
                <a:spcPts val="295"/>
              </a:spcBef>
            </a:pP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左下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：</a:t>
            </a:r>
            <a:r>
              <a:rPr lang="en-US" altLang="zh-CN" sz="1400" i="1" dirty="0">
                <a:solidFill>
                  <a:srgbClr val="333333"/>
                </a:solidFill>
                <a:cs typeface="Arial"/>
              </a:rPr>
              <a:t>Shannon</a:t>
            </a: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容量 </a:t>
            </a:r>
            <a:r>
              <a:rPr lang="en-US" altLang="zh-CN" sz="1400" i="1" dirty="0" smtClean="0">
                <a:solidFill>
                  <a:srgbClr val="333333"/>
                </a:solidFill>
                <a:cs typeface="Arial"/>
              </a:rPr>
              <a:t>vs </a:t>
            </a:r>
            <a:r>
              <a:rPr lang="en-US" altLang="zh-CN" sz="1400" i="1" dirty="0">
                <a:solidFill>
                  <a:srgbClr val="333333"/>
                </a:solidFill>
                <a:cs typeface="Arial"/>
              </a:rPr>
              <a:t>SNR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；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右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下：成功率 </a:t>
            </a:r>
            <a:r>
              <a:rPr lang="en-US" altLang="zh-CN" sz="1400" i="1" dirty="0">
                <a:solidFill>
                  <a:srgbClr val="333333"/>
                </a:solidFill>
                <a:cs typeface="Arial"/>
              </a:rPr>
              <a:t>vs 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噪声</a:t>
            </a:r>
            <a:endParaRPr lang="zh-CN" altLang="en-US" sz="1600" dirty="0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3815425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26383" t="38431"/>
          <a:stretch/>
        </p:blipFill>
        <p:spPr>
          <a:xfrm>
            <a:off x="-29497" y="401638"/>
            <a:ext cx="11027090" cy="54741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166257" y="1952303"/>
            <a:ext cx="5617091" cy="90486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r>
              <a:rPr lang="en-US" altLang="zh-CN" sz="4400" dirty="0" smtClean="0">
                <a:latin typeface="+mn-lt"/>
                <a:cs typeface="Times New Roman" panose="02020603050405020304" pitchFamily="18" charset="0"/>
              </a:rPr>
              <a:t>Level 2</a:t>
            </a:r>
            <a:r>
              <a:rPr lang="zh-CN" altLang="en-US" sz="4400" dirty="0" smtClean="0"/>
              <a:t>：多主机通信</a:t>
            </a:r>
            <a:endParaRPr lang="zh-CN" altLang="en-US" sz="4400" dirty="0"/>
          </a:p>
        </p:txBody>
      </p:sp>
      <p:sp>
        <p:nvSpPr>
          <p:cNvPr id="9" name="文本框 8"/>
          <p:cNvSpPr txBox="1"/>
          <p:nvPr/>
        </p:nvSpPr>
        <p:spPr>
          <a:xfrm>
            <a:off x="7416799" y="3684293"/>
            <a:ext cx="1127233" cy="110799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66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汉仪趣黑W" panose="00020600040101010101" pitchFamily="18" charset="-122"/>
              </a:rPr>
              <a:t>03</a:t>
            </a:r>
            <a:endParaRPr lang="zh-CN" altLang="en-US" sz="6600" b="1" dirty="0">
              <a:solidFill>
                <a:schemeClr val="tx1">
                  <a:lumMod val="65000"/>
                  <a:lumOff val="35000"/>
                </a:schemeClr>
              </a:solidFill>
              <a:ea typeface="汉仪趣黑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5542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2</a:t>
            </a:r>
            <a:r>
              <a:rPr lang="en-US" altLang="zh-CN" sz="4000" b="1" dirty="0" smtClean="0">
                <a:latin typeface="Arial"/>
                <a:cs typeface="Arial"/>
              </a:rPr>
              <a:t>.1</a:t>
            </a:r>
            <a:r>
              <a:rPr lang="en-US" altLang="zh-CN" sz="4000" b="1" dirty="0">
                <a:latin typeface="Arial"/>
                <a:cs typeface="Arial"/>
              </a:rPr>
              <a:t>: </a:t>
            </a:r>
            <a:r>
              <a:rPr lang="zh-CN" altLang="en-US" sz="4400" b="1" spc="-200" dirty="0" smtClean="0">
                <a:latin typeface="Microsoft JhengHei"/>
                <a:cs typeface="Arial"/>
              </a:rPr>
              <a:t>多主机通信过程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9" name="object 17"/>
          <p:cNvSpPr txBox="1"/>
          <p:nvPr/>
        </p:nvSpPr>
        <p:spPr>
          <a:xfrm>
            <a:off x="743185" y="1227243"/>
            <a:ext cx="613727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1600" b="1" dirty="0" smtClean="0">
                <a:solidFill>
                  <a:srgbClr val="0070C0"/>
                </a:solidFill>
                <a:latin typeface="Microsoft JhengHei"/>
                <a:cs typeface="Microsoft JhengHei"/>
              </a:rPr>
              <a:t>演示</a:t>
            </a: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星型拓扑网络中的主机间通信</a:t>
            </a:r>
            <a:endParaRPr sz="1600" b="1" dirty="0">
              <a:solidFill>
                <a:srgbClr val="0070C0"/>
              </a:solidFill>
              <a:latin typeface="Microsoft JhengHei"/>
              <a:cs typeface="Microsoft JhengHei"/>
            </a:endParaRPr>
          </a:p>
        </p:txBody>
      </p:sp>
      <p:sp>
        <p:nvSpPr>
          <p:cNvPr id="11" name="object 2"/>
          <p:cNvSpPr txBox="1"/>
          <p:nvPr/>
        </p:nvSpPr>
        <p:spPr>
          <a:xfrm>
            <a:off x="4132807" y="1674992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95" dirty="0">
                <a:latin typeface="Microsoft JhengHei"/>
                <a:cs typeface="Microsoft JhengHei"/>
              </a:rPr>
              <a:t>运⾏结果</a:t>
            </a:r>
            <a:endParaRPr sz="1700" dirty="0">
              <a:latin typeface="Microsoft JhengHei"/>
              <a:cs typeface="Microsoft JhengHei"/>
            </a:endParaRPr>
          </a:p>
        </p:txBody>
      </p:sp>
      <p:sp>
        <p:nvSpPr>
          <p:cNvPr id="12" name="object 2"/>
          <p:cNvSpPr txBox="1"/>
          <p:nvPr/>
        </p:nvSpPr>
        <p:spPr>
          <a:xfrm>
            <a:off x="533697" y="1612085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700" b="1" spc="-195" dirty="0" smtClean="0">
                <a:latin typeface="Microsoft JhengHei"/>
                <a:cs typeface="Microsoft JhengHei"/>
              </a:rPr>
              <a:t>代码实现</a:t>
            </a:r>
            <a:endParaRPr sz="1700" dirty="0">
              <a:latin typeface="Microsoft JhengHei"/>
              <a:cs typeface="Microsoft JhengHei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41" y="1958837"/>
            <a:ext cx="2432488" cy="47655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807" y="1958837"/>
            <a:ext cx="3431350" cy="412432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4728" y="1895930"/>
            <a:ext cx="3538946" cy="238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195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997851" y="1382745"/>
            <a:ext cx="8723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2.网络帧</a:t>
            </a:r>
          </a:p>
        </p:txBody>
      </p:sp>
      <p:sp>
        <p:nvSpPr>
          <p:cNvPr id="8" name="矩形 7"/>
          <p:cNvSpPr/>
          <p:nvPr/>
        </p:nvSpPr>
        <p:spPr>
          <a:xfrm>
            <a:off x="4910699" y="1412401"/>
            <a:ext cx="13211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/>
              <a:t>1. </a:t>
            </a:r>
            <a:r>
              <a:rPr lang="en-US" altLang="zh-CN" sz="1400" b="1" dirty="0"/>
              <a:t>MAC</a:t>
            </a:r>
            <a:r>
              <a:rPr lang="zh-CN" altLang="en-US" sz="1400" b="1" dirty="0"/>
              <a:t>地址类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2</a:t>
            </a:r>
            <a:r>
              <a:rPr lang="en-US" altLang="zh-CN" sz="4000" b="1" dirty="0" smtClean="0">
                <a:latin typeface="Arial"/>
                <a:cs typeface="Arial"/>
              </a:rPr>
              <a:t>.1</a:t>
            </a:r>
            <a:r>
              <a:rPr lang="en-US" altLang="zh-CN" sz="4000" b="1" dirty="0">
                <a:latin typeface="Arial"/>
                <a:cs typeface="Arial"/>
              </a:rPr>
              <a:t>: </a:t>
            </a:r>
            <a:r>
              <a:rPr lang="zh-CN" altLang="en-US" sz="4400" b="1" spc="-200" dirty="0" smtClean="0">
                <a:latin typeface="Microsoft JhengHei"/>
                <a:cs typeface="Arial"/>
              </a:rPr>
              <a:t>多主机通信过程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13" name="object 7"/>
          <p:cNvSpPr txBox="1"/>
          <p:nvPr/>
        </p:nvSpPr>
        <p:spPr>
          <a:xfrm>
            <a:off x="243533" y="1687746"/>
            <a:ext cx="4615914" cy="2351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b="1" dirty="0">
                <a:latin typeface="Microsoft JhengHei"/>
                <a:cs typeface="Microsoft JhengHei"/>
              </a:rPr>
              <a:t>技术</a:t>
            </a:r>
            <a:r>
              <a:rPr b="1" dirty="0">
                <a:latin typeface="Malgun Gothic"/>
                <a:cs typeface="Malgun Gothic"/>
              </a:rPr>
              <a:t>要点</a:t>
            </a:r>
            <a:endParaRPr dirty="0">
              <a:latin typeface="Malgun Gothic"/>
              <a:cs typeface="Malgun Gothic"/>
            </a:endParaRPr>
          </a:p>
          <a:p>
            <a:pPr marL="317500" indent="-169545">
              <a:lnSpc>
                <a:spcPct val="150000"/>
              </a:lnSpc>
              <a:spcBef>
                <a:spcPts val="1235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sz="1400" b="1" dirty="0">
                <a:latin typeface="Microsoft JhengHei"/>
                <a:cs typeface="Microsoft JhengHei"/>
              </a:rPr>
              <a:t>星型拓扑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所有主机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通过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中⼼交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机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连接</a:t>
            </a:r>
            <a:endParaRPr sz="1400" dirty="0">
              <a:latin typeface="SimSun"/>
              <a:cs typeface="SimSun"/>
            </a:endParaRPr>
          </a:p>
          <a:p>
            <a:pPr marL="317500" indent="-169545">
              <a:lnSpc>
                <a:spcPct val="150000"/>
              </a:lnSpc>
              <a:spcBef>
                <a:spcPts val="254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sz="1400" b="1" dirty="0">
                <a:latin typeface="Arial"/>
                <a:cs typeface="Arial"/>
              </a:rPr>
              <a:t>MAC</a:t>
            </a:r>
            <a:r>
              <a:rPr sz="1400" b="1" dirty="0">
                <a:latin typeface="Microsoft JhengHei"/>
                <a:cs typeface="Microsoft JhengHei"/>
              </a:rPr>
              <a:t>地址分</a:t>
            </a:r>
            <a:r>
              <a:rPr sz="1400" b="1" dirty="0">
                <a:latin typeface="Malgun Gothic"/>
                <a:cs typeface="Malgun Gothic"/>
              </a:rPr>
              <a:t>配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每个主机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唯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⼀的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48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地址</a:t>
            </a:r>
            <a:endParaRPr sz="1400" dirty="0">
              <a:latin typeface="SimSun"/>
              <a:cs typeface="SimSun"/>
            </a:endParaRPr>
          </a:p>
          <a:p>
            <a:pPr marL="317500" indent="-169545">
              <a:lnSpc>
                <a:spcPct val="15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sz="1400" b="1" dirty="0">
                <a:latin typeface="Arial"/>
                <a:cs typeface="Arial"/>
              </a:rPr>
              <a:t>端⼝映射: 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每个主机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连接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到交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机的特定端⼝</a:t>
            </a:r>
            <a:endParaRPr sz="1400" dirty="0">
              <a:latin typeface="Microsoft JhengHei"/>
              <a:cs typeface="Microsoft JhengHei"/>
            </a:endParaRPr>
          </a:p>
          <a:p>
            <a:pPr marL="317500" indent="-169545">
              <a:lnSpc>
                <a:spcPct val="150000"/>
              </a:lnSpc>
              <a:spcBef>
                <a:spcPts val="330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sz="1400" b="1" dirty="0">
                <a:latin typeface="Arial"/>
                <a:cs typeface="Arial"/>
              </a:rPr>
              <a:t>MAC</a:t>
            </a:r>
            <a:r>
              <a:rPr sz="1400" b="1" dirty="0">
                <a:latin typeface="Microsoft JhengHei"/>
                <a:cs typeface="Microsoft JhengHei"/>
              </a:rPr>
              <a:t>学习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交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机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通过源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地址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⾃动学习主机位置</a:t>
            </a:r>
            <a:endParaRPr sz="1400" dirty="0">
              <a:latin typeface="Microsoft JhengHei"/>
              <a:cs typeface="Microsoft JhengHei"/>
            </a:endParaRPr>
          </a:p>
          <a:p>
            <a:pPr marL="317500" indent="-169545">
              <a:lnSpc>
                <a:spcPct val="15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sz="1400" b="1" dirty="0">
                <a:latin typeface="Arial"/>
                <a:cs typeface="Arial"/>
              </a:rPr>
              <a:t>帧过滤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主机只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接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收⽬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标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与⾃⼰匹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配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的帧</a:t>
            </a:r>
            <a:endParaRPr sz="1400" dirty="0">
              <a:latin typeface="Microsoft JhengHei"/>
              <a:cs typeface="Microsoft JhengHei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699" y="1842064"/>
            <a:ext cx="3004203" cy="439393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285" y="1842064"/>
            <a:ext cx="2922932" cy="480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43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18346" y="1318574"/>
            <a:ext cx="16305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 smtClean="0"/>
              <a:t>3</a:t>
            </a:r>
            <a:r>
              <a:rPr lang="zh-CN" altLang="en-US" sz="1400" b="1" dirty="0" smtClean="0"/>
              <a:t>.</a:t>
            </a:r>
            <a:r>
              <a:rPr lang="zh-CN" altLang="en-US" sz="1400" b="1" dirty="0"/>
              <a:t>交换机</a:t>
            </a:r>
            <a:r>
              <a:rPr lang="en-US" altLang="zh-CN" sz="1400" b="1" dirty="0"/>
              <a:t>MAC</a:t>
            </a:r>
            <a:r>
              <a:rPr lang="zh-CN" altLang="en-US" sz="1400" b="1" dirty="0"/>
              <a:t>学习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2</a:t>
            </a:r>
            <a:r>
              <a:rPr lang="en-US" altLang="zh-CN" sz="4000" b="1" dirty="0" smtClean="0">
                <a:latin typeface="Arial"/>
                <a:cs typeface="Arial"/>
              </a:rPr>
              <a:t>.1</a:t>
            </a:r>
            <a:r>
              <a:rPr lang="en-US" altLang="zh-CN" sz="4000" b="1" dirty="0">
                <a:latin typeface="Arial"/>
                <a:cs typeface="Arial"/>
              </a:rPr>
              <a:t>: </a:t>
            </a:r>
            <a:r>
              <a:rPr lang="zh-CN" altLang="en-US" sz="4400" b="1" spc="-200" dirty="0" smtClean="0">
                <a:latin typeface="Microsoft JhengHei"/>
                <a:cs typeface="Arial"/>
              </a:rPr>
              <a:t>多主机通信过程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46" y="1748237"/>
            <a:ext cx="2524194" cy="4464126"/>
          </a:xfrm>
          <a:prstGeom prst="rect">
            <a:avLst/>
          </a:prstGeom>
        </p:spPr>
      </p:pic>
      <p:pic>
        <p:nvPicPr>
          <p:cNvPr id="9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1425" y="2120216"/>
            <a:ext cx="4095602" cy="435139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559166" y="1318574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</a:rPr>
              <a:t>实现以太网交换机的核心功能——MAC学习和智能转发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。</a:t>
            </a:r>
            <a:endParaRPr lang="en-US" altLang="zh-CN" sz="1600" b="1" dirty="0" smtClean="0">
              <a:solidFill>
                <a:srgbClr val="0070C0"/>
              </a:solidFill>
            </a:endParaRPr>
          </a:p>
          <a:p>
            <a:r>
              <a:rPr lang="zh-CN" altLang="en-US" sz="1600" b="1" dirty="0" smtClean="0">
                <a:solidFill>
                  <a:srgbClr val="0070C0"/>
                </a:solidFill>
              </a:rPr>
              <a:t>自动</a:t>
            </a:r>
            <a:r>
              <a:rPr lang="zh-CN" altLang="en-US" sz="1600" b="1" dirty="0">
                <a:solidFill>
                  <a:srgbClr val="0070C0"/>
                </a:solidFill>
              </a:rPr>
              <a:t>构建MAC→端口映射表，支持单播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/组播</a:t>
            </a:r>
            <a:r>
              <a:rPr lang="zh-CN" altLang="en-US" sz="1600" b="1" dirty="0">
                <a:solidFill>
                  <a:srgbClr val="0070C0"/>
                </a:solidFill>
              </a:rPr>
              <a:t>/洪</a:t>
            </a:r>
            <a:r>
              <a:rPr lang="zh-CN" altLang="en-US" sz="1600" b="1" dirty="0" smtClean="0">
                <a:solidFill>
                  <a:srgbClr val="0070C0"/>
                </a:solidFill>
              </a:rPr>
              <a:t>泛</a:t>
            </a:r>
            <a:endParaRPr lang="zh-CN" altLang="en-US" sz="1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938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2</a:t>
            </a:r>
            <a:r>
              <a:rPr lang="en-US" altLang="zh-CN" sz="4000" b="1" dirty="0" smtClean="0">
                <a:latin typeface="Arial"/>
                <a:cs typeface="Arial"/>
              </a:rPr>
              <a:t>.2: </a:t>
            </a:r>
            <a:r>
              <a:rPr lang="zh-CN" altLang="en-US" sz="4000" b="1" dirty="0" smtClean="0">
                <a:latin typeface="Arial"/>
                <a:cs typeface="Arial"/>
              </a:rPr>
              <a:t>寻址</a:t>
            </a:r>
            <a:r>
              <a:rPr lang="zh-CN" altLang="en-US" sz="4000" b="1" dirty="0">
                <a:latin typeface="Arial"/>
                <a:cs typeface="Arial"/>
              </a:rPr>
              <a:t>机制讲解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9" name="object 17"/>
          <p:cNvSpPr txBox="1"/>
          <p:nvPr/>
        </p:nvSpPr>
        <p:spPr>
          <a:xfrm>
            <a:off x="743185" y="1227243"/>
            <a:ext cx="613727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展示</a:t>
            </a:r>
            <a:r>
              <a:rPr lang="en-US" altLang="zh-CN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MAC</a:t>
            </a: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地址格式和网络帧结构</a:t>
            </a:r>
            <a:endParaRPr sz="1600" b="1" dirty="0">
              <a:solidFill>
                <a:srgbClr val="0070C0"/>
              </a:solidFill>
              <a:latin typeface="Microsoft JhengHei"/>
              <a:cs typeface="Microsoft JhengHei"/>
            </a:endParaRPr>
          </a:p>
        </p:txBody>
      </p:sp>
      <p:sp>
        <p:nvSpPr>
          <p:cNvPr id="11" name="object 2"/>
          <p:cNvSpPr txBox="1"/>
          <p:nvPr/>
        </p:nvSpPr>
        <p:spPr>
          <a:xfrm>
            <a:off x="5056832" y="1675372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95" dirty="0">
                <a:latin typeface="Microsoft JhengHei"/>
                <a:cs typeface="Microsoft JhengHei"/>
              </a:rPr>
              <a:t>运⾏结果</a:t>
            </a:r>
            <a:endParaRPr sz="1700" dirty="0">
              <a:latin typeface="Microsoft JhengHei"/>
              <a:cs typeface="Microsoft JhengHei"/>
            </a:endParaRPr>
          </a:p>
        </p:txBody>
      </p:sp>
      <p:sp>
        <p:nvSpPr>
          <p:cNvPr id="12" name="object 2"/>
          <p:cNvSpPr txBox="1"/>
          <p:nvPr/>
        </p:nvSpPr>
        <p:spPr>
          <a:xfrm>
            <a:off x="1457722" y="1612465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700" b="1" spc="-195" dirty="0" smtClean="0">
                <a:latin typeface="Microsoft JhengHei"/>
                <a:cs typeface="Microsoft JhengHei"/>
              </a:rPr>
              <a:t>代码实现</a:t>
            </a:r>
            <a:endParaRPr sz="1700" dirty="0">
              <a:latin typeface="Microsoft JhengHei"/>
              <a:cs typeface="Microsoft JhengHei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548" y="2190222"/>
            <a:ext cx="3393438" cy="441308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327" y="2044746"/>
            <a:ext cx="5785543" cy="427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86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2</a:t>
            </a:r>
            <a:r>
              <a:rPr lang="en-US" altLang="zh-CN" sz="4000" b="1" dirty="0" smtClean="0">
                <a:latin typeface="Arial"/>
                <a:cs typeface="Arial"/>
              </a:rPr>
              <a:t>.2: </a:t>
            </a:r>
            <a:r>
              <a:rPr lang="zh-CN" altLang="en-US" sz="4000" b="1" dirty="0" smtClean="0">
                <a:latin typeface="Arial"/>
                <a:cs typeface="Arial"/>
              </a:rPr>
              <a:t>寻址</a:t>
            </a:r>
            <a:r>
              <a:rPr lang="zh-CN" altLang="en-US" sz="4000" b="1" dirty="0">
                <a:latin typeface="Arial"/>
                <a:cs typeface="Arial"/>
              </a:rPr>
              <a:t>机制讲解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10" name="object 14"/>
          <p:cNvSpPr txBox="1"/>
          <p:nvPr/>
        </p:nvSpPr>
        <p:spPr>
          <a:xfrm>
            <a:off x="3058623" y="1311844"/>
            <a:ext cx="7269284" cy="4967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600"/>
              </a:spcBef>
            </a:pPr>
            <a:r>
              <a:rPr sz="2000" b="1" dirty="0" err="1" smtClean="0">
                <a:latin typeface="Microsoft JhengHei"/>
                <a:cs typeface="Microsoft JhengHei"/>
              </a:rPr>
              <a:t>技术</a:t>
            </a:r>
            <a:r>
              <a:rPr sz="2000" b="1" dirty="0" err="1" smtClean="0">
                <a:latin typeface="Malgun Gothic"/>
                <a:cs typeface="Malgun Gothic"/>
              </a:rPr>
              <a:t>要点</a:t>
            </a:r>
            <a:endParaRPr lang="en-US" sz="2000" b="1" dirty="0" smtClean="0">
              <a:latin typeface="Malgun Gothic"/>
              <a:cs typeface="Malgun Gothic"/>
            </a:endParaRPr>
          </a:p>
          <a:p>
            <a:pPr marL="241300" indent="-228600">
              <a:spcBef>
                <a:spcPts val="600"/>
              </a:spcBef>
              <a:buFont typeface="+mj-lt"/>
              <a:buAutoNum type="arabicPeriod"/>
            </a:pPr>
            <a:r>
              <a:rPr b="1" dirty="0" err="1" smtClean="0">
                <a:latin typeface="Arial"/>
                <a:cs typeface="Arial"/>
              </a:rPr>
              <a:t>MAC</a:t>
            </a:r>
            <a:r>
              <a:rPr b="1" dirty="0" err="1">
                <a:latin typeface="Microsoft JhengHei"/>
                <a:cs typeface="Microsoft JhengHei"/>
              </a:rPr>
              <a:t>地址</a:t>
            </a:r>
            <a:r>
              <a:rPr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600" dirty="0" smtClean="0">
                <a:solidFill>
                  <a:srgbClr val="333333"/>
                </a:solidFill>
                <a:latin typeface="Arial MT"/>
                <a:cs typeface="Arial MT"/>
              </a:rPr>
              <a:t>48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唯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⼀</a:t>
            </a:r>
            <a:r>
              <a:rPr sz="1600" dirty="0" smtClean="0">
                <a:solidFill>
                  <a:srgbClr val="333333"/>
                </a:solidFill>
                <a:latin typeface="SimSun"/>
                <a:cs typeface="SimSun"/>
              </a:rPr>
              <a:t>标识</a:t>
            </a:r>
            <a:r>
              <a:rPr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符</a:t>
            </a:r>
            <a:endParaRPr lang="en-US" sz="16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⼗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六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进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制表⽰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⽤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冒号分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隔</a:t>
            </a:r>
            <a:endParaRPr lang="en-US" sz="16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600" dirty="0" err="1" smtClean="0">
                <a:solidFill>
                  <a:srgbClr val="333333"/>
                </a:solidFill>
                <a:latin typeface="Arial MT"/>
                <a:cs typeface="Arial MT"/>
              </a:rPr>
              <a:t>FF:FF:FF:FF:FF:FF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为⼴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播地址</a:t>
            </a:r>
            <a:endParaRPr sz="1600" dirty="0">
              <a:latin typeface="SimSun"/>
              <a:cs typeface="SimSun"/>
            </a:endParaRPr>
          </a:p>
          <a:p>
            <a:pPr marL="355600" indent="-342900">
              <a:spcBef>
                <a:spcPts val="600"/>
              </a:spcBef>
              <a:buClr>
                <a:srgbClr val="333333"/>
              </a:buClr>
              <a:buSzPct val="88888"/>
              <a:buFont typeface="+mj-lt"/>
              <a:buAutoNum type="arabicPeriod" startAt="2"/>
              <a:tabLst>
                <a:tab pos="317500" algn="l"/>
              </a:tabLst>
            </a:pPr>
            <a:r>
              <a:rPr b="1" dirty="0">
                <a:latin typeface="Arial"/>
                <a:cs typeface="Arial"/>
              </a:rPr>
              <a:t>⽹</a:t>
            </a:r>
            <a:r>
              <a:rPr b="1" dirty="0" err="1">
                <a:latin typeface="Arial"/>
                <a:cs typeface="Arial"/>
              </a:rPr>
              <a:t>络帧结构</a:t>
            </a:r>
            <a:r>
              <a:rPr b="1" dirty="0" smtClean="0">
                <a:latin typeface="Arial"/>
                <a:cs typeface="Arial"/>
              </a:rPr>
              <a:t>:</a:t>
            </a:r>
            <a:endParaRPr lang="en-US" b="1" dirty="0" smtClean="0">
              <a:latin typeface="Arial"/>
              <a:cs typeface="Arial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Preamble: 帧同步（0xAA）</a:t>
            </a:r>
            <a:endParaRPr lang="en-US" sz="1600" dirty="0">
              <a:solidFill>
                <a:srgbClr val="333333"/>
              </a:solidFill>
              <a:latin typeface="Arial MT"/>
              <a:cs typeface="Arial MT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⽬标MAC: 接收⽅地址（48位）</a:t>
            </a:r>
            <a:endParaRPr lang="en-US" sz="1600" dirty="0">
              <a:solidFill>
                <a:srgbClr val="333333"/>
              </a:solidFill>
              <a:latin typeface="Arial MT"/>
              <a:cs typeface="Arial MT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600" dirty="0" err="1">
                <a:solidFill>
                  <a:srgbClr val="333333"/>
                </a:solidFill>
                <a:latin typeface="Arial MT"/>
                <a:cs typeface="Arial MT"/>
              </a:rPr>
              <a:t>源MAC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: 发送⽅地址（48位）</a:t>
            </a:r>
            <a:endParaRPr lang="en-US" sz="1600" dirty="0">
              <a:solidFill>
                <a:srgbClr val="333333"/>
              </a:solidFill>
              <a:latin typeface="Arial MT"/>
              <a:cs typeface="Arial MT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Length: 载荷⻓度（16位，最⼤65535字节）</a:t>
            </a:r>
            <a:endParaRPr lang="en-US" sz="1600" dirty="0">
              <a:solidFill>
                <a:srgbClr val="333333"/>
              </a:solidFill>
              <a:latin typeface="Arial MT"/>
              <a:cs typeface="Arial MT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Payload: </a:t>
            </a:r>
            <a:r>
              <a:rPr sz="1600" dirty="0" err="1">
                <a:solidFill>
                  <a:srgbClr val="333333"/>
                </a:solidFill>
                <a:latin typeface="Arial MT"/>
                <a:cs typeface="Arial MT"/>
              </a:rPr>
              <a:t>实际数据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endParaRPr lang="en-US" sz="1600" dirty="0">
              <a:solidFill>
                <a:srgbClr val="333333"/>
              </a:solidFill>
              <a:latin typeface="Arial MT"/>
              <a:cs typeface="Arial MT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Checksum: 错误检测（8位） </a:t>
            </a:r>
            <a:endParaRPr lang="en-US" sz="1600" dirty="0">
              <a:solidFill>
                <a:srgbClr val="333333"/>
              </a:solidFill>
              <a:latin typeface="Arial MT"/>
              <a:cs typeface="Arial MT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600" dirty="0" err="1">
                <a:solidFill>
                  <a:srgbClr val="333333"/>
                </a:solidFill>
                <a:latin typeface="Arial MT"/>
                <a:cs typeface="Arial MT"/>
              </a:rPr>
              <a:t>Postamble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: 帧结束（0x55）</a:t>
            </a:r>
          </a:p>
          <a:p>
            <a:pPr marL="355600" indent="-342900">
              <a:spcBef>
                <a:spcPts val="600"/>
              </a:spcBef>
              <a:buClr>
                <a:srgbClr val="333333"/>
              </a:buClr>
              <a:buSzPct val="88888"/>
              <a:buFont typeface="+mj-lt"/>
              <a:buAutoNum type="arabicPeriod" startAt="2"/>
              <a:tabLst>
                <a:tab pos="317500" algn="l"/>
              </a:tabLst>
            </a:pPr>
            <a:r>
              <a:rPr b="1" dirty="0">
                <a:latin typeface="Arial"/>
                <a:cs typeface="Arial"/>
              </a:rPr>
              <a:t>总开销</a:t>
            </a:r>
            <a:r>
              <a:rPr dirty="0">
                <a:latin typeface="Arial"/>
                <a:cs typeface="Arial"/>
              </a:rPr>
              <a:t>: 固定开销 = 8 + 48 + 48 + 16 + 8 + 8 = 136 bits</a:t>
            </a:r>
          </a:p>
          <a:p>
            <a:pPr marL="355600" indent="-342900">
              <a:spcBef>
                <a:spcPts val="600"/>
              </a:spcBef>
              <a:buClr>
                <a:srgbClr val="333333"/>
              </a:buClr>
              <a:buSzPct val="88888"/>
              <a:buFont typeface="+mj-lt"/>
              <a:buAutoNum type="arabicPeriod" startAt="2"/>
              <a:tabLst>
                <a:tab pos="317500" algn="l"/>
              </a:tabLst>
            </a:pPr>
            <a:r>
              <a:rPr b="1" dirty="0">
                <a:latin typeface="Arial"/>
                <a:cs typeface="Arial"/>
              </a:rPr>
              <a:t>⽰例计算: </a:t>
            </a:r>
            <a:r>
              <a:rPr dirty="0">
                <a:latin typeface="Arial"/>
                <a:cs typeface="Arial"/>
              </a:rPr>
              <a:t>"Test"（4字节 = 32位）+ 开销136位 = 168位总⻓度</a:t>
            </a:r>
          </a:p>
        </p:txBody>
      </p:sp>
    </p:spTree>
    <p:extLst>
      <p:ext uri="{BB962C8B-B14F-4D97-AF65-F5344CB8AC3E}">
        <p14:creationId xmlns:p14="http://schemas.microsoft.com/office/powerpoint/2010/main" val="3327816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2</a:t>
            </a:r>
            <a:r>
              <a:rPr lang="en-US" altLang="zh-CN" sz="4000" b="1" dirty="0" smtClean="0">
                <a:latin typeface="Arial"/>
                <a:cs typeface="Arial"/>
              </a:rPr>
              <a:t>.3: </a:t>
            </a:r>
            <a:r>
              <a:rPr lang="zh-CN" altLang="en-US" sz="4000" b="1" dirty="0" smtClean="0">
                <a:latin typeface="Arial"/>
                <a:cs typeface="Arial"/>
              </a:rPr>
              <a:t>路由</a:t>
            </a:r>
            <a:r>
              <a:rPr lang="zh-CN" altLang="en-US" sz="4000" b="1" dirty="0">
                <a:latin typeface="Arial"/>
                <a:cs typeface="Arial"/>
              </a:rPr>
              <a:t>与转发讲解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9" name="object 17"/>
          <p:cNvSpPr txBox="1"/>
          <p:nvPr/>
        </p:nvSpPr>
        <p:spPr>
          <a:xfrm>
            <a:off x="743185" y="1227243"/>
            <a:ext cx="613727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演示交换机的</a:t>
            </a:r>
            <a:r>
              <a:rPr lang="en-US" altLang="zh-CN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MAC</a:t>
            </a: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学习和转发机制</a:t>
            </a:r>
            <a:endParaRPr sz="1600" b="1" dirty="0">
              <a:solidFill>
                <a:srgbClr val="0070C0"/>
              </a:solidFill>
              <a:latin typeface="Microsoft JhengHei"/>
              <a:cs typeface="Microsoft JhengHei"/>
            </a:endParaRPr>
          </a:p>
        </p:txBody>
      </p:sp>
      <p:sp>
        <p:nvSpPr>
          <p:cNvPr id="11" name="object 2"/>
          <p:cNvSpPr txBox="1"/>
          <p:nvPr/>
        </p:nvSpPr>
        <p:spPr>
          <a:xfrm>
            <a:off x="4132807" y="1674992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95" dirty="0">
                <a:latin typeface="Microsoft JhengHei"/>
                <a:cs typeface="Microsoft JhengHei"/>
              </a:rPr>
              <a:t>运⾏结果</a:t>
            </a:r>
            <a:endParaRPr sz="1700" dirty="0">
              <a:latin typeface="Microsoft JhengHei"/>
              <a:cs typeface="Microsoft JhengHei"/>
            </a:endParaRPr>
          </a:p>
        </p:txBody>
      </p:sp>
      <p:sp>
        <p:nvSpPr>
          <p:cNvPr id="12" name="object 2"/>
          <p:cNvSpPr txBox="1"/>
          <p:nvPr/>
        </p:nvSpPr>
        <p:spPr>
          <a:xfrm>
            <a:off x="533697" y="1612085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700" b="1" spc="-195" dirty="0" smtClean="0">
                <a:latin typeface="Microsoft JhengHei"/>
                <a:cs typeface="Microsoft JhengHei"/>
              </a:rPr>
              <a:t>代码实现</a:t>
            </a:r>
            <a:endParaRPr sz="1700" dirty="0">
              <a:latin typeface="Microsoft JhengHei"/>
              <a:cs typeface="Microsoft JhengHei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37" y="1958836"/>
            <a:ext cx="2386188" cy="471012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600" y="2146899"/>
            <a:ext cx="4464468" cy="40806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216" y="2067176"/>
            <a:ext cx="2362670" cy="395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93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2</a:t>
            </a:r>
            <a:r>
              <a:rPr lang="en-US" altLang="zh-CN" sz="4000" b="1" dirty="0" smtClean="0">
                <a:latin typeface="Arial"/>
                <a:cs typeface="Arial"/>
              </a:rPr>
              <a:t>.3: </a:t>
            </a:r>
            <a:r>
              <a:rPr lang="zh-CN" altLang="en-US" sz="4000" b="1" dirty="0" smtClean="0">
                <a:latin typeface="Arial"/>
                <a:cs typeface="Arial"/>
              </a:rPr>
              <a:t>路由</a:t>
            </a:r>
            <a:r>
              <a:rPr lang="zh-CN" altLang="en-US" sz="4000" b="1" dirty="0">
                <a:latin typeface="Arial"/>
                <a:cs typeface="Arial"/>
              </a:rPr>
              <a:t>与转发讲解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5" name="object 7"/>
          <p:cNvSpPr txBox="1"/>
          <p:nvPr/>
        </p:nvSpPr>
        <p:spPr>
          <a:xfrm>
            <a:off x="1193701" y="1575468"/>
            <a:ext cx="6082998" cy="3920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600"/>
              </a:spcBef>
            </a:pPr>
            <a:r>
              <a:rPr sz="2400" b="1" dirty="0" err="1" smtClean="0">
                <a:latin typeface="Microsoft JhengHei"/>
                <a:cs typeface="Microsoft JhengHei"/>
              </a:rPr>
              <a:t>技术</a:t>
            </a:r>
            <a:r>
              <a:rPr sz="2400" b="1" dirty="0" err="1" smtClean="0">
                <a:latin typeface="Malgun Gothic"/>
                <a:cs typeface="Malgun Gothic"/>
              </a:rPr>
              <a:t>要点</a:t>
            </a:r>
            <a:endParaRPr lang="en-US" sz="2400" b="1" dirty="0" smtClean="0">
              <a:latin typeface="Malgun Gothic"/>
              <a:cs typeface="Malgun Gothic"/>
            </a:endParaRPr>
          </a:p>
          <a:p>
            <a:pPr marL="12700">
              <a:spcBef>
                <a:spcPts val="600"/>
              </a:spcBef>
            </a:pPr>
            <a:r>
              <a:rPr dirty="0" smtClean="0">
                <a:solidFill>
                  <a:srgbClr val="333333"/>
                </a:solidFill>
                <a:latin typeface="Arial MT"/>
                <a:cs typeface="Arial MT"/>
              </a:rPr>
              <a:t>1</a:t>
            </a:r>
            <a:r>
              <a:rPr dirty="0">
                <a:solidFill>
                  <a:srgbClr val="333333"/>
                </a:solidFill>
                <a:latin typeface="Arial MT"/>
                <a:cs typeface="Arial MT"/>
              </a:rPr>
              <a:t>. </a:t>
            </a:r>
            <a:r>
              <a:rPr b="1" dirty="0" err="1">
                <a:latin typeface="Arial"/>
                <a:cs typeface="Arial"/>
              </a:rPr>
              <a:t>MAC</a:t>
            </a:r>
            <a:r>
              <a:rPr b="1" dirty="0" err="1">
                <a:latin typeface="Microsoft JhengHei"/>
                <a:cs typeface="Microsoft JhengHei"/>
              </a:rPr>
              <a:t>学习算法</a:t>
            </a:r>
            <a:r>
              <a:rPr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dirty="0">
              <a:latin typeface="Arial MT"/>
              <a:cs typeface="Arial MT"/>
            </a:endParaRPr>
          </a:p>
          <a:p>
            <a:pPr marL="433705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从每个</a:t>
            </a:r>
            <a:r>
              <a:rPr dirty="0" err="1" smtClean="0">
                <a:solidFill>
                  <a:srgbClr val="333333"/>
                </a:solidFill>
                <a:latin typeface="SimSun"/>
                <a:cs typeface="SimSun"/>
              </a:rPr>
              <a:t>接</a:t>
            </a:r>
            <a:r>
              <a:rPr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收的帧中</a:t>
            </a:r>
            <a:r>
              <a:rPr dirty="0" err="1" smtClean="0">
                <a:solidFill>
                  <a:srgbClr val="333333"/>
                </a:solidFill>
                <a:latin typeface="SimSun"/>
                <a:cs typeface="SimSun"/>
              </a:rPr>
              <a:t>提</a:t>
            </a:r>
            <a:r>
              <a:rPr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取</a:t>
            </a:r>
            <a:r>
              <a:rPr dirty="0" err="1" smtClean="0">
                <a:solidFill>
                  <a:srgbClr val="333333"/>
                </a:solidFill>
                <a:latin typeface="SimSun"/>
                <a:cs typeface="SimSun"/>
              </a:rPr>
              <a:t>源</a:t>
            </a:r>
            <a:r>
              <a:rPr dirty="0" err="1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dirty="0" err="1" smtClean="0">
                <a:solidFill>
                  <a:srgbClr val="333333"/>
                </a:solidFill>
                <a:latin typeface="SimSun"/>
                <a:cs typeface="SimSun"/>
              </a:rPr>
              <a:t>地址</a:t>
            </a:r>
            <a:endParaRPr lang="en-US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33333"/>
                </a:solidFill>
                <a:latin typeface="SimSun"/>
                <a:cs typeface="SimSun"/>
              </a:rPr>
              <a:t>记录</a:t>
            </a:r>
            <a:r>
              <a:rPr lang="zh-CN" altLang="en-US" dirty="0">
                <a:solidFill>
                  <a:srgbClr val="333333"/>
                </a:solidFill>
                <a:latin typeface="SimSun"/>
                <a:cs typeface="SimSun"/>
              </a:rPr>
              <a:t>：</a:t>
            </a:r>
            <a:r>
              <a:rPr lang="en-US" altLang="zh-CN" dirty="0">
                <a:solidFill>
                  <a:srgbClr val="333333"/>
                </a:solidFill>
                <a:latin typeface="Arial MT"/>
                <a:cs typeface="Arial MT"/>
              </a:rPr>
              <a:t>MAC → </a:t>
            </a:r>
            <a:r>
              <a:rPr lang="zh-CN" altLang="en-US" dirty="0">
                <a:solidFill>
                  <a:srgbClr val="333333"/>
                </a:solidFill>
                <a:latin typeface="Microsoft JhengHei"/>
                <a:cs typeface="Microsoft JhengHei"/>
              </a:rPr>
              <a:t>⼊端⼝映射动态构</a:t>
            </a:r>
            <a:r>
              <a:rPr lang="zh-CN" altLang="en-US" dirty="0">
                <a:solidFill>
                  <a:srgbClr val="333333"/>
                </a:solidFill>
                <a:latin typeface="SimSun"/>
                <a:cs typeface="SimSun"/>
              </a:rPr>
              <a:t>建转</a:t>
            </a:r>
            <a:r>
              <a:rPr lang="zh-CN" altLang="en-US" dirty="0">
                <a:solidFill>
                  <a:srgbClr val="333333"/>
                </a:solidFill>
                <a:latin typeface="Microsoft JhengHei"/>
                <a:cs typeface="Microsoft JhengHei"/>
              </a:rPr>
              <a:t>发表</a:t>
            </a:r>
            <a:endParaRPr lang="zh-CN" altLang="en-US" dirty="0">
              <a:latin typeface="Microsoft JhengHei"/>
              <a:cs typeface="Microsoft JhengHei"/>
            </a:endParaRPr>
          </a:p>
          <a:p>
            <a:pPr marL="182245" indent="-169545"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182245" algn="l"/>
              </a:tabLst>
            </a:pPr>
            <a:r>
              <a:rPr lang="zh-CN" altLang="en-US" b="1" dirty="0">
                <a:latin typeface="Microsoft JhengHei"/>
                <a:cs typeface="Microsoft JhengHei"/>
              </a:rPr>
              <a:t>转发决策</a:t>
            </a:r>
            <a:r>
              <a:rPr lang="en-US" altLang="zh-CN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zh-CN" altLang="en-US" dirty="0">
                <a:solidFill>
                  <a:srgbClr val="333333"/>
                </a:solidFill>
                <a:latin typeface="Microsoft JhengHei"/>
                <a:cs typeface="Microsoft JhengHei"/>
              </a:rPr>
              <a:t>查找⽬标</a:t>
            </a:r>
            <a:r>
              <a:rPr lang="en-US" altLang="zh-CN" dirty="0">
                <a:solidFill>
                  <a:srgbClr val="333333"/>
                </a:solidFill>
                <a:latin typeface="Microsoft JhengHei"/>
                <a:cs typeface="Microsoft JhengHei"/>
              </a:rPr>
              <a:t>MAC</a:t>
            </a:r>
            <a:r>
              <a:rPr lang="zh-CN" altLang="en-US" dirty="0">
                <a:solidFill>
                  <a:srgbClr val="333333"/>
                </a:solidFill>
                <a:latin typeface="Microsoft JhengHei"/>
                <a:cs typeface="Microsoft JhengHei"/>
              </a:rPr>
              <a:t>在转发表中的记录已知：单播到对应端⼝</a:t>
            </a:r>
            <a:endParaRPr lang="en-US" altLang="zh-CN" dirty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zh-CN" altLang="en-US" dirty="0">
                <a:solidFill>
                  <a:srgbClr val="333333"/>
                </a:solidFill>
                <a:latin typeface="Microsoft JhengHei"/>
                <a:cs typeface="Microsoft JhengHei"/>
              </a:rPr>
              <a:t>未知</a:t>
            </a:r>
            <a:r>
              <a:rPr lang="en-US" altLang="zh-CN" dirty="0">
                <a:solidFill>
                  <a:srgbClr val="333333"/>
                </a:solidFill>
                <a:latin typeface="Microsoft JhengHei"/>
                <a:cs typeface="Microsoft JhengHei"/>
              </a:rPr>
              <a:t>/</a:t>
            </a:r>
            <a:r>
              <a:rPr lang="zh-CN" altLang="en-US" dirty="0">
                <a:solidFill>
                  <a:srgbClr val="333333"/>
                </a:solidFill>
                <a:latin typeface="Microsoft JhengHei"/>
                <a:cs typeface="Microsoft JhengHei"/>
              </a:rPr>
              <a:t>⼴播：洪泛到所有端⼝（除源端⼝）</a:t>
            </a:r>
          </a:p>
          <a:p>
            <a:pPr marL="182245" indent="-169545"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182245" algn="l"/>
              </a:tabLst>
            </a:pPr>
            <a:r>
              <a:rPr lang="zh-CN" altLang="en-US" b="1" dirty="0">
                <a:latin typeface="Microsoft JhengHei"/>
                <a:cs typeface="Microsoft JhengHei"/>
              </a:rPr>
              <a:t>优化效果</a:t>
            </a:r>
            <a:r>
              <a:rPr lang="en-US" altLang="zh-CN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zh-CN" altLang="en-US" dirty="0">
                <a:solidFill>
                  <a:srgbClr val="333333"/>
                </a:solidFill>
                <a:latin typeface="Microsoft JhengHei"/>
                <a:cs typeface="Microsoft JhengHei"/>
              </a:rPr>
              <a:t>初次通信：⼴播（低效）</a:t>
            </a:r>
            <a:endParaRPr lang="en-US" altLang="zh-CN" dirty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zh-CN" altLang="en-US" dirty="0">
                <a:solidFill>
                  <a:srgbClr val="333333"/>
                </a:solidFill>
                <a:latin typeface="Microsoft JhengHei"/>
                <a:cs typeface="Microsoft JhengHei"/>
              </a:rPr>
              <a:t>后续通信：单播（⾼效）减少⽹络流量</a:t>
            </a:r>
          </a:p>
          <a:p>
            <a:pPr marL="182245" indent="-169545"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4"/>
              <a:tabLst>
                <a:tab pos="182245" algn="l"/>
              </a:tabLst>
            </a:pPr>
            <a:r>
              <a:rPr lang="zh-CN" altLang="en-US" b="1" dirty="0">
                <a:latin typeface="Microsoft JhengHei"/>
                <a:cs typeface="Microsoft JhengHei"/>
              </a:rPr>
              <a:t>⼴</a:t>
            </a:r>
            <a:r>
              <a:rPr lang="zh-CN" altLang="en-US" b="1" dirty="0">
                <a:latin typeface="Malgun Gothic"/>
                <a:cs typeface="Malgun Gothic"/>
              </a:rPr>
              <a:t>播</a:t>
            </a:r>
            <a:r>
              <a:rPr lang="zh-CN" altLang="en-US" b="1" dirty="0">
                <a:latin typeface="Microsoft JhengHei"/>
                <a:cs typeface="Microsoft JhengHei"/>
              </a:rPr>
              <a:t>地址</a:t>
            </a:r>
            <a:r>
              <a:rPr lang="en-US" altLang="zh-CN" dirty="0">
                <a:solidFill>
                  <a:srgbClr val="333333"/>
                </a:solidFill>
                <a:latin typeface="Arial MT"/>
                <a:cs typeface="Arial MT"/>
              </a:rPr>
              <a:t>: FF:FF:FF:FF:FF:FF</a:t>
            </a:r>
            <a:r>
              <a:rPr lang="zh-CN" altLang="en-US" dirty="0">
                <a:solidFill>
                  <a:srgbClr val="333333"/>
                </a:solidFill>
                <a:latin typeface="Microsoft JhengHei"/>
                <a:cs typeface="Microsoft JhengHei"/>
              </a:rPr>
              <a:t>总是</a:t>
            </a:r>
            <a:r>
              <a:rPr lang="zh-CN" altLang="en-US" dirty="0">
                <a:solidFill>
                  <a:srgbClr val="333333"/>
                </a:solidFill>
                <a:latin typeface="SimSun"/>
                <a:cs typeface="SimSun"/>
              </a:rPr>
              <a:t>触</a:t>
            </a:r>
            <a:r>
              <a:rPr lang="zh-CN" altLang="en-US" dirty="0">
                <a:solidFill>
                  <a:srgbClr val="333333"/>
                </a:solidFill>
                <a:latin typeface="Microsoft JhengHei"/>
                <a:cs typeface="Microsoft JhengHei"/>
              </a:rPr>
              <a:t>发⼴</a:t>
            </a:r>
            <a:r>
              <a:rPr lang="zh-CN" altLang="en-US" dirty="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r>
              <a:rPr lang="zh-CN" altLang="en-US" dirty="0">
                <a:solidFill>
                  <a:srgbClr val="333333"/>
                </a:solidFill>
                <a:latin typeface="Microsoft JhengHei"/>
                <a:cs typeface="Microsoft JhengHei"/>
              </a:rPr>
              <a:t>到所有端</a:t>
            </a:r>
            <a:r>
              <a:rPr lang="zh-CN" altLang="en-US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⼝</a:t>
            </a:r>
            <a:endParaRPr lang="en-US" dirty="0" smtClean="0">
              <a:solidFill>
                <a:srgbClr val="333333"/>
              </a:solidFill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743382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26383" t="38431"/>
          <a:stretch/>
        </p:blipFill>
        <p:spPr>
          <a:xfrm>
            <a:off x="-29497" y="401638"/>
            <a:ext cx="11027090" cy="54741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166257" y="1952303"/>
            <a:ext cx="5617091" cy="90486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r>
              <a:rPr lang="en-US" altLang="zh-CN" sz="4400" dirty="0" smtClean="0">
                <a:latin typeface="+mn-lt"/>
                <a:cs typeface="Times New Roman" panose="02020603050405020304" pitchFamily="18" charset="0"/>
              </a:rPr>
              <a:t>Level 3</a:t>
            </a:r>
            <a:r>
              <a:rPr lang="zh-CN" altLang="en-US" sz="4400" dirty="0" smtClean="0"/>
              <a:t>：扩展功能</a:t>
            </a:r>
            <a:endParaRPr lang="zh-CN" altLang="en-US" sz="4400" dirty="0"/>
          </a:p>
        </p:txBody>
      </p:sp>
      <p:sp>
        <p:nvSpPr>
          <p:cNvPr id="9" name="文本框 8"/>
          <p:cNvSpPr txBox="1"/>
          <p:nvPr/>
        </p:nvSpPr>
        <p:spPr>
          <a:xfrm>
            <a:off x="7416799" y="3684293"/>
            <a:ext cx="1127233" cy="110799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66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汉仪趣黑W" panose="00020600040101010101" pitchFamily="18" charset="-122"/>
              </a:rPr>
              <a:t>04</a:t>
            </a:r>
            <a:endParaRPr lang="zh-CN" altLang="en-US" sz="6600" b="1" dirty="0">
              <a:solidFill>
                <a:schemeClr val="tx1">
                  <a:lumMod val="65000"/>
                  <a:lumOff val="35000"/>
                </a:schemeClr>
              </a:solidFill>
              <a:ea typeface="汉仪趣黑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599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3</a:t>
            </a:r>
            <a:r>
              <a:rPr lang="en-US" altLang="zh-CN" sz="4000" b="1" dirty="0" smtClean="0">
                <a:latin typeface="Arial"/>
                <a:cs typeface="Arial"/>
              </a:rPr>
              <a:t>.1</a:t>
            </a:r>
            <a:r>
              <a:rPr lang="en-US" altLang="zh-CN" sz="4000" b="1" dirty="0">
                <a:latin typeface="Arial"/>
                <a:cs typeface="Arial"/>
              </a:rPr>
              <a:t>: </a:t>
            </a:r>
            <a:r>
              <a:rPr lang="zh-CN" altLang="en-US" sz="4400" b="1" spc="-200" dirty="0" smtClean="0">
                <a:latin typeface="Microsoft JhengHei"/>
                <a:cs typeface="Arial"/>
              </a:rPr>
              <a:t>传输层演示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9" name="object 17"/>
          <p:cNvSpPr txBox="1"/>
          <p:nvPr/>
        </p:nvSpPr>
        <p:spPr>
          <a:xfrm>
            <a:off x="743185" y="1227243"/>
            <a:ext cx="613727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实现基于</a:t>
            </a:r>
            <a:r>
              <a:rPr lang="en-US" altLang="zh-CN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Stop-and-Wait ARQ</a:t>
            </a: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的可靠传输</a:t>
            </a:r>
            <a:endParaRPr sz="1600" b="1" dirty="0">
              <a:solidFill>
                <a:srgbClr val="0070C0"/>
              </a:solidFill>
              <a:latin typeface="Microsoft JhengHei"/>
              <a:cs typeface="Microsoft JhengHei"/>
            </a:endParaRPr>
          </a:p>
        </p:txBody>
      </p:sp>
      <p:sp>
        <p:nvSpPr>
          <p:cNvPr id="11" name="object 2"/>
          <p:cNvSpPr txBox="1"/>
          <p:nvPr/>
        </p:nvSpPr>
        <p:spPr>
          <a:xfrm>
            <a:off x="5826854" y="1675372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95" dirty="0">
                <a:latin typeface="Microsoft JhengHei"/>
                <a:cs typeface="Microsoft JhengHei"/>
              </a:rPr>
              <a:t>运⾏结果</a:t>
            </a:r>
            <a:endParaRPr sz="1700" dirty="0">
              <a:latin typeface="Microsoft JhengHei"/>
              <a:cs typeface="Microsoft JhengHei"/>
            </a:endParaRPr>
          </a:p>
        </p:txBody>
      </p:sp>
      <p:sp>
        <p:nvSpPr>
          <p:cNvPr id="12" name="object 2"/>
          <p:cNvSpPr txBox="1"/>
          <p:nvPr/>
        </p:nvSpPr>
        <p:spPr>
          <a:xfrm>
            <a:off x="2227744" y="1612465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700" b="1" spc="-195" dirty="0" smtClean="0">
                <a:latin typeface="Microsoft JhengHei"/>
                <a:cs typeface="Microsoft JhengHei"/>
              </a:rPr>
              <a:t>代码实现</a:t>
            </a:r>
            <a:endParaRPr sz="1700" dirty="0">
              <a:latin typeface="Microsoft JhengHei"/>
              <a:cs typeface="Microsoft JhengHei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867" y="2021542"/>
            <a:ext cx="2650432" cy="451394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854" y="2147280"/>
            <a:ext cx="3867150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74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3</a:t>
            </a:r>
            <a:r>
              <a:rPr lang="en-US" altLang="zh-CN" sz="4000" b="1" dirty="0" smtClean="0">
                <a:latin typeface="Arial"/>
                <a:cs typeface="Arial"/>
              </a:rPr>
              <a:t>.1</a:t>
            </a:r>
            <a:r>
              <a:rPr lang="en-US" altLang="zh-CN" sz="4000" b="1" dirty="0">
                <a:latin typeface="Arial"/>
                <a:cs typeface="Arial"/>
              </a:rPr>
              <a:t>: </a:t>
            </a:r>
            <a:r>
              <a:rPr lang="zh-CN" altLang="en-US" sz="4400" b="1" spc="-200" dirty="0" smtClean="0">
                <a:latin typeface="Microsoft JhengHei"/>
                <a:cs typeface="Arial"/>
              </a:rPr>
              <a:t>传输层演示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7" name="object 8"/>
          <p:cNvSpPr txBox="1"/>
          <p:nvPr/>
        </p:nvSpPr>
        <p:spPr>
          <a:xfrm>
            <a:off x="488466" y="1353011"/>
            <a:ext cx="4166951" cy="45672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600"/>
              </a:spcBef>
            </a:pPr>
            <a:r>
              <a:rPr sz="1600" b="1" dirty="0" err="1" smtClean="0">
                <a:latin typeface="Microsoft JhengHei"/>
                <a:cs typeface="Microsoft JhengHei"/>
              </a:rPr>
              <a:t>技术</a:t>
            </a:r>
            <a:r>
              <a:rPr sz="1600" b="1" dirty="0" err="1" smtClean="0">
                <a:latin typeface="Malgun Gothic"/>
                <a:cs typeface="Malgun Gothic"/>
              </a:rPr>
              <a:t>要点</a:t>
            </a:r>
            <a:endParaRPr lang="en-US" sz="1600" b="1" dirty="0" smtClean="0">
              <a:latin typeface="Malgun Gothic"/>
              <a:cs typeface="Malgun Gothic"/>
            </a:endParaRPr>
          </a:p>
          <a:p>
            <a:pPr marL="241300" indent="-228600">
              <a:spcBef>
                <a:spcPts val="600"/>
              </a:spcBef>
              <a:buFont typeface="+mj-lt"/>
              <a:buAutoNum type="arabicPeriod"/>
            </a:pPr>
            <a:r>
              <a:rPr sz="1400" b="1" dirty="0" smtClean="0">
                <a:latin typeface="Arial"/>
                <a:cs typeface="Arial"/>
              </a:rPr>
              <a:t>Stop-and-Wait </a:t>
            </a:r>
            <a:r>
              <a:rPr sz="1400" b="1" dirty="0">
                <a:latin typeface="Arial"/>
                <a:cs typeface="Arial"/>
              </a:rPr>
              <a:t>ARQ</a:t>
            </a:r>
            <a:r>
              <a:rPr sz="14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4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2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发</a:t>
            </a:r>
            <a:r>
              <a:rPr sz="1200" dirty="0" err="1" smtClean="0">
                <a:solidFill>
                  <a:srgbClr val="333333"/>
                </a:solidFill>
                <a:latin typeface="SimSun"/>
                <a:cs typeface="SimSun"/>
              </a:rPr>
              <a:t>送</a:t>
            </a:r>
            <a:r>
              <a:rPr sz="12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⼀</a:t>
            </a:r>
            <a:r>
              <a:rPr sz="12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个段后等</a:t>
            </a:r>
            <a:r>
              <a:rPr sz="1200" dirty="0" err="1" smtClean="0">
                <a:solidFill>
                  <a:srgbClr val="333333"/>
                </a:solidFill>
                <a:latin typeface="SimSun"/>
                <a:cs typeface="SimSun"/>
              </a:rPr>
              <a:t>待确认</a:t>
            </a:r>
            <a:endParaRPr lang="en-US" sz="12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2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收到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ACK</a:t>
            </a:r>
            <a:r>
              <a:rPr sz="12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后发</a:t>
            </a:r>
            <a:r>
              <a:rPr sz="1200" dirty="0" err="1">
                <a:solidFill>
                  <a:srgbClr val="333333"/>
                </a:solidFill>
                <a:latin typeface="SimSun"/>
                <a:cs typeface="SimSun"/>
              </a:rPr>
              <a:t>送</a:t>
            </a:r>
            <a:r>
              <a:rPr sz="12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下⼀个段超时未收到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ACK</a:t>
            </a:r>
            <a:r>
              <a:rPr sz="12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则</a:t>
            </a:r>
            <a:r>
              <a:rPr sz="1200" dirty="0" err="1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sz="12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endParaRPr sz="1200" dirty="0">
              <a:latin typeface="Microsoft JhengHei"/>
              <a:cs typeface="Microsoft JhengHei"/>
            </a:endParaRPr>
          </a:p>
          <a:p>
            <a:pPr marL="241300" indent="-228600">
              <a:spcBef>
                <a:spcPts val="600"/>
              </a:spcBef>
              <a:buClr>
                <a:srgbClr val="333333"/>
              </a:buClr>
              <a:buSzPct val="88888"/>
              <a:buFont typeface="+mj-lt"/>
              <a:buAutoNum type="arabicPeriod" startAt="2"/>
              <a:tabLst>
                <a:tab pos="317500" algn="l"/>
              </a:tabLst>
            </a:pPr>
            <a:r>
              <a:rPr sz="1400" b="1" dirty="0" err="1">
                <a:latin typeface="Arial"/>
                <a:cs typeface="Arial"/>
              </a:rPr>
              <a:t>段结构</a:t>
            </a:r>
            <a:r>
              <a:rPr sz="1400" b="1" dirty="0">
                <a:latin typeface="Arial"/>
                <a:cs typeface="Arial"/>
              </a:rPr>
              <a:t>:</a:t>
            </a:r>
            <a:endParaRPr lang="en-US" sz="1400" b="1" dirty="0">
              <a:latin typeface="Arial"/>
              <a:cs typeface="Arial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US" altLang="zh-CN" sz="1200" dirty="0" err="1" smtClean="0">
                <a:solidFill>
                  <a:srgbClr val="333333"/>
                </a:solidFill>
                <a:latin typeface="Arial MT"/>
                <a:cs typeface="Arial MT"/>
              </a:rPr>
              <a:t>Seq</a:t>
            </a:r>
            <a:r>
              <a:rPr lang="zh-CN" altLang="en-US" sz="1200" spc="15" dirty="0" smtClean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lang="en-US" altLang="zh-CN" sz="1200" dirty="0" err="1">
                <a:solidFill>
                  <a:srgbClr val="333333"/>
                </a:solidFill>
                <a:latin typeface="Arial MT"/>
                <a:cs typeface="Arial MT"/>
              </a:rPr>
              <a:t>Num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r>
              <a:rPr lang="zh-CN" altLang="en-US" sz="1200" spc="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lang="zh-CN" altLang="en-US" sz="12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序列号</a:t>
            </a:r>
            <a:r>
              <a:rPr lang="zh-CN" altLang="en-US" sz="1200" spc="-60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lang="en-US" altLang="zh-CN" sz="1200" spc="-60" dirty="0">
                <a:solidFill>
                  <a:srgbClr val="333333"/>
                </a:solidFill>
                <a:latin typeface="Arial MT"/>
                <a:cs typeface="Arial MT"/>
              </a:rPr>
              <a:t>16</a:t>
            </a:r>
            <a:r>
              <a:rPr lang="zh-CN" altLang="en-US" sz="12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lang="zh-CN" altLang="en-US" sz="1200" spc="-50" dirty="0" smtClean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lang="en-US" altLang="zh-CN" sz="1200" spc="-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US" altLang="zh-CN" sz="1200" dirty="0" err="1" smtClean="0">
                <a:solidFill>
                  <a:srgbClr val="333333"/>
                </a:solidFill>
                <a:latin typeface="Arial MT"/>
                <a:cs typeface="Arial MT"/>
              </a:rPr>
              <a:t>Ack</a:t>
            </a:r>
            <a:r>
              <a:rPr lang="zh-CN" altLang="en-US" sz="1200" spc="15" dirty="0" smtClean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lang="en-US" altLang="zh-CN" sz="1200" dirty="0" err="1">
                <a:solidFill>
                  <a:srgbClr val="333333"/>
                </a:solidFill>
                <a:latin typeface="Arial MT"/>
                <a:cs typeface="Arial MT"/>
              </a:rPr>
              <a:t>Num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r>
              <a:rPr lang="zh-CN" altLang="en-US" sz="1200" spc="2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lang="zh-CN" altLang="en-US" sz="1200" spc="-170" dirty="0">
                <a:solidFill>
                  <a:srgbClr val="333333"/>
                </a:solidFill>
                <a:latin typeface="SimSun"/>
                <a:cs typeface="SimSun"/>
              </a:rPr>
              <a:t>确认</a:t>
            </a:r>
            <a:r>
              <a:rPr lang="zh-CN" altLang="en-US" sz="12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号</a:t>
            </a:r>
            <a:r>
              <a:rPr lang="zh-CN" altLang="en-US" sz="1200" spc="-60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lang="en-US" altLang="zh-CN" sz="1200" spc="-60" dirty="0">
                <a:solidFill>
                  <a:srgbClr val="333333"/>
                </a:solidFill>
                <a:latin typeface="Arial MT"/>
                <a:cs typeface="Arial MT"/>
              </a:rPr>
              <a:t>16</a:t>
            </a:r>
            <a:r>
              <a:rPr lang="zh-CN" altLang="en-US" sz="12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lang="zh-CN" altLang="en-US" sz="1200" spc="-50" dirty="0" smtClean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lang="en-US" altLang="zh-CN" sz="1200" spc="-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US" altLang="zh-CN" sz="1200" dirty="0" smtClean="0">
                <a:solidFill>
                  <a:srgbClr val="333333"/>
                </a:solidFill>
                <a:latin typeface="Arial MT"/>
                <a:cs typeface="Arial MT"/>
              </a:rPr>
              <a:t>Flags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lang="zh-CN" altLang="en-US" sz="1200" spc="-170" dirty="0">
                <a:solidFill>
                  <a:srgbClr val="333333"/>
                </a:solidFill>
                <a:latin typeface="SimSun"/>
                <a:cs typeface="SimSun"/>
              </a:rPr>
              <a:t>控</a:t>
            </a:r>
            <a:r>
              <a:rPr lang="zh-CN" altLang="en-US" sz="12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lang="zh-CN" altLang="en-US" sz="1200" spc="-170" dirty="0">
                <a:solidFill>
                  <a:srgbClr val="333333"/>
                </a:solidFill>
                <a:latin typeface="SimSun"/>
                <a:cs typeface="SimSun"/>
              </a:rPr>
              <a:t>标</a:t>
            </a:r>
            <a:r>
              <a:rPr lang="zh-CN" altLang="en-US" sz="12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志</a:t>
            </a:r>
            <a:r>
              <a:rPr lang="zh-CN" altLang="en-US" sz="1200" spc="-25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lang="en-US" altLang="zh-CN" sz="1200" spc="-25" dirty="0">
                <a:solidFill>
                  <a:srgbClr val="333333"/>
                </a:solidFill>
                <a:latin typeface="Arial MT"/>
                <a:cs typeface="Arial MT"/>
              </a:rPr>
              <a:t>ACK,</a:t>
            </a:r>
            <a:r>
              <a:rPr lang="zh-CN" altLang="en-US" sz="120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SYN,</a:t>
            </a:r>
            <a:r>
              <a:rPr lang="zh-CN" altLang="en-US" sz="120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lang="en-US" altLang="zh-CN" sz="1200" spc="-10" dirty="0">
                <a:solidFill>
                  <a:srgbClr val="333333"/>
                </a:solidFill>
                <a:latin typeface="Arial MT"/>
                <a:cs typeface="Arial MT"/>
              </a:rPr>
              <a:t>FIN</a:t>
            </a:r>
            <a:r>
              <a:rPr lang="zh-CN" altLang="en-US" sz="12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等</a:t>
            </a:r>
            <a:r>
              <a:rPr lang="zh-CN" altLang="en-US" sz="1200" spc="-110" dirty="0">
                <a:solidFill>
                  <a:srgbClr val="333333"/>
                </a:solidFill>
                <a:latin typeface="SimSun"/>
                <a:cs typeface="SimSun"/>
              </a:rPr>
              <a:t>） </a:t>
            </a:r>
            <a:endParaRPr lang="en-US" altLang="zh-CN" sz="1200" spc="-11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US" altLang="zh-CN" sz="1200" dirty="0" smtClean="0">
                <a:solidFill>
                  <a:srgbClr val="333333"/>
                </a:solidFill>
                <a:latin typeface="Arial MT"/>
                <a:cs typeface="Arial MT"/>
              </a:rPr>
              <a:t>Length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r>
              <a:rPr lang="zh-CN" altLang="en-US" sz="1200" spc="2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lang="zh-CN" altLang="en-US" sz="1200" spc="-170" dirty="0">
                <a:solidFill>
                  <a:srgbClr val="333333"/>
                </a:solidFill>
                <a:latin typeface="SimSun"/>
                <a:cs typeface="SimSun"/>
              </a:rPr>
              <a:t>载荷</a:t>
            </a:r>
            <a:r>
              <a:rPr lang="zh-CN" altLang="en-US" sz="1200" spc="-110" dirty="0">
                <a:solidFill>
                  <a:srgbClr val="333333"/>
                </a:solidFill>
                <a:latin typeface="Microsoft JhengHei"/>
                <a:cs typeface="Microsoft JhengHei"/>
              </a:rPr>
              <a:t>⻓</a:t>
            </a:r>
            <a:r>
              <a:rPr lang="zh-CN" altLang="en-US" sz="1200" spc="-11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度</a:t>
            </a:r>
            <a:endParaRPr lang="en-US" altLang="zh-CN" sz="1200" spc="-11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US" altLang="zh-CN" sz="1200" dirty="0" smtClean="0">
                <a:solidFill>
                  <a:srgbClr val="333333"/>
                </a:solidFill>
                <a:latin typeface="Arial MT"/>
                <a:cs typeface="Arial MT"/>
              </a:rPr>
              <a:t>Payload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r>
              <a:rPr lang="zh-CN" altLang="en-US" sz="120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lang="zh-CN" altLang="en-US" sz="12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数</a:t>
            </a:r>
            <a:r>
              <a:rPr lang="zh-CN" altLang="en-US" sz="1200" spc="-50" dirty="0">
                <a:solidFill>
                  <a:srgbClr val="333333"/>
                </a:solidFill>
                <a:latin typeface="SimSun"/>
                <a:cs typeface="SimSun"/>
              </a:rPr>
              <a:t>据</a:t>
            </a:r>
            <a:endParaRPr lang="zh-CN" altLang="en-US" sz="1200" dirty="0">
              <a:latin typeface="SimSun"/>
              <a:cs typeface="SimSun"/>
            </a:endParaRPr>
          </a:p>
          <a:p>
            <a:pPr marL="241300" indent="-228600">
              <a:spcBef>
                <a:spcPts val="600"/>
              </a:spcBef>
              <a:buClr>
                <a:srgbClr val="333333"/>
              </a:buClr>
              <a:buSzPct val="88888"/>
              <a:buFont typeface="+mj-lt"/>
              <a:buAutoNum type="arabicPeriod" startAt="3"/>
              <a:tabLst>
                <a:tab pos="317500" algn="l"/>
              </a:tabLst>
            </a:pPr>
            <a:r>
              <a:rPr lang="zh-CN" altLang="en-US" sz="1400" b="1" dirty="0">
                <a:latin typeface="Arial"/>
                <a:cs typeface="Arial"/>
              </a:rPr>
              <a:t>可靠性保证</a:t>
            </a:r>
            <a:r>
              <a:rPr lang="en-US" altLang="zh-CN" sz="1400" b="1" dirty="0">
                <a:latin typeface="Arial"/>
                <a:cs typeface="Arial"/>
              </a:rPr>
              <a:t>:</a:t>
            </a: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200" dirty="0">
                <a:solidFill>
                  <a:srgbClr val="333333"/>
                </a:solidFill>
                <a:latin typeface="Arial MT"/>
                <a:cs typeface="Arial MT"/>
              </a:rPr>
              <a:t>序列号防⽌重复超时重传机制 </a:t>
            </a:r>
            <a:endParaRPr lang="en-US" altLang="zh-CN" sz="1200" dirty="0">
              <a:solidFill>
                <a:srgbClr val="333333"/>
              </a:solidFill>
              <a:latin typeface="Arial MT"/>
              <a:cs typeface="Arial MT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ACK</a:t>
            </a:r>
            <a:r>
              <a:rPr lang="zh-CN" altLang="en-US" sz="1200" dirty="0">
                <a:solidFill>
                  <a:srgbClr val="333333"/>
                </a:solidFill>
                <a:latin typeface="Arial MT"/>
                <a:cs typeface="Arial MT"/>
              </a:rPr>
              <a:t>确认机制</a:t>
            </a:r>
          </a:p>
          <a:p>
            <a:pPr marL="241300" indent="-228600">
              <a:spcBef>
                <a:spcPts val="600"/>
              </a:spcBef>
              <a:buClr>
                <a:srgbClr val="333333"/>
              </a:buClr>
              <a:buSzPct val="88888"/>
              <a:buFont typeface="+mj-lt"/>
              <a:buAutoNum type="arabicPeriod" startAt="4"/>
              <a:tabLst>
                <a:tab pos="317500" algn="l"/>
              </a:tabLst>
            </a:pPr>
            <a:r>
              <a:rPr lang="zh-CN" altLang="en-US" sz="1400" b="1" dirty="0">
                <a:latin typeface="Arial"/>
                <a:cs typeface="Arial"/>
              </a:rPr>
              <a:t>性能指标</a:t>
            </a:r>
            <a:r>
              <a:rPr lang="en-US" altLang="zh-CN" sz="1400" b="1" dirty="0">
                <a:latin typeface="Arial"/>
                <a:cs typeface="Arial"/>
              </a:rPr>
              <a:t>:</a:t>
            </a: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3</a:t>
            </a:r>
            <a:r>
              <a:rPr lang="zh-CN" altLang="en-US" sz="1200" dirty="0">
                <a:solidFill>
                  <a:srgbClr val="333333"/>
                </a:solidFill>
                <a:latin typeface="Arial MT"/>
                <a:cs typeface="Arial MT"/>
              </a:rPr>
              <a:t>个段全部成功接收 </a:t>
            </a:r>
            <a:endParaRPr lang="en-US" altLang="zh-CN" sz="1200" dirty="0">
              <a:solidFill>
                <a:srgbClr val="333333"/>
              </a:solidFill>
              <a:latin typeface="Arial MT"/>
              <a:cs typeface="Arial MT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ACK</a:t>
            </a:r>
            <a:r>
              <a:rPr lang="zh-CN" altLang="en-US" sz="1200" dirty="0">
                <a:solidFill>
                  <a:srgbClr val="333333"/>
                </a:solidFill>
                <a:latin typeface="Arial MT"/>
                <a:cs typeface="Arial MT"/>
              </a:rPr>
              <a:t>响应率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100%</a:t>
            </a: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200" dirty="0">
                <a:solidFill>
                  <a:srgbClr val="333333"/>
                </a:solidFill>
                <a:latin typeface="Arial MT"/>
                <a:cs typeface="Arial MT"/>
              </a:rPr>
              <a:t>⽆需重传</a:t>
            </a:r>
            <a:endParaRPr sz="1200" dirty="0">
              <a:solidFill>
                <a:srgbClr val="333333"/>
              </a:solidFill>
              <a:latin typeface="Arial MT"/>
              <a:cs typeface="Arial M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114" y="1493660"/>
            <a:ext cx="4452229" cy="38238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800" y="2226378"/>
            <a:ext cx="5715000" cy="3200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矩形 11"/>
          <p:cNvSpPr/>
          <p:nvPr/>
        </p:nvSpPr>
        <p:spPr>
          <a:xfrm>
            <a:off x="4655418" y="1126154"/>
            <a:ext cx="741466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70C0"/>
                </a:solidFill>
              </a:rPr>
              <a:t>功能: 实现可靠传输协议，</a:t>
            </a:r>
            <a:r>
              <a:rPr lang="zh-CN" altLang="en-US" sz="1400" b="1" dirty="0" smtClean="0">
                <a:solidFill>
                  <a:srgbClr val="0070C0"/>
                </a:solidFill>
              </a:rPr>
              <a:t>使</a:t>
            </a:r>
            <a:r>
              <a:rPr lang="zh-CN" altLang="en-US" sz="1400" b="1" dirty="0">
                <a:solidFill>
                  <a:srgbClr val="0070C0"/>
                </a:solidFill>
              </a:rPr>
              <a:t>用</a:t>
            </a:r>
            <a:r>
              <a:rPr lang="zh-CN" altLang="en-US" sz="1400" b="1" dirty="0" smtClean="0">
                <a:solidFill>
                  <a:srgbClr val="0070C0"/>
                </a:solidFill>
              </a:rPr>
              <a:t>序列</a:t>
            </a:r>
            <a:r>
              <a:rPr lang="zh-CN" altLang="en-US" sz="1400" b="1" dirty="0">
                <a:solidFill>
                  <a:srgbClr val="0070C0"/>
                </a:solidFill>
              </a:rPr>
              <a:t>号、ACK确认和超时重传机制保证数据可靠送达。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089" y="2850208"/>
            <a:ext cx="4356735" cy="386011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99799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3</a:t>
            </a:r>
            <a:r>
              <a:rPr lang="en-US" altLang="zh-CN" sz="4000" b="1" dirty="0" smtClean="0">
                <a:latin typeface="Arial"/>
                <a:cs typeface="Arial"/>
              </a:rPr>
              <a:t>.2: </a:t>
            </a:r>
            <a:r>
              <a:rPr lang="zh-CN" altLang="en-US" sz="4000" b="1" dirty="0" smtClean="0">
                <a:latin typeface="Arial"/>
                <a:cs typeface="Arial"/>
              </a:rPr>
              <a:t>信道编码</a:t>
            </a:r>
            <a:r>
              <a:rPr lang="zh-CN" altLang="en-US" sz="4400" b="1" spc="-200" dirty="0" smtClean="0">
                <a:latin typeface="Microsoft JhengHei"/>
                <a:cs typeface="Arial"/>
              </a:rPr>
              <a:t>演示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9" name="object 17"/>
          <p:cNvSpPr txBox="1"/>
          <p:nvPr/>
        </p:nvSpPr>
        <p:spPr>
          <a:xfrm>
            <a:off x="743185" y="1227243"/>
            <a:ext cx="613727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演示</a:t>
            </a:r>
            <a:r>
              <a:rPr lang="en-US" altLang="zh-CN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Hamming</a:t>
            </a: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码纠错和</a:t>
            </a:r>
            <a:r>
              <a:rPr lang="en-US" altLang="zh-CN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CRC</a:t>
            </a: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校验</a:t>
            </a:r>
            <a:endParaRPr sz="1600" b="1" dirty="0">
              <a:solidFill>
                <a:srgbClr val="0070C0"/>
              </a:solidFill>
              <a:latin typeface="Microsoft JhengHei"/>
              <a:cs typeface="Microsoft JhengHei"/>
            </a:endParaRPr>
          </a:p>
        </p:txBody>
      </p:sp>
      <p:sp>
        <p:nvSpPr>
          <p:cNvPr id="11" name="object 2"/>
          <p:cNvSpPr txBox="1"/>
          <p:nvPr/>
        </p:nvSpPr>
        <p:spPr>
          <a:xfrm>
            <a:off x="4760596" y="1686051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95" dirty="0">
                <a:latin typeface="Microsoft JhengHei"/>
                <a:cs typeface="Microsoft JhengHei"/>
              </a:rPr>
              <a:t>运⾏结果</a:t>
            </a:r>
            <a:endParaRPr sz="1700" dirty="0">
              <a:latin typeface="Microsoft JhengHei"/>
              <a:cs typeface="Microsoft JhengHei"/>
            </a:endParaRPr>
          </a:p>
        </p:txBody>
      </p:sp>
      <p:sp>
        <p:nvSpPr>
          <p:cNvPr id="12" name="object 2"/>
          <p:cNvSpPr txBox="1"/>
          <p:nvPr/>
        </p:nvSpPr>
        <p:spPr>
          <a:xfrm>
            <a:off x="743185" y="1675182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700" b="1" spc="-195" dirty="0" smtClean="0">
                <a:latin typeface="Microsoft JhengHei"/>
                <a:cs typeface="Microsoft JhengHei"/>
              </a:rPr>
              <a:t>代码实现</a:t>
            </a:r>
            <a:endParaRPr sz="1700" dirty="0">
              <a:latin typeface="Microsoft JhengHei"/>
              <a:cs typeface="Microsoft JhengHei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13" y="2071273"/>
            <a:ext cx="3109069" cy="447390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596" y="2071273"/>
            <a:ext cx="3958308" cy="285747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7672" y="1959027"/>
            <a:ext cx="3033094" cy="287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794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4567587" y="1228017"/>
            <a:ext cx="31614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 smtClean="0">
                <a:solidFill>
                  <a:srgbClr val="0070C0"/>
                </a:solidFill>
              </a:rPr>
              <a:t>关键代码实现</a:t>
            </a:r>
            <a:endParaRPr lang="zh-CN" altLang="en-US" sz="1400" b="1" dirty="0">
              <a:solidFill>
                <a:srgbClr val="0070C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3</a:t>
            </a:r>
            <a:r>
              <a:rPr lang="en-US" altLang="zh-CN" sz="4000" b="1" dirty="0" smtClean="0">
                <a:latin typeface="Arial"/>
                <a:cs typeface="Arial"/>
              </a:rPr>
              <a:t>.2: </a:t>
            </a:r>
            <a:r>
              <a:rPr lang="zh-CN" altLang="en-US" sz="4000" b="1" dirty="0" smtClean="0">
                <a:latin typeface="Arial"/>
                <a:cs typeface="Arial"/>
              </a:rPr>
              <a:t>信道编码</a:t>
            </a:r>
            <a:r>
              <a:rPr lang="zh-CN" altLang="en-US" sz="4400" b="1" spc="-200" dirty="0" smtClean="0">
                <a:latin typeface="Microsoft JhengHei"/>
                <a:cs typeface="Arial"/>
              </a:rPr>
              <a:t>演示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10" name="object 16"/>
          <p:cNvSpPr txBox="1"/>
          <p:nvPr/>
        </p:nvSpPr>
        <p:spPr>
          <a:xfrm>
            <a:off x="359952" y="1433931"/>
            <a:ext cx="3384275" cy="54598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700" b="1" dirty="0">
                <a:latin typeface="Microsoft JhengHei"/>
                <a:cs typeface="Microsoft JhengHei"/>
              </a:rPr>
              <a:t>技术</a:t>
            </a:r>
            <a:r>
              <a:rPr sz="1700" b="1" dirty="0">
                <a:latin typeface="Malgun Gothic"/>
                <a:cs typeface="Malgun Gothic"/>
              </a:rPr>
              <a:t>要点</a:t>
            </a:r>
            <a:endParaRPr sz="1700" dirty="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sz="1200" b="1" dirty="0">
                <a:latin typeface="Arial"/>
                <a:cs typeface="Arial"/>
              </a:rPr>
              <a:t>Hamming(7,4)</a:t>
            </a:r>
            <a:r>
              <a:rPr sz="1350" b="1" dirty="0">
                <a:latin typeface="Microsoft JhengHei"/>
                <a:cs typeface="Microsoft JhengHei"/>
              </a:rPr>
              <a:t>码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2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319405" indent="-1714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4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位数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据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为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7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字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319405" indent="-1714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3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个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校验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p1, p2, p3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319405" indent="-1714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能检测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2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位错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误，纠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正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1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位错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319405" indent="-1714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效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4/7 ≈ 57%</a:t>
            </a:r>
            <a:endParaRPr sz="1200" dirty="0">
              <a:latin typeface="Arial MT"/>
              <a:cs typeface="Arial MT"/>
            </a:endParaRPr>
          </a:p>
          <a:p>
            <a:pPr marL="317500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sz="1350" b="1" dirty="0" err="1">
                <a:latin typeface="Microsoft JhengHei"/>
                <a:cs typeface="Microsoft JhengHei"/>
              </a:rPr>
              <a:t>纠错算法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2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计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算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校验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⼦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syndrome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定位错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位置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翻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转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位</a:t>
            </a:r>
            <a:endParaRPr sz="1350" dirty="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Font typeface="Arial MT"/>
              <a:buAutoNum type="arabicPeriod" startAt="3"/>
              <a:tabLst>
                <a:tab pos="317500" algn="l"/>
              </a:tabLst>
            </a:pPr>
            <a:r>
              <a:rPr sz="1200" b="1" dirty="0">
                <a:latin typeface="Arial"/>
                <a:cs typeface="Arial"/>
              </a:rPr>
              <a:t>CRC-8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2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循环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冗余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校验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⽣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成多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项式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x⁸ + x² + x + 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1</a:t>
            </a:r>
            <a:endParaRPr lang="en-US" sz="12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能检测突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发错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不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能纠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只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能检测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376555" indent="-228600">
              <a:spcBef>
                <a:spcPts val="600"/>
              </a:spcBef>
              <a:buClr>
                <a:srgbClr val="333333"/>
              </a:buClr>
              <a:buFont typeface="+mj-lt"/>
              <a:buAutoNum type="arabicPeriod" startAt="4"/>
              <a:tabLst>
                <a:tab pos="317500" algn="l"/>
              </a:tabLst>
            </a:pPr>
            <a:r>
              <a:rPr lang="zh-CN" altLang="en-US" sz="1200" b="1" dirty="0" smtClean="0">
                <a:latin typeface="Arial"/>
                <a:cs typeface="Arial"/>
              </a:rPr>
              <a:t>性能</a:t>
            </a:r>
            <a:r>
              <a:rPr lang="zh-CN" altLang="en-US" sz="1200" b="1" dirty="0">
                <a:latin typeface="Arial"/>
                <a:cs typeface="Arial"/>
              </a:rPr>
              <a:t>提升</a:t>
            </a:r>
            <a:r>
              <a:rPr lang="en-US" altLang="zh-CN" sz="1200" b="1" dirty="0">
                <a:latin typeface="Arial"/>
                <a:cs typeface="Arial"/>
              </a:rPr>
              <a:t>:</a:t>
            </a: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低噪声环境：编码增益不明显</a:t>
            </a:r>
            <a:endParaRPr lang="en-US" altLang="zh-CN" sz="1350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⾼噪声环境：编码能显著提⾼</a:t>
            </a:r>
            <a:endParaRPr lang="en-US" altLang="zh-CN" sz="1350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可靠性代价：冗余开销、计算复杂度</a:t>
            </a:r>
          </a:p>
          <a:p>
            <a:pPr marL="433705" indent="-285750">
              <a:lnSpc>
                <a:spcPct val="100000"/>
              </a:lnSpc>
              <a:spcBef>
                <a:spcPts val="48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endParaRPr sz="1350" dirty="0">
              <a:latin typeface="SimSun"/>
              <a:cs typeface="SimSun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418" y="1585566"/>
            <a:ext cx="3619500" cy="36957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280" y="2268689"/>
            <a:ext cx="4289657" cy="433915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44233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3</a:t>
            </a:r>
            <a:r>
              <a:rPr lang="en-US" altLang="zh-CN" sz="4000" b="1" dirty="0" smtClean="0">
                <a:latin typeface="Arial"/>
                <a:cs typeface="Arial"/>
              </a:rPr>
              <a:t>.3: </a:t>
            </a:r>
            <a:r>
              <a:rPr lang="zh-CN" altLang="en-US" sz="4000" b="1" dirty="0" smtClean="0">
                <a:latin typeface="Arial"/>
                <a:cs typeface="Arial"/>
              </a:rPr>
              <a:t>应用层协议</a:t>
            </a:r>
            <a:r>
              <a:rPr lang="zh-CN" altLang="en-US" sz="4400" b="1" spc="-200" dirty="0" smtClean="0">
                <a:latin typeface="Microsoft JhengHei"/>
                <a:cs typeface="Arial"/>
              </a:rPr>
              <a:t>演示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9" name="object 17"/>
          <p:cNvSpPr txBox="1"/>
          <p:nvPr/>
        </p:nvSpPr>
        <p:spPr>
          <a:xfrm>
            <a:off x="743185" y="1227243"/>
            <a:ext cx="613727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实现简单的</a:t>
            </a:r>
            <a:r>
              <a:rPr lang="en-US" altLang="zh-CN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HTTP</a:t>
            </a: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协议</a:t>
            </a:r>
            <a:endParaRPr sz="1600" b="1" dirty="0">
              <a:solidFill>
                <a:srgbClr val="0070C0"/>
              </a:solidFill>
              <a:latin typeface="Microsoft JhengHei"/>
              <a:cs typeface="Microsoft JhengHei"/>
            </a:endParaRPr>
          </a:p>
        </p:txBody>
      </p:sp>
      <p:sp>
        <p:nvSpPr>
          <p:cNvPr id="11" name="object 2"/>
          <p:cNvSpPr txBox="1"/>
          <p:nvPr/>
        </p:nvSpPr>
        <p:spPr>
          <a:xfrm>
            <a:off x="6358390" y="1387668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95" dirty="0">
                <a:latin typeface="Microsoft JhengHei"/>
                <a:cs typeface="Microsoft JhengHei"/>
              </a:rPr>
              <a:t>运⾏结果</a:t>
            </a:r>
            <a:endParaRPr sz="1700" dirty="0">
              <a:latin typeface="Microsoft JhengHei"/>
              <a:cs typeface="Microsoft JhengHei"/>
            </a:endParaRPr>
          </a:p>
        </p:txBody>
      </p:sp>
      <p:sp>
        <p:nvSpPr>
          <p:cNvPr id="12" name="object 2"/>
          <p:cNvSpPr txBox="1"/>
          <p:nvPr/>
        </p:nvSpPr>
        <p:spPr>
          <a:xfrm>
            <a:off x="2129223" y="1665557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700" b="1" spc="-195" dirty="0" smtClean="0">
                <a:latin typeface="Microsoft JhengHei"/>
                <a:cs typeface="Microsoft JhengHei"/>
              </a:rPr>
              <a:t>代码实现</a:t>
            </a:r>
            <a:endParaRPr sz="1700" dirty="0">
              <a:latin typeface="Microsoft JhengHei"/>
              <a:cs typeface="Microsoft JhengHei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960" y="2061648"/>
            <a:ext cx="3065566" cy="43037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048" y="1733249"/>
            <a:ext cx="3627221" cy="472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8296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4769718" y="1228017"/>
            <a:ext cx="71174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70C0"/>
                </a:solidFill>
              </a:rPr>
              <a:t>实现</a:t>
            </a:r>
            <a:r>
              <a:rPr lang="en-US" altLang="zh-CN" sz="1400" b="1" dirty="0">
                <a:solidFill>
                  <a:srgbClr val="0070C0"/>
                </a:solidFill>
              </a:rPr>
              <a:t>HTTP/1.0</a:t>
            </a:r>
            <a:r>
              <a:rPr lang="zh-CN" altLang="en-US" sz="1400" b="1" dirty="0">
                <a:solidFill>
                  <a:srgbClr val="0070C0"/>
                </a:solidFill>
              </a:rPr>
              <a:t>协议的请求</a:t>
            </a:r>
            <a:r>
              <a:rPr lang="en-US" altLang="zh-CN" sz="1400" b="1" dirty="0">
                <a:solidFill>
                  <a:srgbClr val="0070C0"/>
                </a:solidFill>
              </a:rPr>
              <a:t>/</a:t>
            </a:r>
            <a:r>
              <a:rPr lang="zh-CN" altLang="en-US" sz="1400" b="1" dirty="0">
                <a:solidFill>
                  <a:srgbClr val="0070C0"/>
                </a:solidFill>
              </a:rPr>
              <a:t>响应解析、路由匹配和状态码处理。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301968" y="332266"/>
            <a:ext cx="631447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3</a:t>
            </a:r>
            <a:r>
              <a:rPr lang="en-US" altLang="zh-CN" sz="4000" b="1" dirty="0" smtClean="0">
                <a:latin typeface="Arial"/>
                <a:cs typeface="Arial"/>
              </a:rPr>
              <a:t>.3: </a:t>
            </a:r>
            <a:r>
              <a:rPr lang="zh-CN" altLang="en-US" sz="4000" b="1" dirty="0" smtClean="0">
                <a:latin typeface="Arial"/>
                <a:cs typeface="Arial"/>
              </a:rPr>
              <a:t>应用层协议</a:t>
            </a:r>
            <a:r>
              <a:rPr lang="zh-CN" altLang="en-US" sz="4400" b="1" spc="-200" dirty="0" smtClean="0">
                <a:latin typeface="Microsoft JhengHei"/>
                <a:cs typeface="Arial"/>
              </a:rPr>
              <a:t>演示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11" name="object 8"/>
          <p:cNvSpPr txBox="1"/>
          <p:nvPr/>
        </p:nvSpPr>
        <p:spPr>
          <a:xfrm>
            <a:off x="498307" y="1297538"/>
            <a:ext cx="3746434" cy="51956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600"/>
              </a:spcBef>
            </a:pPr>
            <a:r>
              <a:rPr sz="1700" b="1" dirty="0" err="1" smtClean="0">
                <a:latin typeface="Microsoft JhengHei"/>
                <a:cs typeface="Microsoft JhengHei"/>
              </a:rPr>
              <a:t>技术</a:t>
            </a:r>
            <a:r>
              <a:rPr sz="1700" b="1" dirty="0" err="1" smtClean="0">
                <a:latin typeface="Malgun Gothic"/>
                <a:cs typeface="Malgun Gothic"/>
              </a:rPr>
              <a:t>要点</a:t>
            </a:r>
            <a:endParaRPr lang="en-US" sz="1700" b="1" dirty="0" smtClean="0">
              <a:latin typeface="Malgun Gothic"/>
              <a:cs typeface="Malgun Gothic"/>
            </a:endParaRPr>
          </a:p>
          <a:p>
            <a:pPr marL="241300" indent="-228600">
              <a:spcBef>
                <a:spcPts val="600"/>
              </a:spcBef>
              <a:buFont typeface="+mj-lt"/>
              <a:buAutoNum type="arabicPeriod"/>
            </a:pPr>
            <a:r>
              <a:rPr sz="1200" b="1" dirty="0" err="1" smtClean="0">
                <a:latin typeface="Arial"/>
                <a:cs typeface="Arial"/>
              </a:rPr>
              <a:t>HTTP</a:t>
            </a:r>
            <a:r>
              <a:rPr sz="1350" b="1" dirty="0" err="1">
                <a:latin typeface="Microsoft JhengHei"/>
                <a:cs typeface="Microsoft JhengHei"/>
              </a:rPr>
              <a:t>请求格式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2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请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求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⾏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: METHOD path HTTP/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版本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请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求头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: Key: Value</a:t>
            </a:r>
            <a:endParaRPr lang="en-US" sz="12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rgbClr val="333333"/>
                </a:solidFill>
                <a:latin typeface="SimSun"/>
                <a:cs typeface="SimSun"/>
              </a:rPr>
              <a:t>空</a:t>
            </a:r>
            <a:r>
              <a:rPr lang="zh-CN" altLang="en-US" sz="12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⾏</a:t>
            </a:r>
            <a:endParaRPr lang="en-US" altLang="zh-CN" sz="12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rgbClr val="333333"/>
                </a:solidFill>
                <a:latin typeface="SimSun"/>
                <a:cs typeface="SimSun"/>
              </a:rPr>
              <a:t>请</a:t>
            </a:r>
            <a:r>
              <a:rPr lang="zh-CN" altLang="en-US" sz="12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求</a:t>
            </a:r>
            <a:r>
              <a:rPr lang="zh-CN" altLang="en-US" sz="1200" dirty="0">
                <a:solidFill>
                  <a:srgbClr val="333333"/>
                </a:solidFill>
                <a:latin typeface="Microsoft JhengHei"/>
                <a:cs typeface="Microsoft JhengHei"/>
              </a:rPr>
              <a:t>体</a:t>
            </a:r>
            <a:r>
              <a:rPr lang="zh-CN" altLang="en-US" sz="1200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lang="zh-CN" altLang="en-US" sz="1200" dirty="0">
                <a:solidFill>
                  <a:srgbClr val="333333"/>
                </a:solidFill>
                <a:latin typeface="Microsoft JhengHei"/>
                <a:cs typeface="Microsoft JhengHei"/>
              </a:rPr>
              <a:t>可</a:t>
            </a:r>
            <a:r>
              <a:rPr lang="zh-CN" altLang="en-US" sz="1200" dirty="0">
                <a:solidFill>
                  <a:srgbClr val="333333"/>
                </a:solidFill>
                <a:latin typeface="SimSun"/>
                <a:cs typeface="SimSun"/>
              </a:rPr>
              <a:t>选</a:t>
            </a:r>
            <a:r>
              <a:rPr lang="zh-CN" altLang="en-US" sz="1200" dirty="0" smtClean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lang="en-US" altLang="zh-CN" sz="1200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241300" indent="-228600">
              <a:spcBef>
                <a:spcPts val="600"/>
              </a:spcBef>
              <a:buFont typeface="+mj-lt"/>
              <a:buAutoNum type="arabicPeriod" startAt="2"/>
            </a:pPr>
            <a:r>
              <a:rPr lang="en-US" altLang="zh-CN" sz="1350" b="1" dirty="0">
                <a:latin typeface="Microsoft JhengHei"/>
                <a:cs typeface="Microsoft JhengHei"/>
              </a:rPr>
              <a:t>HTTP</a:t>
            </a:r>
            <a:r>
              <a:rPr lang="zh-CN" altLang="en-US" sz="1350" b="1" dirty="0">
                <a:latin typeface="Microsoft JhengHei"/>
                <a:cs typeface="Microsoft JhengHei"/>
              </a:rPr>
              <a:t>响应格式</a:t>
            </a:r>
            <a:r>
              <a:rPr lang="en-US" altLang="zh-CN" sz="1350" b="1" dirty="0">
                <a:latin typeface="Microsoft JhengHei"/>
                <a:cs typeface="Microsoft JhengHei"/>
              </a:rPr>
              <a:t>:</a:t>
            </a:r>
          </a:p>
          <a:p>
            <a:pPr marL="319405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rgbClr val="333333"/>
                </a:solidFill>
                <a:latin typeface="SimSun"/>
                <a:cs typeface="SimSun"/>
              </a:rPr>
              <a:t>状</a:t>
            </a:r>
            <a:r>
              <a:rPr lang="zh-CN" altLang="en-US" sz="12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态</a:t>
            </a:r>
            <a:r>
              <a:rPr lang="zh-CN" altLang="en-US" sz="1200" dirty="0">
                <a:solidFill>
                  <a:srgbClr val="333333"/>
                </a:solidFill>
                <a:latin typeface="Microsoft JhengHei"/>
                <a:cs typeface="Microsoft JhengHei"/>
              </a:rPr>
              <a:t>⾏</a:t>
            </a:r>
            <a:r>
              <a:rPr lang="en-US" altLang="zh-CN" sz="1100" dirty="0">
                <a:solidFill>
                  <a:srgbClr val="333333"/>
                </a:solidFill>
                <a:latin typeface="Arial MT"/>
                <a:cs typeface="Arial MT"/>
              </a:rPr>
              <a:t>: HTTP/</a:t>
            </a:r>
            <a:r>
              <a:rPr lang="zh-CN" altLang="en-US" sz="1200" dirty="0">
                <a:solidFill>
                  <a:srgbClr val="333333"/>
                </a:solidFill>
                <a:latin typeface="Microsoft JhengHei"/>
                <a:cs typeface="Microsoft JhengHei"/>
              </a:rPr>
              <a:t>版本 </a:t>
            </a:r>
            <a:r>
              <a:rPr lang="zh-CN" altLang="en-US" sz="1200" dirty="0">
                <a:solidFill>
                  <a:srgbClr val="333333"/>
                </a:solidFill>
                <a:latin typeface="SimSun"/>
                <a:cs typeface="SimSun"/>
              </a:rPr>
              <a:t>状</a:t>
            </a:r>
            <a:r>
              <a:rPr lang="zh-CN" altLang="en-US" sz="1200" dirty="0">
                <a:solidFill>
                  <a:srgbClr val="333333"/>
                </a:solidFill>
                <a:latin typeface="Microsoft JhengHei"/>
                <a:cs typeface="Microsoft JhengHei"/>
              </a:rPr>
              <a:t>态</a:t>
            </a:r>
            <a:r>
              <a:rPr lang="zh-CN" altLang="en-US" sz="1200" dirty="0">
                <a:solidFill>
                  <a:srgbClr val="333333"/>
                </a:solidFill>
                <a:latin typeface="SimSun"/>
                <a:cs typeface="SimSun"/>
              </a:rPr>
              <a:t>码 状</a:t>
            </a:r>
            <a:r>
              <a:rPr lang="zh-CN" altLang="en-US" sz="1200" dirty="0">
                <a:solidFill>
                  <a:srgbClr val="333333"/>
                </a:solidFill>
                <a:latin typeface="Microsoft JhengHei"/>
                <a:cs typeface="Microsoft JhengHei"/>
              </a:rPr>
              <a:t>态</a:t>
            </a:r>
            <a:r>
              <a:rPr lang="zh-CN" altLang="en-US" sz="1200" dirty="0" smtClean="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lang="zh-CN" altLang="en-US" sz="12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endParaRPr lang="en-US" altLang="zh-CN" sz="12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319405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rgbClr val="333333"/>
                </a:solidFill>
                <a:latin typeface="SimSun"/>
                <a:cs typeface="SimSun"/>
              </a:rPr>
              <a:t>响</a:t>
            </a:r>
            <a:r>
              <a:rPr lang="zh-CN" altLang="en-US" sz="12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应</a:t>
            </a:r>
            <a:r>
              <a:rPr lang="zh-CN" altLang="en-US" sz="1200" dirty="0">
                <a:solidFill>
                  <a:srgbClr val="333333"/>
                </a:solidFill>
                <a:latin typeface="Microsoft JhengHei"/>
                <a:cs typeface="Microsoft JhengHei"/>
              </a:rPr>
              <a:t>头</a:t>
            </a:r>
            <a:r>
              <a:rPr lang="en-US" altLang="zh-CN" sz="1100" dirty="0">
                <a:solidFill>
                  <a:srgbClr val="333333"/>
                </a:solidFill>
                <a:latin typeface="Arial MT"/>
                <a:cs typeface="Arial MT"/>
              </a:rPr>
              <a:t>: Content-Type, Content-Length</a:t>
            </a:r>
            <a:r>
              <a:rPr lang="zh-CN" altLang="en-US" sz="12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等</a:t>
            </a:r>
            <a:endParaRPr lang="en-US" altLang="zh-CN" sz="12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319405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 smtClean="0">
                <a:solidFill>
                  <a:srgbClr val="333333"/>
                </a:solidFill>
                <a:latin typeface="SimSun"/>
                <a:cs typeface="SimSun"/>
              </a:rPr>
              <a:t>空</a:t>
            </a:r>
            <a:r>
              <a:rPr lang="zh-CN" altLang="en-US" sz="12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⾏</a:t>
            </a:r>
            <a:r>
              <a:rPr lang="zh-CN" altLang="en-US" sz="1200" dirty="0" smtClean="0">
                <a:solidFill>
                  <a:srgbClr val="333333"/>
                </a:solidFill>
                <a:latin typeface="SimSun"/>
                <a:cs typeface="SimSun"/>
              </a:rPr>
              <a:t>响</a:t>
            </a:r>
            <a:r>
              <a:rPr lang="zh-CN" altLang="en-US" sz="12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应</a:t>
            </a:r>
            <a:r>
              <a:rPr lang="zh-CN" altLang="en-US" sz="1200" dirty="0">
                <a:solidFill>
                  <a:srgbClr val="333333"/>
                </a:solidFill>
                <a:latin typeface="Microsoft JhengHei"/>
                <a:cs typeface="Microsoft JhengHei"/>
              </a:rPr>
              <a:t>体</a:t>
            </a:r>
            <a:endParaRPr lang="zh-CN" altLang="en-US" sz="1200" dirty="0">
              <a:latin typeface="Microsoft JhengHei"/>
              <a:cs typeface="Microsoft JhengHei"/>
            </a:endParaRPr>
          </a:p>
          <a:p>
            <a:pPr marL="355600" indent="-342900">
              <a:spcBef>
                <a:spcPts val="600"/>
              </a:spcBef>
              <a:buClr>
                <a:srgbClr val="333333"/>
              </a:buClr>
              <a:buSzPct val="88888"/>
              <a:buFont typeface="+mj-lt"/>
              <a:buAutoNum type="arabicPeriod" startAt="3"/>
              <a:tabLst>
                <a:tab pos="182245" algn="l"/>
              </a:tabLst>
            </a:pPr>
            <a:r>
              <a:rPr lang="zh-CN" altLang="en-US" sz="1350" b="1" dirty="0">
                <a:latin typeface="Microsoft JhengHei"/>
                <a:cs typeface="Microsoft JhengHei"/>
              </a:rPr>
              <a:t>路由机制</a:t>
            </a:r>
            <a:r>
              <a:rPr lang="en-US" altLang="zh-CN" sz="1350" b="1" dirty="0">
                <a:latin typeface="Microsoft JhengHei"/>
                <a:cs typeface="Microsoft JhengHei"/>
              </a:rPr>
              <a:t>:</a:t>
            </a: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使⽤装饰器</a:t>
            </a:r>
            <a:r>
              <a:rPr lang="en-US" altLang="zh-CN" sz="1350" dirty="0">
                <a:solidFill>
                  <a:srgbClr val="333333"/>
                </a:solidFill>
                <a:latin typeface="SimSun"/>
                <a:cs typeface="SimSun"/>
              </a:rPr>
              <a:t>@</a:t>
            </a:r>
            <a:r>
              <a:rPr lang="en-US" altLang="zh-CN" sz="1350" dirty="0" err="1">
                <a:solidFill>
                  <a:srgbClr val="333333"/>
                </a:solidFill>
                <a:latin typeface="SimSun"/>
                <a:cs typeface="SimSun"/>
              </a:rPr>
              <a:t>server.route</a:t>
            </a:r>
            <a:r>
              <a:rPr lang="en-US" altLang="zh-CN" sz="1350" dirty="0">
                <a:solidFill>
                  <a:srgbClr val="333333"/>
                </a:solidFill>
                <a:latin typeface="SimSun"/>
                <a:cs typeface="SimSun"/>
              </a:rPr>
              <a:t>()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注册路径</a:t>
            </a:r>
            <a:endParaRPr lang="en-US" altLang="zh-CN" sz="1350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处理器路径匹配请求</a:t>
            </a:r>
            <a:endParaRPr lang="en-US" altLang="zh-CN" sz="1350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调⽤对应处理函数</a:t>
            </a:r>
          </a:p>
          <a:p>
            <a:pPr marL="355600" indent="-342900">
              <a:spcBef>
                <a:spcPts val="600"/>
              </a:spcBef>
              <a:buClr>
                <a:srgbClr val="333333"/>
              </a:buClr>
              <a:buSzPct val="88888"/>
              <a:buFont typeface="+mj-lt"/>
              <a:buAutoNum type="arabicPeriod" startAt="4"/>
              <a:tabLst>
                <a:tab pos="182245" algn="l"/>
              </a:tabLst>
            </a:pPr>
            <a:r>
              <a:rPr lang="zh-CN" altLang="en-US" sz="1350" b="1" dirty="0">
                <a:latin typeface="Microsoft JhengHei"/>
                <a:cs typeface="Microsoft JhengHei"/>
              </a:rPr>
              <a:t>状态码</a:t>
            </a:r>
            <a:r>
              <a:rPr lang="en-US" altLang="zh-CN" sz="1350" b="1" dirty="0">
                <a:latin typeface="Microsoft JhengHei"/>
                <a:cs typeface="Microsoft JhengHei"/>
              </a:rPr>
              <a:t>:</a:t>
            </a: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en-US" altLang="zh-CN" sz="1350" dirty="0">
                <a:solidFill>
                  <a:srgbClr val="333333"/>
                </a:solidFill>
                <a:latin typeface="SimSun"/>
                <a:cs typeface="SimSun"/>
              </a:rPr>
              <a:t>200 OK: 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成功</a:t>
            </a:r>
            <a:endParaRPr lang="en-US" altLang="zh-CN" sz="1350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en-US" altLang="zh-CN" sz="1350" dirty="0">
                <a:solidFill>
                  <a:srgbClr val="333333"/>
                </a:solidFill>
                <a:latin typeface="SimSun"/>
                <a:cs typeface="SimSun"/>
              </a:rPr>
              <a:t>404 Not Found: 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路径不存在</a:t>
            </a:r>
            <a:endParaRPr lang="en-US" altLang="zh-CN" sz="1350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其他</a:t>
            </a:r>
            <a:r>
              <a:rPr lang="en-US" altLang="zh-CN" sz="1350" dirty="0">
                <a:solidFill>
                  <a:srgbClr val="333333"/>
                </a:solidFill>
                <a:latin typeface="SimSun"/>
                <a:cs typeface="SimSun"/>
              </a:rPr>
              <a:t>: 400, 500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等</a:t>
            </a:r>
          </a:p>
          <a:p>
            <a:pPr marL="621665" marR="5080">
              <a:spcBef>
                <a:spcPts val="75"/>
              </a:spcBef>
            </a:pPr>
            <a:endParaRPr sz="1200" dirty="0">
              <a:latin typeface="Arial MT"/>
              <a:cs typeface="Arial M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582" y="1662104"/>
            <a:ext cx="2590121" cy="40377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954" y="2107932"/>
            <a:ext cx="4039199" cy="456402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82352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7"/>
          <p:cNvSpPr txBox="1"/>
          <p:nvPr/>
        </p:nvSpPr>
        <p:spPr>
          <a:xfrm>
            <a:off x="743185" y="1227243"/>
            <a:ext cx="613727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对比</a:t>
            </a:r>
            <a:r>
              <a:rPr lang="en-US" altLang="zh-CN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OOK</a:t>
            </a: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、</a:t>
            </a:r>
            <a:r>
              <a:rPr lang="en-US" altLang="zh-CN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ASK</a:t>
            </a: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、</a:t>
            </a:r>
            <a:r>
              <a:rPr lang="en-US" altLang="zh-CN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FSK</a:t>
            </a: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、</a:t>
            </a:r>
            <a:r>
              <a:rPr lang="en-US" altLang="zh-CN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BPSK</a:t>
            </a: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的抗噪声性能</a:t>
            </a:r>
            <a:endParaRPr sz="1600" b="1" dirty="0">
              <a:solidFill>
                <a:srgbClr val="0070C0"/>
              </a:solidFill>
              <a:latin typeface="Microsoft JhengHei"/>
              <a:cs typeface="Microsoft JhengHei"/>
            </a:endParaRPr>
          </a:p>
        </p:txBody>
      </p:sp>
      <p:sp>
        <p:nvSpPr>
          <p:cNvPr id="11" name="object 2"/>
          <p:cNvSpPr txBox="1"/>
          <p:nvPr/>
        </p:nvSpPr>
        <p:spPr>
          <a:xfrm>
            <a:off x="4267201" y="1580279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95" dirty="0">
                <a:latin typeface="Microsoft JhengHei"/>
                <a:cs typeface="Microsoft JhengHei"/>
              </a:rPr>
              <a:t>运⾏结果</a:t>
            </a:r>
            <a:endParaRPr sz="1700" dirty="0">
              <a:latin typeface="Microsoft JhengHei"/>
              <a:cs typeface="Microsoft JhengHei"/>
            </a:endParaRPr>
          </a:p>
        </p:txBody>
      </p:sp>
      <p:sp>
        <p:nvSpPr>
          <p:cNvPr id="12" name="object 2"/>
          <p:cNvSpPr txBox="1"/>
          <p:nvPr/>
        </p:nvSpPr>
        <p:spPr>
          <a:xfrm>
            <a:off x="743185" y="1612465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700" b="1" spc="-195" dirty="0" smtClean="0">
                <a:latin typeface="Microsoft JhengHei"/>
                <a:cs typeface="Microsoft JhengHei"/>
              </a:rPr>
              <a:t>代码实现</a:t>
            </a:r>
            <a:endParaRPr sz="1700" dirty="0">
              <a:latin typeface="Microsoft JhengHei"/>
              <a:cs typeface="Microsoft JhengHei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85" y="2204184"/>
            <a:ext cx="2723949" cy="44709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1" y="1957474"/>
            <a:ext cx="4434037" cy="388353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12" y="2397793"/>
            <a:ext cx="3706133" cy="19047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753328" y="341892"/>
            <a:ext cx="7362824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3</a:t>
            </a:r>
            <a:r>
              <a:rPr lang="en-US" altLang="zh-CN" sz="4000" b="1" dirty="0" smtClean="0">
                <a:latin typeface="Arial"/>
                <a:cs typeface="Arial"/>
              </a:rPr>
              <a:t>.4: </a:t>
            </a:r>
            <a:r>
              <a:rPr lang="zh-CN" altLang="en-US" sz="4000" b="1" dirty="0" smtClean="0">
                <a:latin typeface="Arial"/>
                <a:cs typeface="Arial"/>
              </a:rPr>
              <a:t>调制方式对比演示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067585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9"/>
          <p:cNvSpPr txBox="1"/>
          <p:nvPr/>
        </p:nvSpPr>
        <p:spPr>
          <a:xfrm>
            <a:off x="310046" y="1482195"/>
            <a:ext cx="2914417" cy="46826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600"/>
              </a:spcBef>
            </a:pPr>
            <a:r>
              <a:rPr sz="1700" b="1" dirty="0">
                <a:latin typeface="Microsoft JhengHei"/>
                <a:cs typeface="Microsoft JhengHei"/>
              </a:rPr>
              <a:t>技术</a:t>
            </a:r>
            <a:r>
              <a:rPr sz="1700" b="1" dirty="0">
                <a:latin typeface="Malgun Gothic"/>
                <a:cs typeface="Malgun Gothic"/>
              </a:rPr>
              <a:t>要点</a:t>
            </a:r>
            <a:endParaRPr sz="1700" dirty="0">
              <a:latin typeface="Malgun Gothic"/>
              <a:cs typeface="Malgun Gothic"/>
            </a:endParaRPr>
          </a:p>
          <a:p>
            <a:pPr marL="317500" indent="-169545">
              <a:spcBef>
                <a:spcPts val="600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sz="1200" b="1" dirty="0">
                <a:latin typeface="Arial"/>
                <a:cs typeface="Arial"/>
              </a:rPr>
              <a:t>OOK (On-Off Keying</a:t>
            </a:r>
            <a:r>
              <a:rPr sz="1200" b="1" dirty="0" smtClean="0">
                <a:latin typeface="Arial"/>
                <a:cs typeface="Arial"/>
              </a:rPr>
              <a:t>)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2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1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→ 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⾼电平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0 → 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零电平</a:t>
            </a:r>
            <a:endParaRPr lang="en-US" sz="1350" dirty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最简单的实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中等抗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σ=2.5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BER≈34%</a:t>
            </a:r>
            <a:endParaRPr sz="1200" dirty="0">
              <a:latin typeface="Arial MT"/>
              <a:cs typeface="Arial MT"/>
            </a:endParaRPr>
          </a:p>
          <a:p>
            <a:pPr marL="317500" indent="-169545">
              <a:spcBef>
                <a:spcPts val="600"/>
              </a:spcBef>
              <a:buClr>
                <a:srgbClr val="333333"/>
              </a:buClr>
              <a:buFont typeface="Arial MT"/>
              <a:buAutoNum type="arabicPeriod" startAt="2"/>
              <a:tabLst>
                <a:tab pos="317500" algn="l"/>
              </a:tabLst>
            </a:pPr>
            <a:r>
              <a:rPr sz="1200" b="1" dirty="0">
                <a:latin typeface="Arial"/>
                <a:cs typeface="Arial"/>
              </a:rPr>
              <a:t>ASK (Amplitude Shift Keying</a:t>
            </a:r>
            <a:r>
              <a:rPr sz="1200" b="1" dirty="0" smtClean="0">
                <a:latin typeface="Arial"/>
                <a:cs typeface="Arial"/>
              </a:rPr>
              <a:t>)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2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使⽤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载波振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幅表⽰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0/1</a:t>
            </a:r>
            <a:endParaRPr lang="en-US" sz="12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极易受幅度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影响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最差</a:t>
            </a:r>
            <a:endParaRPr lang="en-US" sz="1350" dirty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σ=1.0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BER≈50%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等同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随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机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猜测）</a:t>
            </a:r>
            <a:endParaRPr sz="1350" dirty="0">
              <a:latin typeface="SimSun"/>
              <a:cs typeface="SimSun"/>
            </a:endParaRPr>
          </a:p>
          <a:p>
            <a:pPr marL="317500" indent="-169545">
              <a:spcBef>
                <a:spcPts val="600"/>
              </a:spcBef>
              <a:buClr>
                <a:srgbClr val="333333"/>
              </a:buClr>
              <a:buFont typeface="Arial MT"/>
              <a:buAutoNum type="arabicPeriod" startAt="3"/>
              <a:tabLst>
                <a:tab pos="317500" algn="l"/>
              </a:tabLst>
            </a:pPr>
            <a:r>
              <a:rPr sz="1200" b="1" dirty="0">
                <a:latin typeface="Arial"/>
                <a:cs typeface="Arial"/>
              </a:rPr>
              <a:t>FSK (Frequency Shift Keying</a:t>
            </a:r>
            <a:r>
              <a:rPr sz="1200" b="1" dirty="0" smtClean="0">
                <a:latin typeface="Arial"/>
                <a:cs typeface="Arial"/>
              </a:rPr>
              <a:t>)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200" dirty="0">
              <a:solidFill>
                <a:srgbClr val="333333"/>
              </a:solidFill>
              <a:latin typeface="Arial MT"/>
              <a:cs typeface="Arial MT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US" altLang="zh-CN" sz="1200" dirty="0" smtClean="0">
                <a:solidFill>
                  <a:srgbClr val="333333"/>
                </a:solidFill>
                <a:latin typeface="Arial MT"/>
                <a:cs typeface="Arial MT"/>
              </a:rPr>
              <a:t>1 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→ </a:t>
            </a:r>
            <a:r>
              <a:rPr lang="zh-CN" altLang="en-US"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⾼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频，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0 → </a:t>
            </a:r>
            <a:r>
              <a:rPr lang="zh-CN" altLang="en-US"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低</a:t>
            </a:r>
            <a:r>
              <a:rPr lang="zh-CN" altLang="en-US" sz="1350" dirty="0" smtClean="0">
                <a:solidFill>
                  <a:srgbClr val="333333"/>
                </a:solidFill>
                <a:latin typeface="SimSun"/>
                <a:cs typeface="SimSun"/>
              </a:rPr>
              <a:t>频</a:t>
            </a:r>
            <a:endParaRPr lang="en-US" altLang="zh-CN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使</a:t>
            </a:r>
            <a:r>
              <a:rPr lang="zh-CN" altLang="en-US"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⽤相关性</a:t>
            </a:r>
            <a:r>
              <a:rPr lang="zh-CN" altLang="en-US" sz="1350" dirty="0" smtClean="0">
                <a:solidFill>
                  <a:srgbClr val="333333"/>
                </a:solidFill>
                <a:latin typeface="SimSun"/>
                <a:cs typeface="SimSun"/>
              </a:rPr>
              <a:t>检测</a:t>
            </a:r>
            <a:endParaRPr lang="en-US" altLang="zh-CN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良好</a:t>
            </a:r>
            <a:r>
              <a:rPr lang="zh-CN" altLang="en-US"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抗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lang="zh-CN" altLang="en-US"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endParaRPr lang="en-US" altLang="zh-CN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319405" indent="-171450"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US" altLang="zh-CN" sz="1200" dirty="0" smtClean="0">
                <a:solidFill>
                  <a:srgbClr val="333333"/>
                </a:solidFill>
                <a:latin typeface="Arial MT"/>
                <a:cs typeface="Arial MT"/>
              </a:rPr>
              <a:t>σ=2.5</a:t>
            </a:r>
            <a:r>
              <a:rPr lang="zh-CN" altLang="en-US"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BER≈6.2</a:t>
            </a:r>
            <a:r>
              <a:rPr lang="en-US" altLang="zh-CN" sz="1200" dirty="0" smtClean="0">
                <a:solidFill>
                  <a:srgbClr val="333333"/>
                </a:solidFill>
                <a:latin typeface="Arial MT"/>
                <a:cs typeface="Arial MT"/>
              </a:rPr>
              <a:t>%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15" name="object 10"/>
          <p:cNvSpPr txBox="1"/>
          <p:nvPr/>
        </p:nvSpPr>
        <p:spPr>
          <a:xfrm>
            <a:off x="3586419" y="1585127"/>
            <a:ext cx="4302576" cy="29399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1610" marR="1308735" indent="-169545">
              <a:lnSpc>
                <a:spcPct val="150000"/>
              </a:lnSpc>
              <a:spcBef>
                <a:spcPts val="600"/>
              </a:spcBef>
              <a:buClr>
                <a:srgbClr val="333333"/>
              </a:buClr>
              <a:buFont typeface="Arial MT"/>
              <a:buAutoNum type="arabicPeriod" startAt="4"/>
              <a:tabLst>
                <a:tab pos="486409" algn="l"/>
              </a:tabLst>
            </a:pPr>
            <a:r>
              <a:rPr sz="1200" b="1" dirty="0" smtClean="0">
                <a:latin typeface="Arial"/>
                <a:cs typeface="Arial"/>
              </a:rPr>
              <a:t>BPSK </a:t>
            </a:r>
            <a:r>
              <a:rPr sz="1200" b="1" dirty="0">
                <a:latin typeface="Arial"/>
                <a:cs typeface="Arial"/>
              </a:rPr>
              <a:t>(Binary Phase Shift Keying</a:t>
            </a:r>
            <a:r>
              <a:rPr sz="1200" b="1" dirty="0" smtClean="0">
                <a:latin typeface="Arial"/>
                <a:cs typeface="Arial"/>
              </a:rPr>
              <a:t>)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200" dirty="0">
              <a:solidFill>
                <a:srgbClr val="333333"/>
              </a:solidFill>
              <a:latin typeface="Arial MT"/>
              <a:cs typeface="Arial MT"/>
            </a:endParaRPr>
          </a:p>
          <a:p>
            <a:pPr marL="183515" marR="1308735" indent="-171450">
              <a:lnSpc>
                <a:spcPct val="150000"/>
              </a:lnSpc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486409" algn="l"/>
              </a:tabLst>
            </a:pP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1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→ 0°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相位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0 → 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180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°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相位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183515" marR="1308735" indent="-171450">
              <a:lnSpc>
                <a:spcPct val="150000"/>
              </a:lnSpc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486409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相位相关性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检测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183515" marR="1308735" indent="-171450">
              <a:lnSpc>
                <a:spcPct val="150000"/>
              </a:lnSpc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486409" algn="l"/>
              </a:tabLst>
            </a:pPr>
            <a:r>
              <a:rPr lang="zh-CN" altLang="en-US"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良好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抗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183515" marR="1308735" indent="-171450">
              <a:lnSpc>
                <a:spcPct val="150000"/>
              </a:lnSpc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486409" algn="l"/>
              </a:tabLst>
            </a:pP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σ=2.5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BER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仅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0.5%</a:t>
            </a:r>
            <a:endParaRPr sz="1200" dirty="0">
              <a:latin typeface="Arial MT"/>
              <a:cs typeface="Arial MT"/>
            </a:endParaRPr>
          </a:p>
          <a:p>
            <a:pPr marL="182245" indent="-169545">
              <a:lnSpc>
                <a:spcPct val="15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5"/>
              <a:tabLst>
                <a:tab pos="182245" algn="l"/>
              </a:tabLst>
            </a:pPr>
            <a:r>
              <a:rPr sz="1350" b="1" dirty="0">
                <a:latin typeface="Microsoft JhengHei"/>
                <a:cs typeface="Microsoft JhengHei"/>
              </a:rPr>
              <a:t>性</a:t>
            </a:r>
            <a:r>
              <a:rPr sz="1350" b="1" dirty="0">
                <a:latin typeface="Malgun Gothic"/>
                <a:cs typeface="Malgun Gothic"/>
              </a:rPr>
              <a:t>能</a:t>
            </a:r>
            <a:r>
              <a:rPr sz="1350" b="1" dirty="0">
                <a:latin typeface="Microsoft JhengHei"/>
                <a:cs typeface="Microsoft JhengHei"/>
              </a:rPr>
              <a:t>排名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BPSK &gt; FSK &gt; OOK &gt; 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ASK</a:t>
            </a:r>
            <a:endParaRPr lang="en-US" sz="12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12700">
              <a:lnSpc>
                <a:spcPct val="150000"/>
              </a:lnSpc>
              <a:spcBef>
                <a:spcPts val="600"/>
              </a:spcBef>
              <a:buClr>
                <a:srgbClr val="333333"/>
              </a:buClr>
              <a:buSzPct val="88888"/>
              <a:tabLst>
                <a:tab pos="182245" algn="l"/>
              </a:tabLst>
            </a:pPr>
            <a:r>
              <a:rPr lang="en-US" altLang="zh-CN" sz="1200" b="1" dirty="0">
                <a:cs typeface="Microsoft JhengHei"/>
              </a:rPr>
              <a:t>6</a:t>
            </a:r>
            <a:r>
              <a:rPr lang="en-US" altLang="zh-CN" sz="1200" dirty="0">
                <a:cs typeface="Microsoft JhengHei"/>
              </a:rPr>
              <a:t>.</a:t>
            </a:r>
            <a:r>
              <a:rPr lang="en-US" altLang="zh-CN" sz="1200" b="1" dirty="0">
                <a:cs typeface="Microsoft JhengHei"/>
              </a:rPr>
              <a:t> </a:t>
            </a:r>
            <a:r>
              <a:rPr lang="zh-CN" altLang="en-US" sz="1200" b="1" dirty="0">
                <a:cs typeface="Microsoft JhengHei"/>
              </a:rPr>
              <a:t>噪声说明</a:t>
            </a:r>
            <a:r>
              <a:rPr lang="en-US" altLang="zh-CN" sz="1200" dirty="0">
                <a:solidFill>
                  <a:srgbClr val="333333"/>
                </a:solidFill>
                <a:cs typeface="Arial MT"/>
              </a:rPr>
              <a:t>: </a:t>
            </a:r>
            <a:r>
              <a:rPr lang="en-US" altLang="zh-CN" sz="1200" dirty="0">
                <a:solidFill>
                  <a:srgbClr val="333333"/>
                </a:solidFill>
                <a:cs typeface="Microsoft JhengHei"/>
              </a:rPr>
              <a:t>	</a:t>
            </a:r>
            <a:r>
              <a:rPr lang="zh-CN" altLang="en-US" sz="1200" dirty="0">
                <a:solidFill>
                  <a:srgbClr val="333333"/>
                </a:solidFill>
                <a:cs typeface="Microsoft JhengHei"/>
              </a:rPr>
              <a:t>使⽤⾼</a:t>
            </a:r>
            <a:r>
              <a:rPr lang="zh-CN" altLang="en-US" sz="1200" dirty="0">
                <a:solidFill>
                  <a:srgbClr val="333333"/>
                </a:solidFill>
                <a:cs typeface="SimSun"/>
              </a:rPr>
              <a:t>噪</a:t>
            </a:r>
            <a:r>
              <a:rPr lang="zh-CN" altLang="en-US" sz="1200" dirty="0">
                <a:solidFill>
                  <a:srgbClr val="333333"/>
                </a:solidFill>
                <a:cs typeface="Microsoft JhengHei"/>
              </a:rPr>
              <a:t>声</a:t>
            </a:r>
            <a:r>
              <a:rPr lang="en-US" altLang="zh-CN" sz="1200" dirty="0">
                <a:solidFill>
                  <a:srgbClr val="333333"/>
                </a:solidFill>
                <a:cs typeface="Arial MT"/>
              </a:rPr>
              <a:t>(0.5-2.5)</a:t>
            </a:r>
            <a:r>
              <a:rPr lang="zh-CN" altLang="en-US" sz="1200" dirty="0">
                <a:solidFill>
                  <a:srgbClr val="333333"/>
                </a:solidFill>
                <a:cs typeface="Microsoft JhengHei"/>
              </a:rPr>
              <a:t>是</a:t>
            </a:r>
            <a:r>
              <a:rPr lang="zh-CN" altLang="en-US" sz="1200" dirty="0">
                <a:solidFill>
                  <a:srgbClr val="333333"/>
                </a:solidFill>
                <a:cs typeface="SimSun"/>
              </a:rPr>
              <a:t>因</a:t>
            </a:r>
            <a:r>
              <a:rPr lang="zh-CN" altLang="en-US" sz="1200" dirty="0">
                <a:solidFill>
                  <a:srgbClr val="333333"/>
                </a:solidFill>
                <a:cs typeface="Microsoft JhengHei"/>
              </a:rPr>
              <a:t>为 </a:t>
            </a:r>
            <a:endParaRPr lang="en-US" altLang="zh-CN" sz="1200" dirty="0">
              <a:solidFill>
                <a:srgbClr val="333333"/>
              </a:solidFill>
              <a:cs typeface="Microsoft JhengHei"/>
            </a:endParaRPr>
          </a:p>
          <a:p>
            <a:pPr marL="12700">
              <a:lnSpc>
                <a:spcPct val="150000"/>
              </a:lnSpc>
              <a:spcBef>
                <a:spcPts val="600"/>
              </a:spcBef>
              <a:buClr>
                <a:srgbClr val="333333"/>
              </a:buClr>
              <a:buSzPct val="88888"/>
              <a:tabLst>
                <a:tab pos="182245" algn="l"/>
              </a:tabLst>
            </a:pPr>
            <a:r>
              <a:rPr lang="en-US" altLang="zh-CN" sz="1200" dirty="0">
                <a:solidFill>
                  <a:srgbClr val="333333"/>
                </a:solidFill>
                <a:cs typeface="Arial MT"/>
              </a:rPr>
              <a:t>                     100</a:t>
            </a:r>
            <a:r>
              <a:rPr lang="zh-CN" altLang="en-US" sz="1200" dirty="0">
                <a:solidFill>
                  <a:srgbClr val="333333"/>
                </a:solidFill>
                <a:cs typeface="SimSun"/>
              </a:rPr>
              <a:t>采样点</a:t>
            </a:r>
            <a:r>
              <a:rPr lang="zh-CN" altLang="en-US" sz="1200" dirty="0">
                <a:solidFill>
                  <a:srgbClr val="333333"/>
                </a:solidFill>
                <a:cs typeface="Microsoft JhengHei"/>
              </a:rPr>
              <a:t>平</a:t>
            </a:r>
            <a:r>
              <a:rPr lang="zh-CN" altLang="en-US" sz="1200" dirty="0">
                <a:solidFill>
                  <a:srgbClr val="333333"/>
                </a:solidFill>
                <a:cs typeface="SimSun"/>
              </a:rPr>
              <a:t>均</a:t>
            </a:r>
            <a:r>
              <a:rPr lang="zh-CN" altLang="en-US" sz="1200" dirty="0" smtClean="0">
                <a:solidFill>
                  <a:srgbClr val="333333"/>
                </a:solidFill>
                <a:cs typeface="Microsoft JhengHei"/>
              </a:rPr>
              <a:t>效应</a:t>
            </a:r>
            <a:endParaRPr sz="1200" dirty="0">
              <a:latin typeface="Arial MT"/>
              <a:cs typeface="Arial M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595" y="1604945"/>
            <a:ext cx="2786806" cy="51091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204" y="1857448"/>
            <a:ext cx="2717941" cy="49828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矩形 15"/>
          <p:cNvSpPr/>
          <p:nvPr/>
        </p:nvSpPr>
        <p:spPr>
          <a:xfrm>
            <a:off x="6459204" y="1277350"/>
            <a:ext cx="54029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70C0"/>
                </a:solidFill>
              </a:rPr>
              <a:t>实现四种调制方式，BPSK通过相位相关性检测达到最优抗噪</a:t>
            </a:r>
            <a:r>
              <a:rPr lang="zh-CN" altLang="en-US" sz="1400" b="1" dirty="0" smtClean="0">
                <a:solidFill>
                  <a:srgbClr val="0070C0"/>
                </a:solidFill>
              </a:rPr>
              <a:t>性能</a:t>
            </a:r>
            <a:endParaRPr lang="zh-CN" altLang="en-US" sz="1400" b="1" dirty="0">
              <a:solidFill>
                <a:srgbClr val="0070C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753328" y="341892"/>
            <a:ext cx="7362824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3</a:t>
            </a:r>
            <a:r>
              <a:rPr lang="en-US" altLang="zh-CN" sz="4000" b="1" dirty="0" smtClean="0">
                <a:latin typeface="Arial"/>
                <a:cs typeface="Arial"/>
              </a:rPr>
              <a:t>.4: </a:t>
            </a:r>
            <a:r>
              <a:rPr lang="zh-CN" altLang="en-US" sz="4000" b="1" dirty="0" smtClean="0">
                <a:latin typeface="Arial"/>
                <a:cs typeface="Arial"/>
              </a:rPr>
              <a:t>调制方式对比演示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6895644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2753328" y="341892"/>
            <a:ext cx="7362824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3</a:t>
            </a:r>
            <a:r>
              <a:rPr lang="en-US" altLang="zh-CN" sz="4000" b="1" dirty="0" smtClean="0">
                <a:latin typeface="Arial"/>
                <a:cs typeface="Arial"/>
              </a:rPr>
              <a:t>.4: </a:t>
            </a:r>
            <a:r>
              <a:rPr lang="zh-CN" altLang="en-US" sz="4000" b="1" dirty="0" smtClean="0">
                <a:latin typeface="Arial"/>
                <a:cs typeface="Arial"/>
              </a:rPr>
              <a:t>调制方式对比演示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pic>
        <p:nvPicPr>
          <p:cNvPr id="10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70198" y="1685842"/>
            <a:ext cx="5307473" cy="3097047"/>
          </a:xfrm>
          <a:prstGeom prst="rect">
            <a:avLst/>
          </a:prstGeom>
        </p:spPr>
      </p:pic>
      <p:sp>
        <p:nvSpPr>
          <p:cNvPr id="11" name="object 3"/>
          <p:cNvSpPr txBox="1"/>
          <p:nvPr/>
        </p:nvSpPr>
        <p:spPr>
          <a:xfrm>
            <a:off x="7286827" y="5013369"/>
            <a:ext cx="376297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图</a:t>
            </a: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3.5: Level 3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调制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能 </a:t>
            </a: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- 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四种调制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⽅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式在不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同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噪声下的</a:t>
            </a: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BER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曲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线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，验证</a:t>
            </a: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BPSK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能最优</a:t>
            </a:r>
            <a:endParaRPr sz="1400" dirty="0">
              <a:latin typeface="SimSun"/>
              <a:cs typeface="SimSun"/>
            </a:endParaRPr>
          </a:p>
        </p:txBody>
      </p:sp>
      <p:pic>
        <p:nvPicPr>
          <p:cNvPr id="12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102" y="1685842"/>
            <a:ext cx="5125403" cy="2974553"/>
          </a:xfrm>
          <a:prstGeom prst="rect">
            <a:avLst/>
          </a:prstGeom>
        </p:spPr>
      </p:pic>
      <p:sp>
        <p:nvSpPr>
          <p:cNvPr id="13" name="object 4"/>
          <p:cNvSpPr txBox="1"/>
          <p:nvPr/>
        </p:nvSpPr>
        <p:spPr>
          <a:xfrm>
            <a:off x="1121392" y="5013369"/>
            <a:ext cx="3845243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图</a:t>
            </a: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3.4: 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四种调制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⽅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式</a:t>
            </a: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BER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对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⽐ </a:t>
            </a: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- BPSK(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紫</a:t>
            </a: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) &lt; FSK(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绿</a:t>
            </a: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) &lt; OOK(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蓝</a:t>
            </a: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) &lt; ASK(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红</a:t>
            </a: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)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，噪声范围</a:t>
            </a: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σ=0.5~2.5</a:t>
            </a:r>
            <a:endParaRPr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22100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17"/>
          <p:cNvSpPr txBox="1"/>
          <p:nvPr/>
        </p:nvSpPr>
        <p:spPr>
          <a:xfrm>
            <a:off x="743185" y="1227243"/>
            <a:ext cx="613727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Microsoft JhengHei"/>
                <a:cs typeface="Microsoft JhengHei"/>
              </a:rPr>
              <a:t>演示多线程并发网络通信</a:t>
            </a:r>
            <a:endParaRPr sz="1600" b="1" dirty="0">
              <a:solidFill>
                <a:srgbClr val="0070C0"/>
              </a:solidFill>
              <a:latin typeface="Microsoft JhengHei"/>
              <a:cs typeface="Microsoft JhengHei"/>
            </a:endParaRPr>
          </a:p>
        </p:txBody>
      </p:sp>
      <p:sp>
        <p:nvSpPr>
          <p:cNvPr id="11" name="object 2"/>
          <p:cNvSpPr txBox="1"/>
          <p:nvPr/>
        </p:nvSpPr>
        <p:spPr>
          <a:xfrm>
            <a:off x="4267201" y="1580279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95" dirty="0">
                <a:latin typeface="Microsoft JhengHei"/>
                <a:cs typeface="Microsoft JhengHei"/>
              </a:rPr>
              <a:t>运⾏结果</a:t>
            </a:r>
            <a:endParaRPr sz="1700" dirty="0">
              <a:latin typeface="Microsoft JhengHei"/>
              <a:cs typeface="Microsoft JhengHei"/>
            </a:endParaRPr>
          </a:p>
        </p:txBody>
      </p:sp>
      <p:sp>
        <p:nvSpPr>
          <p:cNvPr id="12" name="object 2"/>
          <p:cNvSpPr txBox="1"/>
          <p:nvPr/>
        </p:nvSpPr>
        <p:spPr>
          <a:xfrm>
            <a:off x="743185" y="1612465"/>
            <a:ext cx="7874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1700" b="1" spc="-195" dirty="0" smtClean="0">
                <a:latin typeface="Microsoft JhengHei"/>
                <a:cs typeface="Microsoft JhengHei"/>
              </a:rPr>
              <a:t>代码实现</a:t>
            </a:r>
            <a:endParaRPr sz="1700" dirty="0">
              <a:latin typeface="Microsoft JhengHei"/>
              <a:cs typeface="Microsoft JhengHei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753328" y="341892"/>
            <a:ext cx="7362824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3</a:t>
            </a:r>
            <a:r>
              <a:rPr lang="en-US" altLang="zh-CN" sz="4000" b="1" dirty="0" smtClean="0">
                <a:latin typeface="Arial"/>
                <a:cs typeface="Arial"/>
              </a:rPr>
              <a:t>.5: </a:t>
            </a:r>
            <a:r>
              <a:rPr lang="zh-CN" altLang="en-US" sz="4000" b="1" dirty="0" smtClean="0">
                <a:latin typeface="Arial"/>
                <a:cs typeface="Arial"/>
              </a:rPr>
              <a:t>并发处理演示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85" y="1957474"/>
            <a:ext cx="2736949" cy="479222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639" y="1957473"/>
            <a:ext cx="3033309" cy="368977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401" y="1957473"/>
            <a:ext cx="3461199" cy="254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382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803006" y="1245433"/>
            <a:ext cx="64335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0070C0"/>
                </a:solidFill>
              </a:rPr>
              <a:t>使用线程池和消息队列实现并发网络，所有主机可同时收发消息，无阻塞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753328" y="341892"/>
            <a:ext cx="7362824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3</a:t>
            </a:r>
            <a:r>
              <a:rPr lang="en-US" altLang="zh-CN" sz="4000" b="1" dirty="0" smtClean="0">
                <a:latin typeface="Arial"/>
                <a:cs typeface="Arial"/>
              </a:rPr>
              <a:t>.5: </a:t>
            </a:r>
            <a:r>
              <a:rPr lang="zh-CN" altLang="en-US" sz="4000" b="1" dirty="0" smtClean="0">
                <a:latin typeface="Arial"/>
                <a:cs typeface="Arial"/>
              </a:rPr>
              <a:t>并发处理演示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11" name="object 13"/>
          <p:cNvSpPr txBox="1"/>
          <p:nvPr/>
        </p:nvSpPr>
        <p:spPr>
          <a:xfrm>
            <a:off x="319672" y="1585127"/>
            <a:ext cx="4983848" cy="52700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700" b="1" dirty="0">
                <a:latin typeface="Microsoft JhengHei"/>
                <a:cs typeface="Microsoft JhengHei"/>
              </a:rPr>
              <a:t>技术</a:t>
            </a:r>
            <a:r>
              <a:rPr sz="1700" b="1" dirty="0">
                <a:latin typeface="Malgun Gothic"/>
                <a:cs typeface="Malgun Gothic"/>
              </a:rPr>
              <a:t>要点</a:t>
            </a:r>
            <a:endParaRPr sz="1700" dirty="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sz="1350" b="1" dirty="0" err="1">
                <a:latin typeface="Microsoft JhengHei"/>
                <a:cs typeface="Microsoft JhengHei"/>
              </a:rPr>
              <a:t>并发架构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2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每个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Host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运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⾏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独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⽴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线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200" dirty="0" err="1" smtClean="0">
                <a:solidFill>
                  <a:srgbClr val="333333"/>
                </a:solidFill>
                <a:latin typeface="Arial MT"/>
                <a:cs typeface="Arial MT"/>
              </a:rPr>
              <a:t>Switch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使⽤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线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池处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理转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发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队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列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Queue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线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程间通信</a:t>
            </a:r>
            <a:endParaRPr sz="1350" dirty="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sz="1350" b="1" dirty="0" err="1">
                <a:latin typeface="Microsoft JhengHei"/>
                <a:cs typeface="Microsoft JhengHei"/>
              </a:rPr>
              <a:t>性</a:t>
            </a:r>
            <a:r>
              <a:rPr sz="1350" b="1" dirty="0" err="1">
                <a:latin typeface="Malgun Gothic"/>
                <a:cs typeface="Malgun Gothic"/>
              </a:rPr>
              <a:t>能</a:t>
            </a:r>
            <a:r>
              <a:rPr sz="1350" b="1" dirty="0" err="1">
                <a:latin typeface="Microsoft JhengHei"/>
                <a:cs typeface="Microsoft JhengHei"/>
              </a:rPr>
              <a:t>分析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200" dirty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4个主机，每个发送3条消息总共12条消息（4×3）</a:t>
            </a:r>
            <a:endParaRPr lang="en-US" sz="1350" dirty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交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机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转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发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14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次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含⼴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lang="en-US" sz="1350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每个主机正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确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收到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3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条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endParaRPr sz="1350" dirty="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sz="1350" b="1" dirty="0" err="1">
                <a:latin typeface="Microsoft JhengHei"/>
                <a:cs typeface="Microsoft JhengHei"/>
              </a:rPr>
              <a:t>线</a:t>
            </a:r>
            <a:r>
              <a:rPr sz="1350" b="1" dirty="0" err="1">
                <a:latin typeface="Malgun Gothic"/>
                <a:cs typeface="Malgun Gothic"/>
              </a:rPr>
              <a:t>程</a:t>
            </a:r>
            <a:r>
              <a:rPr sz="1350" b="1" dirty="0" err="1">
                <a:latin typeface="Microsoft JhengHei"/>
                <a:cs typeface="Microsoft JhengHei"/>
              </a:rPr>
              <a:t>安全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2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使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⽤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Queue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保证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线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安全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200" dirty="0" err="1" smtClean="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表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访问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加锁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350" spc="-170" dirty="0">
                <a:solidFill>
                  <a:srgbClr val="333333"/>
                </a:solidFill>
                <a:latin typeface="SimSun"/>
                <a:cs typeface="SimSun"/>
              </a:rPr>
              <a:t>避</a:t>
            </a:r>
            <a:r>
              <a:rPr lang="zh-CN" altLang="en-US" sz="1350" spc="-150" dirty="0">
                <a:solidFill>
                  <a:srgbClr val="333333"/>
                </a:solidFill>
                <a:latin typeface="Microsoft JhengHei"/>
                <a:cs typeface="Microsoft JhengHei"/>
              </a:rPr>
              <a:t>免竞争</a:t>
            </a:r>
            <a:r>
              <a:rPr lang="zh-CN" altLang="en-US" sz="1350" spc="-1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条件</a:t>
            </a:r>
            <a:endParaRPr lang="en-US" altLang="zh-CN" sz="1350" spc="-1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90855" indent="-342900">
              <a:spcBef>
                <a:spcPts val="600"/>
              </a:spcBef>
              <a:buClr>
                <a:srgbClr val="333333"/>
              </a:buClr>
              <a:buSzPct val="88888"/>
              <a:buFont typeface="+mj-lt"/>
              <a:buAutoNum type="arabicPeriod" startAt="4"/>
              <a:tabLst>
                <a:tab pos="317500" algn="l"/>
              </a:tabLst>
            </a:pPr>
            <a:r>
              <a:rPr lang="zh-CN" altLang="en-US" sz="1350" b="1" dirty="0">
                <a:latin typeface="Microsoft JhengHei"/>
                <a:cs typeface="Microsoft JhengHei"/>
              </a:rPr>
              <a:t>优势</a:t>
            </a:r>
            <a:r>
              <a:rPr lang="en-US" altLang="zh-CN" sz="1350" b="1" dirty="0">
                <a:latin typeface="Microsoft JhengHei"/>
                <a:cs typeface="Microsoft JhengHei"/>
              </a:rPr>
              <a:t>:</a:t>
            </a: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350" spc="-170" dirty="0">
                <a:solidFill>
                  <a:srgbClr val="333333"/>
                </a:solidFill>
                <a:latin typeface="SimSun"/>
                <a:cs typeface="SimSun"/>
              </a:rPr>
              <a:t>并发处理提⾼吞吐量</a:t>
            </a:r>
            <a:endParaRPr lang="en-US" altLang="zh-CN" sz="1350" spc="-170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350" spc="-170" dirty="0">
                <a:solidFill>
                  <a:srgbClr val="333333"/>
                </a:solidFill>
                <a:latin typeface="SimSun"/>
                <a:cs typeface="SimSun"/>
              </a:rPr>
              <a:t>⾮阻塞</a:t>
            </a:r>
            <a:r>
              <a:rPr lang="en-US" altLang="zh-CN" sz="1350" spc="-170" dirty="0">
                <a:solidFill>
                  <a:srgbClr val="333333"/>
                </a:solidFill>
                <a:latin typeface="SimSun"/>
                <a:cs typeface="SimSun"/>
              </a:rPr>
              <a:t>I/O</a:t>
            </a: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350" spc="-170" dirty="0">
                <a:solidFill>
                  <a:srgbClr val="333333"/>
                </a:solidFill>
                <a:latin typeface="SimSun"/>
                <a:cs typeface="SimSun"/>
              </a:rPr>
              <a:t>模拟真实⽹络环境</a:t>
            </a:r>
          </a:p>
          <a:p>
            <a:pPr marL="147955">
              <a:spcBef>
                <a:spcPts val="135"/>
              </a:spcBef>
              <a:buClr>
                <a:srgbClr val="333333"/>
              </a:buClr>
              <a:buSzPct val="88888"/>
              <a:tabLst>
                <a:tab pos="317500" algn="l"/>
              </a:tabLst>
            </a:pPr>
            <a:endParaRPr lang="zh-CN" altLang="en-US" sz="1350" dirty="0"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135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endParaRPr sz="1350" dirty="0">
              <a:latin typeface="Microsoft JhengHei"/>
              <a:cs typeface="Microsoft JhengHei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640" y="1751144"/>
            <a:ext cx="3337208" cy="469231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621" y="1764788"/>
            <a:ext cx="2795734" cy="467867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105688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3022836" y="326566"/>
            <a:ext cx="7362824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b="1" spc="-135" dirty="0">
                <a:latin typeface="Microsoft JhengHei"/>
                <a:cs typeface="Microsoft JhengHei"/>
              </a:rPr>
              <a:t>任务 </a:t>
            </a:r>
            <a:r>
              <a:rPr lang="en-US" altLang="zh-CN" sz="4400" b="1" spc="-135" dirty="0" smtClean="0">
                <a:latin typeface="Microsoft JhengHei"/>
                <a:cs typeface="Microsoft JhengHei"/>
              </a:rPr>
              <a:t>3</a:t>
            </a:r>
            <a:r>
              <a:rPr lang="en-US" altLang="zh-CN" sz="4000" b="1" dirty="0" smtClean="0">
                <a:latin typeface="Arial"/>
                <a:cs typeface="Arial"/>
              </a:rPr>
              <a:t>.5: </a:t>
            </a:r>
            <a:r>
              <a:rPr lang="zh-CN" altLang="en-US" sz="4000" b="1" dirty="0" smtClean="0">
                <a:latin typeface="Arial"/>
                <a:cs typeface="Arial"/>
              </a:rPr>
              <a:t>并发处理演示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pic>
        <p:nvPicPr>
          <p:cNvPr id="8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8489" y="1255695"/>
            <a:ext cx="5686872" cy="4693910"/>
          </a:xfrm>
          <a:prstGeom prst="rect">
            <a:avLst/>
          </a:prstGeom>
        </p:spPr>
      </p:pic>
      <p:sp>
        <p:nvSpPr>
          <p:cNvPr id="9" name="object 4"/>
          <p:cNvSpPr txBox="1"/>
          <p:nvPr/>
        </p:nvSpPr>
        <p:spPr>
          <a:xfrm>
            <a:off x="1863752" y="6268980"/>
            <a:ext cx="9137923" cy="2627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400" spc="-210" dirty="0">
                <a:solidFill>
                  <a:srgbClr val="333333"/>
                </a:solidFill>
                <a:latin typeface="SimSun"/>
                <a:cs typeface="SimSun"/>
              </a:rPr>
              <a:t>图</a:t>
            </a: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3.6:</a:t>
            </a:r>
            <a:r>
              <a:rPr sz="1200" i="1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Level</a:t>
            </a:r>
            <a:r>
              <a:rPr sz="1200" i="1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3</a:t>
            </a:r>
            <a:r>
              <a:rPr sz="1400" spc="-210" dirty="0">
                <a:solidFill>
                  <a:srgbClr val="333333"/>
                </a:solidFill>
                <a:latin typeface="Microsoft JhengHei"/>
                <a:cs typeface="Microsoft JhengHei"/>
              </a:rPr>
              <a:t>综合</a:t>
            </a:r>
            <a:r>
              <a:rPr sz="1400" spc="-210" dirty="0">
                <a:solidFill>
                  <a:srgbClr val="333333"/>
                </a:solidFill>
                <a:latin typeface="SimSun"/>
                <a:cs typeface="SimSun"/>
              </a:rPr>
              <a:t>展</a:t>
            </a:r>
            <a:r>
              <a:rPr sz="1400" spc="-120" dirty="0">
                <a:solidFill>
                  <a:srgbClr val="333333"/>
                </a:solidFill>
                <a:latin typeface="Microsoft JhengHei"/>
                <a:cs typeface="Microsoft JhengHei"/>
              </a:rPr>
              <a:t>⽰ </a:t>
            </a:r>
            <a:r>
              <a:rPr sz="1200" i="1" spc="-5" dirty="0">
                <a:solidFill>
                  <a:srgbClr val="333333"/>
                </a:solidFill>
                <a:latin typeface="Arial"/>
                <a:cs typeface="Arial"/>
              </a:rPr>
              <a:t>- </a:t>
            </a:r>
            <a:r>
              <a:rPr sz="1400" spc="-210" dirty="0">
                <a:solidFill>
                  <a:srgbClr val="333333"/>
                </a:solidFill>
                <a:latin typeface="SimSun"/>
                <a:cs typeface="SimSun"/>
              </a:rPr>
              <a:t>左上：传输层</a:t>
            </a: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ACK</a:t>
            </a:r>
            <a:r>
              <a:rPr sz="1400" spc="-210" dirty="0">
                <a:solidFill>
                  <a:srgbClr val="333333"/>
                </a:solidFill>
                <a:latin typeface="Microsoft JhengHei"/>
                <a:cs typeface="Microsoft JhengHei"/>
              </a:rPr>
              <a:t>统</a:t>
            </a:r>
            <a:r>
              <a:rPr sz="1400" spc="-210" dirty="0">
                <a:solidFill>
                  <a:srgbClr val="333333"/>
                </a:solidFill>
                <a:latin typeface="SimSun"/>
                <a:cs typeface="SimSun"/>
              </a:rPr>
              <a:t>计；</a:t>
            </a:r>
            <a:r>
              <a:rPr sz="1400" spc="-210" dirty="0">
                <a:solidFill>
                  <a:srgbClr val="333333"/>
                </a:solidFill>
                <a:latin typeface="Microsoft JhengHei"/>
                <a:cs typeface="Microsoft JhengHei"/>
              </a:rPr>
              <a:t>右</a:t>
            </a:r>
            <a:r>
              <a:rPr sz="1400" spc="-210" dirty="0">
                <a:solidFill>
                  <a:srgbClr val="333333"/>
                </a:solidFill>
                <a:latin typeface="SimSun"/>
                <a:cs typeface="SimSun"/>
              </a:rPr>
              <a:t>上：信道</a:t>
            </a:r>
            <a:r>
              <a:rPr sz="1400" spc="-210" dirty="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sz="1400" spc="-210" dirty="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sz="1400" spc="-210" dirty="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sz="1400" spc="-210" dirty="0">
                <a:solidFill>
                  <a:srgbClr val="333333"/>
                </a:solidFill>
                <a:latin typeface="SimSun"/>
                <a:cs typeface="SimSun"/>
              </a:rPr>
              <a:t>能；左下：调制</a:t>
            </a:r>
            <a:r>
              <a:rPr sz="1200" i="1" dirty="0">
                <a:solidFill>
                  <a:srgbClr val="333333"/>
                </a:solidFill>
                <a:latin typeface="Arial"/>
                <a:cs typeface="Arial"/>
              </a:rPr>
              <a:t>BER</a:t>
            </a:r>
            <a:r>
              <a:rPr sz="1400" spc="-210" dirty="0">
                <a:solidFill>
                  <a:srgbClr val="333333"/>
                </a:solidFill>
                <a:latin typeface="SimSun"/>
                <a:cs typeface="SimSun"/>
              </a:rPr>
              <a:t>对</a:t>
            </a:r>
            <a:r>
              <a:rPr sz="1400" spc="-210" dirty="0">
                <a:solidFill>
                  <a:srgbClr val="333333"/>
                </a:solidFill>
                <a:latin typeface="Microsoft JhengHei"/>
                <a:cs typeface="Microsoft JhengHei"/>
              </a:rPr>
              <a:t>⽐</a:t>
            </a:r>
            <a:r>
              <a:rPr sz="1400" spc="-210" dirty="0">
                <a:solidFill>
                  <a:srgbClr val="333333"/>
                </a:solidFill>
                <a:latin typeface="SimSun"/>
                <a:cs typeface="SimSun"/>
              </a:rPr>
              <a:t>；</a:t>
            </a:r>
            <a:r>
              <a:rPr sz="1400" spc="-210" dirty="0">
                <a:solidFill>
                  <a:srgbClr val="333333"/>
                </a:solidFill>
                <a:latin typeface="Microsoft JhengHei"/>
                <a:cs typeface="Microsoft JhengHei"/>
              </a:rPr>
              <a:t>右</a:t>
            </a:r>
            <a:r>
              <a:rPr sz="1400" spc="-130" dirty="0">
                <a:solidFill>
                  <a:srgbClr val="333333"/>
                </a:solidFill>
                <a:latin typeface="SimSun"/>
                <a:cs typeface="SimSun"/>
              </a:rPr>
              <a:t>下：</a:t>
            </a:r>
            <a:r>
              <a:rPr sz="1400" spc="-210" dirty="0">
                <a:solidFill>
                  <a:srgbClr val="333333"/>
                </a:solidFill>
                <a:latin typeface="SimSun"/>
                <a:cs typeface="SimSun"/>
              </a:rPr>
              <a:t>并</a:t>
            </a:r>
            <a:r>
              <a:rPr sz="1400" spc="-210" dirty="0">
                <a:solidFill>
                  <a:srgbClr val="333333"/>
                </a:solidFill>
                <a:latin typeface="Microsoft JhengHei"/>
                <a:cs typeface="Microsoft JhengHei"/>
              </a:rPr>
              <a:t>发吞吐</a:t>
            </a:r>
            <a:r>
              <a:rPr sz="1400" spc="-50" dirty="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endParaRPr sz="1400" dirty="0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25063475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26383" t="38431"/>
          <a:stretch/>
        </p:blipFill>
        <p:spPr>
          <a:xfrm>
            <a:off x="-29497" y="401638"/>
            <a:ext cx="11027090" cy="54741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831428" y="1923427"/>
            <a:ext cx="5617091" cy="87004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r>
              <a:rPr lang="zh-CN" altLang="en-US" sz="4400" dirty="0" smtClean="0"/>
              <a:t>总结与展望</a:t>
            </a:r>
            <a:endParaRPr lang="zh-CN" altLang="en-US" sz="4400" dirty="0"/>
          </a:p>
        </p:txBody>
      </p:sp>
      <p:sp>
        <p:nvSpPr>
          <p:cNvPr id="9" name="文本框 8"/>
          <p:cNvSpPr txBox="1"/>
          <p:nvPr/>
        </p:nvSpPr>
        <p:spPr>
          <a:xfrm>
            <a:off x="7416799" y="3684293"/>
            <a:ext cx="1127233" cy="110799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6600" b="1" dirty="0" smtClean="0">
                <a:solidFill>
                  <a:schemeClr val="tx1">
                    <a:lumMod val="65000"/>
                    <a:lumOff val="35000"/>
                  </a:schemeClr>
                </a:solidFill>
                <a:ea typeface="汉仪趣黑W" panose="00020600040101010101" pitchFamily="18" charset="-122"/>
              </a:rPr>
              <a:t>05</a:t>
            </a:r>
            <a:endParaRPr lang="zh-CN" altLang="en-US" sz="6600" b="1" dirty="0">
              <a:solidFill>
                <a:schemeClr val="tx1">
                  <a:lumMod val="65000"/>
                  <a:lumOff val="35000"/>
                </a:schemeClr>
              </a:solidFill>
              <a:ea typeface="汉仪趣黑W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629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648475" y="358303"/>
            <a:ext cx="5245268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dirty="0" smtClean="0">
                <a:latin typeface="Malgun Gothic"/>
                <a:cs typeface="Malgun Gothic"/>
              </a:rPr>
              <a:t>完成清单：</a:t>
            </a:r>
            <a:r>
              <a:rPr lang="en-US" altLang="zh-CN" sz="4400" dirty="0" smtClean="0">
                <a:latin typeface="Malgun Gothic"/>
                <a:cs typeface="Malgun Gothic"/>
              </a:rPr>
              <a:t>Level 1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graphicFrame>
        <p:nvGraphicFramePr>
          <p:cNvPr id="10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700299"/>
              </p:ext>
            </p:extLst>
          </p:nvPr>
        </p:nvGraphicFramePr>
        <p:xfrm>
          <a:off x="802054" y="1997012"/>
          <a:ext cx="6905625" cy="1464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0"/>
                <a:gridCol w="933450"/>
                <a:gridCol w="4200525"/>
              </a:tblGrid>
              <a:tr h="361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要求项</a:t>
                      </a:r>
                      <a:endParaRPr sz="1350" spc="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完成状态</a:t>
                      </a:r>
                      <a:endParaRPr sz="1350" spc="0" baseline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实现说明</a:t>
                      </a:r>
                      <a:endParaRPr sz="1350" spc="0" baseline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成功传输简单字符串</a:t>
                      </a:r>
                      <a:endParaRPr sz="1350" spc="0" baseline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0" baseline="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完成</a:t>
                      </a: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实现</a:t>
                      </a: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string_to_bits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bits_to_string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，⽀持</a:t>
                      </a: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ASCII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编码</a:t>
                      </a:r>
                      <a:endParaRPr sz="1350" spc="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处理⻓消息（分⽚）</a:t>
                      </a:r>
                      <a:endParaRPr sz="1350" spc="0" baseline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0" baseline="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完成</a:t>
                      </a: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PacketSlicer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类，⽀持可配置分⽚⼤⼩（默认</a:t>
                      </a: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字节）</a:t>
                      </a:r>
                      <a:endParaRPr sz="1350" spc="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基本错误检测机制</a:t>
                      </a:r>
                      <a:endParaRPr sz="1350" spc="0" baseline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0" baseline="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完成</a:t>
                      </a: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帧校验和（</a:t>
                      </a: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checksum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CRC-8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校验</a:t>
                      </a:r>
                      <a:endParaRPr sz="1350" spc="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5"/>
          <p:cNvSpPr txBox="1"/>
          <p:nvPr/>
        </p:nvSpPr>
        <p:spPr>
          <a:xfrm>
            <a:off x="802054" y="1127744"/>
            <a:ext cx="4480560" cy="7655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dirty="0">
                <a:latin typeface="Arial"/>
                <a:cs typeface="Arial"/>
              </a:rPr>
              <a:t>Level 1: </a:t>
            </a:r>
            <a:r>
              <a:rPr sz="2000" b="1" dirty="0" err="1">
                <a:latin typeface="Malgun Gothic"/>
                <a:cs typeface="Malgun Gothic"/>
              </a:rPr>
              <a:t>点</a:t>
            </a:r>
            <a:r>
              <a:rPr sz="2000" b="1" dirty="0" err="1">
                <a:latin typeface="Microsoft JhengHei"/>
                <a:cs typeface="Microsoft JhengHei"/>
              </a:rPr>
              <a:t>对</a:t>
            </a:r>
            <a:r>
              <a:rPr sz="2000" b="1" dirty="0" err="1">
                <a:latin typeface="Malgun Gothic"/>
                <a:cs typeface="Malgun Gothic"/>
              </a:rPr>
              <a:t>点</a:t>
            </a:r>
            <a:r>
              <a:rPr sz="2000" b="1" dirty="0" err="1">
                <a:latin typeface="Microsoft JhengHei"/>
                <a:cs typeface="Microsoft JhengHei"/>
              </a:rPr>
              <a:t>通信</a:t>
            </a:r>
            <a:r>
              <a:rPr sz="2000" b="1" dirty="0">
                <a:latin typeface="Microsoft JhengHei"/>
                <a:cs typeface="Microsoft JhengHei"/>
              </a:rPr>
              <a:t> </a:t>
            </a:r>
            <a:r>
              <a:rPr lang="en-US" altLang="zh-CN" b="1" dirty="0">
                <a:cs typeface="Arial"/>
              </a:rPr>
              <a:t>–</a:t>
            </a:r>
            <a:r>
              <a:rPr sz="1800" b="1" dirty="0" smtClean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050"/>
                </a:solidFill>
                <a:latin typeface="Microsoft JhengHei"/>
                <a:cs typeface="Microsoft JhengHei"/>
              </a:rPr>
              <a:t>完成</a:t>
            </a:r>
            <a:endParaRPr sz="2000" dirty="0">
              <a:solidFill>
                <a:srgbClr val="00B050"/>
              </a:solidFill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700" b="1" dirty="0">
                <a:latin typeface="Malgun Gothic"/>
                <a:cs typeface="Malgun Gothic"/>
              </a:rPr>
              <a:t>基</a:t>
            </a:r>
            <a:r>
              <a:rPr sz="1700" b="1" dirty="0">
                <a:latin typeface="Microsoft JhengHei"/>
                <a:cs typeface="Microsoft JhengHei"/>
              </a:rPr>
              <a:t>本</a:t>
            </a:r>
            <a:r>
              <a:rPr sz="1700" b="1" dirty="0">
                <a:latin typeface="Malgun Gothic"/>
                <a:cs typeface="Malgun Gothic"/>
              </a:rPr>
              <a:t>要</a:t>
            </a:r>
            <a:r>
              <a:rPr sz="1700" b="1" dirty="0">
                <a:latin typeface="Microsoft JhengHei"/>
                <a:cs typeface="Microsoft JhengHei"/>
              </a:rPr>
              <a:t>求</a:t>
            </a:r>
            <a:endParaRPr sz="1700" dirty="0">
              <a:latin typeface="Microsoft JhengHei"/>
              <a:cs typeface="Microsoft JhengHei"/>
            </a:endParaRPr>
          </a:p>
        </p:txBody>
      </p:sp>
      <p:sp>
        <p:nvSpPr>
          <p:cNvPr id="15" name="object 13"/>
          <p:cNvSpPr txBox="1"/>
          <p:nvPr/>
        </p:nvSpPr>
        <p:spPr>
          <a:xfrm>
            <a:off x="802053" y="3564996"/>
            <a:ext cx="6580523" cy="30877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600"/>
              </a:spcBef>
            </a:pPr>
            <a:r>
              <a:rPr sz="17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详细实现清单</a:t>
            </a:r>
            <a:endParaRPr lang="en-US" sz="17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数字信号</a:t>
            </a:r>
            <a:r>
              <a:rPr sz="13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⽣成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3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字符串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sz="13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⽐特流转换 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(physical_layer.py:28-78</a:t>
            </a:r>
            <a:r>
              <a:rPr sz="12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2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调制器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OOK</a:t>
            </a:r>
            <a:r>
              <a:rPr sz="13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调制实现 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(physical_layer.py:158-184</a:t>
            </a:r>
            <a:r>
              <a:rPr sz="12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2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使</a:t>
            </a:r>
            <a:r>
              <a:rPr sz="13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⽤</a:t>
            </a:r>
            <a:r>
              <a:rPr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Cable</a:t>
            </a:r>
            <a:r>
              <a:rPr sz="13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类传输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3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完整集成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Cable API (physical_layer.py:302</a:t>
            </a:r>
            <a:r>
              <a:rPr sz="12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2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解调器</a:t>
            </a:r>
            <a:r>
              <a:rPr sz="12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35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⾃</a:t>
            </a:r>
            <a:r>
              <a:rPr sz="13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适应阈值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OOK</a:t>
            </a:r>
            <a:r>
              <a:rPr sz="13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解调 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(physical_layer.py:186-219</a:t>
            </a:r>
            <a:r>
              <a:rPr sz="12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2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数据恢复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3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⽐特流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sz="13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字符串转换 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(physical_layer.py:51-78</a:t>
            </a:r>
            <a:r>
              <a:rPr sz="12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2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噪声环境测试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3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⽀持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0.5-2.0</a:t>
            </a:r>
            <a:r>
              <a:rPr sz="135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范围噪声测试</a:t>
            </a:r>
            <a:endParaRPr lang="en-US" sz="135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Shannon</a:t>
            </a:r>
            <a:r>
              <a:rPr sz="13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公式对</a:t>
            </a:r>
            <a:r>
              <a:rPr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⽐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350" dirty="0" err="1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完整的信道容量分析</a:t>
            </a:r>
            <a:endParaRPr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906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648475" y="358303"/>
            <a:ext cx="5245268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dirty="0" smtClean="0">
                <a:latin typeface="Malgun Gothic"/>
                <a:cs typeface="Malgun Gothic"/>
              </a:rPr>
              <a:t>完成清单：</a:t>
            </a:r>
            <a:r>
              <a:rPr lang="en-US" altLang="zh-CN" sz="4400" dirty="0" smtClean="0">
                <a:latin typeface="Malgun Gothic"/>
                <a:cs typeface="Malgun Gothic"/>
              </a:rPr>
              <a:t>Level 2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14" name="object 5"/>
          <p:cNvSpPr txBox="1"/>
          <p:nvPr/>
        </p:nvSpPr>
        <p:spPr>
          <a:xfrm>
            <a:off x="802054" y="1127744"/>
            <a:ext cx="4480560" cy="7655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dirty="0">
                <a:latin typeface="Arial"/>
                <a:cs typeface="Arial"/>
              </a:rPr>
              <a:t>Level </a:t>
            </a:r>
            <a:r>
              <a:rPr lang="en-US" sz="1800" b="1" dirty="0" smtClean="0">
                <a:latin typeface="Arial"/>
                <a:cs typeface="Arial"/>
              </a:rPr>
              <a:t>2</a:t>
            </a:r>
            <a:r>
              <a:rPr sz="1800" b="1" dirty="0" smtClean="0">
                <a:latin typeface="Arial"/>
                <a:cs typeface="Arial"/>
              </a:rPr>
              <a:t>: </a:t>
            </a:r>
            <a:r>
              <a:rPr lang="zh-CN" altLang="en-US" sz="1800" b="1" dirty="0" smtClean="0">
                <a:latin typeface="Arial"/>
                <a:cs typeface="Arial"/>
              </a:rPr>
              <a:t>多主机</a:t>
            </a:r>
            <a:r>
              <a:rPr sz="2000" b="1" dirty="0" err="1" smtClean="0">
                <a:latin typeface="Microsoft JhengHei"/>
                <a:cs typeface="Microsoft JhengHei"/>
              </a:rPr>
              <a:t>通信</a:t>
            </a:r>
            <a:r>
              <a:rPr sz="2000" b="1" dirty="0" smtClean="0">
                <a:latin typeface="Microsoft JhengHei"/>
                <a:cs typeface="Microsoft JhengHei"/>
              </a:rPr>
              <a:t> </a:t>
            </a:r>
            <a:r>
              <a:rPr lang="en-US" altLang="zh-CN" b="1" dirty="0">
                <a:cs typeface="Arial"/>
              </a:rPr>
              <a:t>–</a:t>
            </a:r>
            <a:r>
              <a:rPr sz="1800" b="1" dirty="0" smtClean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B050"/>
                </a:solidFill>
                <a:latin typeface="Microsoft JhengHei"/>
                <a:cs typeface="Microsoft JhengHei"/>
              </a:rPr>
              <a:t>完成</a:t>
            </a:r>
            <a:endParaRPr sz="2000" dirty="0">
              <a:solidFill>
                <a:srgbClr val="00B050"/>
              </a:solidFill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700" b="1" dirty="0">
                <a:latin typeface="Malgun Gothic"/>
                <a:cs typeface="Malgun Gothic"/>
              </a:rPr>
              <a:t>基</a:t>
            </a:r>
            <a:r>
              <a:rPr sz="1700" b="1" dirty="0">
                <a:latin typeface="Microsoft JhengHei"/>
                <a:cs typeface="Microsoft JhengHei"/>
              </a:rPr>
              <a:t>本</a:t>
            </a:r>
            <a:r>
              <a:rPr sz="1700" b="1" dirty="0">
                <a:latin typeface="Malgun Gothic"/>
                <a:cs typeface="Malgun Gothic"/>
              </a:rPr>
              <a:t>要</a:t>
            </a:r>
            <a:r>
              <a:rPr sz="1700" b="1" dirty="0">
                <a:latin typeface="Microsoft JhengHei"/>
                <a:cs typeface="Microsoft JhengHei"/>
              </a:rPr>
              <a:t>求</a:t>
            </a:r>
            <a:endParaRPr sz="1700" dirty="0">
              <a:latin typeface="Microsoft JhengHei"/>
              <a:cs typeface="Microsoft JhengHei"/>
            </a:endParaRPr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143717"/>
              </p:ext>
            </p:extLst>
          </p:nvPr>
        </p:nvGraphicFramePr>
        <p:xfrm>
          <a:off x="640379" y="1989682"/>
          <a:ext cx="6905625" cy="1102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6925"/>
                <a:gridCol w="1104900"/>
                <a:gridCol w="3733800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170" dirty="0">
                          <a:latin typeface="Malgun Gothic"/>
                          <a:cs typeface="Malgun Gothic"/>
                        </a:rPr>
                        <a:t>要</a:t>
                      </a:r>
                      <a:r>
                        <a:rPr sz="1350" b="1" spc="-110" dirty="0">
                          <a:latin typeface="Microsoft JhengHei"/>
                          <a:cs typeface="Microsoft JhengHei"/>
                        </a:rPr>
                        <a:t>求项</a:t>
                      </a:r>
                      <a:endParaRPr sz="1350" dirty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11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140" dirty="0">
                          <a:latin typeface="Microsoft JhengHei"/>
                          <a:cs typeface="Microsoft JhengHei"/>
                        </a:rPr>
                        <a:t>完成状态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140" dirty="0">
                          <a:latin typeface="Microsoft JhengHei"/>
                          <a:cs typeface="Microsoft JhengHei"/>
                        </a:rPr>
                        <a:t>实现说明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150" dirty="0">
                          <a:latin typeface="Microsoft JhengHei"/>
                          <a:cs typeface="Microsoft JhengHei"/>
                        </a:rPr>
                        <a:t>区分不同主机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110" dirty="0">
                          <a:solidFill>
                            <a:srgbClr val="00B050"/>
                          </a:solidFill>
                          <a:latin typeface="Microsoft JhengHei"/>
                          <a:cs typeface="Microsoft JhengHei"/>
                        </a:rPr>
                        <a:t>完成</a:t>
                      </a:r>
                      <a:endParaRPr sz="1350" b="1" dirty="0">
                        <a:solidFill>
                          <a:srgbClr val="00B050"/>
                        </a:solidFill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48</a:t>
                      </a:r>
                      <a:r>
                        <a:rPr sz="1350" spc="-17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位</a:t>
                      </a:r>
                      <a:r>
                        <a:rPr sz="12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MAC</a:t>
                      </a:r>
                      <a:r>
                        <a:rPr sz="1350" spc="-17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地址</a:t>
                      </a:r>
                      <a:r>
                        <a:rPr sz="1350" spc="-17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机制</a:t>
                      </a:r>
                      <a:r>
                        <a:rPr sz="1350" spc="-17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，</a:t>
                      </a:r>
                      <a:r>
                        <a:rPr sz="1350" spc="-17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⽀</a:t>
                      </a:r>
                      <a:r>
                        <a:rPr sz="1350" spc="-17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持</a:t>
                      </a:r>
                      <a:r>
                        <a:rPr sz="1350" spc="-17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⼴</a:t>
                      </a:r>
                      <a:r>
                        <a:rPr sz="1350" spc="-13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播地址</a:t>
                      </a:r>
                      <a:endParaRPr sz="1350" dirty="0">
                        <a:latin typeface="SimSun"/>
                        <a:cs typeface="SimSun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170" dirty="0">
                          <a:latin typeface="Malgun Gothic"/>
                          <a:cs typeface="Malgun Gothic"/>
                        </a:rPr>
                        <a:t>正</a:t>
                      </a:r>
                      <a:r>
                        <a:rPr sz="1350" b="1" spc="-155" dirty="0">
                          <a:latin typeface="Microsoft JhengHei"/>
                          <a:cs typeface="Microsoft JhengHei"/>
                        </a:rPr>
                        <a:t>确路由到⽬标主机</a:t>
                      </a:r>
                      <a:endParaRPr sz="135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-110" dirty="0">
                          <a:solidFill>
                            <a:srgbClr val="00B050"/>
                          </a:solidFill>
                          <a:latin typeface="Microsoft JhengHei"/>
                          <a:cs typeface="Microsoft JhengHei"/>
                        </a:rPr>
                        <a:t>完成</a:t>
                      </a:r>
                      <a:endParaRPr sz="1350" b="1" dirty="0">
                        <a:solidFill>
                          <a:srgbClr val="00B050"/>
                        </a:solidFill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MAC</a:t>
                      </a:r>
                      <a:r>
                        <a:rPr sz="1350" spc="-17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学习算</a:t>
                      </a:r>
                      <a:r>
                        <a:rPr sz="1350" spc="-235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法 </a:t>
                      </a:r>
                      <a:r>
                        <a:rPr sz="1200" spc="25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+ </a:t>
                      </a:r>
                      <a:r>
                        <a:rPr sz="1350" spc="-17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转</a:t>
                      </a:r>
                      <a:r>
                        <a:rPr sz="1350" spc="-17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发表</a:t>
                      </a:r>
                      <a:r>
                        <a:rPr sz="1350" spc="-17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，</a:t>
                      </a:r>
                      <a:r>
                        <a:rPr sz="1350" spc="-17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⽀</a:t>
                      </a:r>
                      <a:r>
                        <a:rPr sz="1350" spc="-17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持</a:t>
                      </a:r>
                      <a:r>
                        <a:rPr sz="1350" spc="-17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单</a:t>
                      </a:r>
                      <a:r>
                        <a:rPr sz="1350" spc="-17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播</a:t>
                      </a:r>
                      <a:r>
                        <a:rPr sz="1200" spc="-1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sz="1350" spc="-17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⼴</a:t>
                      </a:r>
                      <a:r>
                        <a:rPr sz="1350" spc="-5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播</a:t>
                      </a:r>
                      <a:endParaRPr sz="1350" dirty="0">
                        <a:latin typeface="SimSun"/>
                        <a:cs typeface="SimSun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19"/>
          <p:cNvSpPr txBox="1"/>
          <p:nvPr/>
        </p:nvSpPr>
        <p:spPr>
          <a:xfrm>
            <a:off x="802054" y="3382395"/>
            <a:ext cx="5637247" cy="34054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7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详细实现清单</a:t>
            </a:r>
            <a:endParaRPr lang="en-US" sz="17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星型拓扑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StarTopology</a:t>
            </a:r>
            <a:r>
              <a:rPr sz="13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类，中⼼交换机架构 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(network_layer.py:200</a:t>
            </a:r>
            <a:r>
              <a:rPr sz="12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+)</a:t>
            </a:r>
            <a:endParaRPr lang="en-US" sz="12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寻址机制</a:t>
            </a:r>
            <a:r>
              <a:rPr sz="12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2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8315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2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MACAddress</a:t>
            </a:r>
            <a:r>
              <a:rPr sz="13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类，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r>
            <a:r>
              <a:rPr sz="13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位地址 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(network_layer.py:10-50</a:t>
            </a:r>
            <a:r>
              <a:rPr sz="12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2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2615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帧头部包含源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3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⽬标</a:t>
            </a:r>
            <a:r>
              <a:rPr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 (network_layer.py:52-100</a:t>
            </a:r>
            <a:r>
              <a:rPr sz="120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2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2615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⼴</a:t>
            </a:r>
            <a:r>
              <a:rPr sz="135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播地址</a:t>
            </a:r>
            <a:r>
              <a:rPr sz="12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FF:FF:FF:FF:FF:FF</a:t>
            </a:r>
            <a:r>
              <a:rPr sz="135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⽀</a:t>
            </a:r>
            <a:r>
              <a:rPr sz="1350" dirty="0" err="1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持</a:t>
            </a:r>
            <a:endParaRPr lang="en-US" sz="135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 smtClean="0">
                <a:latin typeface="Microsoft JhengHei"/>
                <a:cs typeface="Microsoft JhengHei"/>
              </a:rPr>
              <a:t>路由</a:t>
            </a:r>
            <a:r>
              <a:rPr lang="en-US" altLang="zh-CN" sz="1200" b="1" dirty="0">
                <a:cs typeface="Arial"/>
              </a:rPr>
              <a:t>/</a:t>
            </a:r>
            <a:r>
              <a:rPr lang="zh-CN" altLang="en-US" sz="1400" b="1" dirty="0">
                <a:latin typeface="Microsoft JhengHei"/>
                <a:cs typeface="Microsoft JhengHei"/>
              </a:rPr>
              <a:t>转发机制</a:t>
            </a:r>
            <a:r>
              <a:rPr lang="en-US" altLang="zh-CN" sz="12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altLang="zh-CN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8315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solidFill>
                  <a:srgbClr val="333333"/>
                </a:solidFill>
                <a:latin typeface="Arial MT"/>
                <a:cs typeface="Arial MT"/>
              </a:rPr>
              <a:t>Switch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类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学习 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(network_layer.py:150</a:t>
            </a:r>
            <a:r>
              <a:rPr lang="en-US" altLang="zh-CN" sz="1200" dirty="0" smtClean="0">
                <a:solidFill>
                  <a:srgbClr val="333333"/>
                </a:solidFill>
                <a:latin typeface="Arial MT"/>
                <a:cs typeface="Arial MT"/>
              </a:rPr>
              <a:t>+)</a:t>
            </a:r>
          </a:p>
          <a:p>
            <a:pPr marL="602615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333333"/>
                </a:solidFill>
                <a:latin typeface="SimSun"/>
                <a:cs typeface="SimSun"/>
              </a:rPr>
              <a:t>转</a:t>
            </a:r>
            <a:r>
              <a:rPr lang="zh-CN" altLang="en-US"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发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表⾃动</a:t>
            </a:r>
            <a:r>
              <a:rPr lang="zh-CN" altLang="en-US"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构</a:t>
            </a:r>
            <a:r>
              <a:rPr lang="zh-CN" altLang="en-US" sz="1400" dirty="0" smtClean="0">
                <a:solidFill>
                  <a:srgbClr val="333333"/>
                </a:solidFill>
                <a:latin typeface="SimSun"/>
                <a:cs typeface="SimSun"/>
              </a:rPr>
              <a:t>建</a:t>
            </a:r>
            <a:endParaRPr lang="en-US" altLang="zh-CN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602615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未</a:t>
            </a:r>
            <a:r>
              <a:rPr lang="zh-CN" altLang="en-US" sz="1400" dirty="0" smtClean="0">
                <a:solidFill>
                  <a:srgbClr val="333333"/>
                </a:solidFill>
                <a:latin typeface="SimSun"/>
                <a:cs typeface="SimSun"/>
              </a:rPr>
              <a:t>知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地址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⾃动⼴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已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知地址精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准单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endParaRPr lang="zh-CN" altLang="en-US" sz="1400" dirty="0">
              <a:latin typeface="SimSun"/>
              <a:cs typeface="SimSun"/>
            </a:endParaRPr>
          </a:p>
          <a:p>
            <a:pPr marL="1270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Microsoft JhengHei"/>
                <a:cs typeface="Microsoft JhengHei"/>
              </a:rPr>
              <a:t>多主机处理</a:t>
            </a:r>
            <a:r>
              <a:rPr lang="en-US" altLang="zh-CN" sz="1400" b="1" dirty="0">
                <a:latin typeface="Microsoft JhengHei"/>
                <a:cs typeface="Microsoft JhengHei"/>
              </a:rPr>
              <a:t>: </a:t>
            </a:r>
            <a:r>
              <a:rPr lang="zh-CN" altLang="en-US" sz="1400" b="1" dirty="0">
                <a:latin typeface="Microsoft JhengHei"/>
                <a:cs typeface="Microsoft JhengHei"/>
              </a:rPr>
              <a:t>⽀持</a:t>
            </a:r>
            <a:r>
              <a:rPr lang="en-US" altLang="zh-CN" sz="1400" b="1" dirty="0">
                <a:latin typeface="Microsoft JhengHei"/>
                <a:cs typeface="Microsoft JhengHei"/>
              </a:rPr>
              <a:t>4+</a:t>
            </a:r>
            <a:r>
              <a:rPr lang="zh-CN" altLang="en-US" sz="1400" b="1" dirty="0">
                <a:latin typeface="Microsoft JhengHei"/>
                <a:cs typeface="Microsoft JhengHei"/>
              </a:rPr>
              <a:t>主机同时通信</a:t>
            </a:r>
          </a:p>
          <a:p>
            <a:pPr marL="621665">
              <a:lnSpc>
                <a:spcPct val="100000"/>
              </a:lnSpc>
              <a:spcBef>
                <a:spcPts val="254"/>
              </a:spcBef>
            </a:pPr>
            <a:endParaRPr lang="en-US" sz="135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4300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648475" y="358303"/>
            <a:ext cx="5245268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dirty="0" smtClean="0">
                <a:latin typeface="Malgun Gothic"/>
                <a:cs typeface="Malgun Gothic"/>
              </a:rPr>
              <a:t>完成清单：</a:t>
            </a:r>
            <a:r>
              <a:rPr lang="en-US" altLang="zh-CN" sz="4400" dirty="0" smtClean="0">
                <a:latin typeface="Malgun Gothic"/>
                <a:cs typeface="Malgun Gothic"/>
              </a:rPr>
              <a:t>Level 3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14" name="object 5"/>
          <p:cNvSpPr txBox="1"/>
          <p:nvPr/>
        </p:nvSpPr>
        <p:spPr>
          <a:xfrm>
            <a:off x="802054" y="1127744"/>
            <a:ext cx="4480560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dirty="0">
                <a:latin typeface="Arial"/>
                <a:cs typeface="Arial"/>
              </a:rPr>
              <a:t>Level </a:t>
            </a:r>
            <a:r>
              <a:rPr lang="en-US" sz="1800" b="1" dirty="0" smtClean="0">
                <a:latin typeface="Arial"/>
                <a:cs typeface="Arial"/>
              </a:rPr>
              <a:t>3</a:t>
            </a:r>
            <a:r>
              <a:rPr sz="1800" b="1" dirty="0" smtClean="0">
                <a:latin typeface="Arial"/>
                <a:cs typeface="Arial"/>
              </a:rPr>
              <a:t>: </a:t>
            </a:r>
            <a:r>
              <a:rPr lang="zh-CN" altLang="en-US" sz="1800" b="1" dirty="0" smtClean="0">
                <a:latin typeface="Arial"/>
                <a:cs typeface="Arial"/>
              </a:rPr>
              <a:t>扩展功能</a:t>
            </a:r>
            <a:r>
              <a:rPr sz="2000" b="1" dirty="0" smtClean="0">
                <a:latin typeface="Microsoft JhengHei"/>
                <a:cs typeface="Microsoft JhengHei"/>
              </a:rPr>
              <a:t> </a:t>
            </a:r>
            <a:r>
              <a:rPr lang="en-US" altLang="zh-CN" sz="1800" b="1" dirty="0" smtClean="0">
                <a:latin typeface="Arial"/>
                <a:cs typeface="Arial"/>
              </a:rPr>
              <a:t>–</a:t>
            </a:r>
            <a:r>
              <a:rPr sz="1800" b="1" dirty="0" smtClean="0">
                <a:latin typeface="Arial"/>
                <a:cs typeface="Arial"/>
              </a:rPr>
              <a:t> </a:t>
            </a:r>
            <a:r>
              <a:rPr lang="zh-CN" altLang="en-US" sz="1800" b="1" dirty="0" smtClean="0">
                <a:solidFill>
                  <a:srgbClr val="00B050"/>
                </a:solidFill>
                <a:latin typeface="Arial"/>
                <a:cs typeface="Arial"/>
              </a:rPr>
              <a:t>实现</a:t>
            </a:r>
            <a:r>
              <a:rPr lang="en-US" altLang="zh-CN" sz="1800" b="1" dirty="0" smtClean="0">
                <a:solidFill>
                  <a:srgbClr val="00B050"/>
                </a:solidFill>
                <a:latin typeface="Arial"/>
                <a:cs typeface="Arial"/>
              </a:rPr>
              <a:t>5</a:t>
            </a:r>
            <a:r>
              <a:rPr lang="zh-CN" altLang="en-US" sz="1800" b="1" dirty="0" smtClean="0">
                <a:solidFill>
                  <a:srgbClr val="00B050"/>
                </a:solidFill>
                <a:latin typeface="Arial"/>
                <a:cs typeface="Arial"/>
              </a:rPr>
              <a:t>项</a:t>
            </a:r>
            <a:endParaRPr sz="2000" dirty="0">
              <a:solidFill>
                <a:srgbClr val="00B050"/>
              </a:solidFill>
              <a:latin typeface="Microsoft JhengHei"/>
              <a:cs typeface="Microsoft JhengHei"/>
            </a:endParaRPr>
          </a:p>
        </p:txBody>
      </p:sp>
      <p:graphicFrame>
        <p:nvGraphicFramePr>
          <p:cNvPr id="8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859965"/>
              </p:ext>
            </p:extLst>
          </p:nvPr>
        </p:nvGraphicFramePr>
        <p:xfrm>
          <a:off x="356135" y="1702125"/>
          <a:ext cx="3734602" cy="3457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1404"/>
                <a:gridCol w="589387"/>
                <a:gridCol w="2213811"/>
              </a:tblGrid>
              <a:tr h="576169">
                <a:tc>
                  <a:txBody>
                    <a:bodyPr/>
                    <a:lstStyle/>
                    <a:p>
                      <a:pPr marL="34480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kern="1200" spc="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扩展功能</a:t>
                      </a:r>
                      <a:endParaRPr sz="1100" kern="1200" spc="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252095" algn="l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0" baseline="0" dirty="0"/>
                        <a:t>完成状态</a:t>
                      </a:r>
                      <a:endParaRPr sz="1100" spc="0" baseline="0" dirty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0" baseline="0" dirty="0"/>
                        <a:t>实现说明</a:t>
                      </a:r>
                      <a:endParaRPr sz="1100" spc="0" baseline="0" dirty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/>
                </a:tc>
              </a:tr>
              <a:tr h="576169">
                <a:tc>
                  <a:txBody>
                    <a:bodyPr/>
                    <a:lstStyle/>
                    <a:p>
                      <a:pPr marL="128270" algn="l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0" baseline="0" dirty="0"/>
                        <a:t>传输层</a:t>
                      </a:r>
                      <a:endParaRPr sz="1100" spc="0" baseline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132715" algn="l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b="1" spc="0" baseline="0" dirty="0">
                          <a:solidFill>
                            <a:srgbClr val="00B050"/>
                          </a:solidFill>
                        </a:rPr>
                        <a:t>完成</a:t>
                      </a:r>
                      <a:endParaRPr sz="1100" b="1" spc="0" baseline="0" dirty="0">
                        <a:solidFill>
                          <a:srgbClr val="00B050"/>
                        </a:solidFill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123825" algn="l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0" baseline="0" dirty="0"/>
                        <a:t>Stop-and-Wait ARQ, 序列号, ACK确认, 超时重传</a:t>
                      </a:r>
                      <a:endParaRPr sz="1100" spc="0" baseline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/>
                </a:tc>
              </a:tr>
              <a:tr h="576169">
                <a:tc>
                  <a:txBody>
                    <a:bodyPr/>
                    <a:lstStyle/>
                    <a:p>
                      <a:pPr marL="128270" algn="l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0" baseline="0" dirty="0"/>
                        <a:t>信道编码</a:t>
                      </a:r>
                      <a:endParaRPr sz="1100" spc="0" baseline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132715" algn="l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b="1" spc="0" baseline="0" dirty="0">
                          <a:solidFill>
                            <a:srgbClr val="00B050"/>
                          </a:solidFill>
                        </a:rPr>
                        <a:t>完成</a:t>
                      </a:r>
                      <a:endParaRPr sz="1100" b="1" spc="0" baseline="0" dirty="0">
                        <a:solidFill>
                          <a:srgbClr val="00B050"/>
                        </a:solidFill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123825" algn="l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0" baseline="0" dirty="0"/>
                        <a:t>Hamming(7,4)纠错码 + CRC-8校验 + 性能测试</a:t>
                      </a:r>
                      <a:endParaRPr sz="1100" spc="0" baseline="0" dirty="0">
                        <a:latin typeface="SimSun"/>
                        <a:cs typeface="SimSun"/>
                      </a:endParaRPr>
                    </a:p>
                  </a:txBody>
                  <a:tcPr marL="0" marR="0" marT="61594" marB="0"/>
                </a:tc>
              </a:tr>
              <a:tr h="576169">
                <a:tc>
                  <a:txBody>
                    <a:bodyPr/>
                    <a:lstStyle/>
                    <a:p>
                      <a:pPr marL="128270" algn="l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0" baseline="0" dirty="0"/>
                        <a:t>应⽤层协议</a:t>
                      </a:r>
                      <a:endParaRPr sz="1100" spc="0" baseline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132715" algn="l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b="1" spc="0" baseline="0" dirty="0">
                          <a:solidFill>
                            <a:srgbClr val="00B050"/>
                          </a:solidFill>
                        </a:rPr>
                        <a:t>完成</a:t>
                      </a:r>
                      <a:endParaRPr sz="1100" b="1" spc="0" baseline="0" dirty="0">
                        <a:solidFill>
                          <a:srgbClr val="00B050"/>
                        </a:solidFill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123825" algn="l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0" baseline="0" dirty="0"/>
                        <a:t>HTTP/1.0协议，路由机制，请求-响应模式</a:t>
                      </a:r>
                      <a:endParaRPr sz="1100" spc="0" baseline="0">
                        <a:latin typeface="SimSun"/>
                        <a:cs typeface="SimSun"/>
                      </a:endParaRPr>
                    </a:p>
                  </a:txBody>
                  <a:tcPr marL="0" marR="0" marT="61594" marB="0"/>
                </a:tc>
              </a:tr>
              <a:tr h="576169">
                <a:tc>
                  <a:txBody>
                    <a:bodyPr/>
                    <a:lstStyle/>
                    <a:p>
                      <a:pPr marL="128270" algn="l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0" baseline="0" dirty="0"/>
                        <a:t>性能优化</a:t>
                      </a:r>
                      <a:endParaRPr sz="1100" spc="0" baseline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132715" algn="l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b="1" spc="0" baseline="0" dirty="0">
                          <a:solidFill>
                            <a:srgbClr val="00B050"/>
                          </a:solidFill>
                        </a:rPr>
                        <a:t>完成</a:t>
                      </a:r>
                      <a:endParaRPr sz="1100" b="1" spc="0" baseline="0" dirty="0">
                        <a:solidFill>
                          <a:srgbClr val="00B050"/>
                        </a:solidFill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123825" algn="l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0" baseline="0" dirty="0"/>
                        <a:t>4种调制(OOK/ASK/FSK/BPSK) + 性能对⽐分析</a:t>
                      </a:r>
                      <a:endParaRPr sz="1100" spc="0" baseline="0" dirty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/>
                </a:tc>
              </a:tr>
              <a:tr h="576169">
                <a:tc>
                  <a:txBody>
                    <a:bodyPr/>
                    <a:lstStyle/>
                    <a:p>
                      <a:pPr marL="128270" algn="l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0" baseline="0" dirty="0"/>
                        <a:t>并发处理</a:t>
                      </a:r>
                      <a:endParaRPr sz="1100" spc="0" baseline="0">
                        <a:latin typeface="Malgun Gothic"/>
                        <a:cs typeface="Malgun Gothic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132715" algn="l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b="1" spc="0" baseline="0" dirty="0">
                          <a:solidFill>
                            <a:srgbClr val="00B050"/>
                          </a:solidFill>
                        </a:rPr>
                        <a:t>完成</a:t>
                      </a:r>
                      <a:endParaRPr sz="1100" b="1" spc="0" baseline="0" dirty="0">
                        <a:solidFill>
                          <a:srgbClr val="00B050"/>
                        </a:solidFill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/>
                </a:tc>
                <a:tc>
                  <a:txBody>
                    <a:bodyPr/>
                    <a:lstStyle/>
                    <a:p>
                      <a:pPr marL="123825" algn="l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100" spc="0" baseline="0" dirty="0"/>
                        <a:t>多线程架构，线程安全，⾮阻塞通信</a:t>
                      </a:r>
                      <a:endParaRPr sz="1100" spc="0" baseline="0" dirty="0">
                        <a:latin typeface="SimSun"/>
                        <a:cs typeface="SimSun"/>
                      </a:endParaRPr>
                    </a:p>
                  </a:txBody>
                  <a:tcPr marL="0" marR="0" marT="61594" marB="0"/>
                </a:tc>
              </a:tr>
            </a:tbl>
          </a:graphicData>
        </a:graphic>
      </p:graphicFrame>
      <p:sp>
        <p:nvSpPr>
          <p:cNvPr id="9" name="object 21"/>
          <p:cNvSpPr txBox="1"/>
          <p:nvPr/>
        </p:nvSpPr>
        <p:spPr>
          <a:xfrm>
            <a:off x="4458819" y="1452192"/>
            <a:ext cx="3624579" cy="5105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 err="1" smtClean="0">
                <a:latin typeface="Microsoft JhengHei"/>
                <a:cs typeface="Microsoft JhengHei"/>
              </a:rPr>
              <a:t>传输层详细</a:t>
            </a:r>
            <a:endParaRPr lang="en-US" sz="1700" b="1" dirty="0" smtClean="0"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可靠传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(ACK/NACK): 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ReliableTransport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类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序列号机制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16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位序列号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超时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可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配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置超时时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间（默认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0.5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秒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流控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Stop-and-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Wait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统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计信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发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送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接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收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计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数</a:t>
            </a:r>
            <a:endParaRPr sz="135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1700" b="1" dirty="0" err="1" smtClean="0">
                <a:latin typeface="Microsoft JhengHei"/>
                <a:cs typeface="Microsoft JhengHei"/>
              </a:rPr>
              <a:t>信道编码详细</a:t>
            </a:r>
            <a:endParaRPr lang="en-US" sz="1700" b="1" dirty="0" smtClean="0">
              <a:latin typeface="Microsoft JhengHei"/>
              <a:cs typeface="Microsoft JhengHei"/>
            </a:endParaRPr>
          </a:p>
          <a:p>
            <a:pPr marL="1841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Hamming(7,4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)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HammingCode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类，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单⽐特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纠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 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1841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200" dirty="0" err="1" smtClean="0">
                <a:solidFill>
                  <a:srgbClr val="333333"/>
                </a:solidFill>
                <a:latin typeface="Arial MT"/>
                <a:cs typeface="Arial MT"/>
              </a:rPr>
              <a:t>CRC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校验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CRC-8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1841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误纠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正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⾃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动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纠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错功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1841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能测试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有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⽆编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对⽐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，纠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分析</a:t>
            </a:r>
            <a:endParaRPr sz="135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1700" b="1" dirty="0" err="1">
                <a:latin typeface="Microsoft JhengHei"/>
                <a:cs typeface="Microsoft JhengHei"/>
              </a:rPr>
              <a:t>应⽤</a:t>
            </a:r>
            <a:r>
              <a:rPr sz="1700" b="1" dirty="0" err="1" smtClean="0">
                <a:latin typeface="Microsoft JhengHei"/>
                <a:cs typeface="Microsoft JhengHei"/>
              </a:rPr>
              <a:t>层协议详细</a:t>
            </a:r>
            <a:endParaRPr lang="en-US" sz="1700" b="1" dirty="0" smtClean="0">
              <a:latin typeface="Microsoft JhengHei"/>
              <a:cs typeface="Microsoft JhengHei"/>
            </a:endParaRPr>
          </a:p>
          <a:p>
            <a:pPr marL="1841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200" dirty="0" err="1" smtClean="0">
                <a:solidFill>
                  <a:srgbClr val="333333"/>
                </a:solidFill>
                <a:latin typeface="Arial MT"/>
                <a:cs typeface="Arial MT"/>
              </a:rPr>
              <a:t>HTTP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议设计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HTTP/1.0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标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准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格式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请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求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-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响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应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模式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HTTPRequest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HTTPResponse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类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lang="zh-CN" altLang="en-US" sz="1350" dirty="0" smtClean="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解</a:t>
            </a:r>
            <a:r>
              <a:rPr lang="zh-CN" altLang="en-US"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析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lang="zh-CN" altLang="en-US"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完整的头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部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/</a:t>
            </a:r>
            <a:r>
              <a:rPr lang="zh-CN" altLang="en-US"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主体</a:t>
            </a:r>
            <a:r>
              <a:rPr lang="zh-CN" altLang="en-US" sz="1350" dirty="0" smtClean="0">
                <a:solidFill>
                  <a:srgbClr val="333333"/>
                </a:solidFill>
                <a:latin typeface="SimSun"/>
                <a:cs typeface="SimSun"/>
              </a:rPr>
              <a:t>解</a:t>
            </a:r>
            <a:r>
              <a:rPr lang="zh-CN" altLang="en-US"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析</a:t>
            </a:r>
            <a:endParaRPr lang="en-US" altLang="zh-CN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路由</a:t>
            </a:r>
            <a:r>
              <a:rPr lang="zh-CN" altLang="en-US"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机制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装饰器</a:t>
            </a:r>
            <a:r>
              <a:rPr lang="zh-CN" altLang="en-US"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路由</a:t>
            </a:r>
            <a:r>
              <a:rPr lang="zh-CN" altLang="en-US" sz="1350" dirty="0" smtClean="0">
                <a:solidFill>
                  <a:srgbClr val="333333"/>
                </a:solidFill>
                <a:latin typeface="SimSun"/>
                <a:cs typeface="SimSun"/>
              </a:rPr>
              <a:t>注</a:t>
            </a:r>
            <a:r>
              <a:rPr lang="zh-CN" altLang="en-US"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册</a:t>
            </a:r>
            <a:endParaRPr lang="en-US" altLang="zh-CN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350" dirty="0" smtClean="0">
                <a:solidFill>
                  <a:srgbClr val="333333"/>
                </a:solidFill>
                <a:latin typeface="SimSun"/>
                <a:cs typeface="SimSun"/>
              </a:rPr>
              <a:t>状</a:t>
            </a:r>
            <a:r>
              <a:rPr lang="zh-CN" altLang="en-US"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态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lang="zh-CN" altLang="en-US"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: 200,</a:t>
            </a:r>
            <a:r>
              <a:rPr lang="zh-CN" altLang="en-US" sz="12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404</a:t>
            </a:r>
            <a:r>
              <a:rPr lang="zh-CN" altLang="en-US"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等</a:t>
            </a:r>
            <a:endParaRPr lang="zh-CN" altLang="en-US" sz="1350" dirty="0">
              <a:latin typeface="Microsoft JhengHei"/>
              <a:cs typeface="Microsoft JhengHei"/>
            </a:endParaRPr>
          </a:p>
          <a:p>
            <a:pPr marL="316865">
              <a:lnSpc>
                <a:spcPct val="100000"/>
              </a:lnSpc>
              <a:spcBef>
                <a:spcPts val="330"/>
              </a:spcBef>
            </a:pPr>
            <a:endParaRPr sz="1350" dirty="0">
              <a:latin typeface="SimSun"/>
              <a:cs typeface="SimSun"/>
            </a:endParaRPr>
          </a:p>
        </p:txBody>
      </p:sp>
      <p:sp>
        <p:nvSpPr>
          <p:cNvPr id="10" name="object 13"/>
          <p:cNvSpPr txBox="1"/>
          <p:nvPr/>
        </p:nvSpPr>
        <p:spPr>
          <a:xfrm>
            <a:off x="8518857" y="1608042"/>
            <a:ext cx="3373120" cy="31899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1700" b="1" dirty="0" err="1" smtClean="0">
                <a:latin typeface="Microsoft JhengHei"/>
                <a:cs typeface="Microsoft JhengHei"/>
              </a:rPr>
              <a:t>性</a:t>
            </a:r>
            <a:r>
              <a:rPr sz="1700" b="1" dirty="0" err="1" smtClean="0">
                <a:latin typeface="Malgun Gothic"/>
                <a:cs typeface="Malgun Gothic"/>
              </a:rPr>
              <a:t>能</a:t>
            </a:r>
            <a:r>
              <a:rPr sz="1700" b="1" dirty="0" err="1" smtClean="0">
                <a:latin typeface="Microsoft JhengHei"/>
                <a:cs typeface="Microsoft JhengHei"/>
              </a:rPr>
              <a:t>优化详细</a:t>
            </a:r>
            <a:endParaRPr lang="en-US" sz="1700" b="1" dirty="0" smtClean="0"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多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种调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OOK, ASK, FSK, 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BPSK</a:t>
            </a:r>
            <a:endParaRPr lang="en-US" sz="12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对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⽐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误码率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曲线分析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抗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测试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0.5-2.5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范围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可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视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化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modulation_comparison.png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图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表</a:t>
            </a:r>
            <a:endParaRPr sz="135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1700" b="1" dirty="0" err="1" smtClean="0">
                <a:latin typeface="Microsoft JhengHei"/>
                <a:cs typeface="Microsoft JhengHei"/>
              </a:rPr>
              <a:t>并发处</a:t>
            </a:r>
            <a:r>
              <a:rPr sz="1700" b="1" dirty="0" err="1" smtClean="0">
                <a:latin typeface="Malgun Gothic"/>
                <a:cs typeface="Malgun Gothic"/>
              </a:rPr>
              <a:t>理</a:t>
            </a:r>
            <a:r>
              <a:rPr sz="1700" b="1" dirty="0" err="1" smtClean="0">
                <a:latin typeface="Microsoft JhengHei"/>
                <a:cs typeface="Microsoft JhengHei"/>
              </a:rPr>
              <a:t>详细</a:t>
            </a:r>
            <a:endParaRPr lang="en-US" sz="1700" b="1" dirty="0" smtClean="0"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多线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threading + </a:t>
            </a:r>
            <a:r>
              <a:rPr sz="1200" dirty="0" err="1" smtClean="0">
                <a:solidFill>
                  <a:srgbClr val="333333"/>
                </a:solidFill>
                <a:latin typeface="Arial MT"/>
                <a:cs typeface="Arial MT"/>
              </a:rPr>
              <a:t>ThreadPoolExecutor</a:t>
            </a:r>
            <a:endParaRPr lang="en-US" sz="12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并发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访问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Queue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线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安全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⾼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并发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测试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4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主机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×3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息同时发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送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统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计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并发性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统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计</a:t>
            </a:r>
            <a:endParaRPr sz="1350" dirty="0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23239580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042334" y="296813"/>
            <a:ext cx="6304047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dirty="0" smtClean="0">
                <a:latin typeface="Malgun Gothic"/>
                <a:cs typeface="Malgun Gothic"/>
              </a:rPr>
              <a:t>遇到挑战 </a:t>
            </a:r>
            <a:r>
              <a:rPr lang="en-US" altLang="zh-CN" sz="4400" dirty="0" smtClean="0">
                <a:latin typeface="Malgun Gothic"/>
                <a:cs typeface="Malgun Gothic"/>
              </a:rPr>
              <a:t>&amp;&amp; </a:t>
            </a:r>
            <a:r>
              <a:rPr lang="zh-CN" altLang="en-US" sz="4400" dirty="0" smtClean="0">
                <a:latin typeface="Malgun Gothic"/>
                <a:cs typeface="Malgun Gothic"/>
              </a:rPr>
              <a:t>解决方案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7" name="object 22"/>
          <p:cNvSpPr txBox="1"/>
          <p:nvPr/>
        </p:nvSpPr>
        <p:spPr>
          <a:xfrm>
            <a:off x="1484328" y="1478859"/>
            <a:ext cx="8439317" cy="52247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b="1" dirty="0">
                <a:latin typeface="Microsoft JhengHei"/>
                <a:cs typeface="Microsoft JhengHei"/>
              </a:rPr>
              <a:t>挑战</a:t>
            </a:r>
            <a:r>
              <a:rPr sz="2000" b="1" dirty="0">
                <a:latin typeface="Arial"/>
                <a:cs typeface="Arial"/>
              </a:rPr>
              <a:t>1: </a:t>
            </a:r>
            <a:r>
              <a:rPr sz="2400" b="1" dirty="0">
                <a:latin typeface="Malgun Gothic"/>
                <a:cs typeface="Malgun Gothic"/>
              </a:rPr>
              <a:t>噪</a:t>
            </a:r>
            <a:r>
              <a:rPr sz="2400" b="1" dirty="0">
                <a:latin typeface="Microsoft JhengHei"/>
                <a:cs typeface="Microsoft JhengHei"/>
              </a:rPr>
              <a:t>声环</a:t>
            </a:r>
            <a:r>
              <a:rPr sz="2400" b="1" dirty="0">
                <a:latin typeface="Malgun Gothic"/>
                <a:cs typeface="Malgun Gothic"/>
              </a:rPr>
              <a:t>境</a:t>
            </a:r>
            <a:r>
              <a:rPr sz="2400" b="1" dirty="0">
                <a:latin typeface="Microsoft JhengHei"/>
                <a:cs typeface="Microsoft JhengHei"/>
              </a:rPr>
              <a:t>下</a:t>
            </a:r>
            <a:r>
              <a:rPr sz="2400" b="1" dirty="0">
                <a:latin typeface="Malgun Gothic"/>
                <a:cs typeface="Malgun Gothic"/>
              </a:rPr>
              <a:t>的</a:t>
            </a:r>
            <a:r>
              <a:rPr sz="2400" b="1" dirty="0">
                <a:latin typeface="Microsoft JhengHei"/>
                <a:cs typeface="Microsoft JhengHei"/>
              </a:rPr>
              <a:t>误码率过⾼</a:t>
            </a:r>
            <a:endParaRPr sz="240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6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问题</a:t>
            </a:r>
            <a:r>
              <a:rPr sz="1600" b="1" dirty="0">
                <a:solidFill>
                  <a:schemeClr val="accent2"/>
                </a:solidFill>
                <a:latin typeface="Malgun Gothic"/>
                <a:cs typeface="Malgun Gothic"/>
              </a:rPr>
              <a:t>描</a:t>
            </a:r>
            <a:r>
              <a:rPr sz="16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述</a:t>
            </a:r>
            <a:r>
              <a:rPr sz="1600" dirty="0">
                <a:solidFill>
                  <a:schemeClr val="accent2"/>
                </a:solidFill>
                <a:latin typeface="Arial MT"/>
                <a:cs typeface="Arial MT"/>
              </a:rPr>
              <a:t>:</a:t>
            </a:r>
          </a:p>
          <a:p>
            <a:pPr marL="12700" marR="5080">
              <a:lnSpc>
                <a:spcPct val="120400"/>
              </a:lnSpc>
            </a:pP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早期实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中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，当噪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声⽔平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noise_level &gt; 0.1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，误码率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急剧上升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导致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通信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完全失败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。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简单的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固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定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阈值解调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⽅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法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⽆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法适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应不同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环境。</a:t>
            </a:r>
            <a:endParaRPr sz="14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16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解决⽅案</a:t>
            </a:r>
            <a:r>
              <a:rPr sz="1600" dirty="0">
                <a:solidFill>
                  <a:schemeClr val="accent2"/>
                </a:solidFill>
                <a:latin typeface="Arial MT"/>
                <a:cs typeface="Arial MT"/>
              </a:rPr>
              <a:t>:</a:t>
            </a:r>
          </a:p>
          <a:p>
            <a:pPr marL="317500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sz="1400" b="1" dirty="0" err="1" smtClean="0">
                <a:latin typeface="Microsoft JhengHei"/>
                <a:cs typeface="Microsoft JhengHei"/>
              </a:rPr>
              <a:t>实现</a:t>
            </a:r>
            <a:r>
              <a:rPr sz="1400" b="1" dirty="0" err="1">
                <a:latin typeface="Microsoft JhengHei"/>
                <a:cs typeface="Microsoft JhengHei"/>
              </a:rPr>
              <a:t>⾃适应阈值算法</a:t>
            </a:r>
            <a:r>
              <a:rPr sz="1400" b="1" dirty="0">
                <a:latin typeface="Microsoft JhengHei"/>
                <a:cs typeface="Microsoft JhengHei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(physical_layer.py:222-258</a:t>
            </a:r>
            <a:r>
              <a:rPr sz="1400" dirty="0" smtClean="0">
                <a:solidFill>
                  <a:srgbClr val="333333"/>
                </a:solidFill>
                <a:latin typeface="Arial MT"/>
                <a:cs typeface="Arial MT"/>
              </a:rPr>
              <a:t>)</a:t>
            </a:r>
            <a:endParaRPr lang="en-US" sz="14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统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计接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收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信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号的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⾼低电平分布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 </a:t>
            </a:r>
            <a:endParaRPr lang="en-US" sz="14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使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⽤中位数分割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法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估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计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⾼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低电平</a:t>
            </a:r>
            <a:endParaRPr lang="en-US" sz="14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动态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计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算最优判决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阈值</a:t>
            </a:r>
            <a:r>
              <a:rPr sz="1400" dirty="0" smtClean="0">
                <a:solidFill>
                  <a:srgbClr val="333333"/>
                </a:solidFill>
                <a:latin typeface="SimSun"/>
                <a:cs typeface="SimSun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= (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⾼电平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+ 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低电平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) / 2</a:t>
            </a:r>
            <a:endParaRPr sz="1400" dirty="0">
              <a:latin typeface="Arial MT"/>
              <a:cs typeface="Arial MT"/>
            </a:endParaRPr>
          </a:p>
          <a:p>
            <a:pPr marL="317500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sz="1400" b="1" dirty="0" err="1" smtClean="0">
                <a:latin typeface="Malgun Gothic"/>
                <a:cs typeface="Malgun Gothic"/>
              </a:rPr>
              <a:t>增</a:t>
            </a:r>
            <a:r>
              <a:rPr sz="1400" b="1" dirty="0" err="1" smtClean="0">
                <a:latin typeface="Microsoft JhengHei"/>
                <a:cs typeface="Microsoft JhengHei"/>
              </a:rPr>
              <a:t>加</a:t>
            </a:r>
            <a:r>
              <a:rPr sz="1400" b="1" dirty="0" err="1" smtClean="0">
                <a:latin typeface="Malgun Gothic"/>
                <a:cs typeface="Malgun Gothic"/>
              </a:rPr>
              <a:t>采</a:t>
            </a:r>
            <a:r>
              <a:rPr sz="1400" b="1" dirty="0" err="1" smtClean="0">
                <a:latin typeface="Microsoft JhengHei"/>
                <a:cs typeface="Microsoft JhengHei"/>
              </a:rPr>
              <a:t>样</a:t>
            </a:r>
            <a:r>
              <a:rPr sz="1400" b="1" dirty="0" err="1" smtClean="0">
                <a:latin typeface="Malgun Gothic"/>
                <a:cs typeface="Malgun Gothic"/>
              </a:rPr>
              <a:t>点</a:t>
            </a:r>
            <a:r>
              <a:rPr sz="1400" b="1" dirty="0" err="1" smtClean="0">
                <a:latin typeface="Microsoft JhengHei"/>
                <a:cs typeface="Microsoft JhengHei"/>
              </a:rPr>
              <a:t>数</a:t>
            </a:r>
            <a:r>
              <a:rPr sz="1400" b="1" dirty="0" err="1" smtClean="0">
                <a:latin typeface="Malgun Gothic"/>
                <a:cs typeface="Malgun Gothic"/>
              </a:rPr>
              <a:t>量</a:t>
            </a:r>
            <a:endParaRPr lang="en-US" sz="1400" b="1" dirty="0" smtClean="0">
              <a:latin typeface="Malgun Gothic"/>
              <a:cs typeface="Malgun Gothic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每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bit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使⽤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100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个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采样点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⽽⾮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10</a:t>
            </a:r>
            <a:r>
              <a:rPr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个</a:t>
            </a:r>
            <a:endParaRPr lang="en-US" sz="14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利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⽤平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均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效应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降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低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影响约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10</a:t>
            </a:r>
            <a:r>
              <a:rPr sz="1400" dirty="0" smtClean="0">
                <a:solidFill>
                  <a:srgbClr val="333333"/>
                </a:solidFill>
                <a:latin typeface="SimSun"/>
                <a:cs typeface="SimSun"/>
              </a:rPr>
              <a:t>倍</a:t>
            </a:r>
            <a:endParaRPr lang="en-US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有效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= 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际噪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声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/ √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采样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数</a:t>
            </a:r>
            <a:endParaRPr sz="1400" dirty="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sz="1400" b="1" dirty="0" err="1" smtClean="0">
                <a:latin typeface="Microsoft JhengHei"/>
                <a:cs typeface="Microsoft JhengHei"/>
              </a:rPr>
              <a:t>实现信道编码</a:t>
            </a:r>
            <a:endParaRPr lang="en-US" sz="1400" b="1" dirty="0" smtClean="0"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smtClean="0">
                <a:solidFill>
                  <a:srgbClr val="333333"/>
                </a:solidFill>
                <a:latin typeface="Arial MT"/>
                <a:cs typeface="Arial MT"/>
              </a:rPr>
              <a:t>Hamming(7,4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)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纠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可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纠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正单⽐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特错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endParaRPr lang="en-US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400" spc="-170" dirty="0" smtClean="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lang="zh-CN" altLang="en-US" sz="14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⾼</a:t>
            </a:r>
            <a:r>
              <a:rPr lang="zh-CN" altLang="en-US" sz="1400" spc="-170" dirty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lang="zh-CN" altLang="en-US" sz="14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lang="zh-CN" altLang="en-US" sz="1400" spc="-170" dirty="0">
                <a:solidFill>
                  <a:srgbClr val="333333"/>
                </a:solidFill>
                <a:latin typeface="SimSun"/>
                <a:cs typeface="SimSun"/>
              </a:rPr>
              <a:t>环境</a:t>
            </a:r>
            <a:r>
              <a:rPr lang="zh-CN" altLang="en-US" sz="14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下显</a:t>
            </a:r>
            <a:r>
              <a:rPr lang="zh-CN" altLang="en-US" sz="1400" spc="-170" dirty="0">
                <a:solidFill>
                  <a:srgbClr val="333333"/>
                </a:solidFill>
                <a:latin typeface="SimSun"/>
                <a:cs typeface="SimSun"/>
              </a:rPr>
              <a:t>著提</a:t>
            </a:r>
            <a:r>
              <a:rPr lang="zh-CN" altLang="en-US" sz="1400" spc="-140" dirty="0">
                <a:solidFill>
                  <a:srgbClr val="333333"/>
                </a:solidFill>
                <a:latin typeface="Microsoft JhengHei"/>
                <a:cs typeface="Microsoft JhengHei"/>
              </a:rPr>
              <a:t>⾼可靠性</a:t>
            </a:r>
            <a:endParaRPr lang="zh-CN" altLang="en-US" sz="1400" dirty="0">
              <a:latin typeface="Microsoft JhengHei"/>
              <a:cs typeface="Microsoft JhengHei"/>
            </a:endParaRPr>
          </a:p>
          <a:p>
            <a:pPr marL="621665">
              <a:lnSpc>
                <a:spcPct val="100000"/>
              </a:lnSpc>
              <a:spcBef>
                <a:spcPts val="330"/>
              </a:spcBef>
            </a:pPr>
            <a:endParaRPr sz="1400" dirty="0">
              <a:latin typeface="SimSun"/>
              <a:cs typeface="SimSun"/>
            </a:endParaRPr>
          </a:p>
        </p:txBody>
      </p:sp>
      <p:sp>
        <p:nvSpPr>
          <p:cNvPr id="4" name="object 5"/>
          <p:cNvSpPr txBox="1"/>
          <p:nvPr/>
        </p:nvSpPr>
        <p:spPr>
          <a:xfrm>
            <a:off x="6961103" y="3040424"/>
            <a:ext cx="4473709" cy="844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600" b="1" dirty="0" err="1" smtClean="0">
                <a:solidFill>
                  <a:schemeClr val="accent2"/>
                </a:solidFill>
                <a:latin typeface="Microsoft JhengHei"/>
                <a:cs typeface="Microsoft JhengHei"/>
              </a:rPr>
              <a:t>效果</a:t>
            </a:r>
            <a:r>
              <a:rPr sz="1600" dirty="0" smtClean="0">
                <a:solidFill>
                  <a:schemeClr val="accent2"/>
                </a:solidFill>
                <a:latin typeface="Arial MT"/>
                <a:cs typeface="Arial MT"/>
              </a:rPr>
              <a:t>:</a:t>
            </a:r>
            <a:endParaRPr lang="en-US" sz="1600" dirty="0" smtClean="0">
              <a:solidFill>
                <a:schemeClr val="accent2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sz="1400" dirty="0" err="1">
                <a:solidFill>
                  <a:srgbClr val="333333"/>
                </a:solidFill>
                <a:latin typeface="Arial MT"/>
                <a:cs typeface="Arial MT"/>
              </a:rPr>
              <a:t>σ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=2.0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的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声下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，误码率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从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30%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降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低到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1.36</a:t>
            </a:r>
            <a:r>
              <a:rPr sz="1400" dirty="0" smtClean="0">
                <a:solidFill>
                  <a:srgbClr val="333333"/>
                </a:solidFill>
                <a:latin typeface="Arial MT"/>
                <a:cs typeface="Arial MT"/>
              </a:rPr>
              <a:t>%</a:t>
            </a:r>
            <a:endParaRPr lang="en-US" sz="14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⾃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适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应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阈值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使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系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统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适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应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0.01-2.5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范围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的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endParaRPr sz="1400" dirty="0">
              <a:latin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07543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042334" y="296813"/>
            <a:ext cx="6304047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dirty="0" smtClean="0">
                <a:latin typeface="Malgun Gothic"/>
                <a:cs typeface="Malgun Gothic"/>
              </a:rPr>
              <a:t>遇到挑战 </a:t>
            </a:r>
            <a:r>
              <a:rPr lang="en-US" altLang="zh-CN" sz="4400" dirty="0" smtClean="0">
                <a:latin typeface="Malgun Gothic"/>
                <a:cs typeface="Malgun Gothic"/>
              </a:rPr>
              <a:t>&amp;&amp; </a:t>
            </a:r>
            <a:r>
              <a:rPr lang="zh-CN" altLang="en-US" sz="4400" dirty="0" smtClean="0">
                <a:latin typeface="Malgun Gothic"/>
                <a:cs typeface="Malgun Gothic"/>
              </a:rPr>
              <a:t>解决方案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11" name="object 12"/>
          <p:cNvSpPr txBox="1"/>
          <p:nvPr/>
        </p:nvSpPr>
        <p:spPr>
          <a:xfrm>
            <a:off x="646931" y="1281340"/>
            <a:ext cx="6254383" cy="538301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dirty="0">
                <a:latin typeface="Microsoft JhengHei"/>
                <a:cs typeface="Microsoft JhengHei"/>
              </a:rPr>
              <a:t>挑战</a:t>
            </a:r>
            <a:r>
              <a:rPr sz="1800" b="1" dirty="0">
                <a:latin typeface="Arial"/>
                <a:cs typeface="Arial"/>
              </a:rPr>
              <a:t>2: </a:t>
            </a:r>
            <a:r>
              <a:rPr sz="2000" b="1" dirty="0">
                <a:latin typeface="Microsoft JhengHei"/>
                <a:cs typeface="Microsoft JhengHei"/>
              </a:rPr>
              <a:t>交换机</a:t>
            </a:r>
            <a:r>
              <a:rPr sz="1800" b="1" dirty="0">
                <a:latin typeface="Arial"/>
                <a:cs typeface="Arial"/>
              </a:rPr>
              <a:t>MAC</a:t>
            </a:r>
            <a:r>
              <a:rPr sz="2000" b="1" dirty="0">
                <a:latin typeface="Microsoft JhengHei"/>
                <a:cs typeface="Microsoft JhengHei"/>
              </a:rPr>
              <a:t>学习</a:t>
            </a:r>
            <a:r>
              <a:rPr sz="2000" b="1" dirty="0">
                <a:latin typeface="Malgun Gothic"/>
                <a:cs typeface="Malgun Gothic"/>
              </a:rPr>
              <a:t>的</a:t>
            </a:r>
            <a:r>
              <a:rPr sz="2000" b="1" dirty="0">
                <a:latin typeface="Microsoft JhengHei"/>
                <a:cs typeface="Microsoft JhengHei"/>
              </a:rPr>
              <a:t>⼴</a:t>
            </a:r>
            <a:r>
              <a:rPr sz="2000" b="1" dirty="0">
                <a:latin typeface="Malgun Gothic"/>
                <a:cs typeface="Malgun Gothic"/>
              </a:rPr>
              <a:t>播</a:t>
            </a:r>
            <a:r>
              <a:rPr sz="2000" b="1" dirty="0">
                <a:latin typeface="Microsoft JhengHei"/>
                <a:cs typeface="Microsoft JhengHei"/>
              </a:rPr>
              <a:t>⻛暴问题</a:t>
            </a:r>
            <a:endParaRPr sz="200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16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问题</a:t>
            </a:r>
            <a:r>
              <a:rPr sz="1600" b="1" dirty="0">
                <a:solidFill>
                  <a:schemeClr val="accent2"/>
                </a:solidFill>
                <a:latin typeface="Malgun Gothic"/>
                <a:cs typeface="Malgun Gothic"/>
              </a:rPr>
              <a:t>描</a:t>
            </a:r>
            <a:r>
              <a:rPr sz="16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述</a:t>
            </a:r>
            <a:r>
              <a:rPr sz="1600" dirty="0">
                <a:solidFill>
                  <a:schemeClr val="accent2"/>
                </a:solidFill>
                <a:latin typeface="Arial MT"/>
                <a:cs typeface="Arial MT"/>
              </a:rPr>
              <a:t>:</a:t>
            </a:r>
          </a:p>
          <a:p>
            <a:pPr marL="12700" marR="5080">
              <a:lnSpc>
                <a:spcPct val="115700"/>
              </a:lnSpc>
              <a:spcBef>
                <a:spcPts val="80"/>
              </a:spcBef>
            </a:pP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多主机⽹络中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由于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表初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始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为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空，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所有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都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会被⼴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到所有端⼝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导致⽹络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流量激增。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特别是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4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个以上主机时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⼴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播流量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占⽐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达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到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80%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以上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。</a:t>
            </a:r>
            <a:endParaRPr sz="14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16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解决⽅案</a:t>
            </a:r>
            <a:r>
              <a:rPr sz="1600" dirty="0">
                <a:solidFill>
                  <a:schemeClr val="accent2"/>
                </a:solidFill>
                <a:latin typeface="Arial MT"/>
                <a:cs typeface="Arial MT"/>
              </a:rPr>
              <a:t>:</a:t>
            </a: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400" dirty="0">
              <a:latin typeface="Arial MT"/>
              <a:cs typeface="Arial MT"/>
            </a:endParaRPr>
          </a:p>
          <a:p>
            <a:pPr marL="317500" indent="-169545">
              <a:lnSpc>
                <a:spcPct val="100000"/>
              </a:lnSpc>
              <a:spcBef>
                <a:spcPts val="5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sz="1400" b="1" dirty="0">
                <a:latin typeface="Microsoft JhengHei"/>
                <a:cs typeface="Microsoft JhengHei"/>
              </a:rPr>
              <a:t>优化</a:t>
            </a:r>
            <a:r>
              <a:rPr sz="1400" b="1" dirty="0">
                <a:latin typeface="Arial"/>
                <a:cs typeface="Arial"/>
              </a:rPr>
              <a:t>MAC</a:t>
            </a:r>
            <a:r>
              <a:rPr sz="1400" b="1" dirty="0">
                <a:latin typeface="Microsoft JhengHei"/>
                <a:cs typeface="Microsoft JhengHei"/>
              </a:rPr>
              <a:t>学习算法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(network_layer.py:165-180)</a:t>
            </a:r>
            <a:endParaRPr sz="1400" dirty="0">
              <a:latin typeface="Arial MT"/>
              <a:cs typeface="Arial MT"/>
            </a:endParaRPr>
          </a:p>
          <a:p>
            <a:pPr marL="723900" marR="3620135" indent="-285115">
              <a:lnSpc>
                <a:spcPct val="137500"/>
              </a:lnSpc>
              <a:spcBef>
                <a:spcPts val="980"/>
              </a:spcBef>
            </a:pPr>
            <a:r>
              <a:rPr sz="1000" dirty="0">
                <a:solidFill>
                  <a:srgbClr val="A61C5C"/>
                </a:solidFill>
                <a:latin typeface="Consolas"/>
                <a:cs typeface="Consolas"/>
              </a:rPr>
              <a:t>def </a:t>
            </a:r>
            <a:r>
              <a:rPr sz="1000" dirty="0">
                <a:solidFill>
                  <a:srgbClr val="3A2D4E"/>
                </a:solidFill>
                <a:latin typeface="Consolas"/>
                <a:cs typeface="Consolas"/>
              </a:rPr>
              <a:t>forward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dirty="0">
                <a:latin typeface="Consolas"/>
                <a:cs typeface="Consolas"/>
              </a:rPr>
              <a:t>self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dirty="0">
                <a:latin typeface="Consolas"/>
                <a:cs typeface="Consolas"/>
              </a:rPr>
              <a:t>frame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dirty="0">
                <a:latin typeface="Consolas"/>
                <a:cs typeface="Consolas"/>
              </a:rPr>
              <a:t>incoming_port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sz="1000" dirty="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sz="1000" dirty="0">
                <a:solidFill>
                  <a:srgbClr val="424442"/>
                </a:solidFill>
                <a:latin typeface="NSimSun"/>
                <a:cs typeface="NSimSun"/>
              </a:rPr>
              <a:t>立即学习源</a:t>
            </a:r>
            <a:r>
              <a:rPr sz="1000" dirty="0">
                <a:solidFill>
                  <a:srgbClr val="424442"/>
                </a:solidFill>
                <a:latin typeface="Consolas"/>
                <a:cs typeface="Consolas"/>
              </a:rPr>
              <a:t>MAC</a:t>
            </a:r>
            <a:endParaRPr sz="1000" dirty="0">
              <a:latin typeface="Consolas"/>
              <a:cs typeface="Consolas"/>
            </a:endParaRPr>
          </a:p>
          <a:p>
            <a:pPr marR="2255520" algn="ctr">
              <a:lnSpc>
                <a:spcPct val="100000"/>
              </a:lnSpc>
              <a:spcBef>
                <a:spcPts val="525"/>
              </a:spcBef>
            </a:pPr>
            <a:r>
              <a:rPr sz="1000" dirty="0">
                <a:latin typeface="Consolas"/>
                <a:cs typeface="Consolas"/>
              </a:rPr>
              <a:t>self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dirty="0">
                <a:latin typeface="Consolas"/>
                <a:cs typeface="Consolas"/>
              </a:rPr>
              <a:t>mac_table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sz="1000" dirty="0">
                <a:latin typeface="Consolas"/>
                <a:cs typeface="Consolas"/>
              </a:rPr>
              <a:t>frame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dirty="0">
                <a:latin typeface="Consolas"/>
                <a:cs typeface="Consolas"/>
              </a:rPr>
              <a:t>src_mac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] </a:t>
            </a:r>
            <a:r>
              <a:rPr sz="1000" dirty="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sz="1000" dirty="0">
                <a:latin typeface="Consolas"/>
                <a:cs typeface="Consolas"/>
              </a:rPr>
              <a:t>incoming_port</a:t>
            </a: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1000" dirty="0">
              <a:latin typeface="Consolas"/>
              <a:cs typeface="Consolas"/>
            </a:endParaRPr>
          </a:p>
          <a:p>
            <a:pPr marL="723900">
              <a:lnSpc>
                <a:spcPct val="100000"/>
              </a:lnSpc>
            </a:pPr>
            <a:r>
              <a:rPr sz="1000" dirty="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sz="1000" dirty="0">
                <a:solidFill>
                  <a:srgbClr val="424442"/>
                </a:solidFill>
                <a:latin typeface="NSimSun"/>
                <a:cs typeface="NSimSun"/>
              </a:rPr>
              <a:t>查表转发</a:t>
            </a:r>
            <a:endParaRPr sz="1000" dirty="0">
              <a:latin typeface="NSimSun"/>
              <a:cs typeface="NSimSun"/>
            </a:endParaRPr>
          </a:p>
          <a:p>
            <a:pPr marL="1009015" marR="3691254" indent="-285115">
              <a:lnSpc>
                <a:spcPct val="137500"/>
              </a:lnSpc>
            </a:pPr>
            <a:r>
              <a:rPr sz="1000" dirty="0">
                <a:solidFill>
                  <a:srgbClr val="A61C5C"/>
                </a:solidFill>
                <a:latin typeface="Consolas"/>
                <a:cs typeface="Consolas"/>
              </a:rPr>
              <a:t>if </a:t>
            </a:r>
            <a:r>
              <a:rPr sz="1000" dirty="0">
                <a:latin typeface="Consolas"/>
                <a:cs typeface="Consolas"/>
              </a:rPr>
              <a:t>frame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dirty="0">
                <a:latin typeface="Consolas"/>
                <a:cs typeface="Consolas"/>
              </a:rPr>
              <a:t>dst_mac </a:t>
            </a:r>
            <a:r>
              <a:rPr sz="1000" dirty="0">
                <a:solidFill>
                  <a:srgbClr val="A61C5C"/>
                </a:solidFill>
                <a:latin typeface="Consolas"/>
                <a:cs typeface="Consolas"/>
              </a:rPr>
              <a:t>in </a:t>
            </a:r>
            <a:r>
              <a:rPr sz="1000" dirty="0">
                <a:latin typeface="Consolas"/>
                <a:cs typeface="Consolas"/>
              </a:rPr>
              <a:t>self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dirty="0">
                <a:latin typeface="Consolas"/>
                <a:cs typeface="Consolas"/>
              </a:rPr>
              <a:t>mac_table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sz="1000" dirty="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sz="1000" dirty="0">
                <a:solidFill>
                  <a:srgbClr val="424442"/>
                </a:solidFill>
                <a:latin typeface="NSimSun"/>
                <a:cs typeface="NSimSun"/>
              </a:rPr>
              <a:t>精准单播</a:t>
            </a:r>
            <a:endParaRPr sz="1000" dirty="0">
              <a:latin typeface="NSimSun"/>
              <a:cs typeface="NSimSun"/>
            </a:endParaRPr>
          </a:p>
          <a:p>
            <a:pPr marL="723900" marR="1910714" indent="284480">
              <a:lnSpc>
                <a:spcPct val="137500"/>
              </a:lnSpc>
              <a:spcBef>
                <a:spcPts val="75"/>
              </a:spcBef>
            </a:pPr>
            <a:r>
              <a:rPr sz="1000" dirty="0">
                <a:latin typeface="Consolas"/>
                <a:cs typeface="Consolas"/>
              </a:rPr>
              <a:t>self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dirty="0">
                <a:latin typeface="Consolas"/>
                <a:cs typeface="Consolas"/>
              </a:rPr>
              <a:t>_send_to_port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dirty="0">
                <a:latin typeface="Consolas"/>
                <a:cs typeface="Consolas"/>
              </a:rPr>
              <a:t>self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dirty="0">
                <a:latin typeface="Consolas"/>
                <a:cs typeface="Consolas"/>
              </a:rPr>
              <a:t>mac_table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sz="1000" dirty="0">
                <a:latin typeface="Consolas"/>
                <a:cs typeface="Consolas"/>
              </a:rPr>
              <a:t>frame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dirty="0">
                <a:latin typeface="Consolas"/>
                <a:cs typeface="Consolas"/>
              </a:rPr>
              <a:t>dst_mac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], </a:t>
            </a:r>
            <a:r>
              <a:rPr sz="1000" dirty="0">
                <a:latin typeface="Consolas"/>
                <a:cs typeface="Consolas"/>
              </a:rPr>
              <a:t>frame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) </a:t>
            </a:r>
            <a:r>
              <a:rPr sz="1000" dirty="0">
                <a:solidFill>
                  <a:srgbClr val="A61C5C"/>
                </a:solidFill>
                <a:latin typeface="Consolas"/>
                <a:cs typeface="Consolas"/>
              </a:rPr>
              <a:t>else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 dirty="0">
              <a:latin typeface="Consolas"/>
              <a:cs typeface="Consolas"/>
            </a:endParaRPr>
          </a:p>
          <a:p>
            <a:pPr marL="1009015">
              <a:lnSpc>
                <a:spcPct val="100000"/>
              </a:lnSpc>
              <a:spcBef>
                <a:spcPts val="450"/>
              </a:spcBef>
            </a:pPr>
            <a:r>
              <a:rPr sz="1000" dirty="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sz="1000" dirty="0">
                <a:solidFill>
                  <a:srgbClr val="424442"/>
                </a:solidFill>
                <a:latin typeface="NSimSun"/>
                <a:cs typeface="NSimSun"/>
              </a:rPr>
              <a:t>仅在必要时广播</a:t>
            </a:r>
            <a:endParaRPr sz="1000" dirty="0">
              <a:latin typeface="NSimSun"/>
              <a:cs typeface="NSimSun"/>
            </a:endParaRPr>
          </a:p>
          <a:p>
            <a:pPr marR="2255520" algn="ctr">
              <a:lnSpc>
                <a:spcPct val="100000"/>
              </a:lnSpc>
              <a:spcBef>
                <a:spcPts val="525"/>
              </a:spcBef>
            </a:pPr>
            <a:r>
              <a:rPr sz="1000" dirty="0">
                <a:latin typeface="Consolas"/>
                <a:cs typeface="Consolas"/>
              </a:rPr>
              <a:t>self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dirty="0">
                <a:latin typeface="Consolas"/>
                <a:cs typeface="Consolas"/>
              </a:rPr>
              <a:t>_broadcast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dirty="0">
                <a:latin typeface="Consolas"/>
                <a:cs typeface="Consolas"/>
              </a:rPr>
              <a:t>frame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dirty="0">
                <a:latin typeface="Consolas"/>
                <a:cs typeface="Consolas"/>
              </a:rPr>
              <a:t>incoming_port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00" dirty="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17966" y="2952806"/>
            <a:ext cx="4191719" cy="283282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endParaRPr sz="1000" dirty="0" smtClean="0">
              <a:latin typeface="Consolas"/>
              <a:cs typeface="Consolas"/>
            </a:endParaRPr>
          </a:p>
          <a:p>
            <a:pPr marL="317500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Font typeface="Arial MT"/>
              <a:buAutoNum type="arabicPeriod" startAt="2"/>
              <a:tabLst>
                <a:tab pos="317500" algn="l"/>
              </a:tabLst>
            </a:pPr>
            <a:r>
              <a:rPr sz="1400" b="1" dirty="0" err="1" smtClean="0">
                <a:latin typeface="Arial"/>
                <a:cs typeface="Arial"/>
              </a:rPr>
              <a:t>MAC</a:t>
            </a:r>
            <a:r>
              <a:rPr sz="1400" b="1" dirty="0" err="1" smtClean="0">
                <a:latin typeface="Microsoft JhengHei"/>
                <a:cs typeface="Microsoft JhengHei"/>
              </a:rPr>
              <a:t>表⽼化机制</a:t>
            </a:r>
            <a:endParaRPr lang="en-US" sz="1400" b="1" dirty="0" smtClean="0"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添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加时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间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戳</a:t>
            </a:r>
            <a:r>
              <a:rPr sz="1400" dirty="0" smtClean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⾃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动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清除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⻓时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间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未⽤的条</a:t>
            </a:r>
            <a:r>
              <a:rPr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⽬</a:t>
            </a:r>
            <a:endParaRPr lang="en-US" sz="14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避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免表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项过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期导致的错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误转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发</a:t>
            </a:r>
            <a:endParaRPr sz="1400" dirty="0" smtClean="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sz="1400" b="1" dirty="0" err="1" smtClean="0">
                <a:latin typeface="Microsoft JhengHei"/>
                <a:cs typeface="Microsoft JhengHei"/>
              </a:rPr>
              <a:t>预加载静态路由</a:t>
            </a:r>
            <a:endParaRPr lang="en-US" sz="1400" b="1" dirty="0" smtClean="0"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对于已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知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的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固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定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拓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扑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可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预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先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配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置</a:t>
            </a:r>
            <a:r>
              <a:rPr sz="1400" dirty="0" err="1" smtClean="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表</a:t>
            </a:r>
            <a:endParaRPr lang="en-US" sz="14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完全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消除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初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始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⼴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播</a:t>
            </a:r>
            <a:endParaRPr sz="1400" dirty="0" smtClean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600" b="1" dirty="0" err="1" smtClean="0">
                <a:solidFill>
                  <a:schemeClr val="accent2"/>
                </a:solidFill>
                <a:latin typeface="Microsoft JhengHei"/>
                <a:cs typeface="Microsoft JhengHei"/>
              </a:rPr>
              <a:t>效果</a:t>
            </a:r>
            <a:r>
              <a:rPr sz="1600" dirty="0" smtClean="0">
                <a:solidFill>
                  <a:schemeClr val="accent2"/>
                </a:solidFill>
                <a:latin typeface="Arial MT"/>
                <a:cs typeface="Arial MT"/>
              </a:rPr>
              <a:t>:</a:t>
            </a:r>
            <a:endParaRPr lang="en-US" sz="1600" dirty="0" smtClean="0">
              <a:solidFill>
                <a:schemeClr val="accent2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⼴</a:t>
            </a:r>
            <a:r>
              <a:rPr sz="1400" dirty="0" smtClean="0">
                <a:solidFill>
                  <a:srgbClr val="333333"/>
                </a:solidFill>
                <a:latin typeface="SimSun"/>
                <a:cs typeface="SimSun"/>
              </a:rPr>
              <a:t>播流量</a:t>
            </a:r>
            <a:r>
              <a:rPr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从</a:t>
            </a:r>
            <a:r>
              <a:rPr sz="1400" dirty="0" smtClean="0">
                <a:solidFill>
                  <a:srgbClr val="333333"/>
                </a:solidFill>
                <a:latin typeface="Arial MT"/>
                <a:cs typeface="Arial MT"/>
              </a:rPr>
              <a:t>80%</a:t>
            </a:r>
            <a:r>
              <a:rPr sz="1400" dirty="0" smtClean="0">
                <a:solidFill>
                  <a:srgbClr val="333333"/>
                </a:solidFill>
                <a:latin typeface="SimSun"/>
                <a:cs typeface="SimSun"/>
              </a:rPr>
              <a:t>降</a:t>
            </a:r>
            <a:r>
              <a:rPr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低到</a:t>
            </a:r>
            <a:r>
              <a:rPr sz="1400" dirty="0" smtClean="0">
                <a:solidFill>
                  <a:srgbClr val="333333"/>
                </a:solidFill>
                <a:latin typeface="Arial MT"/>
                <a:cs typeface="Arial MT"/>
              </a:rPr>
              <a:t>5%</a:t>
            </a:r>
            <a:r>
              <a:rPr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以下</a:t>
            </a:r>
            <a:endParaRPr lang="en-US" sz="14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⽹络吞吐</a:t>
            </a:r>
            <a:r>
              <a:rPr sz="1400" dirty="0" smtClean="0">
                <a:solidFill>
                  <a:srgbClr val="333333"/>
                </a:solidFill>
                <a:latin typeface="SimSun"/>
                <a:cs typeface="SimSun"/>
              </a:rPr>
              <a:t>量提</a:t>
            </a:r>
            <a:r>
              <a:rPr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⾼</a:t>
            </a:r>
            <a:r>
              <a:rPr sz="1400" dirty="0" smtClean="0">
                <a:solidFill>
                  <a:srgbClr val="333333"/>
                </a:solidFill>
                <a:latin typeface="SimSun"/>
                <a:cs typeface="SimSun"/>
              </a:rPr>
              <a:t>约</a:t>
            </a:r>
            <a:r>
              <a:rPr sz="1400" dirty="0" smtClean="0">
                <a:solidFill>
                  <a:srgbClr val="333333"/>
                </a:solidFill>
                <a:latin typeface="Arial MT"/>
                <a:cs typeface="Arial MT"/>
              </a:rPr>
              <a:t>3</a:t>
            </a:r>
            <a:r>
              <a:rPr sz="1400" dirty="0" smtClean="0">
                <a:solidFill>
                  <a:srgbClr val="333333"/>
                </a:solidFill>
                <a:latin typeface="SimSun"/>
                <a:cs typeface="SimSun"/>
              </a:rPr>
              <a:t>倍</a:t>
            </a:r>
            <a:endParaRPr sz="1400" dirty="0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2028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042334" y="296813"/>
            <a:ext cx="6304047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dirty="0" smtClean="0">
                <a:latin typeface="Malgun Gothic"/>
                <a:cs typeface="Malgun Gothic"/>
              </a:rPr>
              <a:t>遇到挑战 </a:t>
            </a:r>
            <a:r>
              <a:rPr lang="en-US" altLang="zh-CN" sz="4400" dirty="0" smtClean="0">
                <a:latin typeface="Malgun Gothic"/>
                <a:cs typeface="Malgun Gothic"/>
              </a:rPr>
              <a:t>&amp;&amp; </a:t>
            </a:r>
            <a:r>
              <a:rPr lang="zh-CN" altLang="en-US" sz="4400" dirty="0" smtClean="0">
                <a:latin typeface="Malgun Gothic"/>
                <a:cs typeface="Malgun Gothic"/>
              </a:rPr>
              <a:t>解决方案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5" name="object 14"/>
          <p:cNvSpPr txBox="1"/>
          <p:nvPr/>
        </p:nvSpPr>
        <p:spPr>
          <a:xfrm>
            <a:off x="415925" y="1186291"/>
            <a:ext cx="5686492" cy="511268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dirty="0">
                <a:latin typeface="Microsoft JhengHei"/>
                <a:cs typeface="Microsoft JhengHei"/>
              </a:rPr>
              <a:t>挑战</a:t>
            </a:r>
            <a:r>
              <a:rPr sz="1800" b="1" dirty="0">
                <a:latin typeface="Arial"/>
                <a:cs typeface="Arial"/>
              </a:rPr>
              <a:t>3: Shannon</a:t>
            </a:r>
            <a:r>
              <a:rPr sz="2000" b="1" dirty="0">
                <a:latin typeface="Microsoft JhengHei"/>
                <a:cs typeface="Microsoft JhengHei"/>
              </a:rPr>
              <a:t>容</a:t>
            </a:r>
            <a:r>
              <a:rPr sz="2000" b="1" dirty="0">
                <a:latin typeface="Malgun Gothic"/>
                <a:cs typeface="Malgun Gothic"/>
              </a:rPr>
              <a:t>量</a:t>
            </a:r>
            <a:r>
              <a:rPr sz="2000" b="1" dirty="0">
                <a:latin typeface="Microsoft JhengHei"/>
                <a:cs typeface="Microsoft JhengHei"/>
              </a:rPr>
              <a:t>对⽐</a:t>
            </a:r>
            <a:r>
              <a:rPr sz="2000" b="1" dirty="0">
                <a:latin typeface="Malgun Gothic"/>
                <a:cs typeface="Malgun Gothic"/>
              </a:rPr>
              <a:t>的</a:t>
            </a:r>
            <a:r>
              <a:rPr sz="2000" b="1" dirty="0">
                <a:latin typeface="Microsoft JhengHei"/>
                <a:cs typeface="Microsoft JhengHei"/>
              </a:rPr>
              <a:t>概念错误</a:t>
            </a:r>
            <a:endParaRPr sz="200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4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问题</a:t>
            </a:r>
            <a:r>
              <a:rPr sz="1400" b="1" dirty="0">
                <a:solidFill>
                  <a:schemeClr val="accent2"/>
                </a:solidFill>
                <a:latin typeface="Malgun Gothic"/>
                <a:cs typeface="Malgun Gothic"/>
              </a:rPr>
              <a:t>描</a:t>
            </a:r>
            <a:r>
              <a:rPr sz="14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述</a:t>
            </a:r>
            <a:r>
              <a:rPr sz="1400" dirty="0">
                <a:solidFill>
                  <a:schemeClr val="accent2"/>
                </a:solidFill>
                <a:latin typeface="Arial MT"/>
                <a:cs typeface="Arial MT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最初使⽤ </a:t>
            </a:r>
            <a:r>
              <a:rPr sz="1050" dirty="0">
                <a:latin typeface="Consolas"/>
                <a:cs typeface="Consolas"/>
              </a:rPr>
              <a:t>(1-BER) 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作为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"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际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"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与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Shannon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对⽐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但两者单位不同</a:t>
            </a:r>
            <a:r>
              <a:rPr sz="1400" dirty="0" smtClean="0">
                <a:solidFill>
                  <a:srgbClr val="333333"/>
                </a:solidFill>
                <a:latin typeface="SimSun"/>
                <a:cs typeface="SimSun"/>
              </a:rPr>
              <a:t>：</a:t>
            </a:r>
            <a:endParaRPr lang="en-US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1841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400" dirty="0" err="1" smtClean="0">
                <a:solidFill>
                  <a:srgbClr val="333333"/>
                </a:solidFill>
                <a:latin typeface="Arial MT"/>
                <a:cs typeface="Arial MT"/>
              </a:rPr>
              <a:t>Shannon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单位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: bits/symbol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输速率） </a:t>
            </a:r>
            <a:endParaRPr lang="en-US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1841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400" dirty="0" smtClean="0">
                <a:solidFill>
                  <a:srgbClr val="333333"/>
                </a:solidFill>
                <a:latin typeface="Arial MT"/>
                <a:cs typeface="Arial MT"/>
              </a:rPr>
              <a:t>1-BER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⽆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纲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成功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sz="1400" dirty="0" smtClean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lang="en-US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这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导致对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⽐结果没有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意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义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。</a:t>
            </a:r>
            <a:endParaRPr sz="14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14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解决⽅案</a:t>
            </a:r>
            <a:r>
              <a:rPr sz="1400" dirty="0">
                <a:solidFill>
                  <a:schemeClr val="accent2"/>
                </a:solidFill>
                <a:latin typeface="Arial MT"/>
                <a:cs typeface="Arial MT"/>
              </a:rPr>
              <a:t>:</a:t>
            </a: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400" dirty="0">
              <a:latin typeface="Arial MT"/>
              <a:cs typeface="Arial MT"/>
            </a:endParaRPr>
          </a:p>
          <a:p>
            <a:pPr marL="317500" indent="-169545">
              <a:lnSpc>
                <a:spcPct val="100000"/>
              </a:lnSpc>
              <a:spcBef>
                <a:spcPts val="5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sz="1400" b="1" dirty="0" err="1" smtClean="0">
                <a:latin typeface="Malgun Gothic"/>
                <a:cs typeface="Malgun Gothic"/>
              </a:rPr>
              <a:t>理</a:t>
            </a:r>
            <a:r>
              <a:rPr sz="1400" b="1" dirty="0" err="1" smtClean="0">
                <a:latin typeface="Microsoft JhengHei"/>
                <a:cs typeface="Microsoft JhengHei"/>
              </a:rPr>
              <a:t>清概念</a:t>
            </a:r>
            <a:endParaRPr lang="en-US" sz="1400" b="1" dirty="0" smtClean="0">
              <a:latin typeface="Microsoft JhengHei"/>
              <a:cs typeface="Microsoft JhengHei"/>
            </a:endParaRPr>
          </a:p>
          <a:p>
            <a:pPr marL="319405" indent="-1714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Arial MT"/>
                <a:cs typeface="Arial MT"/>
              </a:rPr>
              <a:t>Shannon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理论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最⼤传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输速率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C = B × log</a:t>
            </a:r>
            <a:r>
              <a:rPr sz="1400" dirty="0">
                <a:solidFill>
                  <a:srgbClr val="333333"/>
                </a:solidFill>
                <a:latin typeface="Segoe UI"/>
                <a:cs typeface="Segoe UI"/>
              </a:rPr>
              <a:t>₂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(1 + </a:t>
            </a:r>
            <a:r>
              <a:rPr sz="1400" dirty="0" smtClean="0">
                <a:solidFill>
                  <a:srgbClr val="333333"/>
                </a:solidFill>
                <a:latin typeface="Arial MT"/>
                <a:cs typeface="Arial MT"/>
              </a:rPr>
              <a:t>SNR)</a:t>
            </a:r>
            <a:endParaRPr lang="en-US" sz="14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319405" indent="-1714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Arial MT"/>
                <a:cs typeface="Arial MT"/>
              </a:rPr>
              <a:t>OOK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际速率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固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定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1 </a:t>
            </a:r>
            <a:r>
              <a:rPr sz="1400" dirty="0" smtClean="0">
                <a:solidFill>
                  <a:srgbClr val="333333"/>
                </a:solidFill>
                <a:latin typeface="Arial MT"/>
                <a:cs typeface="Arial MT"/>
              </a:rPr>
              <a:t>bit/symbol</a:t>
            </a:r>
            <a:endParaRPr lang="en-US" sz="14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319405" indent="-1714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频谱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效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: OOK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速率 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/ Shannon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endParaRPr sz="1400" dirty="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sz="1400" b="1" dirty="0">
                <a:latin typeface="Microsoft JhengHei"/>
                <a:cs typeface="Microsoft JhengHei"/>
              </a:rPr>
              <a:t>修</a:t>
            </a:r>
            <a:r>
              <a:rPr sz="1400" b="1" dirty="0">
                <a:latin typeface="Malgun Gothic"/>
                <a:cs typeface="Malgun Gothic"/>
              </a:rPr>
              <a:t>正</a:t>
            </a:r>
            <a:r>
              <a:rPr sz="1400" b="1" dirty="0">
                <a:latin typeface="Microsoft JhengHei"/>
                <a:cs typeface="Microsoft JhengHei"/>
              </a:rPr>
              <a:t>对⽐⽅法</a:t>
            </a:r>
            <a:endParaRPr sz="1400" dirty="0">
              <a:latin typeface="Microsoft JhengHei"/>
              <a:cs typeface="Microsoft JhengHei"/>
            </a:endParaRPr>
          </a:p>
          <a:p>
            <a:pPr marL="438784" marR="482600">
              <a:lnSpc>
                <a:spcPct val="137500"/>
              </a:lnSpc>
              <a:spcBef>
                <a:spcPts val="1055"/>
              </a:spcBef>
              <a:tabLst>
                <a:tab pos="1578610" algn="l"/>
                <a:tab pos="3573779" algn="l"/>
              </a:tabLst>
            </a:pPr>
            <a:r>
              <a:rPr sz="1050" dirty="0">
                <a:latin typeface="Consolas"/>
                <a:cs typeface="Consolas"/>
              </a:rPr>
              <a:t>shannon_capacity </a:t>
            </a:r>
            <a:r>
              <a:rPr sz="1050" dirty="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sz="1050" dirty="0">
                <a:latin typeface="Consolas"/>
                <a:cs typeface="Consolas"/>
              </a:rPr>
              <a:t>np</a:t>
            </a:r>
            <a:r>
              <a:rPr sz="105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50" dirty="0">
                <a:latin typeface="Consolas"/>
                <a:cs typeface="Consolas"/>
              </a:rPr>
              <a:t>log2</a:t>
            </a:r>
            <a:r>
              <a:rPr sz="105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50" dirty="0">
                <a:solidFill>
                  <a:srgbClr val="0086B3"/>
                </a:solidFill>
                <a:latin typeface="Consolas"/>
                <a:cs typeface="Consolas"/>
              </a:rPr>
              <a:t>1 </a:t>
            </a:r>
            <a:r>
              <a:rPr sz="1050" dirty="0">
                <a:solidFill>
                  <a:srgbClr val="A61C5C"/>
                </a:solidFill>
                <a:latin typeface="Consolas"/>
                <a:cs typeface="Consolas"/>
              </a:rPr>
              <a:t>+ </a:t>
            </a:r>
            <a:r>
              <a:rPr sz="1050" dirty="0">
                <a:latin typeface="Consolas"/>
                <a:cs typeface="Consolas"/>
              </a:rPr>
              <a:t>snr_linear</a:t>
            </a:r>
            <a:r>
              <a:rPr sz="1050" dirty="0">
                <a:solidFill>
                  <a:srgbClr val="333333"/>
                </a:solidFill>
                <a:latin typeface="Consolas"/>
                <a:cs typeface="Consolas"/>
              </a:rPr>
              <a:t>)	</a:t>
            </a:r>
            <a:r>
              <a:rPr sz="1050" dirty="0">
                <a:solidFill>
                  <a:srgbClr val="424442"/>
                </a:solidFill>
                <a:latin typeface="Consolas"/>
                <a:cs typeface="Consolas"/>
              </a:rPr>
              <a:t># bits/symbol </a:t>
            </a:r>
            <a:r>
              <a:rPr sz="1050" dirty="0">
                <a:latin typeface="Consolas"/>
                <a:cs typeface="Consolas"/>
              </a:rPr>
              <a:t>ook_rate </a:t>
            </a:r>
            <a:r>
              <a:rPr sz="1050" dirty="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sz="1050" dirty="0">
                <a:solidFill>
                  <a:srgbClr val="0086B3"/>
                </a:solidFill>
                <a:latin typeface="Consolas"/>
                <a:cs typeface="Consolas"/>
              </a:rPr>
              <a:t>1.0	</a:t>
            </a:r>
            <a:r>
              <a:rPr sz="1050" dirty="0">
                <a:solidFill>
                  <a:srgbClr val="424442"/>
                </a:solidFill>
                <a:latin typeface="Consolas"/>
                <a:cs typeface="Consolas"/>
              </a:rPr>
              <a:t># OOK</a:t>
            </a:r>
            <a:r>
              <a:rPr sz="1050" dirty="0">
                <a:solidFill>
                  <a:srgbClr val="424442"/>
                </a:solidFill>
                <a:latin typeface="NSimSun"/>
                <a:cs typeface="NSimSun"/>
              </a:rPr>
              <a:t>固定</a:t>
            </a:r>
            <a:r>
              <a:rPr sz="1050" dirty="0">
                <a:solidFill>
                  <a:srgbClr val="424442"/>
                </a:solidFill>
                <a:latin typeface="Consolas"/>
                <a:cs typeface="Consolas"/>
              </a:rPr>
              <a:t>1 bit/symbol</a:t>
            </a:r>
            <a:endParaRPr sz="1050" dirty="0">
              <a:latin typeface="Consolas"/>
              <a:cs typeface="Consolas"/>
            </a:endParaRPr>
          </a:p>
          <a:p>
            <a:pPr marL="438784">
              <a:lnSpc>
                <a:spcPct val="100000"/>
              </a:lnSpc>
              <a:spcBef>
                <a:spcPts val="525"/>
              </a:spcBef>
              <a:tabLst>
                <a:tab pos="3430904" algn="l"/>
              </a:tabLst>
            </a:pPr>
            <a:r>
              <a:rPr sz="1050" dirty="0">
                <a:latin typeface="Consolas"/>
                <a:cs typeface="Consolas"/>
              </a:rPr>
              <a:t>efficiency </a:t>
            </a:r>
            <a:r>
              <a:rPr sz="1050" dirty="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sz="1050" dirty="0">
                <a:latin typeface="Consolas"/>
                <a:cs typeface="Consolas"/>
              </a:rPr>
              <a:t>ook_rate </a:t>
            </a:r>
            <a:r>
              <a:rPr sz="1050" dirty="0">
                <a:solidFill>
                  <a:srgbClr val="A61C5C"/>
                </a:solidFill>
                <a:latin typeface="Consolas"/>
                <a:cs typeface="Consolas"/>
              </a:rPr>
              <a:t>/ </a:t>
            </a:r>
            <a:r>
              <a:rPr sz="1050" dirty="0">
                <a:latin typeface="Consolas"/>
                <a:cs typeface="Consolas"/>
              </a:rPr>
              <a:t>shannon_capacity	</a:t>
            </a:r>
            <a:r>
              <a:rPr sz="1050" dirty="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sz="1050" dirty="0">
                <a:solidFill>
                  <a:srgbClr val="424442"/>
                </a:solidFill>
                <a:latin typeface="NSimSun"/>
                <a:cs typeface="NSimSun"/>
              </a:rPr>
              <a:t>频谱效率</a:t>
            </a:r>
            <a:endParaRPr sz="1050" dirty="0">
              <a:latin typeface="NSimSun"/>
              <a:cs typeface="NSimSun"/>
            </a:endParaRPr>
          </a:p>
          <a:p>
            <a:pPr marL="438784">
              <a:lnSpc>
                <a:spcPct val="100000"/>
              </a:lnSpc>
              <a:spcBef>
                <a:spcPts val="450"/>
              </a:spcBef>
              <a:tabLst>
                <a:tab pos="2291080" algn="l"/>
              </a:tabLst>
            </a:pPr>
            <a:r>
              <a:rPr sz="1050" dirty="0">
                <a:latin typeface="Consolas"/>
                <a:cs typeface="Consolas"/>
              </a:rPr>
              <a:t>success_rate </a:t>
            </a:r>
            <a:r>
              <a:rPr sz="1050" dirty="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sz="1050" dirty="0">
                <a:solidFill>
                  <a:srgbClr val="0086B3"/>
                </a:solidFill>
                <a:latin typeface="Consolas"/>
                <a:cs typeface="Consolas"/>
              </a:rPr>
              <a:t>1.0 </a:t>
            </a:r>
            <a:r>
              <a:rPr sz="1050" dirty="0">
                <a:solidFill>
                  <a:srgbClr val="A61C5C"/>
                </a:solidFill>
                <a:latin typeface="Consolas"/>
                <a:cs typeface="Consolas"/>
              </a:rPr>
              <a:t>- </a:t>
            </a:r>
            <a:r>
              <a:rPr sz="1050" dirty="0">
                <a:latin typeface="Consolas"/>
                <a:cs typeface="Consolas"/>
              </a:rPr>
              <a:t>ber	</a:t>
            </a:r>
            <a:r>
              <a:rPr sz="1050" dirty="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sz="1050" dirty="0" err="1">
                <a:solidFill>
                  <a:srgbClr val="424442"/>
                </a:solidFill>
                <a:latin typeface="NSimSun"/>
                <a:cs typeface="NSimSun"/>
              </a:rPr>
              <a:t>传输成功率（另外统计</a:t>
            </a:r>
            <a:r>
              <a:rPr sz="1050" dirty="0" smtClean="0">
                <a:solidFill>
                  <a:srgbClr val="424442"/>
                </a:solidFill>
                <a:latin typeface="NSimSun"/>
                <a:cs typeface="NSimSun"/>
              </a:rPr>
              <a:t>）</a:t>
            </a:r>
            <a:endParaRPr sz="1400" dirty="0">
              <a:latin typeface="SimSun"/>
              <a:cs typeface="SimSun"/>
            </a:endParaRPr>
          </a:p>
        </p:txBody>
      </p:sp>
      <p:sp>
        <p:nvSpPr>
          <p:cNvPr id="6" name="object 14"/>
          <p:cNvSpPr txBox="1"/>
          <p:nvPr/>
        </p:nvSpPr>
        <p:spPr>
          <a:xfrm>
            <a:off x="6194357" y="3558364"/>
            <a:ext cx="5596590" cy="256352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0"/>
              </a:spcBef>
            </a:pPr>
            <a:endParaRPr sz="1000" dirty="0">
              <a:latin typeface="NSimSun"/>
              <a:cs typeface="NSimSun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sz="1400" b="1" dirty="0" err="1">
                <a:latin typeface="Microsoft JhengHei"/>
                <a:cs typeface="Microsoft JhengHei"/>
              </a:rPr>
              <a:t>分</a:t>
            </a:r>
            <a:r>
              <a:rPr sz="1400" b="1" dirty="0" err="1">
                <a:latin typeface="Malgun Gothic"/>
                <a:cs typeface="Malgun Gothic"/>
              </a:rPr>
              <a:t>离</a:t>
            </a:r>
            <a:r>
              <a:rPr sz="1400" b="1" dirty="0" err="1">
                <a:latin typeface="Microsoft JhengHei"/>
                <a:cs typeface="Microsoft JhengHei"/>
              </a:rPr>
              <a:t>指标展</a:t>
            </a:r>
            <a:r>
              <a:rPr sz="1400" b="1" dirty="0" smtClean="0">
                <a:latin typeface="Microsoft JhengHei"/>
                <a:cs typeface="Microsoft JhengHei"/>
              </a:rPr>
              <a:t>⽰</a:t>
            </a:r>
            <a:endParaRPr lang="en-US" sz="1400" b="1" dirty="0" smtClean="0"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频谱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效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: 8%-29%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OOK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只⽤了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理论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容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的⼀⼩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部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分</a:t>
            </a:r>
            <a:r>
              <a:rPr sz="1400" dirty="0" smtClean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lang="en-US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成功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: 100%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（在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低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环境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下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4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endParaRPr lang="en-US" sz="1400" b="1" dirty="0" smtClean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1400" b="1" dirty="0" err="1" smtClean="0">
                <a:solidFill>
                  <a:schemeClr val="accent2"/>
                </a:solidFill>
                <a:latin typeface="Microsoft JhengHei"/>
                <a:cs typeface="Microsoft JhengHei"/>
              </a:rPr>
              <a:t>效果</a:t>
            </a:r>
            <a:r>
              <a:rPr sz="1400" dirty="0" smtClean="0">
                <a:solidFill>
                  <a:schemeClr val="accent2"/>
                </a:solidFill>
                <a:latin typeface="Arial MT"/>
                <a:cs typeface="Arial MT"/>
              </a:rPr>
              <a:t>:</a:t>
            </a:r>
            <a:endParaRPr lang="en-US" sz="1400" dirty="0" smtClean="0">
              <a:solidFill>
                <a:schemeClr val="accent2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正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确理解</a:t>
            </a:r>
            <a:r>
              <a:rPr sz="1400" dirty="0" err="1">
                <a:solidFill>
                  <a:srgbClr val="333333"/>
                </a:solidFill>
                <a:latin typeface="Arial MT"/>
                <a:cs typeface="Arial MT"/>
              </a:rPr>
              <a:t>Shannon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定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的含义</a:t>
            </a:r>
            <a:endParaRPr lang="en-US" sz="14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清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晰展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⽰</a:t>
            </a:r>
            <a:r>
              <a:rPr sz="1400" dirty="0" err="1">
                <a:solidFill>
                  <a:srgbClr val="333333"/>
                </a:solidFill>
                <a:latin typeface="Arial MT"/>
                <a:cs typeface="Arial MT"/>
              </a:rPr>
              <a:t>OOK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制的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频谱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效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率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低但可靠性⾼的特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点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为后续实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⾼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阶调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如</a:t>
            </a:r>
            <a:r>
              <a:rPr sz="1400" dirty="0" err="1">
                <a:solidFill>
                  <a:srgbClr val="333333"/>
                </a:solidFill>
                <a:latin typeface="Arial MT"/>
                <a:cs typeface="Arial MT"/>
              </a:rPr>
              <a:t>QAM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）提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供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理论基础</a:t>
            </a:r>
            <a:endParaRPr sz="1400" dirty="0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173187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042334" y="296813"/>
            <a:ext cx="6304047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dirty="0" smtClean="0">
                <a:latin typeface="Malgun Gothic"/>
                <a:cs typeface="Malgun Gothic"/>
              </a:rPr>
              <a:t>遇到挑战 </a:t>
            </a:r>
            <a:r>
              <a:rPr lang="en-US" altLang="zh-CN" sz="4400" dirty="0" smtClean="0">
                <a:latin typeface="Malgun Gothic"/>
                <a:cs typeface="Malgun Gothic"/>
              </a:rPr>
              <a:t>&amp;&amp; </a:t>
            </a:r>
            <a:r>
              <a:rPr lang="zh-CN" altLang="en-US" sz="4400" dirty="0" smtClean="0">
                <a:latin typeface="Malgun Gothic"/>
                <a:cs typeface="Malgun Gothic"/>
              </a:rPr>
              <a:t>解决方案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7" name="object 15"/>
          <p:cNvSpPr txBox="1"/>
          <p:nvPr/>
        </p:nvSpPr>
        <p:spPr>
          <a:xfrm>
            <a:off x="310048" y="1758440"/>
            <a:ext cx="5734617" cy="460767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b="1" dirty="0">
                <a:latin typeface="Microsoft JhengHei"/>
                <a:cs typeface="Microsoft JhengHei"/>
              </a:rPr>
              <a:t>挑战</a:t>
            </a:r>
            <a:r>
              <a:rPr sz="2000" b="1" dirty="0">
                <a:latin typeface="Arial"/>
                <a:cs typeface="Arial"/>
              </a:rPr>
              <a:t>4: </a:t>
            </a:r>
            <a:r>
              <a:rPr sz="2400" b="1" dirty="0">
                <a:latin typeface="Microsoft JhengHei"/>
                <a:cs typeface="Microsoft JhengHei"/>
              </a:rPr>
              <a:t>调制⽅式对⽐中误码率全为</a:t>
            </a:r>
            <a:r>
              <a:rPr sz="2000" b="1" dirty="0">
                <a:latin typeface="Arial"/>
                <a:cs typeface="Arial"/>
              </a:rPr>
              <a:t>0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16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问题</a:t>
            </a:r>
            <a:r>
              <a:rPr sz="1600" b="1" dirty="0">
                <a:solidFill>
                  <a:schemeClr val="accent2"/>
                </a:solidFill>
                <a:latin typeface="Malgun Gothic"/>
                <a:cs typeface="Malgun Gothic"/>
              </a:rPr>
              <a:t>描</a:t>
            </a:r>
            <a:r>
              <a:rPr sz="16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述</a:t>
            </a:r>
            <a:r>
              <a:rPr sz="1600" dirty="0">
                <a:solidFill>
                  <a:schemeClr val="accent2"/>
                </a:solidFill>
                <a:latin typeface="Arial MT"/>
                <a:cs typeface="Arial MT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在测试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4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种调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制⽅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式（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OOK/ASK/FSK/BPSK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使⽤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声⽔平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0.05-0.2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结果所有⽅</a:t>
            </a:r>
            <a:r>
              <a:rPr sz="1600" dirty="0" smtClean="0">
                <a:solidFill>
                  <a:srgbClr val="333333"/>
                </a:solidFill>
                <a:latin typeface="SimSun"/>
                <a:cs typeface="SimSun"/>
              </a:rPr>
              <a:t>式</a:t>
            </a:r>
            <a:r>
              <a:rPr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的</a:t>
            </a:r>
            <a:r>
              <a:rPr sz="1600" dirty="0" smtClean="0">
                <a:solidFill>
                  <a:srgbClr val="333333"/>
                </a:solidFill>
                <a:latin typeface="SimSun"/>
                <a:cs typeface="SimSun"/>
              </a:rPr>
              <a:t>误码率都接</a:t>
            </a: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近</a:t>
            </a:r>
            <a:r>
              <a:rPr lang="en-US" altLang="zh-CN" sz="1600" dirty="0">
                <a:solidFill>
                  <a:srgbClr val="333333"/>
                </a:solidFill>
                <a:latin typeface="Arial MT"/>
                <a:cs typeface="Arial MT"/>
              </a:rPr>
              <a:t>0%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⽆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法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展⽰性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差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异。</a:t>
            </a:r>
            <a:endParaRPr lang="zh-CN" altLang="en-US" sz="16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lang="zh-CN" altLang="en-US" sz="16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解决⽅案</a:t>
            </a:r>
            <a:r>
              <a:rPr lang="en-US" altLang="zh-CN" sz="1600" dirty="0" smtClean="0">
                <a:solidFill>
                  <a:schemeClr val="accent2"/>
                </a:solidFill>
                <a:latin typeface="Arial MT"/>
                <a:cs typeface="Arial MT"/>
              </a:rPr>
              <a:t>:</a:t>
            </a:r>
            <a:endParaRPr lang="zh-CN" altLang="en-US" sz="1600" dirty="0">
              <a:latin typeface="Arial MT"/>
              <a:cs typeface="Arial MT"/>
            </a:endParaRPr>
          </a:p>
          <a:p>
            <a:pPr marL="317500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lang="zh-CN" altLang="en-US" sz="1600" b="1" dirty="0">
                <a:latin typeface="Microsoft JhengHei"/>
                <a:cs typeface="Microsoft JhengHei"/>
              </a:rPr>
              <a:t>分析根本</a:t>
            </a:r>
            <a:r>
              <a:rPr lang="zh-CN" altLang="en-US" sz="1600" b="1" dirty="0" smtClean="0">
                <a:latin typeface="Microsoft JhengHei"/>
                <a:cs typeface="Microsoft JhengHei"/>
              </a:rPr>
              <a:t>原因</a:t>
            </a:r>
            <a:endParaRPr lang="en-US" altLang="zh-CN" sz="1600" b="1" dirty="0" smtClean="0"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每</a:t>
            </a:r>
            <a:r>
              <a:rPr lang="en-US" altLang="zh-CN" sz="1600" dirty="0">
                <a:solidFill>
                  <a:srgbClr val="333333"/>
                </a:solidFill>
                <a:latin typeface="Arial MT"/>
                <a:cs typeface="Arial MT"/>
              </a:rPr>
              <a:t>bit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使⽤</a:t>
            </a:r>
            <a:r>
              <a:rPr lang="en-US" altLang="zh-CN" sz="1600" dirty="0">
                <a:solidFill>
                  <a:srgbClr val="333333"/>
                </a:solidFill>
                <a:latin typeface="Arial MT"/>
                <a:cs typeface="Arial MT"/>
              </a:rPr>
              <a:t>100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个</a:t>
            </a: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采样点</a:t>
            </a:r>
            <a:endParaRPr lang="en-US" altLang="zh-CN" sz="16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平</a:t>
            </a: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均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有效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声 </a:t>
            </a:r>
            <a:r>
              <a:rPr lang="zh-CN" altLang="en-US" sz="1600" dirty="0">
                <a:solidFill>
                  <a:srgbClr val="333333"/>
                </a:solidFill>
                <a:latin typeface="Arial MT"/>
                <a:cs typeface="Arial MT"/>
              </a:rPr>
              <a:t>≈ 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际噪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声 </a:t>
            </a:r>
            <a:r>
              <a:rPr lang="en-US" altLang="zh-CN" sz="1600" dirty="0">
                <a:solidFill>
                  <a:srgbClr val="333333"/>
                </a:solidFill>
                <a:latin typeface="Arial MT"/>
                <a:cs typeface="Arial MT"/>
              </a:rPr>
              <a:t>/ </a:t>
            </a:r>
            <a:r>
              <a:rPr lang="en-US" altLang="zh-CN" sz="1600" dirty="0" smtClean="0">
                <a:solidFill>
                  <a:srgbClr val="333333"/>
                </a:solidFill>
                <a:latin typeface="Arial MT"/>
                <a:cs typeface="Arial MT"/>
              </a:rPr>
              <a:t>10</a:t>
            </a: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en-US" altLang="zh-CN" sz="1600" dirty="0" smtClean="0">
                <a:solidFill>
                  <a:srgbClr val="333333"/>
                </a:solidFill>
                <a:latin typeface="Arial MT"/>
                <a:cs typeface="Arial MT"/>
              </a:rPr>
              <a:t>0.05-0.2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的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声对于</a:t>
            </a:r>
            <a:r>
              <a:rPr lang="en-US" altLang="zh-CN" sz="1600" dirty="0">
                <a:solidFill>
                  <a:srgbClr val="333333"/>
                </a:solidFill>
                <a:latin typeface="Arial MT"/>
                <a:cs typeface="Arial MT"/>
              </a:rPr>
              <a:t>100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采样点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来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说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太低</a:t>
            </a:r>
            <a:endParaRPr lang="zh-CN" altLang="en-US" sz="1600" dirty="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lang="zh-CN" altLang="en-US" sz="1600" b="1" dirty="0">
                <a:latin typeface="Malgun Gothic"/>
                <a:cs typeface="Malgun Gothic"/>
              </a:rPr>
              <a:t>提</a:t>
            </a:r>
            <a:r>
              <a:rPr lang="zh-CN" altLang="en-US" sz="1600" b="1" dirty="0">
                <a:latin typeface="Microsoft JhengHei"/>
                <a:cs typeface="Microsoft JhengHei"/>
              </a:rPr>
              <a:t>⾼</a:t>
            </a:r>
            <a:r>
              <a:rPr lang="zh-CN" altLang="en-US" sz="1600" b="1" dirty="0">
                <a:latin typeface="Malgun Gothic"/>
                <a:cs typeface="Malgun Gothic"/>
              </a:rPr>
              <a:t>噪</a:t>
            </a:r>
            <a:r>
              <a:rPr lang="zh-CN" altLang="en-US" sz="1600" b="1" dirty="0">
                <a:latin typeface="Microsoft JhengHei"/>
                <a:cs typeface="Microsoft JhengHei"/>
              </a:rPr>
              <a:t>声</a:t>
            </a:r>
            <a:r>
              <a:rPr lang="zh-CN" altLang="en-US" sz="1600" b="1" dirty="0" smtClean="0">
                <a:latin typeface="Malgun Gothic"/>
                <a:cs typeface="Malgun Gothic"/>
              </a:rPr>
              <a:t>范</a:t>
            </a:r>
            <a:r>
              <a:rPr lang="zh-CN" altLang="en-US" sz="1600" b="1" dirty="0" smtClean="0">
                <a:latin typeface="Microsoft JhengHei"/>
                <a:cs typeface="Microsoft JhengHei"/>
              </a:rPr>
              <a:t>围</a:t>
            </a:r>
            <a:endParaRPr lang="en-US" altLang="zh-CN" sz="1600" b="1" dirty="0" smtClean="0"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将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测试噪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范围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改为</a:t>
            </a:r>
            <a:r>
              <a:rPr lang="en-US" altLang="zh-CN" sz="1600" dirty="0">
                <a:solidFill>
                  <a:srgbClr val="333333"/>
                </a:solidFill>
                <a:latin typeface="Arial MT"/>
                <a:cs typeface="Arial MT"/>
              </a:rPr>
              <a:t>0.5-2.5</a:t>
            </a:r>
            <a:r>
              <a:rPr lang="zh-CN" altLang="en-US" sz="16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endParaRPr lang="en-US" altLang="zh-CN" sz="16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这样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有效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范围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为</a:t>
            </a:r>
            <a:r>
              <a:rPr lang="en-US" altLang="zh-CN" sz="1600" dirty="0" smtClean="0">
                <a:solidFill>
                  <a:srgbClr val="333333"/>
                </a:solidFill>
                <a:latin typeface="Arial MT"/>
                <a:cs typeface="Arial MT"/>
              </a:rPr>
              <a:t>0.05-0.25</a:t>
            </a: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⾜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以区分不同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制⽅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式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的性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endParaRPr lang="zh-CN" altLang="en-US" sz="16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endParaRPr sz="1400" dirty="0">
              <a:latin typeface="SimSun"/>
              <a:cs typeface="SimSun"/>
            </a:endParaRPr>
          </a:p>
        </p:txBody>
      </p:sp>
      <p:sp>
        <p:nvSpPr>
          <p:cNvPr id="8" name="object 15"/>
          <p:cNvSpPr txBox="1"/>
          <p:nvPr/>
        </p:nvSpPr>
        <p:spPr>
          <a:xfrm>
            <a:off x="6754061" y="3220701"/>
            <a:ext cx="4825130" cy="28860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sz="1600" b="1" dirty="0" err="1" smtClean="0">
                <a:latin typeface="Microsoft JhengHei"/>
                <a:cs typeface="Microsoft JhengHei"/>
              </a:rPr>
              <a:t>性</a:t>
            </a:r>
            <a:r>
              <a:rPr sz="1600" b="1" dirty="0" err="1" smtClean="0">
                <a:latin typeface="Malgun Gothic"/>
                <a:cs typeface="Malgun Gothic"/>
              </a:rPr>
              <a:t>能</a:t>
            </a:r>
            <a:r>
              <a:rPr sz="1600" b="1" dirty="0" err="1" smtClean="0">
                <a:latin typeface="Microsoft JhengHei"/>
                <a:cs typeface="Microsoft JhengHei"/>
              </a:rPr>
              <a:t>梯度显现</a:t>
            </a:r>
            <a:endParaRPr lang="en-US" sz="1600" b="1" dirty="0" smtClean="0"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600" dirty="0" smtClean="0">
                <a:solidFill>
                  <a:srgbClr val="333333"/>
                </a:solidFill>
                <a:latin typeface="Arial MT"/>
                <a:cs typeface="Arial MT"/>
              </a:rPr>
              <a:t>BPSK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: σ=2.5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BER=0.5% (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最佳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) </a:t>
            </a:r>
            <a:endParaRPr lang="en-US" sz="16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600" dirty="0" smtClean="0">
                <a:solidFill>
                  <a:srgbClr val="333333"/>
                </a:solidFill>
                <a:latin typeface="Arial MT"/>
                <a:cs typeface="Arial MT"/>
              </a:rPr>
              <a:t>FSK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: σ=2.5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BER=6.2% (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良好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) </a:t>
            </a:r>
            <a:endParaRPr lang="en-US" sz="16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600" dirty="0" smtClean="0">
                <a:solidFill>
                  <a:srgbClr val="333333"/>
                </a:solidFill>
                <a:latin typeface="Arial MT"/>
                <a:cs typeface="Arial MT"/>
              </a:rPr>
              <a:t>OOK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: σ=2.5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BER=34% (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中等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) </a:t>
            </a:r>
            <a:endParaRPr lang="en-US" sz="16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600" dirty="0" smtClean="0">
                <a:solidFill>
                  <a:srgbClr val="333333"/>
                </a:solidFill>
                <a:latin typeface="Arial MT"/>
                <a:cs typeface="Arial MT"/>
              </a:rPr>
              <a:t>ASK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: σ=1.0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BER=50% (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最差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)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b="1" dirty="0" err="1">
                <a:solidFill>
                  <a:schemeClr val="accent2"/>
                </a:solidFill>
                <a:latin typeface="Microsoft JhengHei"/>
                <a:cs typeface="Microsoft JhengHei"/>
              </a:rPr>
              <a:t>效果</a:t>
            </a:r>
            <a:r>
              <a:rPr sz="1600" dirty="0" smtClean="0">
                <a:solidFill>
                  <a:schemeClr val="accent2"/>
                </a:solidFill>
                <a:latin typeface="Arial MT"/>
                <a:cs typeface="Arial MT"/>
              </a:rPr>
              <a:t>:</a:t>
            </a:r>
            <a:endParaRPr lang="en-US" sz="1600" dirty="0" smtClean="0">
              <a:solidFill>
                <a:schemeClr val="accent2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清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晰展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⽰了</a:t>
            </a:r>
            <a:r>
              <a:rPr sz="1600" dirty="0" err="1">
                <a:solidFill>
                  <a:srgbClr val="333333"/>
                </a:solidFill>
                <a:latin typeface="Arial MT"/>
                <a:cs typeface="Arial MT"/>
              </a:rPr>
              <a:t>BPSK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 &gt; FSK &gt; OOK &gt; </a:t>
            </a:r>
            <a:r>
              <a:rPr sz="1600" dirty="0" err="1">
                <a:solidFill>
                  <a:srgbClr val="333333"/>
                </a:solidFill>
                <a:latin typeface="Arial MT"/>
                <a:cs typeface="Arial MT"/>
              </a:rPr>
              <a:t>ASK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的性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能排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序</a:t>
            </a:r>
            <a:endParaRPr lang="en-US" sz="16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验证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了相位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制优于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频率调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制优于幅度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制的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理论</a:t>
            </a:r>
            <a:endParaRPr lang="en-US" sz="16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为实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际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应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⽤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选择调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制⽅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式提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供依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据</a:t>
            </a:r>
            <a:endParaRPr sz="1600" dirty="0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2612389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042334" y="296813"/>
            <a:ext cx="6304047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dirty="0" smtClean="0">
                <a:latin typeface="Malgun Gothic"/>
                <a:cs typeface="Malgun Gothic"/>
              </a:rPr>
              <a:t>遇到挑战 </a:t>
            </a:r>
            <a:r>
              <a:rPr lang="en-US" altLang="zh-CN" sz="4400" dirty="0" smtClean="0">
                <a:latin typeface="Malgun Gothic"/>
                <a:cs typeface="Malgun Gothic"/>
              </a:rPr>
              <a:t>&amp;&amp; </a:t>
            </a:r>
            <a:r>
              <a:rPr lang="zh-CN" altLang="en-US" sz="4400" dirty="0" smtClean="0">
                <a:latin typeface="Malgun Gothic"/>
                <a:cs typeface="Malgun Gothic"/>
              </a:rPr>
              <a:t>解决方案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5" name="object 19"/>
          <p:cNvSpPr txBox="1"/>
          <p:nvPr/>
        </p:nvSpPr>
        <p:spPr>
          <a:xfrm>
            <a:off x="86627" y="1422512"/>
            <a:ext cx="4822256" cy="45804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dirty="0">
                <a:latin typeface="Microsoft JhengHei"/>
                <a:cs typeface="Microsoft JhengHei"/>
              </a:rPr>
              <a:t>挑战</a:t>
            </a:r>
            <a:r>
              <a:rPr sz="1800" b="1" dirty="0">
                <a:latin typeface="Arial"/>
                <a:cs typeface="Arial"/>
              </a:rPr>
              <a:t>5: </a:t>
            </a:r>
            <a:r>
              <a:rPr sz="2000" b="1" dirty="0">
                <a:latin typeface="Microsoft JhengHei"/>
                <a:cs typeface="Microsoft JhengHei"/>
              </a:rPr>
              <a:t>并发环</a:t>
            </a:r>
            <a:r>
              <a:rPr sz="2000" b="1" dirty="0">
                <a:latin typeface="Malgun Gothic"/>
                <a:cs typeface="Malgun Gothic"/>
              </a:rPr>
              <a:t>境</a:t>
            </a:r>
            <a:r>
              <a:rPr sz="2000" b="1" dirty="0">
                <a:latin typeface="Microsoft JhengHei"/>
                <a:cs typeface="Microsoft JhengHei"/>
              </a:rPr>
              <a:t>下</a:t>
            </a:r>
            <a:r>
              <a:rPr sz="2000" b="1" dirty="0">
                <a:latin typeface="Malgun Gothic"/>
                <a:cs typeface="Malgun Gothic"/>
              </a:rPr>
              <a:t>的</a:t>
            </a:r>
            <a:r>
              <a:rPr sz="2000" b="1" dirty="0">
                <a:latin typeface="Microsoft JhengHei"/>
                <a:cs typeface="Microsoft JhengHei"/>
              </a:rPr>
              <a:t>竞态条件</a:t>
            </a:r>
            <a:endParaRPr sz="200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135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问题</a:t>
            </a:r>
            <a:r>
              <a:rPr sz="1350" b="1" dirty="0">
                <a:solidFill>
                  <a:schemeClr val="accent2"/>
                </a:solidFill>
                <a:latin typeface="Malgun Gothic"/>
                <a:cs typeface="Malgun Gothic"/>
              </a:rPr>
              <a:t>描</a:t>
            </a:r>
            <a:r>
              <a:rPr sz="135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述</a:t>
            </a:r>
            <a:r>
              <a:rPr sz="1200" dirty="0">
                <a:solidFill>
                  <a:schemeClr val="accent2"/>
                </a:solidFill>
                <a:latin typeface="Arial MT"/>
                <a:cs typeface="Arial MT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多线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并发⽹络时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多个线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同时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访问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交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机的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表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导致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：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184150" indent="-171450">
              <a:lnSpc>
                <a:spcPct val="100000"/>
              </a:lnSpc>
              <a:spcBef>
                <a:spcPts val="330"/>
              </a:spcBef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solidFill>
                  <a:srgbClr val="333333"/>
                </a:solidFill>
                <a:latin typeface="Arial MT"/>
                <a:cs typeface="Arial MT"/>
              </a:rPr>
              <a:t>MAC</a:t>
            </a:r>
            <a:r>
              <a:rPr lang="zh-CN" altLang="en-US"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表条⽬丢失或</a:t>
            </a:r>
            <a:r>
              <a:rPr lang="zh-CN" altLang="en-US"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错误</a:t>
            </a:r>
            <a:endParaRPr lang="en-US" altLang="zh-CN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184150" indent="-171450">
              <a:lnSpc>
                <a:spcPct val="100000"/>
              </a:lnSpc>
              <a:spcBef>
                <a:spcPts val="330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转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发到错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端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⼝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184150" indent="-171450">
              <a:lnSpc>
                <a:spcPct val="100000"/>
              </a:lnSpc>
              <a:spcBef>
                <a:spcPts val="330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序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偶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发性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崩溃</a:t>
            </a:r>
            <a:endParaRPr sz="13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135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解决⽅案</a:t>
            </a:r>
            <a:r>
              <a:rPr sz="1200" dirty="0">
                <a:solidFill>
                  <a:schemeClr val="accent2"/>
                </a:solidFill>
                <a:latin typeface="Arial MT"/>
                <a:cs typeface="Arial MT"/>
              </a:rPr>
              <a:t>: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00" dirty="0">
              <a:latin typeface="Arial MT"/>
              <a:cs typeface="Arial MT"/>
            </a:endParaRPr>
          </a:p>
          <a:p>
            <a:pPr marL="147955">
              <a:lnSpc>
                <a:spcPct val="100000"/>
              </a:lnSpc>
            </a:pP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1. </a:t>
            </a:r>
            <a:r>
              <a:rPr sz="1350" b="1" dirty="0" err="1">
                <a:latin typeface="Microsoft JhengHei"/>
                <a:cs typeface="Microsoft JhengHei"/>
              </a:rPr>
              <a:t>使⽤</a:t>
            </a:r>
            <a:r>
              <a:rPr sz="1350" b="1" dirty="0" err="1" smtClean="0">
                <a:latin typeface="Microsoft JhengHei"/>
                <a:cs typeface="Microsoft JhengHei"/>
              </a:rPr>
              <a:t>线</a:t>
            </a:r>
            <a:r>
              <a:rPr sz="1350" b="1" dirty="0" err="1" smtClean="0">
                <a:latin typeface="Malgun Gothic"/>
                <a:cs typeface="Malgun Gothic"/>
              </a:rPr>
              <a:t>程</a:t>
            </a:r>
            <a:r>
              <a:rPr sz="1350" b="1" dirty="0" err="1" smtClean="0">
                <a:latin typeface="Microsoft JhengHei"/>
                <a:cs typeface="Microsoft JhengHei"/>
              </a:rPr>
              <a:t>安全</a:t>
            </a:r>
            <a:r>
              <a:rPr sz="1350" b="1" dirty="0" err="1" smtClean="0">
                <a:latin typeface="Malgun Gothic"/>
                <a:cs typeface="Malgun Gothic"/>
              </a:rPr>
              <a:t>的</a:t>
            </a:r>
            <a:r>
              <a:rPr sz="1350" b="1" dirty="0" err="1" smtClean="0">
                <a:latin typeface="Microsoft JhengHei"/>
                <a:cs typeface="Microsoft JhengHei"/>
              </a:rPr>
              <a:t>数据结构</a:t>
            </a:r>
            <a:endParaRPr lang="en-US" sz="1350" b="1" dirty="0" smtClean="0">
              <a:latin typeface="Microsoft JhengHei"/>
              <a:cs typeface="Microsoft JhengHei"/>
            </a:endParaRPr>
          </a:p>
          <a:p>
            <a:pPr marL="438784" marR="2569210">
              <a:lnSpc>
                <a:spcPct val="137500"/>
              </a:lnSpc>
              <a:spcBef>
                <a:spcPts val="95"/>
              </a:spcBef>
            </a:pPr>
            <a:r>
              <a:rPr lang="en-US" altLang="zh-CN" sz="1000" dirty="0">
                <a:solidFill>
                  <a:srgbClr val="A61C5C"/>
                </a:solidFill>
                <a:latin typeface="Consolas"/>
                <a:cs typeface="Consolas"/>
              </a:rPr>
              <a:t>from </a:t>
            </a:r>
            <a:r>
              <a:rPr lang="en-US" altLang="zh-CN" sz="1000" dirty="0">
                <a:latin typeface="Consolas"/>
                <a:cs typeface="Consolas"/>
              </a:rPr>
              <a:t>queue </a:t>
            </a:r>
            <a:r>
              <a:rPr lang="en-US" altLang="zh-CN" sz="1000" dirty="0">
                <a:solidFill>
                  <a:srgbClr val="A61C5C"/>
                </a:solidFill>
                <a:latin typeface="Consolas"/>
                <a:cs typeface="Consolas"/>
              </a:rPr>
              <a:t>import </a:t>
            </a:r>
            <a:r>
              <a:rPr lang="en-US" altLang="zh-CN" sz="1000" dirty="0">
                <a:latin typeface="Consolas"/>
                <a:cs typeface="Consolas"/>
              </a:rPr>
              <a:t>Queue </a:t>
            </a:r>
            <a:r>
              <a:rPr lang="en-US" altLang="zh-CN" sz="1000" dirty="0">
                <a:solidFill>
                  <a:srgbClr val="A61C5C"/>
                </a:solidFill>
                <a:latin typeface="Consolas"/>
                <a:cs typeface="Consolas"/>
              </a:rPr>
              <a:t>from </a:t>
            </a:r>
            <a:r>
              <a:rPr lang="en-US" altLang="zh-CN" sz="1000" dirty="0">
                <a:latin typeface="Consolas"/>
                <a:cs typeface="Consolas"/>
              </a:rPr>
              <a:t>threading </a:t>
            </a:r>
            <a:r>
              <a:rPr lang="en-US" altLang="zh-CN" sz="1000" dirty="0">
                <a:solidFill>
                  <a:srgbClr val="A61C5C"/>
                </a:solidFill>
                <a:latin typeface="Consolas"/>
                <a:cs typeface="Consolas"/>
              </a:rPr>
              <a:t>import </a:t>
            </a:r>
            <a:r>
              <a:rPr lang="en-US" altLang="zh-CN" sz="1000" dirty="0" smtClean="0">
                <a:latin typeface="Consolas"/>
                <a:cs typeface="Consolas"/>
              </a:rPr>
              <a:t>Lock</a:t>
            </a:r>
            <a:endParaRPr lang="en-US" altLang="zh-CN" sz="1000" dirty="0">
              <a:latin typeface="Consolas"/>
              <a:cs typeface="Consolas"/>
            </a:endParaRPr>
          </a:p>
          <a:p>
            <a:pPr marL="438784">
              <a:lnSpc>
                <a:spcPct val="100000"/>
              </a:lnSpc>
            </a:pPr>
            <a:r>
              <a:rPr lang="en-US" altLang="zh-CN" sz="1000" dirty="0">
                <a:solidFill>
                  <a:srgbClr val="A61C5C"/>
                </a:solidFill>
                <a:latin typeface="Consolas"/>
                <a:cs typeface="Consolas"/>
              </a:rPr>
              <a:t>class </a:t>
            </a:r>
            <a:r>
              <a:rPr lang="en-US" altLang="zh-CN" sz="1000" dirty="0">
                <a:solidFill>
                  <a:srgbClr val="3A2D4E"/>
                </a:solidFill>
                <a:latin typeface="Consolas"/>
                <a:cs typeface="Consolas"/>
              </a:rPr>
              <a:t>Switch</a:t>
            </a:r>
            <a:r>
              <a:rPr lang="en-US" altLang="zh-CN" sz="1000" dirty="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lang="en-US" altLang="zh-CN" sz="1000" dirty="0">
              <a:latin typeface="Consolas"/>
              <a:cs typeface="Consolas"/>
            </a:endParaRPr>
          </a:p>
          <a:p>
            <a:pPr marL="1009015" marR="2498090" indent="-285115">
              <a:lnSpc>
                <a:spcPts val="1730"/>
              </a:lnSpc>
              <a:spcBef>
                <a:spcPts val="65"/>
              </a:spcBef>
            </a:pPr>
            <a:r>
              <a:rPr lang="en-US" altLang="zh-CN" sz="1000" dirty="0" err="1">
                <a:solidFill>
                  <a:srgbClr val="A61C5C"/>
                </a:solidFill>
                <a:latin typeface="Consolas"/>
                <a:cs typeface="Consolas"/>
              </a:rPr>
              <a:t>def</a:t>
            </a:r>
            <a:r>
              <a:rPr lang="en-US" altLang="zh-CN" sz="1000" dirty="0">
                <a:solidFill>
                  <a:srgbClr val="A61C5C"/>
                </a:solidFill>
                <a:latin typeface="Consolas"/>
                <a:cs typeface="Consolas"/>
              </a:rPr>
              <a:t> </a:t>
            </a:r>
            <a:r>
              <a:rPr lang="en-US" altLang="zh-CN" sz="1000" u="sng" dirty="0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lang="en-US" altLang="zh-CN" sz="1000" dirty="0" err="1">
                <a:solidFill>
                  <a:srgbClr val="3A2D4E"/>
                </a:solidFill>
                <a:latin typeface="Consolas"/>
                <a:cs typeface="Consolas"/>
              </a:rPr>
              <a:t>init</a:t>
            </a:r>
            <a:r>
              <a:rPr lang="en-US" altLang="zh-CN" sz="1000" u="sng" dirty="0">
                <a:solidFill>
                  <a:srgbClr val="3A2D4E"/>
                </a:solidFill>
                <a:uFill>
                  <a:solidFill>
                    <a:srgbClr val="392C4D"/>
                  </a:solidFill>
                </a:uFill>
                <a:latin typeface="Times New Roman"/>
                <a:cs typeface="Times New Roman"/>
              </a:rPr>
              <a:t>  </a:t>
            </a:r>
            <a:r>
              <a:rPr lang="en-US" altLang="zh-CN" sz="100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lang="en-US" altLang="zh-CN" sz="1000" dirty="0">
                <a:latin typeface="Consolas"/>
                <a:cs typeface="Consolas"/>
              </a:rPr>
              <a:t>self</a:t>
            </a:r>
            <a:r>
              <a:rPr lang="en-US" altLang="zh-CN" sz="1000" dirty="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lang="en-US" altLang="zh-CN" sz="1000" dirty="0" err="1">
                <a:latin typeface="Consolas"/>
                <a:cs typeface="Consolas"/>
              </a:rPr>
              <a:t>self</a:t>
            </a:r>
            <a:r>
              <a:rPr lang="en-US" altLang="zh-CN" sz="1000" dirty="0" err="1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lang="en-US" altLang="zh-CN" sz="1000" dirty="0" err="1">
                <a:latin typeface="Consolas"/>
                <a:cs typeface="Consolas"/>
              </a:rPr>
              <a:t>mac_table</a:t>
            </a:r>
            <a:r>
              <a:rPr lang="en-US" altLang="zh-CN" sz="1000" dirty="0">
                <a:latin typeface="Consolas"/>
                <a:cs typeface="Consolas"/>
              </a:rPr>
              <a:t> </a:t>
            </a:r>
            <a:r>
              <a:rPr lang="en-US" altLang="zh-CN" sz="1000" dirty="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lang="en-US" altLang="zh-CN" sz="1000" dirty="0">
                <a:solidFill>
                  <a:srgbClr val="333333"/>
                </a:solidFill>
                <a:latin typeface="Consolas"/>
                <a:cs typeface="Consolas"/>
              </a:rPr>
              <a:t>{}</a:t>
            </a:r>
            <a:endParaRPr lang="en-US" altLang="zh-CN" sz="1000" dirty="0">
              <a:latin typeface="Consolas"/>
              <a:cs typeface="Consolas"/>
            </a:endParaRPr>
          </a:p>
          <a:p>
            <a:pPr marL="1009015">
              <a:lnSpc>
                <a:spcPct val="100000"/>
              </a:lnSpc>
              <a:spcBef>
                <a:spcPts val="300"/>
              </a:spcBef>
              <a:tabLst>
                <a:tab pos="2433955" algn="l"/>
              </a:tabLst>
            </a:pPr>
            <a:r>
              <a:rPr lang="en-US" altLang="zh-CN" sz="1000" dirty="0" err="1">
                <a:latin typeface="Consolas"/>
                <a:cs typeface="Consolas"/>
              </a:rPr>
              <a:t>self</a:t>
            </a:r>
            <a:r>
              <a:rPr lang="en-US" altLang="zh-CN" sz="1000" dirty="0" err="1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lang="en-US" altLang="zh-CN" sz="1000" dirty="0" err="1">
                <a:latin typeface="Consolas"/>
                <a:cs typeface="Consolas"/>
              </a:rPr>
              <a:t>lock</a:t>
            </a:r>
            <a:r>
              <a:rPr lang="en-US" altLang="zh-CN" sz="1000" dirty="0">
                <a:latin typeface="Consolas"/>
                <a:cs typeface="Consolas"/>
              </a:rPr>
              <a:t> </a:t>
            </a:r>
            <a:r>
              <a:rPr lang="en-US" altLang="zh-CN" sz="1000" dirty="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lang="en-US" altLang="zh-CN" sz="1000" dirty="0">
                <a:latin typeface="Consolas"/>
                <a:cs typeface="Consolas"/>
              </a:rPr>
              <a:t>Lock</a:t>
            </a:r>
            <a:r>
              <a:rPr lang="en-US" altLang="zh-CN" sz="1000" dirty="0">
                <a:solidFill>
                  <a:srgbClr val="333333"/>
                </a:solidFill>
                <a:latin typeface="Consolas"/>
                <a:cs typeface="Consolas"/>
              </a:rPr>
              <a:t>()	</a:t>
            </a:r>
            <a:r>
              <a:rPr lang="en-US" altLang="zh-CN" sz="1000" dirty="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lang="zh-CN" altLang="en-US" sz="1000" dirty="0">
                <a:solidFill>
                  <a:srgbClr val="424442"/>
                </a:solidFill>
                <a:latin typeface="NSimSun"/>
                <a:cs typeface="NSimSun"/>
              </a:rPr>
              <a:t>保护</a:t>
            </a:r>
            <a:r>
              <a:rPr lang="en-US" altLang="zh-CN" sz="1000" dirty="0">
                <a:solidFill>
                  <a:srgbClr val="424442"/>
                </a:solidFill>
                <a:latin typeface="Consolas"/>
                <a:cs typeface="Consolas"/>
              </a:rPr>
              <a:t>MAC</a:t>
            </a:r>
            <a:r>
              <a:rPr lang="zh-CN" altLang="en-US" sz="1000" dirty="0">
                <a:solidFill>
                  <a:srgbClr val="424442"/>
                </a:solidFill>
                <a:latin typeface="NSimSun"/>
                <a:cs typeface="NSimSun"/>
              </a:rPr>
              <a:t>表访问</a:t>
            </a:r>
            <a:endParaRPr lang="zh-CN" altLang="en-US" sz="1000" dirty="0">
              <a:latin typeface="NSimSun"/>
              <a:cs typeface="NSimSun"/>
            </a:endParaRPr>
          </a:p>
          <a:p>
            <a:pPr marL="1009015">
              <a:lnSpc>
                <a:spcPct val="100000"/>
              </a:lnSpc>
              <a:spcBef>
                <a:spcPts val="525"/>
              </a:spcBef>
            </a:pPr>
            <a:r>
              <a:rPr lang="en-US" altLang="zh-CN" sz="1000" dirty="0" err="1">
                <a:latin typeface="Consolas"/>
                <a:cs typeface="Consolas"/>
              </a:rPr>
              <a:t>self</a:t>
            </a:r>
            <a:r>
              <a:rPr lang="en-US" altLang="zh-CN" sz="1000" dirty="0" err="1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lang="en-US" altLang="zh-CN" sz="1000" dirty="0" err="1">
                <a:latin typeface="Consolas"/>
                <a:cs typeface="Consolas"/>
              </a:rPr>
              <a:t>port_queues</a:t>
            </a:r>
            <a:r>
              <a:rPr lang="en-US" altLang="zh-CN" sz="1000" dirty="0">
                <a:latin typeface="Consolas"/>
                <a:cs typeface="Consolas"/>
              </a:rPr>
              <a:t> </a:t>
            </a:r>
            <a:r>
              <a:rPr lang="en-US" altLang="zh-CN" sz="1000" dirty="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lang="en-US" altLang="zh-CN" sz="1000" dirty="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lang="en-US" altLang="zh-CN" sz="1000" dirty="0">
                <a:latin typeface="Consolas"/>
                <a:cs typeface="Consolas"/>
              </a:rPr>
              <a:t>Queue</a:t>
            </a:r>
            <a:r>
              <a:rPr lang="en-US" altLang="zh-CN" sz="1000" dirty="0">
                <a:solidFill>
                  <a:srgbClr val="333333"/>
                </a:solidFill>
                <a:latin typeface="Consolas"/>
                <a:cs typeface="Consolas"/>
              </a:rPr>
              <a:t>() </a:t>
            </a:r>
            <a:r>
              <a:rPr lang="en-US" altLang="zh-CN" sz="1000" dirty="0">
                <a:solidFill>
                  <a:srgbClr val="A61C5C"/>
                </a:solidFill>
                <a:latin typeface="Consolas"/>
                <a:cs typeface="Consolas"/>
              </a:rPr>
              <a:t>for </a:t>
            </a:r>
            <a:r>
              <a:rPr lang="en-US" altLang="zh-CN" sz="1000" dirty="0">
                <a:latin typeface="Consolas"/>
                <a:cs typeface="Consolas"/>
              </a:rPr>
              <a:t>_ </a:t>
            </a:r>
            <a:r>
              <a:rPr lang="en-US" altLang="zh-CN" sz="1000" dirty="0">
                <a:solidFill>
                  <a:srgbClr val="A61C5C"/>
                </a:solidFill>
                <a:latin typeface="Consolas"/>
                <a:cs typeface="Consolas"/>
              </a:rPr>
              <a:t>in range</a:t>
            </a:r>
            <a:r>
              <a:rPr lang="en-US" altLang="zh-CN" sz="100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lang="en-US" altLang="zh-CN" sz="1000" dirty="0" err="1">
                <a:latin typeface="Consolas"/>
                <a:cs typeface="Consolas"/>
              </a:rPr>
              <a:t>num_ports</a:t>
            </a:r>
            <a:r>
              <a:rPr lang="en-US" altLang="zh-CN" sz="1000" dirty="0">
                <a:solidFill>
                  <a:srgbClr val="333333"/>
                </a:solidFill>
                <a:latin typeface="Consolas"/>
                <a:cs typeface="Consolas"/>
              </a:rPr>
              <a:t>)]</a:t>
            </a:r>
            <a:endParaRPr lang="en-US" altLang="zh-CN" sz="1000" dirty="0">
              <a:latin typeface="Consolas"/>
              <a:cs typeface="Consolas"/>
            </a:endParaRPr>
          </a:p>
          <a:p>
            <a:pPr marL="147955">
              <a:lnSpc>
                <a:spcPct val="100000"/>
              </a:lnSpc>
            </a:pPr>
            <a:endParaRPr sz="1350" dirty="0">
              <a:latin typeface="Microsoft JhengHei"/>
              <a:cs typeface="Microsoft JhengHei"/>
            </a:endParaRPr>
          </a:p>
        </p:txBody>
      </p:sp>
      <p:sp>
        <p:nvSpPr>
          <p:cNvPr id="6" name="object 11"/>
          <p:cNvSpPr txBox="1"/>
          <p:nvPr/>
        </p:nvSpPr>
        <p:spPr>
          <a:xfrm>
            <a:off x="5053599" y="1376121"/>
            <a:ext cx="3965273" cy="5200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000" dirty="0">
              <a:latin typeface="Consolas"/>
              <a:cs typeface="Consolas"/>
            </a:endParaRPr>
          </a:p>
          <a:p>
            <a:pPr marL="317500" indent="-169545" algn="just">
              <a:lnSpc>
                <a:spcPct val="100000"/>
              </a:lnSpc>
              <a:spcBef>
                <a:spcPts val="5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sz="1350" b="1" dirty="0">
                <a:latin typeface="Microsoft JhengHei"/>
                <a:cs typeface="Microsoft JhengHei"/>
              </a:rPr>
              <a:t>加锁保护关键区</a:t>
            </a:r>
            <a:endParaRPr sz="1350" dirty="0">
              <a:latin typeface="Microsoft JhengHei"/>
              <a:cs typeface="Microsoft JhengHei"/>
            </a:endParaRPr>
          </a:p>
          <a:p>
            <a:pPr marL="723900" marR="2212975" indent="-285115">
              <a:lnSpc>
                <a:spcPct val="143800"/>
              </a:lnSpc>
              <a:spcBef>
                <a:spcPts val="900"/>
              </a:spcBef>
            </a:pPr>
            <a:r>
              <a:rPr sz="1000" dirty="0">
                <a:solidFill>
                  <a:srgbClr val="A61C5C"/>
                </a:solidFill>
                <a:latin typeface="Consolas"/>
                <a:cs typeface="Consolas"/>
              </a:rPr>
              <a:t>def </a:t>
            </a:r>
            <a:r>
              <a:rPr sz="1000" dirty="0">
                <a:solidFill>
                  <a:srgbClr val="3A2D4E"/>
                </a:solidFill>
                <a:latin typeface="Consolas"/>
                <a:cs typeface="Consolas"/>
              </a:rPr>
              <a:t>forward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dirty="0">
                <a:latin typeface="Consolas"/>
                <a:cs typeface="Consolas"/>
              </a:rPr>
              <a:t>self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dirty="0">
                <a:latin typeface="Consolas"/>
                <a:cs typeface="Consolas"/>
              </a:rPr>
              <a:t>frame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dirty="0">
                <a:latin typeface="Consolas"/>
                <a:cs typeface="Consolas"/>
              </a:rPr>
              <a:t>port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): </a:t>
            </a:r>
            <a:r>
              <a:rPr sz="1000" dirty="0">
                <a:solidFill>
                  <a:srgbClr val="A61C5C"/>
                </a:solidFill>
                <a:latin typeface="Consolas"/>
                <a:cs typeface="Consolas"/>
              </a:rPr>
              <a:t>with </a:t>
            </a:r>
            <a:r>
              <a:rPr sz="1000" dirty="0">
                <a:latin typeface="Consolas"/>
                <a:cs typeface="Consolas"/>
              </a:rPr>
              <a:t>self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dirty="0">
                <a:latin typeface="Consolas"/>
                <a:cs typeface="Consolas"/>
              </a:rPr>
              <a:t>lock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:</a:t>
            </a:r>
            <a:endParaRPr sz="1000" dirty="0">
              <a:latin typeface="Consolas"/>
              <a:cs typeface="Consolas"/>
            </a:endParaRPr>
          </a:p>
          <a:p>
            <a:pPr marR="2290445" algn="r">
              <a:lnSpc>
                <a:spcPct val="100000"/>
              </a:lnSpc>
              <a:spcBef>
                <a:spcPts val="450"/>
              </a:spcBef>
            </a:pPr>
            <a:r>
              <a:rPr sz="1000" dirty="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sz="1000" dirty="0">
                <a:solidFill>
                  <a:srgbClr val="424442"/>
                </a:solidFill>
                <a:latin typeface="NSimSun"/>
                <a:cs typeface="NSimSun"/>
              </a:rPr>
              <a:t>原子操作</a:t>
            </a:r>
            <a:r>
              <a:rPr sz="1000" dirty="0">
                <a:solidFill>
                  <a:srgbClr val="424442"/>
                </a:solidFill>
                <a:latin typeface="Consolas"/>
                <a:cs typeface="Consolas"/>
              </a:rPr>
              <a:t>: </a:t>
            </a:r>
            <a:r>
              <a:rPr sz="1000" dirty="0">
                <a:solidFill>
                  <a:srgbClr val="424442"/>
                </a:solidFill>
                <a:latin typeface="NSimSun"/>
                <a:cs typeface="NSimSun"/>
              </a:rPr>
              <a:t>学习 </a:t>
            </a:r>
            <a:r>
              <a:rPr sz="1000" dirty="0">
                <a:solidFill>
                  <a:srgbClr val="424442"/>
                </a:solidFill>
                <a:latin typeface="Consolas"/>
                <a:cs typeface="Consolas"/>
              </a:rPr>
              <a:t>+ </a:t>
            </a:r>
            <a:r>
              <a:rPr sz="1000" dirty="0">
                <a:solidFill>
                  <a:srgbClr val="424442"/>
                </a:solidFill>
                <a:latin typeface="NSimSun"/>
                <a:cs typeface="NSimSun"/>
              </a:rPr>
              <a:t>查表</a:t>
            </a:r>
            <a:endParaRPr sz="1000" dirty="0">
              <a:latin typeface="NSimSun"/>
              <a:cs typeface="NSimSun"/>
            </a:endParaRPr>
          </a:p>
          <a:p>
            <a:pPr marL="1009015" marR="504190">
              <a:lnSpc>
                <a:spcPts val="1730"/>
              </a:lnSpc>
              <a:spcBef>
                <a:spcPts val="70"/>
              </a:spcBef>
            </a:pPr>
            <a:r>
              <a:rPr sz="1000" dirty="0">
                <a:latin typeface="Consolas"/>
                <a:cs typeface="Consolas"/>
              </a:rPr>
              <a:t>self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dirty="0">
                <a:latin typeface="Consolas"/>
                <a:cs typeface="Consolas"/>
              </a:rPr>
              <a:t>mac_table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[</a:t>
            </a:r>
            <a:r>
              <a:rPr sz="1000" dirty="0">
                <a:latin typeface="Consolas"/>
                <a:cs typeface="Consolas"/>
              </a:rPr>
              <a:t>frame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dirty="0">
                <a:latin typeface="Consolas"/>
                <a:cs typeface="Consolas"/>
              </a:rPr>
              <a:t>src_mac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] </a:t>
            </a:r>
            <a:r>
              <a:rPr sz="1000" dirty="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sz="1000" dirty="0">
                <a:latin typeface="Consolas"/>
                <a:cs typeface="Consolas"/>
              </a:rPr>
              <a:t>port target_port </a:t>
            </a:r>
            <a:r>
              <a:rPr sz="1000" dirty="0">
                <a:solidFill>
                  <a:srgbClr val="A61C5C"/>
                </a:solidFill>
                <a:latin typeface="Consolas"/>
                <a:cs typeface="Consolas"/>
              </a:rPr>
              <a:t>= </a:t>
            </a:r>
            <a:r>
              <a:rPr sz="1000" dirty="0">
                <a:latin typeface="Consolas"/>
                <a:cs typeface="Consolas"/>
              </a:rPr>
              <a:t>self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dirty="0">
                <a:latin typeface="Consolas"/>
                <a:cs typeface="Consolas"/>
              </a:rPr>
              <a:t>mac_table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dirty="0">
                <a:latin typeface="Consolas"/>
                <a:cs typeface="Consolas"/>
              </a:rPr>
              <a:t>get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dirty="0">
                <a:latin typeface="Consolas"/>
                <a:cs typeface="Consolas"/>
              </a:rPr>
              <a:t>frame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dirty="0">
                <a:latin typeface="Consolas"/>
                <a:cs typeface="Consolas"/>
              </a:rPr>
              <a:t>dst_mac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 dirty="0">
              <a:latin typeface="Consolas"/>
              <a:cs typeface="Consolas"/>
            </a:endParaRPr>
          </a:p>
          <a:p>
            <a:pPr marR="2264410" algn="r">
              <a:lnSpc>
                <a:spcPct val="100000"/>
              </a:lnSpc>
            </a:pPr>
            <a:r>
              <a:rPr sz="1000" dirty="0" smtClean="0">
                <a:solidFill>
                  <a:srgbClr val="424442"/>
                </a:solidFill>
                <a:latin typeface="Consolas"/>
                <a:cs typeface="Consolas"/>
              </a:rPr>
              <a:t># </a:t>
            </a:r>
            <a:r>
              <a:rPr sz="1000" dirty="0">
                <a:solidFill>
                  <a:srgbClr val="424442"/>
                </a:solidFill>
                <a:latin typeface="NSimSun"/>
                <a:cs typeface="NSimSun"/>
              </a:rPr>
              <a:t>发送在锁外进行（避免死锁）</a:t>
            </a:r>
            <a:endParaRPr sz="1000" dirty="0">
              <a:latin typeface="NSimSun"/>
              <a:cs typeface="NSimSun"/>
            </a:endParaRPr>
          </a:p>
          <a:p>
            <a:pPr marL="1009015" marR="1144905" indent="-285115">
              <a:lnSpc>
                <a:spcPct val="137500"/>
              </a:lnSpc>
              <a:spcBef>
                <a:spcPts val="75"/>
              </a:spcBef>
            </a:pPr>
            <a:r>
              <a:rPr sz="1000" dirty="0">
                <a:solidFill>
                  <a:srgbClr val="A61C5C"/>
                </a:solidFill>
                <a:latin typeface="Consolas"/>
                <a:cs typeface="Consolas"/>
              </a:rPr>
              <a:t>if </a:t>
            </a:r>
            <a:r>
              <a:rPr sz="1000" dirty="0">
                <a:latin typeface="Consolas"/>
                <a:cs typeface="Consolas"/>
              </a:rPr>
              <a:t>target_port </a:t>
            </a:r>
            <a:r>
              <a:rPr sz="1000" dirty="0">
                <a:solidFill>
                  <a:srgbClr val="A61C5C"/>
                </a:solidFill>
                <a:latin typeface="Consolas"/>
                <a:cs typeface="Consolas"/>
              </a:rPr>
              <a:t>is not </a:t>
            </a:r>
            <a:r>
              <a:rPr sz="1000" dirty="0">
                <a:solidFill>
                  <a:srgbClr val="0086B3"/>
                </a:solidFill>
                <a:latin typeface="Consolas"/>
                <a:cs typeface="Consolas"/>
              </a:rPr>
              <a:t>None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: </a:t>
            </a:r>
            <a:r>
              <a:rPr sz="1000" dirty="0">
                <a:latin typeface="Consolas"/>
                <a:cs typeface="Consolas"/>
              </a:rPr>
              <a:t>self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.</a:t>
            </a:r>
            <a:r>
              <a:rPr sz="1000" dirty="0">
                <a:latin typeface="Consolas"/>
                <a:cs typeface="Consolas"/>
              </a:rPr>
              <a:t>_send_to_port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(</a:t>
            </a:r>
            <a:r>
              <a:rPr sz="1000" dirty="0">
                <a:latin typeface="Consolas"/>
                <a:cs typeface="Consolas"/>
              </a:rPr>
              <a:t>target_port</a:t>
            </a:r>
            <a:r>
              <a:rPr sz="1000" dirty="0">
                <a:solidFill>
                  <a:srgbClr val="333333"/>
                </a:solidFill>
                <a:latin typeface="Consolas"/>
                <a:cs typeface="Consolas"/>
              </a:rPr>
              <a:t>, </a:t>
            </a:r>
            <a:r>
              <a:rPr sz="1000" dirty="0">
                <a:latin typeface="Consolas"/>
                <a:cs typeface="Consolas"/>
              </a:rPr>
              <a:t>frame</a:t>
            </a:r>
            <a:r>
              <a:rPr sz="1000" dirty="0" smtClean="0">
                <a:solidFill>
                  <a:srgbClr val="333333"/>
                </a:solidFill>
                <a:latin typeface="Consolas"/>
                <a:cs typeface="Consolas"/>
              </a:rPr>
              <a:t>)</a:t>
            </a:r>
            <a:endParaRPr sz="1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00" dirty="0">
              <a:latin typeface="Consolas"/>
              <a:cs typeface="Consolas"/>
            </a:endParaRPr>
          </a:p>
          <a:p>
            <a:pPr marL="317500" indent="-169545" algn="just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sz="1350" b="1" dirty="0" err="1">
                <a:latin typeface="Microsoft JhengHei"/>
                <a:cs typeface="Microsoft JhengHei"/>
              </a:rPr>
              <a:t>使⽤</a:t>
            </a:r>
            <a:r>
              <a:rPr sz="1350" b="1" dirty="0" err="1" smtClean="0">
                <a:latin typeface="Microsoft JhengHei"/>
                <a:cs typeface="Microsoft JhengHei"/>
              </a:rPr>
              <a:t>消息队列解耦</a:t>
            </a:r>
            <a:endParaRPr lang="en-US" sz="1350" b="1" dirty="0" smtClean="0">
              <a:latin typeface="Microsoft JhengHei"/>
              <a:cs typeface="Microsoft JhengHei"/>
            </a:endParaRPr>
          </a:p>
          <a:p>
            <a:pPr marL="433705" indent="-285750" algn="just">
              <a:lnSpc>
                <a:spcPct val="100000"/>
              </a:lnSpc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主机</a:t>
            </a:r>
            <a:r>
              <a:rPr lang="zh-CN" altLang="en-US" sz="1200" dirty="0">
                <a:solidFill>
                  <a:srgbClr val="333333"/>
                </a:solidFill>
                <a:latin typeface="Arial MT"/>
                <a:cs typeface="Arial MT"/>
              </a:rPr>
              <a:t>→</a:t>
            </a:r>
            <a:r>
              <a:rPr lang="zh-CN" altLang="en-US"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交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lang="zh-CN" altLang="en-US"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机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通过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Queue</a:t>
            </a:r>
            <a:r>
              <a:rPr lang="zh-CN" altLang="en-US"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递</a:t>
            </a:r>
            <a:r>
              <a:rPr lang="zh-CN" altLang="en-US"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帧</a:t>
            </a:r>
            <a:endParaRPr lang="en-US" altLang="zh-CN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 algn="just">
              <a:lnSpc>
                <a:spcPct val="100000"/>
              </a:lnSpc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交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机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→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主机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通过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Queue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传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递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帧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 algn="just">
              <a:lnSpc>
                <a:spcPct val="100000"/>
              </a:lnSpc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避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免直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接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函数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sz="135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⽤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的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阻塞问题</a:t>
            </a:r>
            <a:endParaRPr lang="en-US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317500" indent="-169545" algn="just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4"/>
              <a:tabLst>
                <a:tab pos="317500" algn="l"/>
              </a:tabLst>
            </a:pPr>
            <a:r>
              <a:rPr lang="zh-CN" altLang="en-US" sz="1350" b="1" dirty="0">
                <a:latin typeface="Microsoft JhengHei"/>
                <a:cs typeface="Microsoft JhengHei"/>
              </a:rPr>
              <a:t>测试并发</a:t>
            </a:r>
            <a:r>
              <a:rPr lang="zh-CN" altLang="en-US" sz="1350" b="1" dirty="0" smtClean="0">
                <a:latin typeface="Malgun Gothic"/>
                <a:cs typeface="Malgun Gothic"/>
              </a:rPr>
              <a:t>正</a:t>
            </a:r>
            <a:r>
              <a:rPr lang="zh-CN" altLang="en-US" sz="1350" b="1" dirty="0" smtClean="0">
                <a:latin typeface="Microsoft JhengHei"/>
                <a:cs typeface="Microsoft JhengHei"/>
              </a:rPr>
              <a:t>确性</a:t>
            </a:r>
            <a:endParaRPr lang="en-US" altLang="zh-CN" sz="1350" b="1" dirty="0" smtClean="0">
              <a:latin typeface="Microsoft JhengHei"/>
              <a:cs typeface="Microsoft JhengHei"/>
            </a:endParaRPr>
          </a:p>
          <a:p>
            <a:pPr marL="433705" indent="-285750" algn="just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350" dirty="0" smtClean="0">
                <a:solidFill>
                  <a:srgbClr val="333333"/>
                </a:solidFill>
                <a:latin typeface="SimSun"/>
                <a:cs typeface="SimSun"/>
              </a:rPr>
              <a:t>主机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同时发送</a:t>
            </a:r>
            <a:r>
              <a:rPr lang="en-US" altLang="zh-CN" sz="1350" dirty="0">
                <a:solidFill>
                  <a:srgbClr val="333333"/>
                </a:solidFill>
                <a:latin typeface="SimSun"/>
                <a:cs typeface="SimSun"/>
              </a:rPr>
              <a:t>12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条</a:t>
            </a:r>
            <a:r>
              <a:rPr lang="zh-CN" altLang="en-US" sz="1350" dirty="0" smtClean="0">
                <a:solidFill>
                  <a:srgbClr val="333333"/>
                </a:solidFill>
                <a:latin typeface="SimSun"/>
                <a:cs typeface="SimSun"/>
              </a:rPr>
              <a:t>消息</a:t>
            </a:r>
            <a:endParaRPr lang="en-US" altLang="zh-CN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 algn="just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350" dirty="0" smtClean="0">
                <a:solidFill>
                  <a:srgbClr val="333333"/>
                </a:solidFill>
                <a:latin typeface="SimSun"/>
                <a:cs typeface="SimSun"/>
              </a:rPr>
              <a:t>验证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⽆消息丢失、⽆重复</a:t>
            </a:r>
            <a:r>
              <a:rPr lang="zh-CN" altLang="en-US" sz="1350" dirty="0" smtClean="0">
                <a:solidFill>
                  <a:srgbClr val="333333"/>
                </a:solidFill>
                <a:latin typeface="SimSun"/>
                <a:cs typeface="SimSun"/>
              </a:rPr>
              <a:t>接收</a:t>
            </a:r>
            <a:endParaRPr lang="en-US" altLang="zh-CN" sz="135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 algn="just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350" dirty="0" smtClean="0">
                <a:solidFill>
                  <a:srgbClr val="333333"/>
                </a:solidFill>
                <a:latin typeface="SimSun"/>
                <a:cs typeface="SimSun"/>
              </a:rPr>
              <a:t>压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⼒测试</a:t>
            </a:r>
            <a:r>
              <a:rPr lang="en-US" altLang="zh-CN" sz="1350" dirty="0">
                <a:solidFill>
                  <a:srgbClr val="333333"/>
                </a:solidFill>
                <a:latin typeface="SimSun"/>
                <a:cs typeface="SimSun"/>
              </a:rPr>
              <a:t>: 100</a:t>
            </a:r>
            <a:r>
              <a:rPr lang="zh-CN" altLang="en-US" sz="1350" dirty="0">
                <a:solidFill>
                  <a:srgbClr val="333333"/>
                </a:solidFill>
                <a:latin typeface="SimSun"/>
                <a:cs typeface="SimSun"/>
              </a:rPr>
              <a:t>主机</a:t>
            </a:r>
            <a:r>
              <a:rPr lang="en-US" altLang="zh-CN" sz="1350" dirty="0">
                <a:solidFill>
                  <a:srgbClr val="333333"/>
                </a:solidFill>
                <a:latin typeface="SimSun"/>
                <a:cs typeface="SimSun"/>
              </a:rPr>
              <a:t>×100</a:t>
            </a:r>
            <a:r>
              <a:rPr lang="zh-CN" altLang="en-US" sz="1350" dirty="0" smtClean="0">
                <a:solidFill>
                  <a:srgbClr val="333333"/>
                </a:solidFill>
                <a:latin typeface="SimSun"/>
                <a:cs typeface="SimSun"/>
              </a:rPr>
              <a:t>消息</a:t>
            </a:r>
            <a:endParaRPr sz="1350" dirty="0">
              <a:latin typeface="SimSun"/>
              <a:cs typeface="SimSun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63588" y="1356450"/>
            <a:ext cx="2829490" cy="116955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00" b="1" dirty="0" smtClean="0">
                <a:solidFill>
                  <a:schemeClr val="accent2"/>
                </a:solidFill>
                <a:latin typeface="SimSun"/>
                <a:cs typeface="SimSun"/>
              </a:rPr>
              <a:t>效果</a:t>
            </a:r>
            <a:r>
              <a:rPr lang="zh-CN" altLang="en-US" sz="1400" dirty="0" smtClean="0">
                <a:solidFill>
                  <a:srgbClr val="333333"/>
                </a:solidFill>
                <a:latin typeface="SimSun"/>
                <a:cs typeface="SimSun"/>
              </a:rPr>
              <a:t>：</a:t>
            </a:r>
            <a:endParaRPr lang="en-US" altLang="zh-CN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333333"/>
                </a:solidFill>
                <a:latin typeface="SimSun"/>
                <a:cs typeface="SimSun"/>
              </a:rPr>
              <a:t>消除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了所有竞态条件和</a:t>
            </a:r>
            <a:r>
              <a:rPr lang="zh-CN" altLang="en-US"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死锁</a:t>
            </a:r>
            <a:endParaRPr lang="en-US" altLang="zh-CN" sz="14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并发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线性</a:t>
            </a:r>
            <a:r>
              <a:rPr lang="zh-CN" altLang="en-US"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扩展</a:t>
            </a:r>
            <a:endParaRPr lang="en-US" altLang="zh-CN" sz="14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 smtClean="0">
                <a:solidFill>
                  <a:srgbClr val="333333"/>
                </a:solidFill>
                <a:latin typeface="Arial MT"/>
                <a:cs typeface="Arial MT"/>
              </a:rPr>
              <a:t>12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条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消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息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0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丢失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lang="en-US" altLang="zh-CN" sz="1200" dirty="0">
                <a:solidFill>
                  <a:srgbClr val="333333"/>
                </a:solidFill>
                <a:latin typeface="Arial MT"/>
                <a:cs typeface="Arial MT"/>
              </a:rPr>
              <a:t>0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lang="zh-CN" altLang="en-US" sz="1400" dirty="0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endParaRPr lang="zh-CN" altLang="en-US" sz="1400" dirty="0">
              <a:latin typeface="SimSun"/>
              <a:cs typeface="SimSun"/>
            </a:endParaRPr>
          </a:p>
          <a:p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8722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042334" y="296813"/>
            <a:ext cx="6304047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dirty="0" smtClean="0">
                <a:latin typeface="Malgun Gothic"/>
                <a:cs typeface="Malgun Gothic"/>
              </a:rPr>
              <a:t>遇到挑战 </a:t>
            </a:r>
            <a:r>
              <a:rPr lang="en-US" altLang="zh-CN" sz="4400" dirty="0" smtClean="0">
                <a:latin typeface="Malgun Gothic"/>
                <a:cs typeface="Malgun Gothic"/>
              </a:rPr>
              <a:t>&amp;&amp; </a:t>
            </a:r>
            <a:r>
              <a:rPr lang="zh-CN" altLang="en-US" sz="4400" dirty="0" smtClean="0">
                <a:latin typeface="Malgun Gothic"/>
                <a:cs typeface="Malgun Gothic"/>
              </a:rPr>
              <a:t>解决方案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5" name="object 19"/>
          <p:cNvSpPr txBox="1"/>
          <p:nvPr/>
        </p:nvSpPr>
        <p:spPr>
          <a:xfrm>
            <a:off x="1049153" y="1300208"/>
            <a:ext cx="3619099" cy="54489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2000" b="1" dirty="0" smtClean="0">
                <a:latin typeface="Microsoft JhengHei"/>
                <a:cs typeface="Microsoft JhengHei"/>
              </a:rPr>
              <a:t> </a:t>
            </a:r>
            <a:r>
              <a:rPr sz="2000" b="1" dirty="0" smtClean="0">
                <a:latin typeface="Microsoft JhengHei"/>
                <a:cs typeface="Microsoft JhengHei"/>
              </a:rPr>
              <a:t>挑战</a:t>
            </a:r>
            <a:r>
              <a:rPr lang="en-US" sz="2000" b="1" dirty="0" smtClean="0">
                <a:latin typeface="Microsoft JhengHei"/>
                <a:cs typeface="Microsoft JhengHei"/>
              </a:rPr>
              <a:t>6</a:t>
            </a:r>
            <a:r>
              <a:rPr sz="1800" b="1" dirty="0" smtClean="0">
                <a:latin typeface="Arial"/>
                <a:cs typeface="Arial"/>
              </a:rPr>
              <a:t>: </a:t>
            </a:r>
            <a:r>
              <a:rPr lang="en-US" altLang="zh-CN" b="1" spc="-20" dirty="0">
                <a:cs typeface="Arial"/>
              </a:rPr>
              <a:t>HTTP</a:t>
            </a:r>
            <a:r>
              <a:rPr lang="zh-CN" altLang="en-US" sz="2000" b="1" spc="-200" dirty="0">
                <a:latin typeface="Microsoft JhengHei"/>
                <a:cs typeface="Microsoft JhengHei"/>
              </a:rPr>
              <a:t>协议解析</a:t>
            </a:r>
            <a:r>
              <a:rPr lang="zh-CN" altLang="en-US" sz="2000" b="1" spc="-200" dirty="0">
                <a:latin typeface="Malgun Gothic"/>
                <a:cs typeface="Malgun Gothic"/>
              </a:rPr>
              <a:t>的</a:t>
            </a:r>
            <a:r>
              <a:rPr lang="zh-CN" altLang="en-US" sz="2000" b="1" spc="-200" dirty="0">
                <a:latin typeface="Microsoft JhengHei"/>
                <a:cs typeface="Microsoft JhengHei"/>
              </a:rPr>
              <a:t>边界</a:t>
            </a:r>
            <a:r>
              <a:rPr lang="zh-CN" altLang="en-US" sz="2000" b="1" spc="-200" dirty="0" smtClean="0">
                <a:latin typeface="Malgun Gothic"/>
                <a:cs typeface="Malgun Gothic"/>
              </a:rPr>
              <a:t>情</a:t>
            </a:r>
            <a:r>
              <a:rPr lang="zh-CN" altLang="en-US" sz="2000" b="1" spc="-50" dirty="0" smtClean="0">
                <a:latin typeface="Microsoft JhengHei"/>
                <a:cs typeface="Microsoft JhengHei"/>
              </a:rPr>
              <a:t>况</a:t>
            </a:r>
            <a:endParaRPr lang="en-US" altLang="zh-CN" sz="2000" b="1" spc="-50" dirty="0" smtClean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1350" b="1" dirty="0" smtClean="0">
                <a:solidFill>
                  <a:schemeClr val="accent2"/>
                </a:solidFill>
                <a:latin typeface="Microsoft JhengHei"/>
                <a:cs typeface="Microsoft JhengHei"/>
              </a:rPr>
              <a:t> </a:t>
            </a:r>
            <a:r>
              <a:rPr sz="1350" b="1" dirty="0" err="1" smtClean="0">
                <a:solidFill>
                  <a:schemeClr val="accent2"/>
                </a:solidFill>
                <a:latin typeface="Microsoft JhengHei"/>
                <a:cs typeface="Microsoft JhengHei"/>
              </a:rPr>
              <a:t>问题</a:t>
            </a:r>
            <a:r>
              <a:rPr sz="1350" b="1" dirty="0" err="1" smtClean="0">
                <a:solidFill>
                  <a:schemeClr val="accent2"/>
                </a:solidFill>
                <a:latin typeface="Malgun Gothic"/>
                <a:cs typeface="Malgun Gothic"/>
              </a:rPr>
              <a:t>描</a:t>
            </a:r>
            <a:r>
              <a:rPr sz="1350" b="1" dirty="0" err="1" smtClean="0">
                <a:solidFill>
                  <a:schemeClr val="accent2"/>
                </a:solidFill>
                <a:latin typeface="Microsoft JhengHei"/>
                <a:cs typeface="Microsoft JhengHei"/>
              </a:rPr>
              <a:t>述</a:t>
            </a:r>
            <a:r>
              <a:rPr sz="1200" dirty="0">
                <a:solidFill>
                  <a:schemeClr val="accent2"/>
                </a:solidFill>
                <a:latin typeface="Arial MT"/>
                <a:cs typeface="Arial MT"/>
              </a:rPr>
              <a:t>:</a:t>
            </a:r>
          </a:p>
          <a:p>
            <a:pPr marL="12700">
              <a:spcBef>
                <a:spcPts val="1530"/>
              </a:spcBef>
            </a:pPr>
            <a:r>
              <a:rPr lang="zh-CN" altLang="en-US" sz="1400" spc="-170" dirty="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lang="zh-CN" altLang="en-US" sz="14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lang="zh-CN" altLang="en-US" sz="1400" spc="-170" dirty="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lang="en-US" altLang="zh-CN" sz="1400" spc="-10" dirty="0">
                <a:solidFill>
                  <a:srgbClr val="333333"/>
                </a:solidFill>
                <a:latin typeface="Arial MT"/>
                <a:cs typeface="Arial MT"/>
              </a:rPr>
              <a:t>HTTP</a:t>
            </a:r>
            <a:r>
              <a:rPr lang="zh-CN" altLang="en-US" sz="14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lang="zh-CN" altLang="en-US" sz="1400" spc="-170" dirty="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r>
              <a:rPr lang="zh-CN" altLang="en-US" sz="14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lang="zh-CN" altLang="en-US" sz="1400" spc="-17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lang="zh-CN" altLang="en-US" sz="14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简单的字符串分割⽆</a:t>
            </a:r>
            <a:r>
              <a:rPr lang="zh-CN" altLang="en-US" sz="1400" spc="-170" dirty="0">
                <a:solidFill>
                  <a:srgbClr val="333333"/>
                </a:solidFill>
                <a:latin typeface="SimSun"/>
                <a:cs typeface="SimSun"/>
              </a:rPr>
              <a:t>法</a:t>
            </a:r>
            <a:r>
              <a:rPr lang="zh-CN" altLang="en-US" sz="14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处</a:t>
            </a:r>
            <a:r>
              <a:rPr lang="zh-CN" altLang="en-US" sz="1400" spc="-110" dirty="0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lang="zh-CN" altLang="en-US" sz="1400" spc="-110" dirty="0" smtClean="0">
                <a:solidFill>
                  <a:srgbClr val="333333"/>
                </a:solidFill>
                <a:latin typeface="SimSun"/>
                <a:cs typeface="SimSun"/>
              </a:rPr>
              <a:t>：</a:t>
            </a:r>
            <a:endParaRPr lang="en-US" altLang="zh-CN" sz="1400" spc="-110" dirty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spc="-17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多</a:t>
            </a:r>
            <a:r>
              <a:rPr lang="zh-CN" altLang="en-US" sz="14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⾏头</a:t>
            </a:r>
            <a:r>
              <a:rPr lang="zh-CN" altLang="en-US" sz="1400" spc="-50" dirty="0">
                <a:solidFill>
                  <a:srgbClr val="333333"/>
                </a:solidFill>
                <a:latin typeface="SimSun"/>
                <a:cs typeface="SimSun"/>
              </a:rPr>
              <a:t>部 </a:t>
            </a:r>
            <a:r>
              <a:rPr lang="zh-CN" altLang="en-US" sz="1400" spc="-170" dirty="0">
                <a:solidFill>
                  <a:srgbClr val="333333"/>
                </a:solidFill>
                <a:latin typeface="SimSun"/>
                <a:cs typeface="SimSun"/>
              </a:rPr>
              <a:t>空</a:t>
            </a:r>
            <a:r>
              <a:rPr lang="zh-CN" altLang="en-US" sz="14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⾏</a:t>
            </a:r>
            <a:r>
              <a:rPr lang="zh-CN" altLang="en-US" sz="1400" spc="-17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分</a:t>
            </a:r>
            <a:r>
              <a:rPr lang="zh-CN" altLang="en-US" sz="1400" spc="-170" dirty="0" smtClean="0">
                <a:solidFill>
                  <a:srgbClr val="333333"/>
                </a:solidFill>
                <a:latin typeface="SimSun"/>
                <a:cs typeface="SimSun"/>
              </a:rPr>
              <a:t>隔</a:t>
            </a:r>
            <a:r>
              <a:rPr lang="zh-CN" altLang="en-US" sz="1400" spc="-14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符</a:t>
            </a:r>
            <a:endParaRPr lang="en-US" altLang="zh-CN" sz="1400" spc="-14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spc="-170" dirty="0" smtClean="0">
                <a:solidFill>
                  <a:srgbClr val="333333"/>
                </a:solidFill>
                <a:latin typeface="SimSun"/>
                <a:cs typeface="SimSun"/>
              </a:rPr>
              <a:t>请</a:t>
            </a:r>
            <a:r>
              <a:rPr lang="zh-CN" altLang="en-US" sz="1400" spc="-17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求</a:t>
            </a:r>
            <a:r>
              <a:rPr lang="zh-CN" altLang="en-US" sz="14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体可</a:t>
            </a:r>
            <a:r>
              <a:rPr lang="zh-CN" altLang="en-US" sz="1400" spc="-170" dirty="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lang="zh-CN" altLang="en-US" sz="1400" spc="-150" dirty="0">
                <a:solidFill>
                  <a:srgbClr val="333333"/>
                </a:solidFill>
                <a:latin typeface="Microsoft JhengHei"/>
                <a:cs typeface="Microsoft JhengHei"/>
              </a:rPr>
              <a:t>包含</a:t>
            </a:r>
            <a:r>
              <a:rPr lang="zh-CN" altLang="en-US" sz="1400" spc="-1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特殊字符</a:t>
            </a:r>
            <a:endParaRPr lang="en-US" altLang="zh-CN" sz="1400" spc="-1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solidFill>
                  <a:srgbClr val="333333"/>
                </a:solidFill>
                <a:latin typeface="Arial MT"/>
                <a:cs typeface="Arial MT"/>
              </a:rPr>
              <a:t>Content-Length</a:t>
            </a:r>
            <a:r>
              <a:rPr lang="zh-CN" altLang="en-US" sz="1400" spc="-170" dirty="0">
                <a:solidFill>
                  <a:srgbClr val="333333"/>
                </a:solidFill>
                <a:latin typeface="Microsoft JhengHei"/>
                <a:cs typeface="Microsoft JhengHei"/>
              </a:rPr>
              <a:t>不匹</a:t>
            </a:r>
            <a:r>
              <a:rPr lang="zh-CN" altLang="en-US" sz="1400" spc="-50" dirty="0">
                <a:solidFill>
                  <a:srgbClr val="333333"/>
                </a:solidFill>
                <a:latin typeface="SimSun"/>
                <a:cs typeface="SimSun"/>
              </a:rPr>
              <a:t>配</a:t>
            </a:r>
            <a:endParaRPr lang="zh-CN" altLang="en-US" sz="14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lang="en-US" sz="1350" b="1" dirty="0" smtClean="0">
                <a:solidFill>
                  <a:schemeClr val="accent2"/>
                </a:solidFill>
                <a:latin typeface="Microsoft JhengHei"/>
                <a:cs typeface="Microsoft JhengHei"/>
              </a:rPr>
              <a:t> </a:t>
            </a:r>
            <a:r>
              <a:rPr sz="1350" b="1" dirty="0" err="1" smtClean="0">
                <a:solidFill>
                  <a:schemeClr val="accent2"/>
                </a:solidFill>
                <a:latin typeface="Microsoft JhengHei"/>
                <a:cs typeface="Microsoft JhengHei"/>
              </a:rPr>
              <a:t>解决</a:t>
            </a:r>
            <a:r>
              <a:rPr sz="1350" b="1" dirty="0" err="1">
                <a:solidFill>
                  <a:schemeClr val="accent2"/>
                </a:solidFill>
                <a:latin typeface="Microsoft JhengHei"/>
                <a:cs typeface="Microsoft JhengHei"/>
              </a:rPr>
              <a:t>⽅案</a:t>
            </a:r>
            <a:r>
              <a:rPr sz="1200" dirty="0">
                <a:solidFill>
                  <a:schemeClr val="accent2"/>
                </a:solidFill>
                <a:latin typeface="Arial MT"/>
                <a:cs typeface="Arial MT"/>
              </a:rPr>
              <a:t>: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00" dirty="0">
              <a:latin typeface="Arial MT"/>
              <a:cs typeface="Arial MT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lang="zh-CN" altLang="en-US" sz="1600" b="1" spc="-170" dirty="0">
                <a:latin typeface="Microsoft JhengHei"/>
                <a:cs typeface="Microsoft JhengHei"/>
              </a:rPr>
              <a:t>规</a:t>
            </a:r>
            <a:r>
              <a:rPr lang="zh-CN" altLang="en-US" sz="1600" b="1" spc="-170" dirty="0">
                <a:latin typeface="Malgun Gothic"/>
                <a:cs typeface="Malgun Gothic"/>
              </a:rPr>
              <a:t>范的</a:t>
            </a:r>
            <a:r>
              <a:rPr lang="en-US" altLang="zh-CN" sz="1400" b="1" spc="-10" dirty="0">
                <a:cs typeface="Arial"/>
              </a:rPr>
              <a:t>HTTP</a:t>
            </a:r>
            <a:r>
              <a:rPr lang="zh-CN" altLang="en-US" sz="1600" b="1" spc="-170" dirty="0">
                <a:latin typeface="Microsoft JhengHei"/>
                <a:cs typeface="Microsoft JhengHei"/>
              </a:rPr>
              <a:t>解析</a:t>
            </a:r>
            <a:r>
              <a:rPr lang="zh-CN" altLang="en-US" sz="1600" b="1" spc="-50" dirty="0" smtClean="0">
                <a:latin typeface="Malgun Gothic"/>
                <a:cs typeface="Malgun Gothic"/>
              </a:rPr>
              <a:t>器</a:t>
            </a:r>
            <a:endParaRPr lang="en-US" altLang="zh-CN" sz="1600" b="1" spc="-50" dirty="0" smtClean="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endParaRPr lang="en-US" altLang="zh-CN" sz="1200" b="1" spc="-50" dirty="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endParaRPr lang="en-US" altLang="zh-CN" sz="1200" b="1" spc="-50" dirty="0" smtClean="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endParaRPr lang="en-US" altLang="zh-CN" sz="1200" b="1" spc="-50" dirty="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endParaRPr lang="en-US" altLang="zh-CN" sz="1200" b="1" spc="-50" dirty="0" smtClean="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endParaRPr lang="en-US" altLang="zh-CN" sz="1200" b="1" spc="-50" dirty="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endParaRPr lang="en-US" altLang="zh-CN" sz="1200" b="1" spc="-50" dirty="0" smtClean="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endParaRPr lang="en-US" altLang="zh-CN" sz="1200" b="1" spc="-50" dirty="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endParaRPr lang="en-US" altLang="zh-CN" sz="1200" b="1" spc="-50" dirty="0" smtClean="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endParaRPr lang="en-US" altLang="zh-CN" sz="1200" b="1" spc="-50" dirty="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endParaRPr lang="en-US" altLang="zh-CN" sz="1200" b="1" spc="-50" dirty="0" smtClean="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endParaRPr lang="en-US" altLang="zh-CN" sz="1200" b="1" spc="-50" dirty="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endParaRPr lang="en-US" altLang="zh-CN" sz="1200" b="1" spc="-50" dirty="0" smtClean="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endParaRPr lang="en-US" altLang="zh-CN" sz="1200" b="1" spc="-50" dirty="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endParaRPr lang="zh-CN" altLang="en-US" sz="1200" dirty="0">
              <a:latin typeface="Malgun Gothic"/>
              <a:cs typeface="Malgun Gothic"/>
            </a:endParaRPr>
          </a:p>
          <a:p>
            <a:pPr marL="147955">
              <a:lnSpc>
                <a:spcPct val="100000"/>
              </a:lnSpc>
            </a:pPr>
            <a:endParaRPr sz="1350" dirty="0">
              <a:latin typeface="Microsoft JhengHei"/>
              <a:cs typeface="Microsoft JhengHei"/>
            </a:endParaRPr>
          </a:p>
        </p:txBody>
      </p:sp>
      <p:sp>
        <p:nvSpPr>
          <p:cNvPr id="6" name="object 11"/>
          <p:cNvSpPr txBox="1"/>
          <p:nvPr/>
        </p:nvSpPr>
        <p:spPr>
          <a:xfrm>
            <a:off x="5496610" y="1300208"/>
            <a:ext cx="4812297" cy="230511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317500" indent="-169545">
              <a:lnSpc>
                <a:spcPct val="150000"/>
              </a:lnSpc>
              <a:buClr>
                <a:srgbClr val="333333"/>
              </a:buClr>
              <a:buFont typeface="Arial MT"/>
              <a:buAutoNum type="arabicPeriod" startAt="2"/>
              <a:tabLst>
                <a:tab pos="317500" algn="l"/>
              </a:tabLst>
            </a:pPr>
            <a:r>
              <a:rPr lang="en-US" altLang="zh-CN" sz="1400" b="1" dirty="0">
                <a:cs typeface="Arial"/>
              </a:rPr>
              <a:t>Content-Length</a:t>
            </a:r>
            <a:r>
              <a:rPr lang="zh-CN" altLang="en-US" sz="1600" b="1" dirty="0" smtClean="0">
                <a:latin typeface="Microsoft JhengHei"/>
                <a:cs typeface="Microsoft JhengHei"/>
              </a:rPr>
              <a:t>验证</a:t>
            </a:r>
            <a:endParaRPr lang="en-US" altLang="zh-CN" sz="1600" b="1" dirty="0" smtClean="0">
              <a:latin typeface="Microsoft JhengHei"/>
              <a:cs typeface="Microsoft JhengHei"/>
            </a:endParaRPr>
          </a:p>
          <a:p>
            <a:pPr marL="433705" indent="-285750">
              <a:lnSpc>
                <a:spcPct val="150000"/>
              </a:lnSpc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根据</a:t>
            </a:r>
            <a:r>
              <a:rPr lang="en-US" altLang="zh-CN" sz="1400" dirty="0">
                <a:solidFill>
                  <a:srgbClr val="333333"/>
                </a:solidFill>
                <a:latin typeface="Arial MT"/>
                <a:cs typeface="Arial MT"/>
              </a:rPr>
              <a:t>Content-Length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头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确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定主体⻓</a:t>
            </a:r>
            <a:r>
              <a:rPr lang="zh-CN" altLang="en-US"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度</a:t>
            </a:r>
            <a:endParaRPr lang="en-US" altLang="zh-CN" sz="16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lnSpc>
                <a:spcPct val="150000"/>
              </a:lnSpc>
              <a:buClr>
                <a:srgbClr val="333333"/>
              </a:buClr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避</a:t>
            </a:r>
            <a:r>
              <a:rPr lang="zh-CN" altLang="en-US"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免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截断或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读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取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过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多数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据</a:t>
            </a:r>
            <a:endParaRPr lang="zh-CN" altLang="en-US" sz="1600" dirty="0">
              <a:latin typeface="SimSun"/>
              <a:cs typeface="SimSun"/>
            </a:endParaRPr>
          </a:p>
          <a:p>
            <a:pPr marL="317500" indent="-169545">
              <a:lnSpc>
                <a:spcPct val="150000"/>
              </a:lnSpc>
              <a:spcBef>
                <a:spcPts val="210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317500" algn="l"/>
              </a:tabLst>
            </a:pPr>
            <a:r>
              <a:rPr lang="zh-CN" altLang="en-US" sz="1600" b="1" dirty="0" smtClean="0">
                <a:latin typeface="Microsoft JhengHei"/>
                <a:cs typeface="Microsoft JhengHei"/>
              </a:rPr>
              <a:t>异常处</a:t>
            </a:r>
            <a:r>
              <a:rPr lang="zh-CN" altLang="en-US" sz="1600" b="1" dirty="0" smtClean="0">
                <a:latin typeface="Malgun Gothic"/>
                <a:cs typeface="Malgun Gothic"/>
              </a:rPr>
              <a:t>理</a:t>
            </a:r>
            <a:endParaRPr lang="en-US" altLang="zh-CN" sz="1600" b="1" dirty="0" smtClean="0">
              <a:latin typeface="Malgun Gothic"/>
              <a:cs typeface="Malgun Gothic"/>
            </a:endParaRPr>
          </a:p>
          <a:p>
            <a:pPr marL="319405" indent="-171450">
              <a:lnSpc>
                <a:spcPct val="150000"/>
              </a:lnSpc>
              <a:spcBef>
                <a:spcPts val="21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捕获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解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析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异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常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，返回</a:t>
            </a:r>
            <a:r>
              <a:rPr lang="en-US" altLang="zh-CN" sz="1400" dirty="0">
                <a:solidFill>
                  <a:srgbClr val="333333"/>
                </a:solidFill>
                <a:latin typeface="Arial MT"/>
                <a:cs typeface="Arial MT"/>
              </a:rPr>
              <a:t>400</a:t>
            </a:r>
            <a:r>
              <a:rPr lang="zh-CN" altLang="en-US" sz="14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lang="en-US" altLang="zh-CN" sz="1400" dirty="0">
                <a:solidFill>
                  <a:srgbClr val="333333"/>
                </a:solidFill>
                <a:latin typeface="Arial MT"/>
                <a:cs typeface="Arial MT"/>
              </a:rPr>
              <a:t>Bad </a:t>
            </a:r>
            <a:r>
              <a:rPr lang="en-US" altLang="zh-CN" sz="1400" dirty="0" smtClean="0">
                <a:solidFill>
                  <a:srgbClr val="333333"/>
                </a:solidFill>
                <a:latin typeface="Arial MT"/>
                <a:cs typeface="Arial MT"/>
              </a:rPr>
              <a:t>Request</a:t>
            </a:r>
          </a:p>
          <a:p>
            <a:pPr marL="319405" indent="-171450">
              <a:lnSpc>
                <a:spcPct val="150000"/>
              </a:lnSpc>
              <a:spcBef>
                <a:spcPts val="21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记录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误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⽇志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便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于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调试</a:t>
            </a:r>
            <a:endParaRPr lang="zh-CN" altLang="en-US" sz="1600" dirty="0">
              <a:latin typeface="SimSun"/>
              <a:cs typeface="SimSun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96610" y="3839280"/>
            <a:ext cx="2819617" cy="9079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chemeClr val="accent2"/>
                </a:solidFill>
                <a:latin typeface="SimSun"/>
                <a:cs typeface="SimSun"/>
              </a:rPr>
              <a:t>效果</a:t>
            </a: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：</a:t>
            </a:r>
            <a:endParaRPr lang="en-US" altLang="zh-CN" sz="16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latin typeface="SimSun"/>
                <a:cs typeface="SimSun"/>
              </a:rPr>
              <a:t>支持标准</a:t>
            </a:r>
            <a:r>
              <a:rPr lang="en-US" altLang="zh-CN" sz="1600" dirty="0" smtClean="0">
                <a:latin typeface="SimSun"/>
                <a:cs typeface="SimSun"/>
              </a:rPr>
              <a:t>HTTP /1.0</a:t>
            </a:r>
            <a:r>
              <a:rPr lang="zh-CN" altLang="en-US" sz="1600" dirty="0" smtClean="0">
                <a:latin typeface="SimSun"/>
                <a:cs typeface="SimSun"/>
              </a:rPr>
              <a:t>格式</a:t>
            </a:r>
            <a:endParaRPr lang="zh-CN" altLang="en-US" sz="1600" dirty="0">
              <a:latin typeface="SimSun"/>
              <a:cs typeface="SimSun"/>
            </a:endParaRPr>
          </a:p>
          <a:p>
            <a:endParaRPr lang="zh-CN" altLang="en-US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095" y="4024672"/>
            <a:ext cx="2362751" cy="257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7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746006" y="638547"/>
            <a:ext cx="320446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dirty="0" smtClean="0">
                <a:latin typeface="Malgun Gothic"/>
                <a:cs typeface="Malgun Gothic"/>
              </a:rPr>
              <a:t>项目成果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5" name="object 19"/>
          <p:cNvSpPr txBox="1"/>
          <p:nvPr/>
        </p:nvSpPr>
        <p:spPr>
          <a:xfrm>
            <a:off x="519764" y="2929870"/>
            <a:ext cx="3619099" cy="232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altLang="zh-CN" sz="2400" b="1" dirty="0">
                <a:solidFill>
                  <a:srgbClr val="000000"/>
                </a:solidFill>
                <a:cs typeface="Arial"/>
              </a:rPr>
              <a:t>Level</a:t>
            </a:r>
            <a:r>
              <a:rPr lang="zh-CN" altLang="en-US" sz="2400" b="1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cs typeface="Arial"/>
              </a:rPr>
              <a:t>1:</a:t>
            </a:r>
            <a:r>
              <a:rPr lang="zh-CN" altLang="en-US" sz="2400" b="1" dirty="0">
                <a:solidFill>
                  <a:srgbClr val="000000"/>
                </a:solidFill>
                <a:cs typeface="Arial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Malgun Gothic"/>
                <a:cs typeface="Malgun Gothic"/>
              </a:rPr>
              <a:t>点</a:t>
            </a:r>
            <a:r>
              <a:rPr lang="zh-CN" altLang="en-US" sz="2400" b="1" dirty="0">
                <a:solidFill>
                  <a:srgbClr val="000000"/>
                </a:solidFill>
                <a:latin typeface="Microsoft JhengHei"/>
                <a:cs typeface="Microsoft JhengHei"/>
              </a:rPr>
              <a:t>对</a:t>
            </a:r>
            <a:r>
              <a:rPr lang="zh-CN" altLang="en-US" sz="2400" b="1" dirty="0">
                <a:solidFill>
                  <a:srgbClr val="000000"/>
                </a:solidFill>
                <a:latin typeface="Malgun Gothic"/>
                <a:cs typeface="Malgun Gothic"/>
              </a:rPr>
              <a:t>点</a:t>
            </a:r>
            <a:r>
              <a:rPr lang="zh-CN" altLang="en-US" sz="2400" b="1" dirty="0">
                <a:solidFill>
                  <a:srgbClr val="000000"/>
                </a:solidFill>
                <a:latin typeface="Microsoft JhengHei"/>
                <a:cs typeface="Microsoft JhengHei"/>
              </a:rPr>
              <a:t>通信 </a:t>
            </a:r>
            <a:r>
              <a:rPr lang="zh-CN" altLang="en-US" sz="2400" b="1" dirty="0" smtClean="0">
                <a:solidFill>
                  <a:srgbClr val="000000"/>
                </a:solidFill>
                <a:latin typeface="Yu Gothic"/>
                <a:cs typeface="Yu Gothic"/>
              </a:rPr>
              <a:t>✓</a:t>
            </a:r>
            <a:endParaRPr lang="en-US" altLang="zh-CN" sz="2400" b="1" dirty="0" smtClean="0">
              <a:solidFill>
                <a:srgbClr val="000000"/>
              </a:solidFill>
              <a:latin typeface="Yu Gothic"/>
              <a:cs typeface="Yu Gothic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字符串</a:t>
            </a:r>
            <a:r>
              <a:rPr lang="en-US" altLang="zh-CN" sz="1600" dirty="0">
                <a:latin typeface="Arial MT"/>
                <a:cs typeface="Arial MT"/>
              </a:rPr>
              <a:t>/</a:t>
            </a:r>
            <a:r>
              <a:rPr lang="zh-CN" altLang="en-US" sz="1600" dirty="0"/>
              <a:t>⽐特</a:t>
            </a:r>
            <a:r>
              <a:rPr lang="zh-CN" altLang="en-US" sz="1600" dirty="0">
                <a:latin typeface="SimSun"/>
                <a:cs typeface="SimSun"/>
              </a:rPr>
              <a:t>转换</a:t>
            </a:r>
            <a:r>
              <a:rPr lang="zh-CN" altLang="en-US" sz="1600" dirty="0" smtClean="0"/>
              <a:t>机制</a:t>
            </a:r>
            <a:endParaRPr lang="en-US" altLang="zh-CN" sz="1600" dirty="0" smtClean="0"/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latin typeface="Arial MT"/>
                <a:cs typeface="Arial MT"/>
              </a:rPr>
              <a:t>OOK</a:t>
            </a:r>
            <a:r>
              <a:rPr lang="zh-CN" altLang="en-US" sz="1600" dirty="0">
                <a:latin typeface="SimSun"/>
                <a:cs typeface="SimSun"/>
              </a:rPr>
              <a:t>调</a:t>
            </a:r>
            <a:r>
              <a:rPr lang="zh-CN" altLang="en-US" sz="1600" dirty="0"/>
              <a:t>制与</a:t>
            </a:r>
            <a:r>
              <a:rPr lang="zh-CN" altLang="en-US" sz="1600" dirty="0" smtClean="0">
                <a:latin typeface="SimSun"/>
                <a:cs typeface="SimSun"/>
              </a:rPr>
              <a:t>解调</a:t>
            </a:r>
            <a:endParaRPr lang="en-US" altLang="zh-CN" sz="1600" dirty="0" smtClean="0"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物</a:t>
            </a:r>
            <a:r>
              <a:rPr lang="zh-CN" altLang="en-US" sz="1600" dirty="0" smtClean="0">
                <a:latin typeface="SimSun"/>
                <a:cs typeface="SimSun"/>
              </a:rPr>
              <a:t>理</a:t>
            </a:r>
            <a:r>
              <a:rPr lang="zh-CN" altLang="en-US" sz="1600" dirty="0">
                <a:latin typeface="SimSun"/>
                <a:cs typeface="SimSun"/>
              </a:rPr>
              <a:t>信道模拟（</a:t>
            </a:r>
            <a:r>
              <a:rPr lang="zh-CN" altLang="en-US" sz="1600" dirty="0"/>
              <a:t>衰减</a:t>
            </a:r>
            <a:r>
              <a:rPr lang="zh-CN" altLang="en-US" sz="1600" dirty="0">
                <a:latin typeface="SimSun"/>
                <a:cs typeface="SimSun"/>
              </a:rPr>
              <a:t>、噪</a:t>
            </a:r>
            <a:r>
              <a:rPr lang="zh-CN" altLang="en-US" sz="1600" dirty="0"/>
              <a:t>声</a:t>
            </a:r>
            <a:r>
              <a:rPr lang="zh-CN" altLang="en-US" sz="1600" dirty="0" smtClean="0">
                <a:latin typeface="SimSun"/>
                <a:cs typeface="SimSun"/>
              </a:rPr>
              <a:t>）</a:t>
            </a:r>
            <a:endParaRPr lang="en-US" altLang="zh-CN" sz="1600" dirty="0" smtClean="0"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⾃</a:t>
            </a:r>
            <a:r>
              <a:rPr lang="zh-CN" altLang="en-US" sz="1600" dirty="0">
                <a:latin typeface="SimSun"/>
                <a:cs typeface="SimSun"/>
              </a:rPr>
              <a:t>适</a:t>
            </a:r>
            <a:r>
              <a:rPr lang="zh-CN" altLang="en-US" sz="1600" dirty="0"/>
              <a:t>应</a:t>
            </a:r>
            <a:r>
              <a:rPr lang="zh-CN" altLang="en-US" sz="1600" dirty="0">
                <a:latin typeface="SimSun"/>
                <a:cs typeface="SimSun"/>
              </a:rPr>
              <a:t>阈值</a:t>
            </a:r>
            <a:r>
              <a:rPr lang="zh-CN" altLang="en-US" sz="1600" dirty="0" smtClean="0">
                <a:latin typeface="SimSun"/>
                <a:cs typeface="SimSun"/>
              </a:rPr>
              <a:t>解调</a:t>
            </a:r>
            <a:endParaRPr lang="en-US" altLang="zh-CN" sz="1600" dirty="0" smtClean="0"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数</a:t>
            </a:r>
            <a:r>
              <a:rPr lang="zh-CN" altLang="en-US" sz="1600" dirty="0" smtClean="0">
                <a:latin typeface="SimSun"/>
                <a:cs typeface="SimSun"/>
              </a:rPr>
              <a:t>据</a:t>
            </a:r>
            <a:r>
              <a:rPr lang="zh-CN" altLang="en-US" sz="1600" dirty="0"/>
              <a:t>帧封</a:t>
            </a:r>
            <a:r>
              <a:rPr lang="zh-CN" altLang="en-US" sz="1600" dirty="0">
                <a:latin typeface="SimSun"/>
                <a:cs typeface="SimSun"/>
              </a:rPr>
              <a:t>装</a:t>
            </a:r>
            <a:r>
              <a:rPr lang="zh-CN" altLang="en-US" sz="1600" dirty="0"/>
              <a:t>与分</a:t>
            </a:r>
            <a:r>
              <a:rPr lang="zh-CN" altLang="en-US" sz="1600" dirty="0" smtClean="0"/>
              <a:t>⽚</a:t>
            </a:r>
            <a:endParaRPr lang="en-US" altLang="zh-CN" sz="1600" dirty="0" smtClean="0"/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latin typeface="Arial MT"/>
                <a:cs typeface="Arial MT"/>
              </a:rPr>
              <a:t>Shannon</a:t>
            </a:r>
            <a:r>
              <a:rPr lang="zh-CN" altLang="en-US" sz="1600" dirty="0"/>
              <a:t>容</a:t>
            </a:r>
            <a:r>
              <a:rPr lang="zh-CN" altLang="en-US" sz="1600" dirty="0">
                <a:latin typeface="SimSun"/>
                <a:cs typeface="SimSun"/>
              </a:rPr>
              <a:t>量</a:t>
            </a:r>
            <a:r>
              <a:rPr lang="zh-CN" altLang="en-US" sz="1600" dirty="0"/>
              <a:t>对⽐分析</a:t>
            </a:r>
            <a:endParaRPr lang="zh-CN" altLang="en-US" sz="1600" dirty="0">
              <a:latin typeface="SimSun"/>
              <a:cs typeface="SimSun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9764" y="1984408"/>
            <a:ext cx="6429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b="1" dirty="0"/>
              <a:t>本</a:t>
            </a:r>
            <a:r>
              <a:rPr lang="zh-CN" altLang="en-US" b="1" dirty="0">
                <a:latin typeface="SimSun"/>
                <a:cs typeface="SimSun"/>
              </a:rPr>
              <a:t>项</a:t>
            </a:r>
            <a:r>
              <a:rPr lang="zh-CN" altLang="en-US" b="1" dirty="0"/>
              <a:t>⽬</a:t>
            </a:r>
            <a:r>
              <a:rPr lang="zh-CN" altLang="en-US" b="1" dirty="0">
                <a:solidFill>
                  <a:srgbClr val="00B050"/>
                </a:solidFill>
              </a:rPr>
              <a:t>成功实</a:t>
            </a:r>
            <a:r>
              <a:rPr lang="zh-CN" altLang="en-US" b="1" dirty="0">
                <a:solidFill>
                  <a:srgbClr val="00B050"/>
                </a:solidFill>
                <a:latin typeface="SimSun"/>
                <a:cs typeface="SimSun"/>
              </a:rPr>
              <a:t>现</a:t>
            </a:r>
            <a:r>
              <a:rPr lang="zh-CN" altLang="en-US" b="1" dirty="0"/>
              <a:t>了从物</a:t>
            </a:r>
            <a:r>
              <a:rPr lang="zh-CN" altLang="en-US" b="1" dirty="0">
                <a:latin typeface="SimSun"/>
                <a:cs typeface="SimSun"/>
              </a:rPr>
              <a:t>理</a:t>
            </a:r>
            <a:r>
              <a:rPr lang="zh-CN" altLang="en-US" b="1" dirty="0"/>
              <a:t>层到应⽤层的完整⽹络</a:t>
            </a:r>
            <a:r>
              <a:rPr lang="zh-CN" altLang="en-US" b="1" dirty="0">
                <a:latin typeface="SimSun"/>
                <a:cs typeface="SimSun"/>
              </a:rPr>
              <a:t>通信</a:t>
            </a:r>
            <a:r>
              <a:rPr lang="zh-CN" altLang="en-US" b="1" dirty="0"/>
              <a:t>协</a:t>
            </a:r>
            <a:r>
              <a:rPr lang="zh-CN" altLang="en-US" b="1" dirty="0">
                <a:latin typeface="SimSun"/>
                <a:cs typeface="SimSun"/>
              </a:rPr>
              <a:t>议栈：</a:t>
            </a:r>
          </a:p>
        </p:txBody>
      </p:sp>
      <p:sp>
        <p:nvSpPr>
          <p:cNvPr id="8" name="object 19"/>
          <p:cNvSpPr txBox="1"/>
          <p:nvPr/>
        </p:nvSpPr>
        <p:spPr>
          <a:xfrm>
            <a:off x="4272083" y="2929870"/>
            <a:ext cx="3271055" cy="20018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altLang="zh-CN" sz="2400" b="1" dirty="0">
                <a:solidFill>
                  <a:srgbClr val="000000"/>
                </a:solidFill>
                <a:cs typeface="Arial"/>
              </a:rPr>
              <a:t>Level</a:t>
            </a:r>
            <a:r>
              <a:rPr lang="zh-CN" altLang="en-US" sz="2400" b="1" dirty="0">
                <a:solidFill>
                  <a:srgbClr val="000000"/>
                </a:solidFill>
                <a:cs typeface="Arial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cs typeface="Arial"/>
              </a:rPr>
              <a:t>2:</a:t>
            </a:r>
            <a:r>
              <a:rPr lang="zh-CN" altLang="en-US" sz="2400" b="1" dirty="0">
                <a:solidFill>
                  <a:srgbClr val="000000"/>
                </a:solidFill>
                <a:cs typeface="Arial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Microsoft JhengHei"/>
                <a:cs typeface="Microsoft JhengHei"/>
              </a:rPr>
              <a:t>多主机通信 </a:t>
            </a:r>
            <a:r>
              <a:rPr lang="zh-CN" altLang="en-US" sz="2400" b="1" dirty="0" smtClean="0">
                <a:solidFill>
                  <a:srgbClr val="000000"/>
                </a:solidFill>
                <a:latin typeface="Yu Gothic"/>
                <a:cs typeface="Yu Gothic"/>
              </a:rPr>
              <a:t>✓</a:t>
            </a:r>
            <a:endParaRPr lang="en-US" altLang="zh-CN" sz="2400" b="1" dirty="0" smtClean="0">
              <a:solidFill>
                <a:srgbClr val="000000"/>
              </a:solidFill>
              <a:latin typeface="Yu Gothic"/>
              <a:cs typeface="Yu Gothic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星</a:t>
            </a:r>
            <a:r>
              <a:rPr lang="zh-CN" altLang="en-US" sz="1600" dirty="0" smtClean="0">
                <a:latin typeface="SimSun"/>
                <a:cs typeface="SimSun"/>
              </a:rPr>
              <a:t>型</a:t>
            </a:r>
            <a:r>
              <a:rPr lang="zh-CN" altLang="en-US" sz="1600" dirty="0">
                <a:latin typeface="SimSun"/>
                <a:cs typeface="SimSun"/>
              </a:rPr>
              <a:t>拓</a:t>
            </a:r>
            <a:r>
              <a:rPr lang="zh-CN" altLang="en-US" sz="1600" dirty="0"/>
              <a:t>扑⽹</a:t>
            </a:r>
            <a:r>
              <a:rPr lang="zh-CN" altLang="en-US" sz="1600" dirty="0" smtClean="0"/>
              <a:t>络</a:t>
            </a:r>
            <a:endParaRPr lang="en-US" altLang="zh-CN" sz="1600" dirty="0" smtClean="0"/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 smtClean="0">
                <a:latin typeface="Arial MT"/>
                <a:cs typeface="Arial MT"/>
              </a:rPr>
              <a:t>MAC</a:t>
            </a:r>
            <a:r>
              <a:rPr lang="zh-CN" altLang="en-US" sz="1600" dirty="0">
                <a:latin typeface="SimSun"/>
                <a:cs typeface="SimSun"/>
              </a:rPr>
              <a:t>地址</a:t>
            </a:r>
            <a:r>
              <a:rPr lang="zh-CN" altLang="en-US" sz="1600" dirty="0" smtClean="0"/>
              <a:t>寻</a:t>
            </a:r>
            <a:r>
              <a:rPr lang="zh-CN" altLang="en-US" sz="1600" dirty="0" smtClean="0">
                <a:latin typeface="SimSun"/>
                <a:cs typeface="SimSun"/>
              </a:rPr>
              <a:t>址</a:t>
            </a:r>
            <a:endParaRPr lang="en-US" altLang="zh-CN" sz="1600" dirty="0" smtClean="0"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交</a:t>
            </a:r>
            <a:r>
              <a:rPr lang="zh-CN" altLang="en-US" sz="1600" dirty="0" smtClean="0">
                <a:latin typeface="SimSun"/>
                <a:cs typeface="SimSun"/>
              </a:rPr>
              <a:t>换</a:t>
            </a:r>
            <a:r>
              <a:rPr lang="zh-CN" altLang="en-US" sz="1600" dirty="0" smtClean="0"/>
              <a:t>机</a:t>
            </a:r>
            <a:r>
              <a:rPr lang="en-US" altLang="zh-CN" sz="1400" dirty="0">
                <a:latin typeface="Arial MT"/>
                <a:cs typeface="Arial MT"/>
              </a:rPr>
              <a:t>MAC</a:t>
            </a:r>
            <a:r>
              <a:rPr lang="zh-CN" altLang="en-US" sz="1600" dirty="0"/>
              <a:t>学习</a:t>
            </a:r>
            <a:r>
              <a:rPr lang="zh-CN" altLang="en-US" sz="1600" dirty="0" smtClean="0"/>
              <a:t>算</a:t>
            </a:r>
            <a:r>
              <a:rPr lang="zh-CN" altLang="en-US" sz="1600" dirty="0" smtClean="0">
                <a:latin typeface="SimSun"/>
                <a:cs typeface="SimSun"/>
              </a:rPr>
              <a:t>法</a:t>
            </a:r>
            <a:endParaRPr lang="en-US" altLang="zh-CN" sz="1600" dirty="0" smtClean="0"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单</a:t>
            </a:r>
            <a:r>
              <a:rPr lang="zh-CN" altLang="en-US" sz="1600" dirty="0">
                <a:latin typeface="SimSun"/>
                <a:cs typeface="SimSun"/>
              </a:rPr>
              <a:t>播</a:t>
            </a:r>
            <a:r>
              <a:rPr lang="en-US" altLang="zh-CN" sz="1400" dirty="0">
                <a:latin typeface="Arial MT"/>
                <a:cs typeface="Arial MT"/>
              </a:rPr>
              <a:t>/</a:t>
            </a:r>
            <a:r>
              <a:rPr lang="zh-CN" altLang="en-US" sz="1600" dirty="0"/>
              <a:t>⼴</a:t>
            </a:r>
            <a:r>
              <a:rPr lang="zh-CN" altLang="en-US" sz="1600" dirty="0">
                <a:latin typeface="SimSun"/>
                <a:cs typeface="SimSun"/>
              </a:rPr>
              <a:t>播</a:t>
            </a:r>
            <a:r>
              <a:rPr lang="zh-CN" altLang="en-US" sz="1600" dirty="0" smtClean="0">
                <a:latin typeface="SimSun"/>
                <a:cs typeface="SimSun"/>
              </a:rPr>
              <a:t>转</a:t>
            </a:r>
            <a:r>
              <a:rPr lang="zh-CN" altLang="en-US" sz="1600" dirty="0" smtClean="0"/>
              <a:t>发</a:t>
            </a:r>
            <a:endParaRPr lang="en-US" altLang="zh-CN" sz="1600" dirty="0" smtClean="0"/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⽹</a:t>
            </a:r>
            <a:r>
              <a:rPr lang="zh-CN" altLang="en-US" sz="1600" dirty="0"/>
              <a:t>络帧</a:t>
            </a:r>
            <a:r>
              <a:rPr lang="zh-CN" altLang="en-US" sz="1600" dirty="0">
                <a:latin typeface="SimSun"/>
                <a:cs typeface="SimSun"/>
              </a:rPr>
              <a:t>格式设计</a:t>
            </a:r>
          </a:p>
        </p:txBody>
      </p:sp>
      <p:sp>
        <p:nvSpPr>
          <p:cNvPr id="9" name="object 19"/>
          <p:cNvSpPr txBox="1"/>
          <p:nvPr/>
        </p:nvSpPr>
        <p:spPr>
          <a:xfrm>
            <a:off x="7812646" y="2935010"/>
            <a:ext cx="3619099" cy="20018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altLang="zh-CN" sz="2400" b="1" dirty="0">
                <a:solidFill>
                  <a:srgbClr val="000000"/>
                </a:solidFill>
                <a:cs typeface="Arial"/>
              </a:rPr>
              <a:t>Level 3: </a:t>
            </a:r>
            <a:r>
              <a:rPr lang="zh-CN" altLang="en-US" sz="2400" b="1" dirty="0">
                <a:solidFill>
                  <a:srgbClr val="000000"/>
                </a:solidFill>
                <a:latin typeface="Microsoft JhengHei"/>
                <a:cs typeface="Microsoft JhengHei"/>
              </a:rPr>
              <a:t>扩展功</a:t>
            </a:r>
            <a:r>
              <a:rPr lang="zh-CN" altLang="en-US" sz="2400" b="1" dirty="0">
                <a:solidFill>
                  <a:srgbClr val="000000"/>
                </a:solidFill>
                <a:latin typeface="Malgun Gothic"/>
                <a:cs typeface="Malgun Gothic"/>
              </a:rPr>
              <a:t>能 </a:t>
            </a:r>
            <a:r>
              <a:rPr lang="zh-CN" altLang="en-US" sz="2400" b="1" dirty="0" smtClean="0">
                <a:solidFill>
                  <a:srgbClr val="000000"/>
                </a:solidFill>
                <a:latin typeface="Yu Gothic"/>
                <a:cs typeface="Yu Gothic"/>
              </a:rPr>
              <a:t>✓</a:t>
            </a:r>
            <a:endParaRPr lang="en-US" altLang="zh-CN" sz="2400" b="1" dirty="0" smtClean="0">
              <a:solidFill>
                <a:srgbClr val="000000"/>
              </a:solidFill>
              <a:latin typeface="Yu Gothic"/>
              <a:cs typeface="Yu Gothic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latin typeface="Arial MT"/>
                <a:cs typeface="Arial MT"/>
              </a:rPr>
              <a:t>Stop-and-Wait </a:t>
            </a:r>
            <a:r>
              <a:rPr lang="en-US" altLang="zh-CN" sz="1600" dirty="0">
                <a:latin typeface="Arial MT"/>
                <a:cs typeface="Arial MT"/>
              </a:rPr>
              <a:t>ARQ</a:t>
            </a:r>
            <a:r>
              <a:rPr lang="zh-CN" altLang="en-US" sz="1600" dirty="0"/>
              <a:t>传</a:t>
            </a:r>
            <a:r>
              <a:rPr lang="zh-CN" altLang="en-US" sz="1600" dirty="0">
                <a:latin typeface="SimSun"/>
                <a:cs typeface="SimSun"/>
              </a:rPr>
              <a:t>输</a:t>
            </a:r>
            <a:r>
              <a:rPr lang="zh-CN" altLang="en-US" sz="1600" dirty="0"/>
              <a:t>层 </a:t>
            </a:r>
            <a:endParaRPr lang="en-US" altLang="zh-CN" sz="1600" dirty="0" smtClean="0"/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latin typeface="Arial MT"/>
                <a:cs typeface="Arial MT"/>
              </a:rPr>
              <a:t>Hamming(7,4</a:t>
            </a:r>
            <a:r>
              <a:rPr lang="en-US" altLang="zh-CN" sz="1600" dirty="0">
                <a:latin typeface="Arial MT"/>
                <a:cs typeface="Arial MT"/>
              </a:rPr>
              <a:t>)</a:t>
            </a:r>
            <a:r>
              <a:rPr lang="zh-CN" altLang="en-US" sz="1600" dirty="0">
                <a:latin typeface="SimSun"/>
                <a:cs typeface="SimSun"/>
              </a:rPr>
              <a:t>纠</a:t>
            </a:r>
            <a:r>
              <a:rPr lang="zh-CN" altLang="en-US" sz="1600" dirty="0"/>
              <a:t>错</a:t>
            </a:r>
            <a:r>
              <a:rPr lang="zh-CN" altLang="en-US" sz="1600" dirty="0">
                <a:latin typeface="SimSun"/>
                <a:cs typeface="SimSun"/>
              </a:rPr>
              <a:t>码 </a:t>
            </a:r>
            <a:r>
              <a:rPr lang="en-US" altLang="zh-CN" sz="1600" dirty="0" smtClean="0">
                <a:latin typeface="Arial MT"/>
                <a:cs typeface="Arial MT"/>
              </a:rPr>
              <a:t>CRC-8</a:t>
            </a:r>
            <a:r>
              <a:rPr lang="zh-CN" altLang="en-US" sz="1600" dirty="0" smtClean="0">
                <a:latin typeface="SimSun"/>
                <a:cs typeface="SimSun"/>
              </a:rPr>
              <a:t>校验</a:t>
            </a:r>
            <a:endParaRPr lang="en-US" altLang="zh-CN" sz="1600" dirty="0" smtClean="0"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latin typeface="Arial MT"/>
                <a:cs typeface="Arial MT"/>
              </a:rPr>
              <a:t>HTTP</a:t>
            </a:r>
            <a:r>
              <a:rPr lang="zh-CN" altLang="en-US" sz="1600" dirty="0"/>
              <a:t>应⽤层</a:t>
            </a:r>
            <a:r>
              <a:rPr lang="zh-CN" altLang="en-US" sz="1600" dirty="0" smtClean="0"/>
              <a:t>协</a:t>
            </a:r>
            <a:r>
              <a:rPr lang="zh-CN" altLang="en-US" sz="1600" dirty="0" smtClean="0">
                <a:latin typeface="SimSun"/>
                <a:cs typeface="SimSun"/>
              </a:rPr>
              <a:t>议</a:t>
            </a:r>
            <a:endParaRPr lang="en-US" altLang="zh-CN" sz="1600" dirty="0" smtClean="0"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多</a:t>
            </a:r>
            <a:r>
              <a:rPr lang="zh-CN" altLang="en-US" sz="1600" dirty="0" smtClean="0">
                <a:latin typeface="SimSun"/>
                <a:cs typeface="SimSun"/>
              </a:rPr>
              <a:t>种</a:t>
            </a:r>
            <a:r>
              <a:rPr lang="zh-CN" altLang="en-US" sz="1600" dirty="0">
                <a:latin typeface="SimSun"/>
                <a:cs typeface="SimSun"/>
              </a:rPr>
              <a:t>调</a:t>
            </a:r>
            <a:r>
              <a:rPr lang="zh-CN" altLang="en-US" sz="1600" dirty="0"/>
              <a:t>制⽅</a:t>
            </a:r>
            <a:r>
              <a:rPr lang="zh-CN" altLang="en-US" sz="1600" dirty="0">
                <a:latin typeface="SimSun"/>
                <a:cs typeface="SimSun"/>
              </a:rPr>
              <a:t>式（</a:t>
            </a:r>
            <a:r>
              <a:rPr lang="en-US" altLang="zh-CN" sz="1600" dirty="0">
                <a:latin typeface="Arial MT"/>
                <a:cs typeface="Arial MT"/>
              </a:rPr>
              <a:t>OOK/ASK/FSK/BPSK</a:t>
            </a:r>
            <a:r>
              <a:rPr lang="zh-CN" altLang="en-US" sz="1600" dirty="0" smtClean="0">
                <a:latin typeface="SimSun"/>
                <a:cs typeface="SimSun"/>
              </a:rPr>
              <a:t>）</a:t>
            </a:r>
            <a:endParaRPr lang="en-US" altLang="zh-CN" sz="1600" dirty="0" smtClean="0"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多</a:t>
            </a:r>
            <a:r>
              <a:rPr lang="zh-CN" altLang="en-US" sz="1600" dirty="0"/>
              <a:t>线</a:t>
            </a:r>
            <a:r>
              <a:rPr lang="zh-CN" altLang="en-US" sz="1600" dirty="0">
                <a:latin typeface="SimSun"/>
                <a:cs typeface="SimSun"/>
              </a:rPr>
              <a:t>程</a:t>
            </a:r>
            <a:r>
              <a:rPr lang="zh-CN" altLang="en-US" sz="1600" dirty="0"/>
              <a:t>并发处</a:t>
            </a:r>
            <a:r>
              <a:rPr lang="zh-CN" altLang="en-US" sz="1600" dirty="0">
                <a:latin typeface="SimSun"/>
                <a:cs typeface="SimSun"/>
              </a:rPr>
              <a:t>理</a:t>
            </a:r>
          </a:p>
        </p:txBody>
      </p:sp>
    </p:spTree>
    <p:extLst>
      <p:ext uri="{BB962C8B-B14F-4D97-AF65-F5344CB8AC3E}">
        <p14:creationId xmlns:p14="http://schemas.microsoft.com/office/powerpoint/2010/main" val="17035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900011" y="749201"/>
            <a:ext cx="320446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dirty="0" smtClean="0">
                <a:latin typeface="Malgun Gothic"/>
                <a:cs typeface="Malgun Gothic"/>
              </a:rPr>
              <a:t>项目成果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graphicFrame>
        <p:nvGraphicFramePr>
          <p:cNvPr id="11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998957"/>
              </p:ext>
            </p:extLst>
          </p:nvPr>
        </p:nvGraphicFramePr>
        <p:xfrm>
          <a:off x="994477" y="2190422"/>
          <a:ext cx="5329322" cy="2938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6911"/>
                <a:gridCol w="1528965"/>
                <a:gridCol w="2293446"/>
              </a:tblGrid>
              <a:tr h="361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0" baseline="0" dirty="0">
                          <a:latin typeface="Microsoft JhengHei"/>
                          <a:cs typeface="Microsoft JhengHei"/>
                        </a:rPr>
                        <a:t>指标</a:t>
                      </a:r>
                      <a:endParaRPr sz="1350" spc="0" baseline="0" dirty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0" baseline="0" dirty="0">
                          <a:latin typeface="Microsoft JhengHei"/>
                          <a:cs typeface="Microsoft JhengHei"/>
                        </a:rPr>
                        <a:t>数值</a:t>
                      </a:r>
                      <a:endParaRPr sz="1350" spc="0" baseline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b="1" spc="0" baseline="0" dirty="0">
                          <a:latin typeface="Microsoft JhengHei"/>
                          <a:cs typeface="Microsoft JhengHei"/>
                        </a:rPr>
                        <a:t>说明</a:t>
                      </a:r>
                      <a:endParaRPr sz="1350" spc="0" baseline="0" dirty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调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制⽅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式</a:t>
                      </a:r>
                      <a:endParaRPr sz="1350" spc="0" baseline="0" dirty="0">
                        <a:latin typeface="SimSun"/>
                        <a:cs typeface="SimSun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种</a:t>
                      </a:r>
                      <a:endParaRPr sz="1350" spc="0" baseline="0">
                        <a:latin typeface="SimSun"/>
                        <a:cs typeface="SimSun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OOK, ASK, FSK, BPSK</a:t>
                      </a:r>
                      <a:endParaRPr sz="1200" spc="0" baseline="0">
                        <a:latin typeface="Arial MT"/>
                        <a:cs typeface="Arial MT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最佳</a:t>
                      </a: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BER</a:t>
                      </a:r>
                      <a:endParaRPr sz="1200" spc="0" baseline="0">
                        <a:latin typeface="Arial MT"/>
                        <a:cs typeface="Arial MT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0.5% @ σ=2.5</a:t>
                      </a:r>
                      <a:endParaRPr sz="1200" spc="0" baseline="0">
                        <a:latin typeface="Arial MT"/>
                        <a:cs typeface="Arial MT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BPSK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性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能</a:t>
                      </a:r>
                      <a:endParaRPr sz="1350" spc="0" baseline="0" dirty="0">
                        <a:latin typeface="SimSun"/>
                        <a:cs typeface="SimSun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帧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开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销</a:t>
                      </a:r>
                      <a:endParaRPr sz="1350" spc="0" baseline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136 bits</a:t>
                      </a:r>
                      <a:endParaRPr sz="1200" spc="0" baseline="0">
                        <a:latin typeface="Arial MT"/>
                        <a:cs typeface="Arial MT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不含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载荷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的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固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定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开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销</a:t>
                      </a:r>
                      <a:endParaRPr sz="1350" spc="0" baseline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分⽚⼤⼩</a:t>
                      </a:r>
                      <a:endParaRPr sz="1350" spc="0" baseline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64 bytes</a:t>
                      </a:r>
                      <a:endParaRPr sz="1200" spc="0" baseline="0">
                        <a:latin typeface="Arial MT"/>
                        <a:cs typeface="Arial MT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可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配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置</a:t>
                      </a:r>
                      <a:endParaRPr sz="1350" spc="0" baseline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ARQ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成功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率</a:t>
                      </a:r>
                      <a:endParaRPr sz="1350" spc="0" baseline="0">
                        <a:latin typeface="SimSun"/>
                        <a:cs typeface="SimSun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100%</a:t>
                      </a:r>
                      <a:endParaRPr sz="1200" spc="0" baseline="0">
                        <a:latin typeface="Arial MT"/>
                        <a:cs typeface="Arial MT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3/3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段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确认</a:t>
                      </a:r>
                      <a:endParaRPr sz="1350" spc="0" baseline="0">
                        <a:latin typeface="SimSun"/>
                        <a:cs typeface="SimSun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并发主机</a:t>
                      </a:r>
                      <a:endParaRPr sz="1350" spc="0" baseline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个</a:t>
                      </a:r>
                      <a:endParaRPr sz="1350" spc="0" baseline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12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条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消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息⽆丢失</a:t>
                      </a:r>
                      <a:endParaRPr sz="1350" spc="0" baseline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Hamming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纠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Microsoft JhengHei"/>
                          <a:cs typeface="Microsoft JhengHei"/>
                        </a:rPr>
                        <a:t>错</a:t>
                      </a:r>
                      <a:endParaRPr sz="1350" spc="0" baseline="0">
                        <a:latin typeface="Microsoft JhengHei"/>
                        <a:cs typeface="Microsoft JhengHei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1-bit</a:t>
                      </a:r>
                      <a:endParaRPr sz="1200" spc="0" baseline="0">
                        <a:latin typeface="Arial MT"/>
                        <a:cs typeface="Arial MT"/>
                      </a:endParaRPr>
                    </a:p>
                  </a:txBody>
                  <a:tcPr marL="0" marR="0" marT="80645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200" spc="0" baseline="0" dirty="0">
                          <a:solidFill>
                            <a:srgbClr val="333333"/>
                          </a:solidFill>
                          <a:latin typeface="Arial MT"/>
                          <a:cs typeface="Arial MT"/>
                        </a:rPr>
                        <a:t>(7,4)</a:t>
                      </a:r>
                      <a:r>
                        <a:rPr sz="1350" spc="0" baseline="0" dirty="0">
                          <a:solidFill>
                            <a:srgbClr val="333333"/>
                          </a:solidFill>
                          <a:latin typeface="SimSun"/>
                          <a:cs typeface="SimSun"/>
                        </a:rPr>
                        <a:t>码</a:t>
                      </a:r>
                      <a:endParaRPr sz="1350" spc="0" baseline="0" dirty="0">
                        <a:latin typeface="SimSun"/>
                        <a:cs typeface="SimSun"/>
                      </a:endParaRPr>
                    </a:p>
                  </a:txBody>
                  <a:tcPr marL="0" marR="0" marT="61594" marB="0">
                    <a:lnL w="9525">
                      <a:solidFill>
                        <a:srgbClr val="D5D5D5"/>
                      </a:solidFill>
                      <a:prstDash val="solid"/>
                    </a:lnL>
                    <a:lnR w="9525">
                      <a:solidFill>
                        <a:srgbClr val="D5D5D5"/>
                      </a:solidFill>
                      <a:prstDash val="solid"/>
                    </a:lnR>
                    <a:lnT w="9525">
                      <a:solidFill>
                        <a:srgbClr val="D5D5D5"/>
                      </a:solidFill>
                      <a:prstDash val="solid"/>
                    </a:lnT>
                    <a:lnB w="9525">
                      <a:solidFill>
                        <a:srgbClr val="D5D5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object 3"/>
          <p:cNvSpPr txBox="1"/>
          <p:nvPr/>
        </p:nvSpPr>
        <p:spPr>
          <a:xfrm>
            <a:off x="917474" y="1760169"/>
            <a:ext cx="1543492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195" dirty="0">
                <a:latin typeface="Microsoft JhengHei"/>
                <a:cs typeface="Microsoft JhengHei"/>
              </a:rPr>
              <a:t>关键技术指标</a:t>
            </a:r>
            <a:endParaRPr sz="2000" dirty="0">
              <a:latin typeface="Microsoft JhengHei"/>
              <a:cs typeface="Microsoft JhengHei"/>
            </a:endParaRPr>
          </a:p>
        </p:txBody>
      </p:sp>
      <p:sp>
        <p:nvSpPr>
          <p:cNvPr id="10" name="object 13"/>
          <p:cNvSpPr txBox="1"/>
          <p:nvPr/>
        </p:nvSpPr>
        <p:spPr>
          <a:xfrm>
            <a:off x="7346116" y="1760169"/>
            <a:ext cx="4377455" cy="315342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dirty="0">
                <a:latin typeface="Microsoft JhengHei"/>
                <a:cs typeface="Microsoft JhengHei"/>
              </a:rPr>
              <a:t>性</a:t>
            </a:r>
            <a:r>
              <a:rPr sz="2000" b="1" dirty="0">
                <a:latin typeface="Malgun Gothic"/>
                <a:cs typeface="Malgun Gothic"/>
              </a:rPr>
              <a:t>能</a:t>
            </a:r>
            <a:r>
              <a:rPr sz="2000" b="1" dirty="0">
                <a:latin typeface="Microsoft JhengHei"/>
                <a:cs typeface="Microsoft JhengHei"/>
              </a:rPr>
              <a:t>对⽐</a:t>
            </a:r>
            <a:endParaRPr sz="200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1700" b="1" dirty="0">
                <a:latin typeface="Microsoft JhengHei"/>
                <a:cs typeface="Microsoft JhengHei"/>
              </a:rPr>
              <a:t>调制⽅式抗</a:t>
            </a:r>
            <a:r>
              <a:rPr sz="1700" b="1" dirty="0">
                <a:latin typeface="Malgun Gothic"/>
                <a:cs typeface="Malgun Gothic"/>
              </a:rPr>
              <a:t>噪</a:t>
            </a:r>
            <a:r>
              <a:rPr sz="1700" b="1" dirty="0">
                <a:latin typeface="Microsoft JhengHei"/>
                <a:cs typeface="Microsoft JhengHei"/>
              </a:rPr>
              <a:t>性排名</a:t>
            </a:r>
            <a:endParaRPr sz="1700" dirty="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1235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sz="1200" b="1" dirty="0">
                <a:latin typeface="Arial"/>
                <a:cs typeface="Arial"/>
              </a:rPr>
              <a:t>BPSK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- 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最佳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σ=2.5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BER=0.5%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 dirty="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sz="1200" b="1" dirty="0">
                <a:latin typeface="Arial"/>
                <a:cs typeface="Arial"/>
              </a:rPr>
              <a:t>FSK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- 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良好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σ=2.5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BER=6.2%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 dirty="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sz="1200" b="1" dirty="0">
                <a:latin typeface="Arial"/>
                <a:cs typeface="Arial"/>
              </a:rPr>
              <a:t>OOK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- 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中等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σ=2.5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BER=34%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 dirty="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254"/>
              </a:spcBef>
              <a:buClr>
                <a:srgbClr val="333333"/>
              </a:buClr>
              <a:buFont typeface="Arial MT"/>
              <a:buAutoNum type="arabicPeriod"/>
              <a:tabLst>
                <a:tab pos="317500" algn="l"/>
              </a:tabLst>
            </a:pPr>
            <a:r>
              <a:rPr sz="1200" b="1" dirty="0">
                <a:latin typeface="Arial"/>
                <a:cs typeface="Arial"/>
              </a:rPr>
              <a:t>ASK 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- 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最差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σ=1.0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时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BER≈50%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35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1500" b="1" dirty="0" err="1">
                <a:latin typeface="Arial"/>
                <a:cs typeface="Arial"/>
              </a:rPr>
              <a:t>Shannon</a:t>
            </a:r>
            <a:r>
              <a:rPr sz="1700" b="1" dirty="0" err="1" smtClean="0">
                <a:latin typeface="Microsoft JhengHei"/>
                <a:cs typeface="Microsoft JhengHei"/>
              </a:rPr>
              <a:t>效率分析</a:t>
            </a:r>
            <a:endParaRPr lang="en-US" sz="1700" b="1" dirty="0" smtClean="0"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在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低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声</a:t>
            </a:r>
            <a:r>
              <a:rPr sz="1350" dirty="0" err="1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σ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=0.01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）环境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下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际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效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率约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8.4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%</a:t>
            </a:r>
            <a:endParaRPr lang="en-US" sz="12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简单</a:t>
            </a:r>
            <a:r>
              <a:rPr sz="1200" dirty="0" err="1">
                <a:solidFill>
                  <a:srgbClr val="333333"/>
                </a:solidFill>
                <a:latin typeface="Arial MT"/>
                <a:cs typeface="Arial MT"/>
              </a:rPr>
              <a:t>OOK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制的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频谱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效</a:t>
            </a:r>
            <a:r>
              <a:rPr sz="1350" dirty="0" err="1" smtClean="0">
                <a:solidFill>
                  <a:srgbClr val="333333"/>
                </a:solidFill>
                <a:latin typeface="SimSun"/>
                <a:cs typeface="SimSun"/>
              </a:rPr>
              <a:t>率较</a:t>
            </a:r>
            <a:r>
              <a:rPr sz="135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低</a:t>
            </a:r>
            <a:endParaRPr lang="en-US" sz="135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理论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上可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通过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复杂</a:t>
            </a:r>
            <a:r>
              <a:rPr sz="1350" dirty="0" smtClean="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sz="135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如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QAM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）提</a:t>
            </a:r>
            <a:r>
              <a:rPr sz="1350" dirty="0">
                <a:solidFill>
                  <a:srgbClr val="333333"/>
                </a:solidFill>
                <a:latin typeface="Microsoft JhengHei"/>
                <a:cs typeface="Microsoft JhengHei"/>
              </a:rPr>
              <a:t>⾼到</a:t>
            </a:r>
            <a:r>
              <a:rPr sz="1350" dirty="0">
                <a:solidFill>
                  <a:srgbClr val="333333"/>
                </a:solidFill>
                <a:latin typeface="SimSun"/>
                <a:cs typeface="SimSun"/>
              </a:rPr>
              <a:t>接近</a:t>
            </a:r>
            <a:r>
              <a:rPr sz="1200" dirty="0">
                <a:solidFill>
                  <a:srgbClr val="333333"/>
                </a:solidFill>
                <a:latin typeface="Arial MT"/>
                <a:cs typeface="Arial MT"/>
              </a:rPr>
              <a:t>100</a:t>
            </a:r>
            <a:r>
              <a:rPr sz="1200" dirty="0" smtClean="0">
                <a:solidFill>
                  <a:srgbClr val="333333"/>
                </a:solidFill>
                <a:latin typeface="Arial MT"/>
                <a:cs typeface="Arial MT"/>
              </a:rPr>
              <a:t>%</a:t>
            </a:r>
            <a:endParaRPr sz="1350" dirty="0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267004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774882" y="248687"/>
            <a:ext cx="320446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dirty="0" smtClean="0">
                <a:latin typeface="Malgun Gothic"/>
                <a:cs typeface="Malgun Gothic"/>
              </a:rPr>
              <a:t>项目成果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6" name="object 13"/>
          <p:cNvSpPr txBox="1"/>
          <p:nvPr/>
        </p:nvSpPr>
        <p:spPr>
          <a:xfrm>
            <a:off x="1137820" y="1542726"/>
            <a:ext cx="3810635" cy="491288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 err="1" smtClean="0">
                <a:latin typeface="Microsoft JhengHei"/>
                <a:cs typeface="Microsoft JhengHei"/>
              </a:rPr>
              <a:t>技术亮</a:t>
            </a:r>
            <a:r>
              <a:rPr sz="2400" b="1" dirty="0" err="1" smtClean="0">
                <a:latin typeface="Malgun Gothic"/>
                <a:cs typeface="Malgun Gothic"/>
              </a:rPr>
              <a:t>点</a:t>
            </a:r>
            <a:endParaRPr sz="2400" dirty="0">
              <a:latin typeface="Malgun Gothic"/>
              <a:cs typeface="Malgun Gothic"/>
            </a:endParaRPr>
          </a:p>
          <a:p>
            <a:pPr marL="317500" indent="-169545">
              <a:lnSpc>
                <a:spcPct val="100000"/>
              </a:lnSpc>
              <a:spcBef>
                <a:spcPts val="1250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sz="1400" b="1" dirty="0" err="1">
                <a:latin typeface="Microsoft JhengHei"/>
                <a:cs typeface="Microsoft JhengHei"/>
              </a:rPr>
              <a:t>物</a:t>
            </a:r>
            <a:r>
              <a:rPr sz="1400" b="1" dirty="0" err="1">
                <a:latin typeface="Malgun Gothic"/>
                <a:cs typeface="Malgun Gothic"/>
              </a:rPr>
              <a:t>理</a:t>
            </a:r>
            <a:r>
              <a:rPr sz="1400" b="1" dirty="0" err="1">
                <a:latin typeface="Microsoft JhengHei"/>
                <a:cs typeface="Microsoft JhengHei"/>
              </a:rPr>
              <a:t>层</a:t>
            </a:r>
            <a:r>
              <a:rPr sz="14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4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每</a:t>
            </a:r>
            <a:r>
              <a:rPr sz="1400" dirty="0" err="1" smtClean="0">
                <a:solidFill>
                  <a:srgbClr val="333333"/>
                </a:solidFill>
                <a:latin typeface="Arial MT"/>
                <a:cs typeface="Arial MT"/>
              </a:rPr>
              <a:t>bit</a:t>
            </a:r>
            <a:r>
              <a:rPr lang="en-US" sz="1400" dirty="0" smtClean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400" dirty="0" smtClean="0">
                <a:solidFill>
                  <a:srgbClr val="333333"/>
                </a:solidFill>
                <a:latin typeface="Arial MT"/>
                <a:cs typeface="Arial MT"/>
              </a:rPr>
              <a:t>100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采样点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平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均，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有效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降噪</a:t>
            </a:r>
            <a:r>
              <a:rPr sz="1400" dirty="0">
                <a:solidFill>
                  <a:srgbClr val="333333"/>
                </a:solidFill>
                <a:latin typeface="Arial MT"/>
                <a:cs typeface="Arial MT"/>
              </a:rPr>
              <a:t>10</a:t>
            </a:r>
            <a:r>
              <a:rPr sz="1400" dirty="0" smtClean="0">
                <a:solidFill>
                  <a:srgbClr val="333333"/>
                </a:solidFill>
                <a:latin typeface="SimSun"/>
                <a:cs typeface="SimSun"/>
              </a:rPr>
              <a:t>倍</a:t>
            </a:r>
            <a:endParaRPr lang="en-US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⾃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适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应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阈值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算</a:t>
            </a:r>
            <a:r>
              <a:rPr sz="1400" dirty="0">
                <a:solidFill>
                  <a:srgbClr val="333333"/>
                </a:solidFill>
                <a:latin typeface="SimSun"/>
                <a:cs typeface="SimSun"/>
              </a:rPr>
              <a:t>法，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⽆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需⼿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动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参</a:t>
            </a:r>
            <a:endParaRPr lang="en-US" sz="14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多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种调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制⽅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式灵活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切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换</a:t>
            </a:r>
            <a:endParaRPr lang="en-US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lnSpc>
                <a:spcPct val="100000"/>
              </a:lnSpc>
              <a:spcBef>
                <a:spcPts val="125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endParaRPr sz="1400" dirty="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330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317500" algn="l"/>
              </a:tabLst>
            </a:pPr>
            <a:r>
              <a:rPr sz="1400" b="1" dirty="0" err="1">
                <a:latin typeface="Microsoft JhengHei"/>
                <a:cs typeface="Microsoft JhengHei"/>
              </a:rPr>
              <a:t>数据链路层</a:t>
            </a:r>
            <a:r>
              <a:rPr sz="14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4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完整的帧封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装格式</a:t>
            </a:r>
            <a:endParaRPr lang="en-US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⾃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动分⽚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与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组</a:t>
            </a:r>
            <a:endParaRPr lang="en-US" sz="14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校验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和错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误检测</a:t>
            </a:r>
            <a:endParaRPr lang="en-US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endParaRPr lang="en-US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147955">
              <a:spcBef>
                <a:spcPts val="600"/>
              </a:spcBef>
              <a:buClr>
                <a:srgbClr val="333333"/>
              </a:buClr>
              <a:buSzPct val="88888"/>
              <a:tabLst>
                <a:tab pos="317500" algn="l"/>
              </a:tabLst>
            </a:pPr>
            <a:r>
              <a:rPr lang="en-US" altLang="zh-CN" sz="1400" b="1" dirty="0" smtClean="0">
                <a:latin typeface="Microsoft JhengHei"/>
                <a:cs typeface="Microsoft JhengHei"/>
              </a:rPr>
              <a:t>3. </a:t>
            </a:r>
            <a:r>
              <a:rPr lang="zh-CN" altLang="en-US" sz="1400" b="1" dirty="0">
                <a:latin typeface="Microsoft JhengHei"/>
                <a:cs typeface="Microsoft JhengHei"/>
              </a:rPr>
              <a:t>⽹络层</a:t>
            </a:r>
            <a:r>
              <a:rPr lang="en-US" altLang="zh-CN" sz="1400" b="1" dirty="0" smtClean="0">
                <a:latin typeface="Microsoft JhengHei"/>
                <a:cs typeface="Microsoft JhengHei"/>
              </a:rPr>
              <a:t>:</a:t>
            </a:r>
            <a:endParaRPr lang="en-US" altLang="zh-CN" sz="1400" b="1" dirty="0">
              <a:latin typeface="Microsoft JhengHei"/>
              <a:cs typeface="Microsoft JhengHei"/>
            </a:endParaRP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⾃学习</a:t>
            </a:r>
            <a:r>
              <a:rPr lang="en-US" altLang="zh-CN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MAC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表算法</a:t>
            </a:r>
            <a:endParaRPr lang="en-US" altLang="zh-CN" sz="1400" dirty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智能单播</a:t>
            </a:r>
            <a:r>
              <a:rPr lang="en-US" altLang="zh-CN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/</a:t>
            </a: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⼴播转发</a:t>
            </a:r>
            <a:endParaRPr lang="en-US" altLang="zh-CN" sz="1400" dirty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433705" indent="-285750"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r>
              <a:rPr lang="zh-CN" altLang="en-US"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⼴播地址⽀持</a:t>
            </a:r>
          </a:p>
          <a:p>
            <a:pPr marL="433705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317500" algn="l"/>
              </a:tabLst>
            </a:pPr>
            <a:endParaRPr sz="1400" dirty="0">
              <a:latin typeface="SimSun"/>
              <a:cs typeface="SimSun"/>
            </a:endParaRPr>
          </a:p>
        </p:txBody>
      </p:sp>
      <p:sp>
        <p:nvSpPr>
          <p:cNvPr id="7" name="object 17"/>
          <p:cNvSpPr txBox="1"/>
          <p:nvPr/>
        </p:nvSpPr>
        <p:spPr>
          <a:xfrm>
            <a:off x="5810131" y="2099609"/>
            <a:ext cx="3414400" cy="4055597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4"/>
              <a:tabLst>
                <a:tab pos="182245" algn="l"/>
              </a:tabLst>
            </a:pPr>
            <a:r>
              <a:rPr sz="1400" b="1" dirty="0" err="1" smtClean="0">
                <a:latin typeface="Microsoft JhengHei"/>
                <a:cs typeface="Microsoft JhengHei"/>
              </a:rPr>
              <a:t>传输层</a:t>
            </a:r>
            <a:r>
              <a:rPr sz="14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4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可靠</a:t>
            </a:r>
            <a:r>
              <a:rPr sz="1400" dirty="0" err="1" smtClean="0">
                <a:solidFill>
                  <a:srgbClr val="333333"/>
                </a:solidFill>
                <a:latin typeface="Arial MT"/>
                <a:cs typeface="Arial MT"/>
              </a:rPr>
              <a:t>ARQ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endParaRPr lang="en-US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超时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重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传机制</a:t>
            </a:r>
            <a:endParaRPr lang="en-US" sz="14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序列号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防重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复</a:t>
            </a:r>
            <a:endParaRPr lang="en-US" sz="14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endParaRPr sz="1400" dirty="0" smtClean="0">
              <a:latin typeface="Microsoft JhengHei"/>
              <a:cs typeface="Microsoft JhengHei"/>
            </a:endParaRPr>
          </a:p>
          <a:p>
            <a:pPr marL="182245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5"/>
              <a:tabLst>
                <a:tab pos="182245" algn="l"/>
              </a:tabLst>
            </a:pPr>
            <a:r>
              <a:rPr sz="1400" b="1" dirty="0" err="1" smtClean="0">
                <a:latin typeface="Microsoft JhengHei"/>
                <a:cs typeface="Microsoft JhengHei"/>
              </a:rPr>
              <a:t>应</a:t>
            </a:r>
            <a:r>
              <a:rPr sz="1400" b="1" dirty="0" err="1">
                <a:latin typeface="Microsoft JhengHei"/>
                <a:cs typeface="Microsoft JhengHei"/>
              </a:rPr>
              <a:t>⽤层</a:t>
            </a:r>
            <a:r>
              <a:rPr sz="14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4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标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准</a:t>
            </a:r>
            <a:r>
              <a:rPr sz="1400" dirty="0" err="1">
                <a:solidFill>
                  <a:srgbClr val="333333"/>
                </a:solidFill>
                <a:latin typeface="Arial MT"/>
                <a:cs typeface="Arial MT"/>
              </a:rPr>
              <a:t>HTTP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议格式</a:t>
            </a:r>
            <a:endParaRPr lang="en-US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路由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装饰器模式</a:t>
            </a:r>
            <a:endParaRPr lang="en-US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184150" indent="-1714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400" dirty="0" smtClean="0">
                <a:solidFill>
                  <a:srgbClr val="333333"/>
                </a:solidFill>
                <a:latin typeface="Arial MT"/>
                <a:cs typeface="Arial MT"/>
              </a:rPr>
              <a:t>RESTful </a:t>
            </a:r>
            <a:r>
              <a:rPr sz="1400" dirty="0" err="1">
                <a:solidFill>
                  <a:srgbClr val="333333"/>
                </a:solidFill>
                <a:latin typeface="Arial MT"/>
                <a:cs typeface="Arial MT"/>
              </a:rPr>
              <a:t>API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endParaRPr lang="en-US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184150" indent="-1714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endParaRPr sz="1400" dirty="0">
              <a:latin typeface="SimSun"/>
              <a:cs typeface="SimSun"/>
            </a:endParaRPr>
          </a:p>
          <a:p>
            <a:pPr marL="182245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6"/>
              <a:tabLst>
                <a:tab pos="182245" algn="l"/>
              </a:tabLst>
            </a:pPr>
            <a:r>
              <a:rPr sz="1400" b="1" dirty="0" err="1">
                <a:latin typeface="Microsoft JhengHei"/>
                <a:cs typeface="Microsoft JhengHei"/>
              </a:rPr>
              <a:t>信道编码</a:t>
            </a:r>
            <a:r>
              <a:rPr sz="14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4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Arial MT"/>
                <a:cs typeface="Arial MT"/>
              </a:rPr>
              <a:t>Hamming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⾃动</a:t>
            </a:r>
            <a:r>
              <a:rPr sz="1400" dirty="0" err="1">
                <a:solidFill>
                  <a:srgbClr val="333333"/>
                </a:solidFill>
                <a:latin typeface="SimSun"/>
                <a:cs typeface="SimSun"/>
              </a:rPr>
              <a:t>纠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错</a:t>
            </a:r>
            <a:r>
              <a:rPr sz="1400" dirty="0">
                <a:solidFill>
                  <a:srgbClr val="333333"/>
                </a:solidFill>
                <a:latin typeface="Microsoft JhengHei"/>
                <a:cs typeface="Microsoft JhengHei"/>
              </a:rPr>
              <a:t> </a:t>
            </a:r>
            <a:endParaRPr lang="en-US" sz="14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184150" indent="-1714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Arial MT"/>
                <a:cs typeface="Arial MT"/>
              </a:rPr>
              <a:t>CRC</a:t>
            </a:r>
            <a:r>
              <a:rPr sz="14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⾼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效错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误检测</a:t>
            </a:r>
            <a:endParaRPr lang="en-US" sz="14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码增</a:t>
            </a:r>
            <a:r>
              <a:rPr sz="14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益显</a:t>
            </a:r>
            <a:r>
              <a:rPr sz="1400" dirty="0" err="1" smtClean="0">
                <a:solidFill>
                  <a:srgbClr val="333333"/>
                </a:solidFill>
                <a:latin typeface="SimSun"/>
                <a:cs typeface="SimSun"/>
              </a:rPr>
              <a:t>著</a:t>
            </a:r>
            <a:endParaRPr sz="1400" dirty="0">
              <a:latin typeface="SimSun"/>
              <a:cs typeface="SimSun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478789" y="2099609"/>
            <a:ext cx="2486527" cy="1308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7"/>
              <a:tabLst>
                <a:tab pos="182245" algn="l"/>
              </a:tabLst>
            </a:pPr>
            <a:r>
              <a:rPr lang="zh-CN" altLang="en-US" sz="1600" b="1" dirty="0">
                <a:latin typeface="Microsoft JhengHei"/>
                <a:cs typeface="Microsoft JhengHei"/>
              </a:rPr>
              <a:t>并发处</a:t>
            </a:r>
            <a:r>
              <a:rPr lang="zh-CN" altLang="en-US" sz="1600" b="1" dirty="0">
                <a:latin typeface="Malgun Gothic"/>
                <a:cs typeface="Malgun Gothic"/>
              </a:rPr>
              <a:t>理</a:t>
            </a:r>
            <a:r>
              <a:rPr lang="en-US" altLang="zh-CN" sz="1400" dirty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zh-CN" altLang="en-US" sz="1400" dirty="0">
              <a:solidFill>
                <a:srgbClr val="333333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多线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程架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构</a:t>
            </a: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线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安全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设计</a:t>
            </a: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⾼吞吐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量</a:t>
            </a:r>
            <a:endParaRPr lang="zh-CN" altLang="en-US" sz="1600" dirty="0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287605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697880" y="710699"/>
            <a:ext cx="320446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dirty="0" smtClean="0">
                <a:latin typeface="Malgun Gothic"/>
                <a:cs typeface="Malgun Gothic"/>
              </a:rPr>
              <a:t>实验心得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67326" y="1999581"/>
            <a:ext cx="9493718" cy="346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通过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本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项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⽬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我们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深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⼊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理解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了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：</a:t>
            </a:r>
            <a:endParaRPr lang="zh-CN" altLang="en-US" sz="2400" dirty="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1800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lang="zh-CN" altLang="en-US" sz="2400" b="1" dirty="0">
                <a:latin typeface="Microsoft JhengHei"/>
                <a:cs typeface="Microsoft JhengHei"/>
              </a:rPr>
              <a:t>分层架构</a:t>
            </a:r>
            <a:r>
              <a:rPr lang="zh-CN" altLang="en-US" sz="2400" b="1" dirty="0">
                <a:latin typeface="Malgun Gothic"/>
                <a:cs typeface="Malgun Gothic"/>
              </a:rPr>
              <a:t>的重要</a:t>
            </a:r>
            <a:r>
              <a:rPr lang="zh-CN" altLang="en-US" sz="2400" b="1" dirty="0">
                <a:latin typeface="Microsoft JhengHei"/>
                <a:cs typeface="Microsoft JhengHei"/>
              </a:rPr>
              <a:t>性</a:t>
            </a:r>
            <a:r>
              <a:rPr lang="en-US" altLang="zh-CN" sz="20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每层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独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⽴实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特定功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能，降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低复杂度</a:t>
            </a:r>
            <a:endParaRPr lang="zh-CN" altLang="en-US" sz="2400" dirty="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1800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lang="zh-CN" altLang="en-US" sz="2400" b="1" dirty="0">
                <a:latin typeface="Microsoft JhengHei"/>
                <a:cs typeface="Microsoft JhengHei"/>
              </a:rPr>
              <a:t>协议设计</a:t>
            </a:r>
            <a:r>
              <a:rPr lang="zh-CN" altLang="en-US" sz="2400" b="1" dirty="0">
                <a:latin typeface="Malgun Gothic"/>
                <a:cs typeface="Malgun Gothic"/>
              </a:rPr>
              <a:t>的</a:t>
            </a:r>
            <a:r>
              <a:rPr lang="zh-CN" altLang="en-US" sz="2400" b="1" dirty="0">
                <a:latin typeface="Microsoft JhengHei"/>
                <a:cs typeface="Microsoft JhengHei"/>
              </a:rPr>
              <a:t>权衡</a:t>
            </a:r>
            <a:r>
              <a:rPr lang="en-US" altLang="zh-CN" sz="20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可靠性 </a:t>
            </a:r>
            <a:r>
              <a:rPr lang="en-US" altLang="zh-CN" sz="2000" dirty="0">
                <a:solidFill>
                  <a:srgbClr val="333333"/>
                </a:solidFill>
                <a:latin typeface="Arial MT"/>
                <a:cs typeface="Arial MT"/>
              </a:rPr>
              <a:t>vs</a:t>
            </a:r>
            <a:r>
              <a:rPr lang="zh-CN" altLang="en-US" sz="20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效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率、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简单 </a:t>
            </a:r>
            <a:r>
              <a:rPr lang="en-US" altLang="zh-CN" sz="2000" dirty="0">
                <a:solidFill>
                  <a:srgbClr val="333333"/>
                </a:solidFill>
                <a:latin typeface="Arial MT"/>
                <a:cs typeface="Arial MT"/>
              </a:rPr>
              <a:t>vs</a:t>
            </a:r>
            <a:r>
              <a:rPr lang="zh-CN" altLang="en-US" sz="20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endParaRPr lang="zh-CN" altLang="en-US" sz="2400" dirty="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1800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lang="zh-CN" altLang="en-US" sz="2400" b="1" dirty="0">
                <a:latin typeface="Malgun Gothic"/>
                <a:cs typeface="Malgun Gothic"/>
              </a:rPr>
              <a:t>理</a:t>
            </a:r>
            <a:r>
              <a:rPr lang="zh-CN" altLang="en-US" sz="2400" b="1" dirty="0">
                <a:latin typeface="Microsoft JhengHei"/>
                <a:cs typeface="Microsoft JhengHei"/>
              </a:rPr>
              <a:t>论与实践</a:t>
            </a:r>
            <a:r>
              <a:rPr lang="zh-CN" altLang="en-US" sz="2400" b="1" dirty="0">
                <a:latin typeface="Malgun Gothic"/>
                <a:cs typeface="Malgun Gothic"/>
              </a:rPr>
              <a:t>的</a:t>
            </a:r>
            <a:r>
              <a:rPr lang="zh-CN" altLang="en-US" sz="2400" b="1" dirty="0">
                <a:latin typeface="Microsoft JhengHei"/>
                <a:cs typeface="Microsoft JhengHei"/>
              </a:rPr>
              <a:t>结合</a:t>
            </a:r>
            <a:r>
              <a:rPr lang="en-US" altLang="zh-CN" sz="2000" dirty="0">
                <a:solidFill>
                  <a:srgbClr val="333333"/>
                </a:solidFill>
                <a:latin typeface="Arial MT"/>
                <a:cs typeface="Arial MT"/>
              </a:rPr>
              <a:t>: Shannon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公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式、</a:t>
            </a:r>
            <a:r>
              <a:rPr lang="en-US" altLang="zh-CN" sz="2000" dirty="0">
                <a:solidFill>
                  <a:srgbClr val="333333"/>
                </a:solidFill>
                <a:latin typeface="Arial MT"/>
                <a:cs typeface="Arial MT"/>
              </a:rPr>
              <a:t>Hamming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等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理论在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际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中的应⽤</a:t>
            </a:r>
            <a:endParaRPr lang="zh-CN" altLang="en-US" sz="2400" dirty="0">
              <a:latin typeface="Microsoft JhengHei"/>
              <a:cs typeface="Microsoft JhengHei"/>
            </a:endParaRPr>
          </a:p>
          <a:p>
            <a:pPr marL="317500" indent="-169545">
              <a:lnSpc>
                <a:spcPct val="100000"/>
              </a:lnSpc>
              <a:spcBef>
                <a:spcPts val="1800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lang="zh-CN" altLang="en-US" sz="2400" b="1" dirty="0">
                <a:latin typeface="Microsoft JhengHei"/>
                <a:cs typeface="Microsoft JhengHei"/>
              </a:rPr>
              <a:t>调制技术</a:t>
            </a:r>
            <a:r>
              <a:rPr lang="zh-CN" altLang="en-US" sz="2400" b="1" dirty="0">
                <a:latin typeface="Malgun Gothic"/>
                <a:cs typeface="Malgun Gothic"/>
              </a:rPr>
              <a:t>的</a:t>
            </a:r>
            <a:r>
              <a:rPr lang="zh-CN" altLang="en-US" sz="2400" b="1" dirty="0">
                <a:latin typeface="Microsoft JhengHei"/>
                <a:cs typeface="Microsoft JhengHei"/>
              </a:rPr>
              <a:t>影响</a:t>
            </a:r>
            <a:r>
              <a:rPr lang="en-US" altLang="zh-CN" sz="20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不同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制⽅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式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对抗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噪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的巨⼤差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异</a:t>
            </a:r>
            <a:endParaRPr lang="zh-CN" altLang="en-US" sz="2400" dirty="0">
              <a:latin typeface="SimSun"/>
              <a:cs typeface="SimSun"/>
            </a:endParaRPr>
          </a:p>
          <a:p>
            <a:pPr marL="317500" indent="-169545">
              <a:lnSpc>
                <a:spcPct val="100000"/>
              </a:lnSpc>
              <a:spcBef>
                <a:spcPts val="1800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317500" algn="l"/>
              </a:tabLst>
            </a:pPr>
            <a:r>
              <a:rPr lang="zh-CN" altLang="en-US" sz="2400" b="1" dirty="0">
                <a:latin typeface="Microsoft JhengHei"/>
                <a:cs typeface="Microsoft JhengHei"/>
              </a:rPr>
              <a:t>并发编</a:t>
            </a:r>
            <a:r>
              <a:rPr lang="zh-CN" altLang="en-US" sz="2400" b="1" dirty="0">
                <a:latin typeface="Malgun Gothic"/>
                <a:cs typeface="Malgun Gothic"/>
              </a:rPr>
              <a:t>程的</a:t>
            </a:r>
            <a:r>
              <a:rPr lang="zh-CN" altLang="en-US" sz="2400" b="1" dirty="0">
                <a:latin typeface="Microsoft JhengHei"/>
                <a:cs typeface="Microsoft JhengHei"/>
              </a:rPr>
              <a:t>挑战</a:t>
            </a:r>
            <a:r>
              <a:rPr lang="en-US" altLang="zh-CN" sz="2000" dirty="0">
                <a:solidFill>
                  <a:srgbClr val="333333"/>
                </a:solidFill>
                <a:latin typeface="Arial MT"/>
                <a:cs typeface="Arial MT"/>
              </a:rPr>
              <a:t>: 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线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安全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竞争条件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死锁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预防</a:t>
            </a:r>
            <a:endParaRPr lang="zh-CN" altLang="en-US" sz="2400" dirty="0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2189995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773853" y="296813"/>
            <a:ext cx="5187265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dirty="0" smtClean="0">
                <a:latin typeface="Malgun Gothic"/>
                <a:cs typeface="Malgun Gothic"/>
              </a:rPr>
              <a:t>可能的改进方向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8" name="object 25"/>
          <p:cNvSpPr txBox="1"/>
          <p:nvPr/>
        </p:nvSpPr>
        <p:spPr>
          <a:xfrm>
            <a:off x="560833" y="1659626"/>
            <a:ext cx="5618586" cy="4501873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/>
              <a:tabLst>
                <a:tab pos="182245" algn="l"/>
              </a:tabLst>
            </a:pPr>
            <a:r>
              <a:rPr sz="1600" b="1" dirty="0" err="1">
                <a:latin typeface="Microsoft JhengHei"/>
                <a:cs typeface="Microsoft JhengHei"/>
              </a:rPr>
              <a:t>物</a:t>
            </a:r>
            <a:r>
              <a:rPr sz="1600" b="1" dirty="0" err="1">
                <a:latin typeface="Malgun Gothic"/>
                <a:cs typeface="Malgun Gothic"/>
              </a:rPr>
              <a:t>理</a:t>
            </a:r>
            <a:r>
              <a:rPr sz="1600" b="1" dirty="0" err="1">
                <a:latin typeface="Microsoft JhengHei"/>
                <a:cs typeface="Microsoft JhengHei"/>
              </a:rPr>
              <a:t>层</a:t>
            </a:r>
            <a:r>
              <a:rPr sz="16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6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sz="1600" dirty="0" smtClean="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QAM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16-QAM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等⾼</a:t>
            </a:r>
            <a:r>
              <a:rPr sz="1600" dirty="0" smtClean="0">
                <a:solidFill>
                  <a:srgbClr val="333333"/>
                </a:solidFill>
                <a:latin typeface="SimSun"/>
                <a:cs typeface="SimSun"/>
              </a:rPr>
              <a:t>阶调</a:t>
            </a:r>
            <a:r>
              <a:rPr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endParaRPr lang="en-US" sz="16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添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加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均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衡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器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对抗多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径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效应</a:t>
            </a:r>
            <a:endParaRPr lang="en-US" sz="16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sz="1600" dirty="0" err="1">
                <a:solidFill>
                  <a:srgbClr val="333333"/>
                </a:solidFill>
                <a:latin typeface="Arial MT"/>
                <a:cs typeface="Arial MT"/>
              </a:rPr>
              <a:t>OFDM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多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载波调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endParaRPr lang="en-US" sz="16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endParaRPr sz="1600" dirty="0">
              <a:latin typeface="Microsoft JhengHei"/>
              <a:cs typeface="Microsoft JhengHei"/>
            </a:endParaRPr>
          </a:p>
          <a:p>
            <a:pPr marL="182245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2"/>
              <a:tabLst>
                <a:tab pos="182245" algn="l"/>
              </a:tabLst>
            </a:pPr>
            <a:r>
              <a:rPr sz="1600" b="1" dirty="0" err="1">
                <a:latin typeface="Microsoft JhengHei"/>
                <a:cs typeface="Microsoft JhengHei"/>
              </a:rPr>
              <a:t>数据链路层</a:t>
            </a:r>
            <a:r>
              <a:rPr sz="16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6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现滑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动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窗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⼝协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议（</a:t>
            </a:r>
            <a:r>
              <a:rPr sz="1600" dirty="0" err="1">
                <a:solidFill>
                  <a:srgbClr val="333333"/>
                </a:solidFill>
                <a:latin typeface="Arial MT"/>
                <a:cs typeface="Arial MT"/>
              </a:rPr>
              <a:t>Go-Back-N</a:t>
            </a:r>
            <a:r>
              <a:rPr sz="1600" dirty="0">
                <a:solidFill>
                  <a:srgbClr val="333333"/>
                </a:solidFill>
                <a:latin typeface="Arial MT"/>
                <a:cs typeface="Arial MT"/>
              </a:rPr>
              <a:t>, Selective Repeat</a:t>
            </a:r>
            <a:r>
              <a:rPr sz="1600" dirty="0" smtClean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lang="en-US" sz="16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添</a:t>
            </a:r>
            <a:r>
              <a:rPr lang="zh-CN" altLang="en-US"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加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流量控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lang="zh-CN" altLang="en-US"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机制</a:t>
            </a:r>
            <a:endParaRPr lang="en-US" altLang="zh-CN" sz="16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zh-CN" altLang="en-US"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lang="en-US" altLang="zh-CN" sz="1600" dirty="0" smtClean="0">
                <a:solidFill>
                  <a:srgbClr val="333333"/>
                </a:solidFill>
                <a:latin typeface="Arial MT"/>
                <a:cs typeface="Arial MT"/>
              </a:rPr>
              <a:t>VLAN</a:t>
            </a: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endParaRPr lang="zh-CN" altLang="en-US" sz="1600" dirty="0">
              <a:latin typeface="Arial MT"/>
              <a:cs typeface="Arial MT"/>
            </a:endParaRPr>
          </a:p>
          <a:p>
            <a:pPr marL="182245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3"/>
              <a:tabLst>
                <a:tab pos="182245" algn="l"/>
              </a:tabLst>
            </a:pPr>
            <a:r>
              <a:rPr lang="zh-CN" altLang="en-US" sz="1600" b="1" dirty="0">
                <a:latin typeface="Microsoft JhengHei"/>
                <a:cs typeface="Microsoft JhengHei"/>
              </a:rPr>
              <a:t>⽹络层</a:t>
            </a:r>
            <a:r>
              <a:rPr lang="en-US" altLang="zh-CN" sz="16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zh-CN" altLang="en-US"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lang="en-US" altLang="zh-CN" sz="1600" dirty="0">
                <a:solidFill>
                  <a:srgbClr val="333333"/>
                </a:solidFill>
                <a:latin typeface="Arial MT"/>
                <a:cs typeface="Arial MT"/>
              </a:rPr>
              <a:t>IP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和</a:t>
            </a:r>
            <a:r>
              <a:rPr lang="zh-CN" altLang="en-US"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路由算</a:t>
            </a: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法</a:t>
            </a:r>
            <a:endParaRPr lang="en-US" altLang="zh-CN" sz="16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zh-CN" altLang="en-US"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lang="zh-CN" altLang="en-US" sz="1600" dirty="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lang="zh-CN" altLang="en-US"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⽹络层的</a:t>
            </a:r>
            <a:r>
              <a:rPr lang="en-US" altLang="zh-CN" sz="1600" dirty="0" err="1" smtClean="0">
                <a:solidFill>
                  <a:srgbClr val="333333"/>
                </a:solidFill>
                <a:latin typeface="Arial MT"/>
                <a:cs typeface="Arial MT"/>
              </a:rPr>
              <a:t>QoS</a:t>
            </a:r>
            <a:endParaRPr lang="en-US" altLang="zh-CN" sz="16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添</a:t>
            </a:r>
            <a:r>
              <a:rPr lang="zh-CN" altLang="en-US"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加</a:t>
            </a:r>
            <a:r>
              <a:rPr lang="en-US" altLang="zh-CN" sz="1600" dirty="0">
                <a:solidFill>
                  <a:srgbClr val="333333"/>
                </a:solidFill>
                <a:latin typeface="Arial MT"/>
                <a:cs typeface="Arial MT"/>
              </a:rPr>
              <a:t>ARP</a:t>
            </a:r>
            <a:r>
              <a:rPr lang="zh-CN" altLang="en-US"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lang="zh-CN" altLang="en-US" sz="1600" dirty="0" smtClean="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endParaRPr sz="1600" dirty="0">
              <a:latin typeface="SimSun"/>
              <a:cs typeface="SimSun"/>
            </a:endParaRPr>
          </a:p>
        </p:txBody>
      </p:sp>
      <p:sp>
        <p:nvSpPr>
          <p:cNvPr id="9" name="object 16"/>
          <p:cNvSpPr txBox="1"/>
          <p:nvPr/>
        </p:nvSpPr>
        <p:spPr>
          <a:xfrm>
            <a:off x="6846131" y="1659626"/>
            <a:ext cx="4684934" cy="4501873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4"/>
              <a:tabLst>
                <a:tab pos="182245" algn="l"/>
              </a:tabLst>
            </a:pPr>
            <a:r>
              <a:rPr sz="1600" b="1" dirty="0" err="1" smtClean="0">
                <a:latin typeface="Microsoft JhengHei"/>
                <a:cs typeface="Microsoft JhengHei"/>
              </a:rPr>
              <a:t>传输层</a:t>
            </a:r>
            <a:r>
              <a:rPr sz="16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6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完整</a:t>
            </a:r>
            <a:r>
              <a:rPr sz="1600" dirty="0" err="1">
                <a:solidFill>
                  <a:srgbClr val="333333"/>
                </a:solidFill>
                <a:latin typeface="Arial MT"/>
                <a:cs typeface="Arial MT"/>
              </a:rPr>
              <a:t>TCP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现（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三次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握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⼿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、四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次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挥</a:t>
            </a:r>
            <a:r>
              <a:rPr sz="1600" dirty="0">
                <a:solidFill>
                  <a:srgbClr val="333333"/>
                </a:solidFill>
                <a:latin typeface="Microsoft JhengHei"/>
                <a:cs typeface="Microsoft JhengHei"/>
              </a:rPr>
              <a:t>⼿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拥塞控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sz="1600" dirty="0" smtClean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lang="en-US" sz="16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600" dirty="0" err="1" smtClean="0">
                <a:solidFill>
                  <a:srgbClr val="333333"/>
                </a:solidFill>
                <a:latin typeface="Arial MT"/>
                <a:cs typeface="Arial MT"/>
              </a:rPr>
              <a:t>UDP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endParaRPr lang="en-US" sz="16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流量控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制与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拥塞避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免</a:t>
            </a:r>
            <a:endParaRPr lang="en-US" sz="16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endParaRPr sz="1600" dirty="0">
              <a:latin typeface="Microsoft JhengHei"/>
              <a:cs typeface="Microsoft JhengHei"/>
            </a:endParaRPr>
          </a:p>
          <a:p>
            <a:pPr marL="182245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5"/>
              <a:tabLst>
                <a:tab pos="182245" algn="l"/>
              </a:tabLst>
            </a:pPr>
            <a:r>
              <a:rPr sz="1600" b="1" dirty="0" err="1">
                <a:latin typeface="Microsoft JhengHei"/>
                <a:cs typeface="Microsoft JhengHei"/>
              </a:rPr>
              <a:t>应⽤层</a:t>
            </a:r>
            <a:r>
              <a:rPr sz="16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6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现</a:t>
            </a:r>
            <a:r>
              <a:rPr sz="1600" dirty="0" err="1">
                <a:solidFill>
                  <a:srgbClr val="333333"/>
                </a:solidFill>
                <a:latin typeface="Arial MT"/>
                <a:cs typeface="Arial MT"/>
              </a:rPr>
              <a:t>DNS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、</a:t>
            </a:r>
            <a:r>
              <a:rPr sz="1600" dirty="0" err="1">
                <a:solidFill>
                  <a:srgbClr val="333333"/>
                </a:solidFill>
                <a:latin typeface="Arial MT"/>
                <a:cs typeface="Arial MT"/>
              </a:rPr>
              <a:t>DHCP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等协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endParaRPr lang="en-US" sz="16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⽀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持</a:t>
            </a:r>
            <a:r>
              <a:rPr sz="1600" dirty="0" err="1" smtClean="0">
                <a:solidFill>
                  <a:srgbClr val="333333"/>
                </a:solidFill>
                <a:latin typeface="Arial MT"/>
                <a:cs typeface="Arial MT"/>
              </a:rPr>
              <a:t>WebSocket</a:t>
            </a:r>
            <a:endParaRPr lang="en-US" sz="16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6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⽂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件传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输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协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议（</a:t>
            </a:r>
            <a:r>
              <a:rPr sz="1600" dirty="0" err="1">
                <a:solidFill>
                  <a:srgbClr val="333333"/>
                </a:solidFill>
                <a:latin typeface="Arial MT"/>
                <a:cs typeface="Arial MT"/>
              </a:rPr>
              <a:t>FTP</a:t>
            </a:r>
            <a:r>
              <a:rPr sz="1600" dirty="0" smtClean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lang="en-US" sz="16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endParaRPr sz="1600" dirty="0">
              <a:latin typeface="SimSun"/>
              <a:cs typeface="SimSun"/>
            </a:endParaRPr>
          </a:p>
          <a:p>
            <a:pPr marL="182245" indent="-169545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 MT"/>
              <a:buAutoNum type="arabicPeriod" startAt="6"/>
              <a:tabLst>
                <a:tab pos="182245" algn="l"/>
              </a:tabLst>
            </a:pPr>
            <a:r>
              <a:rPr sz="1600" b="1" dirty="0" err="1">
                <a:latin typeface="Microsoft JhengHei"/>
                <a:cs typeface="Microsoft JhengHei"/>
              </a:rPr>
              <a:t>性</a:t>
            </a:r>
            <a:r>
              <a:rPr sz="1600" b="1" dirty="0" err="1">
                <a:latin typeface="Malgun Gothic"/>
                <a:cs typeface="Malgun Gothic"/>
              </a:rPr>
              <a:t>能</a:t>
            </a:r>
            <a:r>
              <a:rPr sz="1600" b="1" dirty="0" err="1">
                <a:latin typeface="Microsoft JhengHei"/>
                <a:cs typeface="Microsoft JhengHei"/>
              </a:rPr>
              <a:t>优化</a:t>
            </a:r>
            <a:r>
              <a:rPr sz="1600" dirty="0" smtClean="0">
                <a:solidFill>
                  <a:srgbClr val="333333"/>
                </a:solidFill>
                <a:latin typeface="Arial MT"/>
                <a:cs typeface="Arial MT"/>
              </a:rPr>
              <a:t>:</a:t>
            </a:r>
            <a:endParaRPr lang="en-US" sz="16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零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拷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⻉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技术</a:t>
            </a:r>
            <a:endParaRPr lang="en-US" sz="1600" dirty="0" smtClean="0">
              <a:solidFill>
                <a:srgbClr val="333333"/>
              </a:solidFill>
              <a:latin typeface="Microsoft JhengHei"/>
              <a:cs typeface="Microsoft JhengHei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异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步</a:t>
            </a:r>
            <a:r>
              <a:rPr sz="1600" dirty="0" err="1" smtClean="0">
                <a:solidFill>
                  <a:srgbClr val="333333"/>
                </a:solidFill>
                <a:latin typeface="Arial MT"/>
                <a:cs typeface="Arial MT"/>
              </a:rPr>
              <a:t>I</a:t>
            </a:r>
            <a:r>
              <a:rPr sz="1600" dirty="0" smtClean="0">
                <a:solidFill>
                  <a:srgbClr val="333333"/>
                </a:solidFill>
                <a:latin typeface="Arial MT"/>
                <a:cs typeface="Arial MT"/>
              </a:rPr>
              <a:t>/O</a:t>
            </a:r>
            <a:endParaRPr lang="en-US" sz="1600" dirty="0" smtClean="0">
              <a:solidFill>
                <a:srgbClr val="333333"/>
              </a:solidFill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spcBef>
                <a:spcPts val="600"/>
              </a:spcBef>
              <a:buClr>
                <a:srgbClr val="333333"/>
              </a:buClr>
              <a:buSzPct val="88888"/>
              <a:buFont typeface="Arial" panose="020B0604020202020204" pitchFamily="34" charset="0"/>
              <a:buChar char="•"/>
              <a:tabLst>
                <a:tab pos="182245" algn="l"/>
              </a:tabLst>
            </a:pP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硬</a:t>
            </a:r>
            <a:r>
              <a:rPr sz="16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件加</a:t>
            </a:r>
            <a:r>
              <a:rPr sz="1600" dirty="0" err="1" smtClean="0">
                <a:solidFill>
                  <a:srgbClr val="333333"/>
                </a:solidFill>
                <a:latin typeface="SimSun"/>
                <a:cs typeface="SimSun"/>
              </a:rPr>
              <a:t>速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（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如使⽤</a:t>
            </a:r>
            <a:r>
              <a:rPr sz="1600" dirty="0" err="1">
                <a:solidFill>
                  <a:srgbClr val="333333"/>
                </a:solidFill>
                <a:latin typeface="Arial MT"/>
                <a:cs typeface="Arial MT"/>
              </a:rPr>
              <a:t>GPU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进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⾏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调</a:t>
            </a:r>
            <a:r>
              <a:rPr sz="16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制</a:t>
            </a:r>
            <a:r>
              <a:rPr sz="1600" dirty="0" err="1">
                <a:solidFill>
                  <a:srgbClr val="333333"/>
                </a:solidFill>
                <a:latin typeface="SimSun"/>
                <a:cs typeface="SimSun"/>
              </a:rPr>
              <a:t>解调</a:t>
            </a:r>
            <a:r>
              <a:rPr sz="1600" dirty="0">
                <a:solidFill>
                  <a:srgbClr val="333333"/>
                </a:solidFill>
                <a:latin typeface="SimSun"/>
                <a:cs typeface="SimSun"/>
              </a:rPr>
              <a:t>）</a:t>
            </a:r>
            <a:endParaRPr sz="1600" dirty="0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2244648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322494" y="768451"/>
            <a:ext cx="320446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dirty="0" smtClean="0">
                <a:latin typeface="Malgun Gothic"/>
                <a:cs typeface="Malgun Gothic"/>
              </a:rPr>
              <a:t>项目总结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67326" y="1999581"/>
            <a:ext cx="9493718" cy="34356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marR="5080" indent="-342900">
              <a:lnSpc>
                <a:spcPct val="120400"/>
              </a:lnSpc>
              <a:spcBef>
                <a:spcPts val="95"/>
              </a:spcBef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本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项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⽬</a:t>
            </a:r>
            <a:r>
              <a:rPr lang="zh-CN" altLang="en-US" sz="24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成功实</a:t>
            </a:r>
            <a:r>
              <a:rPr lang="zh-CN" altLang="en-US" sz="2400" b="1" dirty="0">
                <a:solidFill>
                  <a:schemeClr val="accent2"/>
                </a:solidFill>
                <a:latin typeface="SimSun"/>
                <a:cs typeface="SimSun"/>
              </a:rPr>
              <a:t>现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了⼀个功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完整的</a:t>
            </a:r>
            <a:r>
              <a:rPr lang="zh-CN" altLang="en-US" sz="24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⽹络</a:t>
            </a:r>
            <a:r>
              <a:rPr lang="zh-CN" altLang="en-US" sz="2400" b="1" dirty="0">
                <a:solidFill>
                  <a:schemeClr val="accent2"/>
                </a:solidFill>
                <a:latin typeface="SimSun"/>
                <a:cs typeface="SimSun"/>
              </a:rPr>
              <a:t>通信系</a:t>
            </a:r>
            <a:r>
              <a:rPr lang="zh-CN" altLang="en-US" sz="24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统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，涵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盖了从物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层到应⽤层的所有关键技术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。通过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实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际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码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和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测试，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我们不仅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掌握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了⽹络协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议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的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理论知识，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更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获得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了宝贵的⼯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程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实践</a:t>
            </a:r>
            <a:r>
              <a:rPr lang="zh-CN" altLang="en-US" sz="2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经</a:t>
            </a:r>
            <a:r>
              <a:rPr lang="zh-CN" altLang="en-US" sz="2400" dirty="0" smtClean="0">
                <a:solidFill>
                  <a:srgbClr val="333333"/>
                </a:solidFill>
                <a:latin typeface="SimSun"/>
                <a:cs typeface="SimSun"/>
              </a:rPr>
              <a:t>验；</a:t>
            </a:r>
            <a:endParaRPr lang="zh-CN" altLang="en-US" sz="2400" dirty="0">
              <a:latin typeface="SimSun"/>
              <a:cs typeface="SimSun"/>
            </a:endParaRPr>
          </a:p>
          <a:p>
            <a:pPr marL="355600" marR="5080" indent="-342900">
              <a:lnSpc>
                <a:spcPct val="115700"/>
              </a:lnSpc>
              <a:spcBef>
                <a:spcPts val="1275"/>
              </a:spcBef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项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⽬的</a:t>
            </a:r>
            <a:r>
              <a:rPr lang="zh-CN" altLang="en-US" sz="24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所有功</a:t>
            </a:r>
            <a:r>
              <a:rPr lang="zh-CN" altLang="en-US" sz="2400" b="1" dirty="0">
                <a:solidFill>
                  <a:schemeClr val="accent2"/>
                </a:solidFill>
                <a:latin typeface="SimSun"/>
                <a:cs typeface="SimSun"/>
              </a:rPr>
              <a:t>能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模块都通过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了</a:t>
            </a:r>
            <a:r>
              <a:rPr lang="zh-CN" altLang="en-US" sz="24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严</a:t>
            </a:r>
            <a:r>
              <a:rPr lang="zh-CN" altLang="en-US" sz="2400" b="1" dirty="0">
                <a:solidFill>
                  <a:schemeClr val="accent2"/>
                </a:solidFill>
                <a:latin typeface="SimSun"/>
                <a:cs typeface="SimSun"/>
              </a:rPr>
              <a:t>格测试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性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能指标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符合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预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期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。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特别是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在调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制⽅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式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对⽐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、信道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编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码、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并发处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等⾼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级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功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能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上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，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展⽰了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深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⼊的技术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理解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和实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现能</a:t>
            </a:r>
            <a:r>
              <a:rPr lang="zh-CN" altLang="en-US" sz="2400" dirty="0" smtClean="0">
                <a:solidFill>
                  <a:srgbClr val="333333"/>
                </a:solidFill>
                <a:latin typeface="Microsoft JhengHei"/>
                <a:cs typeface="Microsoft JhengHei"/>
              </a:rPr>
              <a:t>⼒</a:t>
            </a:r>
            <a:r>
              <a:rPr lang="zh-CN" altLang="en-US" sz="2400" dirty="0" smtClean="0">
                <a:solidFill>
                  <a:srgbClr val="333333"/>
                </a:solidFill>
                <a:latin typeface="SimSun"/>
                <a:cs typeface="Microsoft JhengHei"/>
              </a:rPr>
              <a:t>；</a:t>
            </a:r>
            <a:endParaRPr lang="zh-CN" altLang="en-US" sz="2400" dirty="0">
              <a:latin typeface="SimSun"/>
              <a:cs typeface="SimSun"/>
            </a:endParaRPr>
          </a:p>
          <a:p>
            <a:pPr marL="355600" indent="-342900">
              <a:lnSpc>
                <a:spcPct val="100000"/>
              </a:lnSpc>
              <a:spcBef>
                <a:spcPts val="1530"/>
              </a:spcBef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这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次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项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⽬为我们未来从事⽹络⼯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程、通信系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统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开</a:t>
            </a:r>
            <a:r>
              <a:rPr lang="zh-CN" altLang="en-US" sz="2400" dirty="0">
                <a:solidFill>
                  <a:srgbClr val="333333"/>
                </a:solidFill>
                <a:latin typeface="Microsoft JhengHei"/>
                <a:cs typeface="Microsoft JhengHei"/>
              </a:rPr>
              <a:t>发打下了</a:t>
            </a:r>
            <a:r>
              <a:rPr lang="zh-CN" altLang="en-US" sz="2400" b="1" dirty="0">
                <a:solidFill>
                  <a:schemeClr val="accent2"/>
                </a:solidFill>
                <a:latin typeface="SimSun"/>
                <a:cs typeface="SimSun"/>
              </a:rPr>
              <a:t>坚</a:t>
            </a:r>
            <a:r>
              <a:rPr lang="zh-CN" altLang="en-US" sz="2400" b="1" dirty="0">
                <a:solidFill>
                  <a:schemeClr val="accent2"/>
                </a:solidFill>
                <a:latin typeface="Microsoft JhengHei"/>
                <a:cs typeface="Microsoft JhengHei"/>
              </a:rPr>
              <a:t>实</a:t>
            </a:r>
            <a:r>
              <a:rPr lang="zh-CN" altLang="en-US" sz="2400" b="1" dirty="0">
                <a:solidFill>
                  <a:schemeClr val="accent2"/>
                </a:solidFill>
                <a:latin typeface="SimSun"/>
                <a:cs typeface="SimSun"/>
              </a:rPr>
              <a:t>基础</a:t>
            </a:r>
            <a:r>
              <a:rPr lang="zh-CN" altLang="en-US" sz="2400" dirty="0">
                <a:solidFill>
                  <a:srgbClr val="333333"/>
                </a:solidFill>
                <a:latin typeface="SimSun"/>
                <a:cs typeface="SimSun"/>
              </a:rPr>
              <a:t>。</a:t>
            </a:r>
            <a:endParaRPr lang="zh-CN" altLang="en-US" sz="2400" dirty="0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2181630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322494" y="768451"/>
            <a:ext cx="320446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dirty="0" smtClean="0">
                <a:latin typeface="Malgun Gothic"/>
                <a:cs typeface="Malgun Gothic"/>
              </a:rPr>
              <a:t>项目总结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4" name="object 22"/>
          <p:cNvSpPr txBox="1"/>
          <p:nvPr/>
        </p:nvSpPr>
        <p:spPr>
          <a:xfrm>
            <a:off x="1859446" y="1634434"/>
            <a:ext cx="6947401" cy="41684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报告完成⽇期</a:t>
            </a:r>
            <a:r>
              <a:rPr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2025年12⽉14</a:t>
            </a:r>
            <a:r>
              <a:rPr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⽇</a:t>
            </a:r>
            <a:endParaRPr lang="en-US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05"/>
              </a:spcBef>
            </a:pPr>
            <a:r>
              <a:rPr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项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⽬代码仓库</a:t>
            </a:r>
            <a:r>
              <a:rPr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/</a:t>
            </a:r>
            <a:r>
              <a:rPr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home/</a:t>
            </a:r>
            <a:r>
              <a:rPr dirty="0" err="1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ouyangzl</a:t>
            </a:r>
            <a:r>
              <a:rPr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/network-communication-project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</a:pP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主要代码⽂件</a:t>
            </a:r>
            <a:r>
              <a:rPr dirty="0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</a:pPr>
            <a:r>
              <a:rPr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physical_layer.py </a:t>
            </a:r>
            <a:r>
              <a:rPr sz="1400" baseline="2314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1400" baseline="2057" dirty="0" err="1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物理层实现</a:t>
            </a:r>
            <a:endParaRPr lang="en-US" sz="1400" baseline="2057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</a:pPr>
            <a:r>
              <a:rPr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data_link_layer.py </a:t>
            </a:r>
            <a:r>
              <a:rPr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sz="1400" dirty="0" err="1" smtClean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数据链路层</a:t>
            </a:r>
            <a:endParaRPr lang="en-US" sz="1400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network_layer.py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⽹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络层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transport_layer.py -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传输层 </a:t>
            </a:r>
            <a:endParaRPr lang="en-US" altLang="zh-CN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application_layer.py – </a:t>
            </a:r>
            <a:r>
              <a:rPr lang="zh-CN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应用层 </a:t>
            </a:r>
            <a:endParaRPr lang="en-US" altLang="zh-CN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modulation_schemes.py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zh-CN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调制方式 </a:t>
            </a:r>
            <a:endParaRPr lang="en-US" altLang="zh-CN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channel_coding.py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信道编码 </a:t>
            </a:r>
            <a:endParaRPr lang="en-US" altLang="zh-CN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concurrency.py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并发处理</a:t>
            </a:r>
          </a:p>
          <a:p>
            <a:pPr marL="12700"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cable.py -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物理信道模拟（课程提供</a:t>
            </a:r>
            <a:r>
              <a:rPr lang="zh-CN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sz="1400" baseline="2057" dirty="0" smtClean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200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653855" y="883954"/>
            <a:ext cx="3204462" cy="76944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zh-CN" altLang="en-US" sz="4400" dirty="0" smtClean="0">
                <a:latin typeface="Malgun Gothic"/>
                <a:cs typeface="Malgun Gothic"/>
              </a:rPr>
              <a:t>致    谢</a:t>
            </a:r>
            <a:endParaRPr lang="zh-CN" altLang="en-US" sz="4400" dirty="0">
              <a:latin typeface="Malgun Gothic"/>
              <a:cs typeface="Malgun Gothic"/>
            </a:endParaRPr>
          </a:p>
        </p:txBody>
      </p:sp>
      <p:sp>
        <p:nvSpPr>
          <p:cNvPr id="5" name="object 9"/>
          <p:cNvSpPr txBox="1"/>
          <p:nvPr/>
        </p:nvSpPr>
        <p:spPr>
          <a:xfrm>
            <a:off x="1982134" y="2243188"/>
            <a:ext cx="8547904" cy="179831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>
              <a:lnSpc>
                <a:spcPct val="120400"/>
              </a:lnSpc>
              <a:spcBef>
                <a:spcPts val="1125"/>
              </a:spcBef>
              <a:buFont typeface="Wingdings" panose="05000000000000000000" pitchFamily="2" charset="2"/>
              <a:buChar char="u"/>
            </a:pPr>
            <a:r>
              <a:rPr sz="2800" dirty="0" err="1" smtClean="0">
                <a:solidFill>
                  <a:srgbClr val="333333"/>
                </a:solidFill>
                <a:latin typeface="SimSun"/>
                <a:cs typeface="SimSun"/>
              </a:rPr>
              <a:t>感谢</a:t>
            </a:r>
            <a:r>
              <a:rPr sz="28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数</a:t>
            </a:r>
            <a:r>
              <a:rPr sz="2800" dirty="0" err="1" smtClean="0">
                <a:solidFill>
                  <a:srgbClr val="333333"/>
                </a:solidFill>
                <a:latin typeface="SimSun"/>
                <a:cs typeface="SimSun"/>
              </a:rPr>
              <a:t>据通信</a:t>
            </a:r>
            <a:r>
              <a:rPr sz="28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与</a:t>
            </a:r>
            <a:r>
              <a:rPr sz="28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⽹络</a:t>
            </a:r>
            <a:r>
              <a:rPr sz="2800" dirty="0" err="1">
                <a:solidFill>
                  <a:srgbClr val="333333"/>
                </a:solidFill>
                <a:latin typeface="SimSun"/>
                <a:cs typeface="SimSun"/>
              </a:rPr>
              <a:t>课程</a:t>
            </a:r>
            <a:r>
              <a:rPr sz="28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的⽼</a:t>
            </a:r>
            <a:r>
              <a:rPr sz="28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师和助教的</a:t>
            </a:r>
            <a:r>
              <a:rPr sz="2800" dirty="0" err="1" smtClean="0">
                <a:solidFill>
                  <a:srgbClr val="333333"/>
                </a:solidFill>
                <a:latin typeface="SimSun"/>
                <a:cs typeface="SimSun"/>
              </a:rPr>
              <a:t>指</a:t>
            </a:r>
            <a:r>
              <a:rPr sz="28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导</a:t>
            </a:r>
            <a:endParaRPr lang="en-US" sz="28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69900" marR="5080" indent="-457200">
              <a:lnSpc>
                <a:spcPct val="120400"/>
              </a:lnSpc>
              <a:spcBef>
                <a:spcPts val="1125"/>
              </a:spcBef>
              <a:buFont typeface="Wingdings" panose="05000000000000000000" pitchFamily="2" charset="2"/>
              <a:buChar char="u"/>
            </a:pPr>
            <a:r>
              <a:rPr sz="2800" dirty="0" err="1" smtClean="0">
                <a:solidFill>
                  <a:srgbClr val="333333"/>
                </a:solidFill>
                <a:latin typeface="SimSun"/>
                <a:cs typeface="SimSun"/>
              </a:rPr>
              <a:t>感谢课程提</a:t>
            </a:r>
            <a:r>
              <a:rPr sz="28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供的</a:t>
            </a:r>
            <a:r>
              <a:rPr sz="2800" dirty="0" err="1">
                <a:solidFill>
                  <a:srgbClr val="333333"/>
                </a:solidFill>
                <a:latin typeface="Arial MT"/>
                <a:cs typeface="Arial MT"/>
              </a:rPr>
              <a:t>Cable</a:t>
            </a:r>
            <a:r>
              <a:rPr sz="2800" dirty="0" err="1" smtClean="0">
                <a:solidFill>
                  <a:srgbClr val="333333"/>
                </a:solidFill>
                <a:latin typeface="SimSun"/>
                <a:cs typeface="SimSun"/>
              </a:rPr>
              <a:t>类</a:t>
            </a:r>
            <a:r>
              <a:rPr sz="28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作为物</a:t>
            </a:r>
            <a:r>
              <a:rPr sz="2800" dirty="0" err="1" smtClean="0">
                <a:solidFill>
                  <a:srgbClr val="333333"/>
                </a:solidFill>
                <a:latin typeface="SimSun"/>
                <a:cs typeface="SimSun"/>
              </a:rPr>
              <a:t>理</a:t>
            </a:r>
            <a:r>
              <a:rPr sz="28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层</a:t>
            </a:r>
            <a:r>
              <a:rPr sz="2800" dirty="0" err="1" smtClean="0">
                <a:solidFill>
                  <a:srgbClr val="333333"/>
                </a:solidFill>
                <a:latin typeface="SimSun"/>
                <a:cs typeface="SimSun"/>
              </a:rPr>
              <a:t>基础</a:t>
            </a:r>
            <a:endParaRPr lang="en-US" sz="2800" dirty="0" smtClean="0">
              <a:solidFill>
                <a:srgbClr val="333333"/>
              </a:solidFill>
              <a:latin typeface="SimSun"/>
              <a:cs typeface="SimSun"/>
            </a:endParaRPr>
          </a:p>
          <a:p>
            <a:pPr marL="469900" marR="5080" indent="-457200">
              <a:lnSpc>
                <a:spcPct val="120400"/>
              </a:lnSpc>
              <a:spcBef>
                <a:spcPts val="1125"/>
              </a:spcBef>
              <a:buFont typeface="Wingdings" panose="05000000000000000000" pitchFamily="2" charset="2"/>
              <a:buChar char="u"/>
            </a:pPr>
            <a:r>
              <a:rPr sz="28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本</a:t>
            </a:r>
            <a:r>
              <a:rPr sz="2800" dirty="0" err="1" smtClean="0">
                <a:solidFill>
                  <a:srgbClr val="333333"/>
                </a:solidFill>
                <a:latin typeface="SimSun"/>
                <a:cs typeface="SimSun"/>
              </a:rPr>
              <a:t>项</a:t>
            </a:r>
            <a:r>
              <a:rPr sz="28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⽬所有代</a:t>
            </a:r>
            <a:r>
              <a:rPr sz="2800" dirty="0" err="1">
                <a:solidFill>
                  <a:srgbClr val="333333"/>
                </a:solidFill>
                <a:latin typeface="SimSun"/>
                <a:cs typeface="SimSun"/>
              </a:rPr>
              <a:t>码均</a:t>
            </a:r>
            <a:r>
              <a:rPr sz="2800" dirty="0" err="1">
                <a:solidFill>
                  <a:srgbClr val="333333"/>
                </a:solidFill>
                <a:latin typeface="Microsoft JhengHei"/>
                <a:cs typeface="Microsoft JhengHei"/>
              </a:rPr>
              <a:t>为原创实</a:t>
            </a:r>
            <a:r>
              <a:rPr sz="2800" dirty="0" err="1">
                <a:solidFill>
                  <a:srgbClr val="333333"/>
                </a:solidFill>
                <a:latin typeface="SimSun"/>
                <a:cs typeface="SimSun"/>
              </a:rPr>
              <a:t>现，</a:t>
            </a:r>
            <a:r>
              <a:rPr sz="2800" dirty="0" err="1" smtClean="0">
                <a:solidFill>
                  <a:srgbClr val="333333"/>
                </a:solidFill>
                <a:latin typeface="SimSun"/>
                <a:cs typeface="SimSun"/>
              </a:rPr>
              <a:t>测试</a:t>
            </a:r>
            <a:r>
              <a:rPr sz="2800" dirty="0" err="1" smtClean="0">
                <a:solidFill>
                  <a:srgbClr val="333333"/>
                </a:solidFill>
                <a:latin typeface="Microsoft JhengHei"/>
                <a:cs typeface="Microsoft JhengHei"/>
              </a:rPr>
              <a:t>结果真实有效</a:t>
            </a:r>
            <a:endParaRPr sz="2800" dirty="0">
              <a:latin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193337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922796" y="3161462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0" noProof="0" dirty="0" smtClean="0">
                <a:solidFill>
                  <a:srgbClr val="1C75BC"/>
                </a:solidFill>
                <a:latin typeface="汉仪趣黑W" panose="00020600040101010101" pitchFamily="18" charset="-122"/>
                <a:ea typeface="汉仪趣黑W" panose="00020600040101010101" pitchFamily="18" charset="-122"/>
              </a:rPr>
              <a:t>感谢观看</a:t>
            </a:r>
            <a:endParaRPr kumimoji="0" lang="zh-CN" altLang="en-US" sz="8000" b="0" i="0" u="none" strike="noStrike" kern="1200" cap="none" spc="0" normalizeH="0" baseline="0" noProof="0" dirty="0" smtClean="0">
              <a:ln>
                <a:noFill/>
              </a:ln>
              <a:solidFill>
                <a:srgbClr val="1C75BC"/>
              </a:solidFill>
              <a:effectLst/>
              <a:uLnTx/>
              <a:uFillTx/>
              <a:latin typeface="汉仪趣黑W" panose="00020600040101010101" pitchFamily="18" charset="-122"/>
              <a:ea typeface="汉仪趣黑W" panose="00020600040101010101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03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OPFI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BingLLB#"/>
  <p:tag name="MH_LAYOUT" val="SubTitle"/>
  <p:tag name="MH" val="20170706155359"/>
  <p:tag name="MH_LIBRARY" val="GRAPHIC"/>
</p:tagLst>
</file>

<file path=ppt/theme/theme1.xml><?xml version="1.0" encoding="utf-8"?>
<a:theme xmlns:a="http://schemas.openxmlformats.org/drawingml/2006/main" name="包图主题2">
  <a:themeElements>
    <a:clrScheme name="自定义 5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C75BC"/>
      </a:accent1>
      <a:accent2>
        <a:srgbClr val="1C75BC"/>
      </a:accent2>
      <a:accent3>
        <a:srgbClr val="1C75BC"/>
      </a:accent3>
      <a:accent4>
        <a:srgbClr val="1C75BC"/>
      </a:accent4>
      <a:accent5>
        <a:srgbClr val="1C75BC"/>
      </a:accent5>
      <a:accent6>
        <a:srgbClr val="1C75BC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923</TotalTime>
  <Words>3988</Words>
  <Application>Microsoft Office PowerPoint</Application>
  <PresentationFormat>宽屏</PresentationFormat>
  <Paragraphs>737</Paragraphs>
  <Slides>54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9" baseType="lpstr">
      <vt:lpstr>Arial MT</vt:lpstr>
      <vt:lpstr>Malgun Gothic</vt:lpstr>
      <vt:lpstr>Microsoft JhengHei</vt:lpstr>
      <vt:lpstr>Yu Gothic</vt:lpstr>
      <vt:lpstr>等线</vt:lpstr>
      <vt:lpstr>汉仪趣黑W</vt:lpstr>
      <vt:lpstr>SimSun</vt:lpstr>
      <vt:lpstr>微软雅黑</vt:lpstr>
      <vt:lpstr>NSimSun</vt:lpstr>
      <vt:lpstr>Arial</vt:lpstr>
      <vt:lpstr>Consolas</vt:lpstr>
      <vt:lpstr>Segoe UI</vt:lpstr>
      <vt:lpstr>Times New Roman</vt:lpstr>
      <vt:lpstr>Wingdings</vt:lpstr>
      <vt:lpstr>包图主题2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Microsoft 帐户</cp:lastModifiedBy>
  <cp:revision>644</cp:revision>
  <dcterms:created xsi:type="dcterms:W3CDTF">2017-07-06T07:15:09Z</dcterms:created>
  <dcterms:modified xsi:type="dcterms:W3CDTF">2025-12-14T16:20:27Z</dcterms:modified>
</cp:coreProperties>
</file>